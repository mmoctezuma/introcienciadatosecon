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27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Presentarse. Objetivo del día: entender QUÉ son los datos económicos y de dónde vienen — antes de tocar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34148-33E7-11CF-5CAF-25129237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89413-5B05-1CE4-9B87-081F7C4FF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8727B-1AD8-7B0A-ED8D-88E38A587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¿con qué herramientas han trabajado datos? ¿Excel, Stata, R? Este contraste ancla el por qué vale la pena aprender Python.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C998E-5BE5-A877-4A1A-CEAD26021D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36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¿con qué herramientas han trabajado datos? ¿Excel, Stata, R? Este contraste ancla el por qué vale la pena aprender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identifiquen cuál proyecto les interesa más — puede orientar el proyecto final del semestre.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la regla de oro (Wickham 2014 - Tidy Data). Si no se cumple, el dataset es muy difícil de analizar con Pandas. Ejemplo clásico: ENIGH trae algunas variables en formato ancho — hay que pivotar.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si conocen algún proyecto de NLP o Computer Vision en economía. El ejemplo de luminosidad nocturna (Henderson et al. 2012) es muy conocido en economía del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trampa: ¿el código postal es numérico o categórico? Es categórico — no tiene sentido calcular el promedio. El tipo estadístico ≠ el tipo que Python asigna automáticamente.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el ejercicio en vivo: df.dtypes de un CSV con código postal y ver que aparece como int64. Luego mostrar el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gobierno mexicano el 80% de los datos llegará en Excel o CSV. Parquet lo verán cuando trabajen en equipos con AWS o Databricks. JSON es ubicuo en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ejercicio en Colab usamos el Banco Mundial con pandas_datareader. Para proyectos reales en México, la ENOE y el IMSS son las fuentes estrella del mercado laboral.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puente entre la teoría y la práctica. Abrir Colab ahora y correr el código con los alumnos. El valor está en los pasos 4-6 que veremos el resto del semestre.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5 min de buffer. La exploración libre es lo más valioso. Que los alumnos formulen sus propias preguntas es el objetivo.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antes de la próxima sesión lean qué es la ENIGH en la página del INEGI. No instalar nada — todo en Colab.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E8"/>
                </a:solidFill>
              </a:rPr>
              <a:t>EO4040 — Introducción a la Ciencia de Datos para Economía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</a:rPr>
              <a:t>Sesión 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Bases de datos en la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ciencia económica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2743200" cy="36576"/>
          </a:xfrm>
          <a:prstGeom prst="rect">
            <a:avLst/>
          </a:prstGeom>
          <a:solidFill>
            <a:srgbClr val="A8C4E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E8"/>
                </a:solidFill>
              </a:rPr>
              <a:t>Tema 1.1 — Datos estructurados y no estructurados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617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90B0"/>
                </a:solidFill>
              </a:rPr>
              <a:t>Tec de Monterrey  ·  Gobierno y Transformación Pública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DE53A-4B86-090A-9AA2-5D7D2A82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5">
            <a:extLst>
              <a:ext uri="{FF2B5EF4-FFF2-40B4-BE49-F238E27FC236}">
                <a16:creationId xmlns:a16="http://schemas.microsoft.com/office/drawing/2014/main" id="{63E9B33F-6758-A44B-84BB-EA912FBA3797}"/>
              </a:ext>
            </a:extLst>
          </p:cNvPr>
          <p:cNvSpPr/>
          <p:nvPr/>
        </p:nvSpPr>
        <p:spPr>
          <a:xfrm>
            <a:off x="365760" y="3429000"/>
            <a:ext cx="11384280" cy="2505974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 sz="140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22A444F6-8D59-11F0-714A-ADF9EAEB9355}"/>
              </a:ext>
            </a:extLst>
          </p:cNvPr>
          <p:cNvSpPr/>
          <p:nvPr/>
        </p:nvSpPr>
        <p:spPr>
          <a:xfrm>
            <a:off x="365760" y="1389888"/>
            <a:ext cx="11384280" cy="1758754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 sz="1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9D2D519-E21F-3613-9BF4-E2F6FC87E09D}"/>
              </a:ext>
            </a:extLst>
          </p:cNvPr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1BFE351-EA10-B299-B282-027B22B61B02}"/>
              </a:ext>
            </a:extLst>
          </p:cNvPr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FFFFFF"/>
                </a:solidFill>
              </a:rPr>
              <a:t>Evaluación</a:t>
            </a:r>
            <a:endParaRPr lang="en-US" sz="2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02391B-7C77-E302-1B50-7E4B9E56E5B4}"/>
              </a:ext>
            </a:extLst>
          </p:cNvPr>
          <p:cNvSpPr txBox="1"/>
          <p:nvPr/>
        </p:nvSpPr>
        <p:spPr>
          <a:xfrm>
            <a:off x="577972" y="3550892"/>
            <a:ext cx="11005938" cy="2091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s-MX" sz="1400" dirty="0"/>
          </a:p>
          <a:p>
            <a:r>
              <a:rPr lang="es-MX" sz="1400" b="1" dirty="0"/>
              <a:t>Política de Uso Responsable y Ético de la IA</a:t>
            </a:r>
            <a:endParaRPr lang="es-MX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Transparencia obligatoria:</a:t>
            </a:r>
            <a:r>
              <a:rPr lang="es-MX" sz="1400" dirty="0"/>
              <a:t> El uso de IA está permitido como apoyo, pero debes indicar explícitamente qué herramienta usaste (</a:t>
            </a:r>
            <a:r>
              <a:rPr lang="es-MX" sz="1400" dirty="0" err="1"/>
              <a:t>ChatGPT</a:t>
            </a:r>
            <a:r>
              <a:rPr lang="es-MX" sz="1400" dirty="0"/>
              <a:t>, Claude, </a:t>
            </a:r>
            <a:r>
              <a:rPr lang="es-MX" sz="1400" dirty="0" err="1"/>
              <a:t>Copilot</a:t>
            </a:r>
            <a:r>
              <a:rPr lang="es-MX" sz="1400" dirty="0"/>
              <a:t>, Gemini, etc.) y con qué propósito, ya sea en los comentarios de tu código o en tus referencias (siguiendo el formato APA que tienen en </a:t>
            </a:r>
            <a:r>
              <a:rPr lang="es-MX" sz="1400" dirty="0" err="1"/>
              <a:t>Canvas</a:t>
            </a:r>
            <a:r>
              <a:rPr lang="es-MX" sz="1400" dirty="0"/>
              <a:t>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Validación rigurosa:</a:t>
            </a:r>
            <a:r>
              <a:rPr lang="es-MX" sz="1400" dirty="0"/>
              <a:t> La IA no es infalible ni está exenta de errores. Tienes la responsabilidad de </a:t>
            </a:r>
            <a:r>
              <a:rPr lang="es-MX" sz="1400" b="1" dirty="0"/>
              <a:t>probar, depurar (</a:t>
            </a:r>
            <a:r>
              <a:rPr lang="es-MX" sz="1400" b="1" i="1" dirty="0" err="1"/>
              <a:t>debuggear</a:t>
            </a:r>
            <a:r>
              <a:rPr lang="es-MX" sz="1400" b="1" dirty="0"/>
              <a:t>) y validar</a:t>
            </a:r>
            <a:r>
              <a:rPr lang="es-MX" sz="1400" dirty="0"/>
              <a:t> el código o la información consultando fuentes oficiales o literatura especializada.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Comprensión profunda:</a:t>
            </a:r>
            <a:r>
              <a:rPr lang="es-MX" sz="1400" dirty="0"/>
              <a:t> Debes dominar y ser capaz de explicar cada solución que presentes. La IA es un acelerador de aprendizaje, no un sustituto de tu propio análisis. Sin excepción, toda fuente externa, código reutilizado y herramienta de IA debe referenciarse debidamente.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918362-277C-7672-16A8-C36C88C113E7}"/>
              </a:ext>
            </a:extLst>
          </p:cNvPr>
          <p:cNvSpPr txBox="1"/>
          <p:nvPr/>
        </p:nvSpPr>
        <p:spPr>
          <a:xfrm>
            <a:off x="577610" y="1576767"/>
            <a:ext cx="110062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Criterios de Evaluación</a:t>
            </a:r>
            <a:endParaRPr lang="es-MX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80% — Tareas Prácticas (8 tareas, 10% c/u):</a:t>
            </a:r>
            <a:r>
              <a:rPr lang="es-MX" sz="1400" dirty="0"/>
              <a:t> Desarrollo de código y aplicación práctica. No basta con entregar el notebook resuelto; deberás explicar y justificar tus decisiones metodológicas durante las discusiones en clase (como participación activa).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20% — Proyecto Final:</a:t>
            </a:r>
            <a:r>
              <a:rPr lang="es-MX" sz="1400" dirty="0"/>
              <a:t> Exposición enfocada en el dominio de las competencias adquiridas, evaluando la solución de problemas y casos prácticos en Python.</a:t>
            </a:r>
          </a:p>
          <a:p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631179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¿Por qué ciencia de datos para economistas?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El volumen y la variedad de datos disponibles cambió radicalmente en los últimos 20 años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Hace 20 años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5303520" cy="513892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Datos agregados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0195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PIB trimestral, tasa de desempleo mensual. Tablas de 50 filas.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432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Muestras pequeñas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08960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Encuestas de 2,000 personas. Censos cada 10 años.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502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Stata / EViews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1596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Regresiones con 5 variables, series de tiempo cortas.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572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Cuello de botella: conseguir datos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22976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Pocos datos disponibles, difícil acceso.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987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Hoy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389888"/>
            <a:ext cx="5303520" cy="513892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6675120" y="15361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Microdatos en escala masiva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190195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El IMSS tiene el registro de CADA trabajador formal en México, mensualmente.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7432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Registros administrativos completos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108960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El SAT tiene CADA factura emitida. La ENOE: 300,000+ obs por trimestre.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9502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Python como estándar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31596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Bancos centrales, OCDE, BM, SHCP y consultoras lo usan.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51572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Cuello de botella: saber qué hacer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5522976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El analista que sabe procesar datos gana ventaja competitiva.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37307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Preguntas que hoy puede responder un economista con datos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Ejemplos reales de proyectos con Python + ML en México y América Latina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5760720" cy="17190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5760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484632" y="10424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Política laboral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4632" y="149047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¿Qué características predicen que un trabajador informal se va a formalizar?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" y="214608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→ Clasificación sobre microdatos ENOE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987552"/>
            <a:ext cx="5760720" cy="17190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309360" y="987552"/>
            <a:ext cx="5760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6473952" y="10424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Política social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149047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¿Qué hogares tienen mayor riesgo de caer en pobreza ante un choque económico?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214608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→ Modelo predictivo sobre ENIGH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62072"/>
            <a:ext cx="5760720" cy="17190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20040" y="2862072"/>
            <a:ext cx="5760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484632" y="29169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Política fiscal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" y="33649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¿Qué patrones en las facturas del SAT indican posible evasión?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" y="40551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→ Detección de anomalías en datos transaccionales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862072"/>
            <a:ext cx="5760720" cy="17190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309360" y="2862072"/>
            <a:ext cx="5760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6473952" y="29169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Desarrollo regional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33649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¿Qué municipios se rezagan más tras un desastre natural?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40551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→ Panel de datos + modelo de impacto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736592"/>
            <a:ext cx="5760720" cy="17190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20040" y="4736592"/>
            <a:ext cx="5760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 txBox="1"/>
          <p:nvPr/>
        </p:nvSpPr>
        <p:spPr>
          <a:xfrm>
            <a:off x="484632" y="47914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Banca central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" y="523951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¿Cómo cambia la expectativa de inflación ante comunicados del Banxico?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" y="590375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→ NLP sobre discursos de política monetaria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736592"/>
            <a:ext cx="5760720" cy="17190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6309360" y="4736592"/>
            <a:ext cx="5760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 txBox="1"/>
          <p:nvPr/>
        </p:nvSpPr>
        <p:spPr>
          <a:xfrm>
            <a:off x="6473952" y="47914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Internacional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73952" y="523951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¿Qué países tienen trayectorias de desarrollo similares?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73952" y="590375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→ Clustering no supervisado sobre World Development Indicators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Datos estructurados — Tema 1.1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La forma más común de datos en economía: tablas con filas y columnas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86868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Definición: los datos estructurados están organizados en una tabla rectangular. Cada fila = una observación (un hogar, un país, un año). Cada columna = una variable (una característica medida para todas las observaciones).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137160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420624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folio_hogar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7360" y="1965960"/>
            <a:ext cx="128016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1792224" y="2011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estado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1965960"/>
            <a:ext cx="155448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3072384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ingreso_mensual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965960"/>
            <a:ext cx="150876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4626864" y="2011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num_integrantes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965960"/>
            <a:ext cx="160020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135624" y="2011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acceso_internet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35000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438912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1001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737360" y="2350008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1810512" y="2395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CDMX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017520" y="2350008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3090672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$22,400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0" y="2350008"/>
            <a:ext cx="1508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4645152" y="23957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80760" y="2350008"/>
            <a:ext cx="1600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 txBox="1"/>
          <p:nvPr/>
        </p:nvSpPr>
        <p:spPr>
          <a:xfrm>
            <a:off x="6153912" y="23957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Sí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2734056"/>
            <a:ext cx="1371600" cy="38404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438912" y="27797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1002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737360" y="2734056"/>
            <a:ext cx="1280160" cy="38404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 txBox="1"/>
          <p:nvPr/>
        </p:nvSpPr>
        <p:spPr>
          <a:xfrm>
            <a:off x="1810512" y="2779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Jalisco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017520" y="2734056"/>
            <a:ext cx="1554480" cy="38404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 txBox="1"/>
          <p:nvPr/>
        </p:nvSpPr>
        <p:spPr>
          <a:xfrm>
            <a:off x="3090672" y="27797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$9,800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0" y="2734056"/>
            <a:ext cx="1508760" cy="38404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 txBox="1"/>
          <p:nvPr/>
        </p:nvSpPr>
        <p:spPr>
          <a:xfrm>
            <a:off x="4645152" y="27797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2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080760" y="2734056"/>
            <a:ext cx="1600200" cy="38404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 txBox="1"/>
          <p:nvPr/>
        </p:nvSpPr>
        <p:spPr>
          <a:xfrm>
            <a:off x="6153912" y="27797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No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65760" y="3118104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 txBox="1"/>
          <p:nvPr/>
        </p:nvSpPr>
        <p:spPr>
          <a:xfrm>
            <a:off x="438912" y="31638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1003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737360" y="3118104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 txBox="1"/>
          <p:nvPr/>
        </p:nvSpPr>
        <p:spPr>
          <a:xfrm>
            <a:off x="1810512" y="31638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Oaxaca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017520" y="3118104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 txBox="1"/>
          <p:nvPr/>
        </p:nvSpPr>
        <p:spPr>
          <a:xfrm>
            <a:off x="3090672" y="3163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A2200"/>
                </a:solidFill>
              </a:rPr>
              <a:t>NaN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572000" y="3118104"/>
            <a:ext cx="1508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 txBox="1"/>
          <p:nvPr/>
        </p:nvSpPr>
        <p:spPr>
          <a:xfrm>
            <a:off x="4645152" y="31638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5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080760" y="3118104"/>
            <a:ext cx="1600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 txBox="1"/>
          <p:nvPr/>
        </p:nvSpPr>
        <p:spPr>
          <a:xfrm>
            <a:off x="6153912" y="31638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No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65760" y="3502152"/>
            <a:ext cx="1371600" cy="38404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 txBox="1"/>
          <p:nvPr/>
        </p:nvSpPr>
        <p:spPr>
          <a:xfrm>
            <a:off x="438912" y="3547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1004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737360" y="3502152"/>
            <a:ext cx="1280160" cy="38404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 txBox="1"/>
          <p:nvPr/>
        </p:nvSpPr>
        <p:spPr>
          <a:xfrm>
            <a:off x="1810512" y="3547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Nuevo León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017520" y="3502152"/>
            <a:ext cx="1554480" cy="38404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 txBox="1"/>
          <p:nvPr/>
        </p:nvSpPr>
        <p:spPr>
          <a:xfrm>
            <a:off x="3090672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$41,200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572000" y="3502152"/>
            <a:ext cx="1508760" cy="38404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3"/>
          <p:cNvSpPr txBox="1"/>
          <p:nvPr/>
        </p:nvSpPr>
        <p:spPr>
          <a:xfrm>
            <a:off x="4645152" y="3547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3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080760" y="3502152"/>
            <a:ext cx="1600200" cy="38404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5"/>
          <p:cNvSpPr txBox="1"/>
          <p:nvPr/>
        </p:nvSpPr>
        <p:spPr>
          <a:xfrm>
            <a:off x="6153912" y="35478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Sí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7851764" y="2011680"/>
            <a:ext cx="37421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← Cada columna es una VARIABLE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7851764" y="2578608"/>
            <a:ext cx="37421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</a:rPr>
              <a:t>← Cada fila es una OBSERVACIÓN (un hogar)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7851764" y="3310128"/>
            <a:ext cx="37421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2200"/>
                </a:solidFill>
              </a:rPr>
              <a:t>← "NaN" = valor faltante (Not a Number)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65760" y="4069080"/>
            <a:ext cx="6949440" cy="3657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2" name="Text 60"/>
          <p:cNvSpPr txBox="1"/>
          <p:nvPr/>
        </p:nvSpPr>
        <p:spPr>
          <a:xfrm>
            <a:off x="365760" y="416052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Regla de oro de los datos tabulares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365760" y="455371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Una fila = una observación   ·   Una columna = una variable   ·   Una celda = un valor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65760" y="5010912"/>
            <a:ext cx="11430000" cy="166420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Text 63"/>
          <p:cNvSpPr txBox="1"/>
          <p:nvPr/>
        </p:nvSpPr>
        <p:spPr>
          <a:xfrm>
            <a:off x="548640" y="508406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¿Cuándo NO está bien estructurado? (datos no "tidy")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548640" y="54406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• Una columna por año en lugar de una columna "año" y una columna "valor"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• Varias variables mezcladas en una sola columna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• Los encabezados son valores, no nombres de variables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Datos no estructurados — Tema 1.1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No tienen formato tabular. Requieren procesamiento adicional para convertirse en algo analizable.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En este curso trabajamos principalmente con datos estructurados — pero es importante saber que este universo existe y crece. Los modelos de ML que veremos al final son la puerta de entrada.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3794760" cy="4124117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379476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457200" y="1719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Texto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48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• Contratos de obra pública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60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• Resoluciones del Poder Judicial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71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• Discursos de bancos centrales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83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• Respuestas abiertas en encuestas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" y="3858768"/>
            <a:ext cx="3566160" cy="36576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</a:rPr>
              <a:t>Uso: Análisis de sentimiento en comunicados del Banxico para predecir movimientos de tasa de interés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817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</a:rPr>
              <a:t>Herramienta: NLP, Word Embeddings, LLMs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1664208"/>
            <a:ext cx="3794760" cy="4124117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4297680" y="1664208"/>
            <a:ext cx="379476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4434840" y="1719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Imágenes satelitales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2148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• Extensión de cultivos por municipio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2560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• Expansión urbana en tiempo real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2971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• Luminosidad nocturna (proxy de actividad económica)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3383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• Ocupación de parques industriales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07408" y="3858768"/>
            <a:ext cx="3566160" cy="36576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4434840" y="39319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</a:rPr>
              <a:t>Uso: Estimar el PIB de zonas rurales donde no hay registros administrativos disponibles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46817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</a:rPr>
              <a:t>Herramienta: Computer Vision, CNN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75320" y="1664208"/>
            <a:ext cx="3794760" cy="4124117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8275320" y="1664208"/>
            <a:ext cx="379476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8412480" y="1719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Audio / Video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2148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• Audiencias del Congreso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2560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• Conferencias de prensa de la SHCP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2971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• Declaraciones de funcionarios del Banxico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385048" y="3858768"/>
            <a:ext cx="3566160" cy="36576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 txBox="1"/>
          <p:nvPr/>
        </p:nvSpPr>
        <p:spPr>
          <a:xfrm>
            <a:off x="8412480" y="39319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</a:rPr>
              <a:t>Uso: Transcribir y analizar señales que emiten funcionarios antes de cambios de política fiscal o monetaria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46817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</a:rPr>
              <a:t>Herramienta: Speech Recognition, NLP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Tipos de variables — Tema 1.1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El tipo determina qué estadísticas calculas, qué gráficas usas y qué modelos aplicas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601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Esta clasificación es fundamental y aparecerá en cada sesión del semestre.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25603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4800600" y="14356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Variable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874520"/>
            <a:ext cx="0" cy="384048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2331720" y="2258568"/>
            <a:ext cx="3749040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080760" y="2258568"/>
            <a:ext cx="3749040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20040" y="2259086"/>
            <a:ext cx="402336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320040" y="2322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Numérica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775204"/>
            <a:ext cx="4023360" cy="1644974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502920" y="284741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Continua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23145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Puede tomar cualquier valor en un rango. Tiene sentido calcular media y desviación estándar.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98126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</a:rPr>
              <a:t>Ej: Ingreso mensual · PIB per cápita · Temperatura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4520330"/>
            <a:ext cx="4023360" cy="1644974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502920" y="457787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Discreta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96192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Solo toma valores enteros (se cuentan). El promedio puede no tener sentido interpretable.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571173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</a:rPr>
              <a:t>Ej: Número de hijos · Años de escolaridad · Trimestres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18120" y="2259086"/>
            <a:ext cx="402336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7818120" y="2322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Categórica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18120" y="2782881"/>
            <a:ext cx="4023360" cy="1644973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800100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Nominal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Categorías sin orden. Solo tiene sentido contar frecuencias. No se puede promediar.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40416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</a:rPr>
              <a:t>Ej: Estado · Sector económico · Género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837388" y="4517825"/>
            <a:ext cx="4023360" cy="1647479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8001000" y="4569241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Ordinal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0" y="4953289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Categorías CON orden natural, pero la distancia entre ellas no es fija ni constante.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5703097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</a:rPr>
              <a:t>Ej: Escolaridad: primaria &lt; secundaria &lt; licenciatura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16646" y="3421417"/>
            <a:ext cx="3108960" cy="1924631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 txBox="1"/>
          <p:nvPr/>
        </p:nvSpPr>
        <p:spPr>
          <a:xfrm>
            <a:off x="4622753" y="3569538"/>
            <a:ext cx="2915728" cy="1449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Especiales: Booleana (Sí/No, 0/1) </a:t>
            </a:r>
            <a:br>
              <a:rPr lang="en-US" sz="1200" dirty="0">
                <a:solidFill>
                  <a:srgbClr val="555555"/>
                </a:solidFill>
              </a:rPr>
            </a:br>
            <a:r>
              <a:rPr lang="en-US" sz="1200" dirty="0" err="1">
                <a:solidFill>
                  <a:srgbClr val="555555"/>
                </a:solidFill>
              </a:rPr>
              <a:t>Fecha</a:t>
            </a:r>
            <a:r>
              <a:rPr lang="en-US" sz="1200" dirty="0">
                <a:solidFill>
                  <a:srgbClr val="555555"/>
                </a:solidFill>
              </a:rPr>
              <a:t>/tiempo (requiere tratamiento especial)</a:t>
            </a:r>
            <a:br>
              <a:rPr lang="en-US" sz="1200" dirty="0">
                <a:solidFill>
                  <a:srgbClr val="555555"/>
                </a:solidFill>
              </a:rPr>
            </a:br>
            <a:r>
              <a:rPr lang="en-US" sz="1200" dirty="0" err="1">
                <a:solidFill>
                  <a:srgbClr val="555555"/>
                </a:solidFill>
              </a:rPr>
              <a:t>Texto</a:t>
            </a:r>
            <a:r>
              <a:rPr lang="en-US" sz="1200" dirty="0">
                <a:solidFill>
                  <a:srgbClr val="555555"/>
                </a:solidFill>
              </a:rPr>
              <a:t> (categórica con cardinalidad muy alta)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Errores comunes al confundir tipos de variables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Lo que Python dice que es ≠ lo que estadísticamente 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6012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pd.read_csv() asigna tipos automáticamente — y se equivoca con frecuencia. Conocer estos errores te ahorra horas de depuración.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11475720" cy="11887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502920" y="15179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Código postal como número entero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88366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pd.read_csv() lee "09400" como el entero 9400, perdiendo el cero inicial. El código postal "09400" no es "nueve mil cuatrocientos" — es una etiqueta.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94960" y="1536192"/>
            <a:ext cx="0" cy="1005840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5532120" y="1517904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Leer como string: pd.read_csv(dtype={"cp": str})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94767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⚠ Comparaciones incorrectas. El código "09400" aparece como 9400 y no empata con catálogos.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61488"/>
            <a:ext cx="11475720" cy="11887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502920" y="2834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Año tratado como numérico continuo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2004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El año 2020, 2021, 2022 es numéricamente válido, pero tratarlo como continuo en una regresión implica que la diferencia entre 2020 y 2021 es la misma que entre 2021 y 2022 — lo cual puede ser falso tras la pandemia.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94960" y="2852928"/>
            <a:ext cx="0" cy="1005840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5532120" y="283464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df['anio'] = df['anio'].astype('category')  # si se usa como dummies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26440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⚠ Modelos que no capturan efectos fijos anuales ni estacionalidad.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078224"/>
            <a:ext cx="11475720" cy="11887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 txBox="1"/>
          <p:nvPr/>
        </p:nvSpPr>
        <p:spPr>
          <a:xfrm>
            <a:off x="502920" y="41513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Escolaridad tratada como nominal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51713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"Primaria", "Secundaria", "Licenciatura" tienen un orden natural. Si las tratas como categorías sin orden, pierdes información valiosa sobre la progresión educativa.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394960" y="4169664"/>
            <a:ext cx="0" cy="1005840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5532120" y="4151376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pd.CategoricalDtype(categories=['Primaria','Secundaria','Preparatoria','Licenciatura'], ordered=True)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532120" y="458114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⚠ Modelos que no pueden usar la relación ordinal. Visualizaciones con orden incorrecto.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5394960"/>
            <a:ext cx="11475720" cy="11887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502920" y="54681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Variable numérica con NaN forzada a float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583387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Si una columna de enteros tiene un NaN, Pandas la convierte a float64 automáticamente (porque int64 no acepta NaN). Aparecen valores como 3.0 en lugar de 3.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394960" y="5486400"/>
            <a:ext cx="0" cy="1005840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5532120" y="5468112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astype('Int64')  — la I mayúscula es el tipo nullable integer de Pandas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589788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⚠ Joins y comparaciones fallidos. Conteos incorrectos en value_counts().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Formatos de almacenamiento — Tema 1.1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El formato determina cómo lo lees, cuánto pesa y qué herramientas puedes usar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5559552" cy="26334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5559552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484632" y="1060704"/>
            <a:ext cx="52065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.csv / .tsv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" y="1554480"/>
            <a:ext cx="520656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Texto plano. Separado por coma (o tabulador). Legible en cualquier editor.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" y="2084832"/>
            <a:ext cx="5206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</a:rPr>
              <a:t>✓ Usar cuando: Datasets pequeños o medianos (&lt;500 MB). Compartir datos entre equipos o sistemas.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84632" y="2615184"/>
            <a:ext cx="5206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✕ Cuidado: Lento para datasets grandes. No guarda tipos de variable — siempre hay que especificarlos al leer.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" y="3200400"/>
            <a:ext cx="52065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pd.read_csv('archivo.csv')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987552"/>
            <a:ext cx="5559552" cy="26334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309360" y="987552"/>
            <a:ext cx="5559552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6473952" y="1060704"/>
            <a:ext cx="52065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.xlsx / .xls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1554480"/>
            <a:ext cx="520656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Formato de Excel. Múltiples hojas, fórmulas, formatos de celda.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084832"/>
            <a:ext cx="5206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</a:rPr>
              <a:t>✓ Usar cuando: Datos que vienen del gobierno en Excel (muy frecuente </a:t>
            </a:r>
            <a:r>
              <a:rPr lang="en-US" sz="1150" dirty="0" err="1">
                <a:solidFill>
                  <a:srgbClr val="1B3A6B"/>
                </a:solidFill>
              </a:rPr>
              <a:t>en</a:t>
            </a:r>
            <a:r>
              <a:rPr lang="en-US" sz="1150" dirty="0">
                <a:solidFill>
                  <a:srgbClr val="1B3A6B"/>
                </a:solidFill>
              </a:rPr>
              <a:t> México, </a:t>
            </a:r>
            <a:r>
              <a:rPr lang="en-US" sz="1150" dirty="0" err="1">
                <a:solidFill>
                  <a:srgbClr val="1B3A6B"/>
                </a:solidFill>
              </a:rPr>
              <a:t>por</a:t>
            </a:r>
            <a:r>
              <a:rPr lang="en-US" sz="1150" dirty="0">
                <a:solidFill>
                  <a:srgbClr val="1B3A6B"/>
                </a:solidFill>
              </a:rPr>
              <a:t> </a:t>
            </a:r>
            <a:r>
              <a:rPr lang="en-US" sz="1150" dirty="0" err="1">
                <a:solidFill>
                  <a:srgbClr val="1B3A6B"/>
                </a:solidFill>
              </a:rPr>
              <a:t>ej</a:t>
            </a:r>
            <a:r>
              <a:rPr lang="en-US" sz="1150" dirty="0">
                <a:solidFill>
                  <a:srgbClr val="1B3A6B"/>
                </a:solidFill>
              </a:rPr>
              <a:t>. INEGI, SHCP, SEP).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2615184"/>
            <a:ext cx="5206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✕ Cuidado: Lento y frágil con datasets grandes. Fórmulas escondidas pueden alterar valores silenciosamente.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3200400"/>
            <a:ext cx="52065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pd.read_excel('archivo.xlsx', sheet_name='Hoja1')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822192"/>
            <a:ext cx="5559552" cy="26334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20040" y="3822192"/>
            <a:ext cx="5559552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484632" y="3895344"/>
            <a:ext cx="52065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" y="4389120"/>
            <a:ext cx="520656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JavaScript Object Notation. Estructura jerárquica: listas dentro de diccionarios.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" y="4919472"/>
            <a:ext cx="5206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</a:rPr>
              <a:t>✓ Usar cuando: Respuestas de APIs web. Datos con estructura anidada (encuestas con sub-preguntas).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84632" y="5449824"/>
            <a:ext cx="5206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✕ Cuidado: Más difícil de convertir a tabla. Redundante y pesado para datos puramente tabulares.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" y="6035040"/>
            <a:ext cx="52065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pd.read_json('archivo.json')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3822192"/>
            <a:ext cx="5559552" cy="26334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6309360" y="3822192"/>
            <a:ext cx="5559552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6473952" y="3895344"/>
            <a:ext cx="52065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.parquet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4389120"/>
            <a:ext cx="520656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Formato columnar binario. Muy comprimido y rápido de leer. Estándar moderno de big data.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73952" y="4919472"/>
            <a:ext cx="5206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</a:rPr>
              <a:t>✓ Usar cuando: Datasets grandes (&gt;1 GB). Pipelines en producción. AWS S3, Spark, Databricks.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73952" y="5449824"/>
            <a:ext cx="5206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✕ Cuidado: No se puede abrir con Excel. Requiere Python, R o herramientas especializadas.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73952" y="6035040"/>
            <a:ext cx="52065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pd.read_parquet('archivo.parquet')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Fuentes de datos para economistas en México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Conocer las fuentes es tan importante como saber procesarlas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5577840" cy="265176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5577840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484632" y="10698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INEGI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" y="15544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ENOE — empleo y ocupación (trimestral, ~300k obs)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" y="19385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ENIGH — ingresos y gastos del hogar (bienal)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4632" y="232257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Censo de Población y Vivienda (decenal, cobertura total)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" y="27066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DENUE — directorio de unidades económicas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136391"/>
            <a:ext cx="5394960" cy="45719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484632" y="323697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</a:rPr>
              <a:t>Acceso: inegi.org.mx/microdatos → descarga directa .zip con .csv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987552"/>
            <a:ext cx="5577840" cy="265176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309360" y="987552"/>
            <a:ext cx="5577840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473952" y="10698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IMSS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15544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Trabajadores afiliados por municipio, sector y salario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19385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Histórico mensual desde 2005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232257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Útil para estudios de mercado laboral formal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27066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Base para evaluar impacto de programas sociales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136391"/>
            <a:ext cx="5394960" cy="45719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6473952" y="323697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</a:rPr>
              <a:t>Acceso: datos.gob.mx → buscar "IMSS trabajadores asegurados"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22192"/>
            <a:ext cx="5577840" cy="265176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320040" y="3822192"/>
            <a:ext cx="5577840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484632" y="3904488"/>
            <a:ext cx="52236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Banco de México (SIE)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" y="43891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Tipos de cambio (diario desde 1991)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" y="477316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Tasas de interés e inflación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" y="51572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Balanza de pagos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" y="55412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Índices de precios al consumidor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5971031"/>
            <a:ext cx="5394960" cy="45719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 txBox="1"/>
          <p:nvPr/>
        </p:nvSpPr>
        <p:spPr>
          <a:xfrm>
            <a:off x="484632" y="60716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</a:rPr>
              <a:t>Acceso: sie.banxico.org.mx → API con token gratuito · pip install sie-banxico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3822192"/>
            <a:ext cx="5577840" cy="265176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6309360" y="3822192"/>
            <a:ext cx="5577840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 txBox="1"/>
          <p:nvPr/>
        </p:nvSpPr>
        <p:spPr>
          <a:xfrm>
            <a:off x="6473952" y="3904488"/>
            <a:ext cx="52236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Banco Mundial (WDI)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473952" y="43891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~1,400 indicadores para 200+ países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73952" y="477316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PIB, desempleo, GINI, salud, educación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473952" y="51572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Cobertura desde 1960 en algunos indicadores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73952" y="55412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Incluye regiones y grupos de ingreso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5971031"/>
            <a:ext cx="5394960" cy="45719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 txBox="1"/>
          <p:nvPr/>
        </p:nvSpPr>
        <p:spPr>
          <a:xfrm>
            <a:off x="6473952" y="60716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</a:rPr>
              <a:t>Acceso: databank.worldbank.org · pip install pandas-datareader (o wbgapi)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Del dato crudo al análisis: el flujo completo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Cómo conecta un economista las fuentes con las conclusiones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8350" y="987552"/>
            <a:ext cx="1643330" cy="9601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368350" y="1024128"/>
            <a:ext cx="1643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68350" y="1417320"/>
            <a:ext cx="16433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Identificar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 fuente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8350" y="2057400"/>
            <a:ext cx="1643330" cy="123444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441502" y="2121408"/>
            <a:ext cx="154473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¿Qué pregunta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quiero responder?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¿Qué datos existen?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1298448"/>
            <a:ext cx="322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34310" y="987552"/>
            <a:ext cx="1643330" cy="9601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2334310" y="1024128"/>
            <a:ext cx="1643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334310" y="1417320"/>
            <a:ext cx="16433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Descargar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los datos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34310" y="2057400"/>
            <a:ext cx="1643330" cy="123444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2407462" y="2121408"/>
            <a:ext cx="154473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API, descarga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directa, web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scraping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298448"/>
            <a:ext cx="322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00270" y="987552"/>
            <a:ext cx="1643330" cy="9601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4300270" y="1024128"/>
            <a:ext cx="1643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300270" y="1417320"/>
            <a:ext cx="16433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Leer 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00270" y="2057400"/>
            <a:ext cx="1643330" cy="123444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4373422" y="2121408"/>
            <a:ext cx="154473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pd.read_csv()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read_excel()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pandas_datareader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1298448"/>
            <a:ext cx="322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6230" y="987552"/>
            <a:ext cx="1643330" cy="9601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6266230" y="1024128"/>
            <a:ext cx="1643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266230" y="1417320"/>
            <a:ext cx="16433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Inspeccionar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calidad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6230" y="2057400"/>
            <a:ext cx="1643330" cy="123444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 txBox="1"/>
          <p:nvPr/>
        </p:nvSpPr>
        <p:spPr>
          <a:xfrm>
            <a:off x="6339382" y="2121408"/>
            <a:ext cx="154473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dtypes, shape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isnull()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describe()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1298448"/>
            <a:ext cx="322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32190" y="987552"/>
            <a:ext cx="1643330" cy="9601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 txBox="1"/>
          <p:nvPr/>
        </p:nvSpPr>
        <p:spPr>
          <a:xfrm>
            <a:off x="8232190" y="1024128"/>
            <a:ext cx="1643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232190" y="1417320"/>
            <a:ext cx="16433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Limpiar 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preprocesar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32190" y="2057400"/>
            <a:ext cx="1643330" cy="123444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 txBox="1"/>
          <p:nvPr/>
        </p:nvSpPr>
        <p:spPr>
          <a:xfrm>
            <a:off x="8305342" y="2121408"/>
            <a:ext cx="154473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fillna, dropna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astype, rename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filtros, merge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875520" y="1298448"/>
            <a:ext cx="322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198150" y="987552"/>
            <a:ext cx="1643330" cy="9601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 txBox="1"/>
          <p:nvPr/>
        </p:nvSpPr>
        <p:spPr>
          <a:xfrm>
            <a:off x="10198150" y="1024128"/>
            <a:ext cx="1643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0198150" y="1417320"/>
            <a:ext cx="16433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Analizar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y modelar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198150" y="2057400"/>
            <a:ext cx="1643330" cy="123444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 txBox="1"/>
          <p:nvPr/>
        </p:nvSpPr>
        <p:spPr>
          <a:xfrm>
            <a:off x="10271302" y="2121408"/>
            <a:ext cx="154473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EDA, viz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ML, regresión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</a:rPr>
              <a:t>clustering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65760" y="3456432"/>
            <a:ext cx="11475720" cy="47548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 txBox="1"/>
          <p:nvPr/>
        </p:nvSpPr>
        <p:spPr>
          <a:xfrm>
            <a:off x="54864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Este semestre: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2697480" y="35478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Sesiones 1-2 → pasos 1-5   ·   Sesiones 3-4 → paso 4 a fondo (EDA + viz)   ·   Sesiones 5-8 → paso 6 (ML)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69080"/>
            <a:ext cx="11475720" cy="26334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 txBox="1"/>
          <p:nvPr/>
        </p:nvSpPr>
        <p:spPr>
          <a:xfrm>
            <a:off x="566928" y="4148272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pandas_datareader.data as web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480974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566928" y="4660336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2-3: Descargar datos del Banco Mundial (PIB, desempleo, GINI)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66928" y="4916368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indicadores = {'NY.GDP.PCAP.CD': 'gdp_pc', 'SL.UEM.TOTL.ZS': 'desempleo', 'SI.POV.GINI': 'gini'}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5172400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web.DataReader(list(indicadores.keys()), 'wb', start=2010, end=2022)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66928" y="5428432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df.rename(columns=indicadores)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66928" y="608990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66928" y="5940496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4: Primera inspección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566928" y="6196528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         # ¿cuántas filas y columnas?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566928" y="6858000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print(df.dtypes)          # ¿qué tipo de dato es cada columna?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566928" y="7114032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  # ¿hay valores faltantes?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1463040"/>
            <a:ext cx="10972800" cy="30399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 programado antes? ¿En qué lenguaje? (Python, R, Stata, Matlab, ninguno)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herramientas has trabajado datos? (Excel, Stata, SPSS, R, Python)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 trabajado con bases de más de 10,000 filas?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1 al 5, ¿qué tan cómodo te sientes con estadística descriptiva?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¿Sabes qué es una correlación? ¿Una distribución normal?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 escuchado de regresión lineal o logística?</a:t>
            </a:r>
            <a:endParaRPr lang="en-US" sz="1600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25807427-0EB1-9517-A479-70A338B45D97}"/>
              </a:ext>
            </a:extLst>
          </p:cNvPr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FDC59C1-0C5F-FF9C-C933-D0CED36792F9}"/>
              </a:ext>
            </a:extLst>
          </p:cNvPr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FFFFFF"/>
                </a:solidFill>
              </a:rPr>
              <a:t>Cuéntenme</a:t>
            </a:r>
            <a:r>
              <a:rPr lang="en-US" sz="2100" b="1" dirty="0">
                <a:solidFill>
                  <a:srgbClr val="FFFFFF"/>
                </a:solidFill>
              </a:rPr>
              <a:t> de </a:t>
            </a:r>
            <a:r>
              <a:rPr lang="en-US" sz="2100" b="1" dirty="0" err="1">
                <a:solidFill>
                  <a:srgbClr val="FFFFFF"/>
                </a:solidFill>
              </a:rPr>
              <a:t>su</a:t>
            </a:r>
            <a:r>
              <a:rPr lang="en-US" sz="2100" b="1" dirty="0">
                <a:solidFill>
                  <a:srgbClr val="FFFFFF"/>
                </a:solidFill>
              </a:rPr>
              <a:t> </a:t>
            </a:r>
            <a:r>
              <a:rPr lang="en-US" sz="2100" b="1" dirty="0" err="1">
                <a:solidFill>
                  <a:srgbClr val="FFFFFF"/>
                </a:solidFill>
              </a:rPr>
              <a:t>lado</a:t>
            </a:r>
            <a:endParaRPr lang="en-US" sz="21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CCD0D876-A168-7BA2-5FC9-DCF5E3B27578}"/>
              </a:ext>
            </a:extLst>
          </p:cNvPr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Antes de </a:t>
            </a:r>
            <a:r>
              <a:rPr lang="en-US" sz="1100" dirty="0" err="1">
                <a:solidFill>
                  <a:srgbClr val="A8C4E8"/>
                </a:solidFill>
              </a:rPr>
              <a:t>Arrancar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Ejercicio </a:t>
            </a:r>
            <a:r>
              <a:rPr lang="en-US" sz="2100" b="1" dirty="0" err="1">
                <a:solidFill>
                  <a:srgbClr val="FFFFFF"/>
                </a:solidFill>
              </a:rPr>
              <a:t>en</a:t>
            </a:r>
            <a:r>
              <a:rPr lang="en-US" sz="2100" b="1" dirty="0">
                <a:solidFill>
                  <a:srgbClr val="FFFFFF"/>
                </a:solidFill>
              </a:rPr>
              <a:t> Google Colab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Abrir sesion1_notebook.ipynb · Dataset: Banco Mundial World Development Indicators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1188720" cy="113385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365760" y="13350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Parte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27632" y="987552"/>
            <a:ext cx="10168128" cy="1133856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1810512" y="10789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Setup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810512" y="14904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Correr la celda de imports. Confirmar que pandas_datareader funciona. 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137160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B"/>
                </a:solidFill>
              </a:rPr>
              <a:t>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1188720" cy="113385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365760" y="26334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Parte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27632" y="2286000"/>
            <a:ext cx="10168128" cy="1133856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1810512" y="2377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Descarga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810512" y="27889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Descargar PIB per cápita, desempleo y GINI para 50+ países, 2000-2022.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267004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B"/>
                </a:solidFill>
              </a:rPr>
              <a:t>10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84448"/>
            <a:ext cx="1188720" cy="113385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365760" y="3931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Parte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27632" y="3584448"/>
            <a:ext cx="10168128" cy="1133856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1810512" y="3675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Inspección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810512" y="408736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shape, dtypes, head(). ¿Cuántos NaN hay? ¿En qué variables? ¿Por qué? 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3968496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B"/>
                </a:solidFill>
              </a:rPr>
              <a:t>10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882896"/>
            <a:ext cx="1188720" cy="113385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365760" y="5230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Parte 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27632" y="4882896"/>
            <a:ext cx="10168128" cy="1133856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 txBox="1"/>
          <p:nvPr/>
        </p:nvSpPr>
        <p:spPr>
          <a:xfrm>
            <a:off x="1810512" y="49743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Exploración libre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810512" y="538581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¿Qué país tiene mayor PIB? ¿Qué región tiene más desempleo? ¿Qué pasa con México? 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064240" y="5266944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B"/>
                </a:solidFill>
              </a:rPr>
              <a:t>15 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6263640"/>
            <a:ext cx="11475720" cy="47548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Cierre: discutir qué observaron. ¿Qué les sorprendió? ¿Qué preguntas les generan los datos? Esa es la mentalidad del científico de datos.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Lo que aprendimos hoy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Sesión 1 — Bases de datos en la ciencia económica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75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64592" cy="8046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58368" y="1033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Datos estructurados vs no estructurados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33272"/>
            <a:ext cx="0" cy="658368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4846320" y="103327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Tabla = estructurado. Texto / imagen / audio = no estructurado. En economía usamos principalmente estructurados.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11475720" cy="8046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65760" y="1892808"/>
            <a:ext cx="164592" cy="8046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658368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Tipos de variables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0" cy="658368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4846320" y="19659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Numérica continua · discreta · categórica nominal · ordinal · booleana · fecha · texto. El tipo define el análisis.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2825496"/>
            <a:ext cx="11475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65760" y="2825496"/>
            <a:ext cx="164592" cy="8046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658368" y="2898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Errores comunes de tipo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98648"/>
            <a:ext cx="0" cy="658368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 txBox="1"/>
          <p:nvPr/>
        </p:nvSpPr>
        <p:spPr>
          <a:xfrm>
            <a:off x="4846320" y="289864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Código postal como entero · escolaridad como nominal · año como continuo · enteros con NaN como float.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3758184"/>
            <a:ext cx="11475720" cy="8046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365760" y="3758184"/>
            <a:ext cx="164592" cy="8046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658368" y="3831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Formatos de almacenamiento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831336"/>
            <a:ext cx="0" cy="658368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4846320" y="3831336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CSV (universal) · Excel (gobierno MX) · JSON (APIs) · Parquet (big data). pd.read_csv / read_excel / read_json / read_parquet.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" y="4690872"/>
            <a:ext cx="11475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65760" y="4690872"/>
            <a:ext cx="164592" cy="8046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 txBox="1"/>
          <p:nvPr/>
        </p:nvSpPr>
        <p:spPr>
          <a:xfrm>
            <a:off x="658368" y="4764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Fuentes de datos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4764024"/>
            <a:ext cx="0" cy="658368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 txBox="1"/>
          <p:nvPr/>
        </p:nvSpPr>
        <p:spPr>
          <a:xfrm>
            <a:off x="4846320" y="4764024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INEGI (ENOE, ENIGH) · IMSS · Banxico SIE · Banco Mundial WDI. Cada fuente tiene sesgos de cobertura que hay que conocer.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5760" y="5623560"/>
            <a:ext cx="11475720" cy="8046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365760" y="5623560"/>
            <a:ext cx="164592" cy="8046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 txBox="1"/>
          <p:nvPr/>
        </p:nvSpPr>
        <p:spPr>
          <a:xfrm>
            <a:off x="658368" y="5696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El flujo del análisis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5696712"/>
            <a:ext cx="0" cy="658368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 txBox="1"/>
          <p:nvPr/>
        </p:nvSpPr>
        <p:spPr>
          <a:xfrm>
            <a:off x="4846320" y="569671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Fuente → descarga → Python → inspeccionar → limpiar → analizar. Este semestre cubriremos cada paso.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Próxima sesión: Calidad de datos y técnicas de limpieza con Pandas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3069</Words>
  <Application>Microsoft Office PowerPoint</Application>
  <PresentationFormat>Widescreen</PresentationFormat>
  <Paragraphs>325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Natalia Cadavid Aguilar</cp:lastModifiedBy>
  <cp:revision>2</cp:revision>
  <dcterms:created xsi:type="dcterms:W3CDTF">2026-09-13T05:51:06Z</dcterms:created>
  <dcterms:modified xsi:type="dcterms:W3CDTF">2026-09-13T07:09:08Z</dcterms:modified>
</cp:coreProperties>
</file>