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12161520" cy="2468880"/>
          </a:xfrm>
          <a:prstGeom prst="rect">
            <a:avLst/>
          </a:prstGeom>
          <a:solidFill>
            <a:srgbClr val="2C5F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</a:rPr>
              <a:t>EO4040 — Introducción a la Ciencia de Datos para Economía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4E8"/>
                </a:solidFill>
              </a:rPr>
              <a:t>Sesión 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Calidad de datos y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técnicas de limpieza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7"/>
                </a:solidFill>
              </a:rPr>
              <a:t>Tema 1.2 — Calidad de los datos  |  Tema 1.3 — Técnicas de limpieza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8"/>
                </a:solidFill>
              </a:rPr>
              <a:t>Tec de Monterrey  ·  Gobierno y Transformación Pública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¿Dónde quedamos?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3A6B"/>
                </a:solidFill>
              </a:rPr>
              <a:t>Sesión</a:t>
            </a:r>
            <a:r>
              <a:rPr lang="en-US" sz="1500" b="1" dirty="0">
                <a:solidFill>
                  <a:srgbClr val="1B3A6B"/>
                </a:solidFill>
              </a:rPr>
              <a:t> 1 cubrió: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53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¿Por qué ciencia de datos para economistas?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733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Tipos de datos: estructurados vs no estructurados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933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Tipos de variables: numéricas, categóricas, ordinales, fechas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13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Fuentes de datos: INEGI, Banco Mundial, Banxico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33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Primera descarga real con pandas_datareader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535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</a:rPr>
              <a:t>Esta </a:t>
            </a:r>
            <a:r>
              <a:rPr lang="en-US" sz="1500" b="1" dirty="0" err="1">
                <a:solidFill>
                  <a:srgbClr val="1B3A6B"/>
                </a:solidFill>
              </a:rPr>
              <a:t>sesión</a:t>
            </a:r>
            <a:r>
              <a:rPr lang="en-US" sz="1500" b="1" dirty="0">
                <a:solidFill>
                  <a:srgbClr val="1B3A6B"/>
                </a:solidFill>
              </a:rPr>
              <a:t>: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0098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Evaluar la calidad de un dataset real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6210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Identificar y corregir problemas comunes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410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• Construir un flujo de preprocesamiento reproducible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 de hoy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0698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¿Qué es calidad de datos?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3990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Las 6 dimensiones clave en economía y política pública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0:00 – 0:20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457200" y="211226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0391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Diagnóstico sistemático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36829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Herramientas de Pandas para radiografiar un dataset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21579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0:20 – 0:45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54864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457200" y="3081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0837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Técnicas de limpieza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3756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Duplicados, texto, tipos, outliers, faltantes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31272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0:45 – 1:20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54864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457200" y="40507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9776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Ejercicio en vivo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30682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Dataset de la ENIGH con problemas reales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4096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1:20 – 1:50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28616"/>
            <a:ext cx="548640" cy="685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457200" y="5020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9469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Cierre y tarea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2760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Flujo completo + ejercicio con datos reales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0" y="50657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1:50 – 2:00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6 dimensiones de calidad de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703320" cy="411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Completitud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087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¿Hay valores faltantes?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Ej: Ingreso = NaN en 20% de filas (ENIGH)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251960" y="1005840"/>
            <a:ext cx="3703320" cy="411480"/>
          </a:xfrm>
          <a:prstGeom prst="rect">
            <a:avLst/>
          </a:prstGeom>
          <a:solidFill>
            <a:srgbClr val="2C5F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4343400" y="10515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Consistencia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5087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¿Los valores tienen sentido entre sí?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05740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Ej: Edad = 5, escolaridad = Licenciatura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0058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138160" y="1005840"/>
            <a:ext cx="3703320" cy="411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8229600" y="10515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Exactitud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15087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¿Los valores son correctos?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05740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Ej: Ingreso mensual = $9,999,999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70332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457200" y="36118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Unicidad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¿Hay registros duplicados?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61772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Ej: Mismo hogar capturado dos veces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56616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251960" y="3566160"/>
            <a:ext cx="37033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4343400" y="36118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Granularidad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¿El nivel de detalle es el adecuado?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461772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Ej: Necesito municipio pero solo hay estado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56616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8138160" y="3566160"/>
            <a:ext cx="3703320" cy="411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 txBox="1"/>
          <p:nvPr/>
        </p:nvSpPr>
        <p:spPr>
          <a:xfrm>
            <a:off x="8229600" y="36118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Temporalidad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¿Los datos son del período correcto?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61772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Ej: Mezcla de datos 2018 y 2022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¿De dónde vienen los problemas?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El tipo de fuente predice qué problemas encontrarás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74320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1148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Encuestas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(ENIGH, ENOE)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No respuesta selectiva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008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Errores de captura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3989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Inconsistencias entre variables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8970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Cambios de codificación entre años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46120" y="1325880"/>
            <a:ext cx="27432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333756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Registros adm.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(IMSS, SAT)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240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Campos vacíos por diseño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99008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Cambios de formato entre años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73989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Unidades de medida implícitas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48970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Folios duplicados por errores de sistema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274320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626364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 abiertos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(data.gob.mx)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240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Metadatos incompletos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99008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Codificación de caracteres (UTF-8 vs Latin-1)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73989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Granularidad variable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48970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Actualizaciones inconsistentes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132588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9098280" y="1325880"/>
            <a:ext cx="27432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918972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(Banco Mundial)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2240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Valores faltantes para países/años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299008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Cambios de metodología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73989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Diferencias entre revisiones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448970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</a:rPr>
              <a:t>• Cobertura temporal desigual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Diagnóstico sistemático con Pandas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Antes de modificar cualquier dato, necesitamos una radiografía completa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02920" y="14447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74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Dimensiones: filas × columnas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6355080" y="14447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874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Tipo de cada columna (object, int64, float64…)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502920" y="263347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df.head(10)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063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Primeras filas — primer vistazo visual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355080" y="263347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063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Conteo de NaN por columna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502920" y="38221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df.duplicated(subset=...)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251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Identifica filas duplicadas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6355080" y="38221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df[col].value_counts(dropna=False)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251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Frecuencias incl. NaN — clave para categóricas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9377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502920" y="50109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440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Min, max, media, cuartiles para numéricas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9377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6355080" y="50109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df[col].unique()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5440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Valores únicos — detecta inconsistencias de texto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Técnicas de limpieza: menú completo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74904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65760" y="996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Duplicados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drop_duplicates(subset=...)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55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Identificar con duplicated()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Decidir qué observación conservar (keep=first/last)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Verificar si el duplicado es real o un error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9601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3749040" cy="384048"/>
          </a:xfrm>
          <a:prstGeom prst="rect">
            <a:avLst/>
          </a:prstGeom>
          <a:solidFill>
            <a:srgbClr val="2C5F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4297680" y="996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Texto inconsistente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 / .replace()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1755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strip() para espacios extra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lower() o title() para capitalización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replace() con diccionario de mapeo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Expresiones regulares para patrones complejos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9601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138160" y="960120"/>
            <a:ext cx="3749040" cy="384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229600" y="996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Valores imposibles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Condiciones lógicas + np.nan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755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Definir rango válido (edad: 0-120)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Identificar códigos de no respuesta (999, -1)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Reemplazar con np.nan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pd.to_numeric(errors="coerce")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374904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36576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Valores faltantes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fillna() / dropna()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4498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Eliminar si &lt;5% y aleatorio (dropna)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910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Mediana/media según distribución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321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Moda para categóricas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5733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Crear indicador de faltante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37033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206240" y="3703320"/>
            <a:ext cx="374904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 txBox="1"/>
          <p:nvPr/>
        </p:nvSpPr>
        <p:spPr>
          <a:xfrm>
            <a:off x="429768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Tipos incorrectos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29768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astype() / to_datetime()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4498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object → category (categóricas)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297680" y="4910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object → float con to_numeric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297680" y="5321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object → datetime con to_datetime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5733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Usar Int64 para enteros con NaN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37033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8138160" y="3703320"/>
            <a:ext cx="3749040" cy="384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 txBox="1"/>
          <p:nvPr/>
        </p:nvSpPr>
        <p:spPr>
          <a:xfrm>
            <a:off x="822960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Granularidad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 / merge()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498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Agregar si necesitamos menos detalle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4910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Merge con catálogos para más detalle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5321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Verificar que el join sea correcto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Regla de oro: nunca modifiques el raw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2286000" cy="1371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(original)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Nunca tocar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Fuente de verdad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286000" cy="13716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356616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df.copy()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Siempre copiar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antes de modificar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286000" cy="1371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df_clean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Aquí hacemos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toda la limpieza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869680" y="1554480"/>
            <a:ext cx="2286000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86968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df_analysis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Dataset 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para modelos y viz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</a:rPr>
              <a:t>Buenas prácticas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</a:rPr>
              <a:t>1.  Siempre trabajar sobre df.copy() — el original no se toca nunca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51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</a:rPr>
              <a:t>2.  Documentar cada decisión de limpieza y su justificación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</a:rPr>
              <a:t>3.  Verificar antes y después de cada transformación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</a:rPr>
              <a:t>4.  Crear un script de limpieza reproducible (no notebook de exploración)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</a:rPr>
              <a:t>5.  Guardar el log de cuántas filas/valores se modificaron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¿Cómo manejar los valores faltantes?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</a:rPr>
              <a:t>La decisión depende del porcentaje de faltantes, el mecanismo y el uso del dato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377440" cy="411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Estrategia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280160"/>
            <a:ext cx="2926080" cy="411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2788920" y="1298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Cuándo usar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280160"/>
            <a:ext cx="2743200" cy="411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576072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Ventaja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58200" y="1280160"/>
            <a:ext cx="2834640" cy="411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54964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Riesgo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3657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Eliminar (dropna)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17373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278892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&lt; 5% faltantes y aleatorio (MCAR)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17373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576072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Simple, sin sesgo si es MCAR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58200" y="173736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854964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Pierde potencia estadística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96312"/>
            <a:ext cx="237744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365760" y="25420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A5A"/>
                </a:solidFill>
              </a:rPr>
              <a:t>Mediana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97480" y="2496312"/>
            <a:ext cx="292608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2788920" y="254203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Numérica con outliers (ingresos)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2496312"/>
            <a:ext cx="274320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5760720" y="25420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Robusta a valores extremos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58200" y="2496312"/>
            <a:ext cx="283464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8549640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No modela la incertidumbre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55264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365760" y="330098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A5A"/>
                </a:solidFill>
              </a:rPr>
              <a:t>Media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97480" y="3255264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2788920" y="33009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Numérica simétrica, &lt; 20% faltantes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0" y="3255264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5760720" y="330098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Preserva la media poblacional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58200" y="3255264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8549640" y="330098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Sesgo si no es MCAR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014216"/>
            <a:ext cx="237744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365760" y="405993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A5A"/>
                </a:solidFill>
              </a:rPr>
              <a:t>Moda / categoría especial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697480" y="4014216"/>
            <a:ext cx="292608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 txBox="1"/>
          <p:nvPr/>
        </p:nvSpPr>
        <p:spPr>
          <a:xfrm>
            <a:off x="2788920" y="405993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Categórica con faltantes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0" y="4014216"/>
            <a:ext cx="274320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 txBox="1"/>
          <p:nvPr/>
        </p:nvSpPr>
        <p:spPr>
          <a:xfrm>
            <a:off x="5760720" y="405993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Mantiene el tipo de variable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58200" y="4014216"/>
            <a:ext cx="283464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 txBox="1"/>
          <p:nvPr/>
        </p:nvSpPr>
        <p:spPr>
          <a:xfrm>
            <a:off x="8549640" y="405993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Puede crear falsa precisión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 txBox="1"/>
          <p:nvPr/>
        </p:nvSpPr>
        <p:spPr>
          <a:xfrm>
            <a:off x="365760" y="48188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A5A"/>
                </a:solidFill>
              </a:rPr>
              <a:t>Indicador binario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97480" y="4773168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 txBox="1"/>
          <p:nvPr/>
        </p:nvSpPr>
        <p:spPr>
          <a:xfrm>
            <a:off x="2788920" y="48188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Faltante puede ser informativo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0" y="4773168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 txBox="1"/>
          <p:nvPr/>
        </p:nvSpPr>
        <p:spPr>
          <a:xfrm>
            <a:off x="5760720" y="48188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Captura el patrón de no respuesta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58200" y="4773168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 txBox="1"/>
          <p:nvPr/>
        </p:nvSpPr>
        <p:spPr>
          <a:xfrm>
            <a:off x="8549640" y="48188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Añade una columna al modelo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5532120"/>
            <a:ext cx="237744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 txBox="1"/>
          <p:nvPr/>
        </p:nvSpPr>
        <p:spPr>
          <a:xfrm>
            <a:off x="365760" y="5577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A5A"/>
                </a:solidFill>
              </a:rPr>
              <a:t>Imputación múltiple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697480" y="5532120"/>
            <a:ext cx="292608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 txBox="1"/>
          <p:nvPr/>
        </p:nvSpPr>
        <p:spPr>
          <a:xfrm>
            <a:off x="2788920" y="5577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&gt;20% faltantes en variable clave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0" y="5532120"/>
            <a:ext cx="274320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 txBox="1"/>
          <p:nvPr/>
        </p:nvSpPr>
        <p:spPr>
          <a:xfrm>
            <a:off x="5760720" y="5577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Maneja la incertidumbre correctamente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458200" y="5532120"/>
            <a:ext cx="2834640" cy="731520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 txBox="1"/>
          <p:nvPr/>
        </p:nvSpPr>
        <p:spPr>
          <a:xfrm>
            <a:off x="8549640" y="5577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Compleja, requiere supuestos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Ejercicio en vivo — 30 minutos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548640" y="10789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Dataset: ENIGH simulada con problemas reales · Abre sesion2_notebook.ipynb en Colab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365760" y="2103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9568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Setup y verificación de ambiente (5 min)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32257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Correr la primera celda, confirmar que todo importa sin error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365760" y="30358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8895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Cargar el dataset (5 min)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2552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Ejecutar la celda de creación de datos, explorar con head() y dtypes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0" y="30358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365760" y="39684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8221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Diagnóstico completo (10 min)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18795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Completar el diagnóstico y llenar la tabla de problemas identificados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0" y="39684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10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18304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365760" y="49011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47548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Limpieza paso a paso (15 min)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512064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Aplicar cada técnica siguiendo el notebook, revisar resultados después de cada paso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490118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15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5650992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365760" y="58338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Parte 5+6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691640" y="568756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Verificación y guardado (5 min)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605332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</a:rPr>
              <a:t>Confirmar que los problemas se resolvieron, guardar CSV limpio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5833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5F9E"/>
                </a:solidFill>
              </a:rPr>
              <a:t>5 min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 que aprendimos hoy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430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548640" y="12161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Diagnosticar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143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shape, dtypes, isnull().sum(), duplicated(), value_counts(), describe()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1430000" cy="749808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548640" y="20848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011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Estandarizar texto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11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.str.title(), .str.strip(), .replace() con diccionario de mapeo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11430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54864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Valores imposibles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880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Rangos lógicos + np.nan; pd.to_numeric(errors="coerce")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11430000" cy="749808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548640" y="38221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Imputar faltantes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7490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 para ingresos; categoría especial para texto; indicador binario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26280"/>
            <a:ext cx="11430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548640" y="46908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617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Tipos correctos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617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astype("category"), Int64 para enteros con NaN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5394960"/>
            <a:ext cx="11430000" cy="749808"/>
          </a:xfrm>
          <a:prstGeom prst="rect">
            <a:avLst/>
          </a:prstGeom>
          <a:solidFill>
            <a:srgbClr val="E8F0FB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548640" y="55595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Flujo reproducible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486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→ copy → clean → verificar → guardar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9E"/>
                </a:solidFill>
              </a:rPr>
              <a:t>Próxima sesión → Análisis exploratorio: distribuciones de una variable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1266</Words>
  <Application>Microsoft Office PowerPoint</Application>
  <PresentationFormat>Widescreen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Cadavid Aguilar</cp:lastModifiedBy>
  <cp:revision>2</cp:revision>
  <dcterms:created xsi:type="dcterms:W3CDTF">2026-09-13T05:09:30Z</dcterms:created>
  <dcterms:modified xsi:type="dcterms:W3CDTF">2026-09-13T06:33:41Z</dcterms:modified>
</cp:coreProperties>
</file>