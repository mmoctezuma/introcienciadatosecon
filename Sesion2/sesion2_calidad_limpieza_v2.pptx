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81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sesión: desarrollar el ojo clínico para detectar problemas en los datos, y las herramientas para corregirlos.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Reinhart-Rogoff es muy conocido. Buscar "Excel error austerity Herndon" — el paper de corrección es de 2013. El punto: los errores de datos tienen consecuencias de política pública reales y costosas.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alumnos que con el dataset del Banco Mundial de la sesión pasada identifiquen cuál dimensión tiene problemas. Probablemente: completitud (muchos NaN) y temporalidad (distintos años de reporte por país).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¿qué mecanismo tiene el GINI faltante en el Banco Mundial? Probablemente MAR (países sin capacidad estadística). Esto es crucial para economía del desarrollo: los países que más necesitamos medir son los que menos datos tienen.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en vivo: abrir el notebook y correr estas 8 celdas sobre el dataset de la ENIGH simulada. Parar después de cada una y preguntar qué encontraron.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trampa: si hago df.drop_duplicates() sin argumentos, ¿qué pasa? Busca filas idénticas en TODAS las columnas. Casi siempre quieres hacerlo por subset (la clave primaria).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en vivo: value_counts() ANTES y DESPUÉS de limpiar. El efecto es inmediato y visualmente claro. El str-chaining es muy poderoso en Pandas.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distinción entre outlier real y error es clave. Un economista que trabaja con datos de ingresos sabe que el percentil 99 puede ser real. Un ingeniero de datos puede borrarlo automáticamente — eso es peligroso.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pregunta clave es siempre: ¿el faltante es aleatorio? Si hay razón sistemática, eliminar introduce sesgo. Los mejores papers de economía hoy modelan explícitamente el mecanismo de faltante.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caso más confuso: código postal "09400" se lee como int 9400. El fix: pd.read_csv(dtype={"cp": str}). La columna "año" es int pero estadísticamente es categórica ordinal.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importa: no intentes imputar antes de corregir tipos, porque no sabes si un NaN es realmente NaN o un "999" que todavía no limpiaste. El paso 2 (diagnóstico) te da el mapa de todo lo que hay que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notebook está diseñado para correrlo celda por celda con el profesor. Parar en cada "Pausa de diagnóstico" y preguntar qué encontraron. La tabla de problemas al final de la Parte 3 es el momento clave de reflexión.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traigan una pregunta sobre los datos de la ENIGH limpia para la siguiente sesión. Puede ser sobre distribución, outliers o comparación entre grupos.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8"/>
                </a:solidFill>
              </a:rPr>
              <a:t>EO4040 — Introducción a la Ciencia de Datos para Economía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4E8"/>
                </a:solidFill>
              </a:rPr>
              <a:t>Sesión 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Calidad de datos y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técnicas de limpieza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40080" y="3931920"/>
            <a:ext cx="2743200" cy="36576"/>
          </a:xfrm>
          <a:prstGeom prst="rect">
            <a:avLst/>
          </a:prstGeom>
          <a:solidFill>
            <a:srgbClr val="A8C4E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C4E8"/>
                </a:solidFill>
              </a:rPr>
              <a:t>Tema 1.2 — Calidad de los datos  |  Tema 1.3 — Técnicas de limpieza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17720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90B0"/>
                </a:solidFill>
              </a:rPr>
              <a:t>Tec de Monterrey  ·  Gobierno y Transformación Pública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¿Por qué importa la calidad de los datos?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GIGO — Garbage In, Garbage 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75720" cy="10110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94360" y="1044488"/>
            <a:ext cx="11064240" cy="561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3A6B"/>
                </a:solidFill>
              </a:rPr>
              <a:t>"Data scientists spend 80% of their time cleaning and preparing data, and only 20% actually analyzing it."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57136"/>
            <a:ext cx="11064240" cy="314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— Encuesta CrowdFlower / Anaconda, ampliamente citada en la industria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2394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Casos reales donde datos sucios llevaron a conclusiones incorrectas: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78332"/>
            <a:ext cx="11475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65760" y="2678332"/>
            <a:ext cx="164592" cy="11155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658368" y="275148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El error de Excel del FMI (Reinhart-Rogoff, 2010)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11724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Un error de selección de rango en Excel excluyó accidentalmente 5 países de un cálculo clave. El resultado: una conclusión errónea sobre la relación deuda/PIB que justificó políticas de austeridad en Europa post-2008. El error fue descubierto por un estudiante de posgrado en 2013.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940204"/>
            <a:ext cx="11475720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65760" y="3940204"/>
            <a:ext cx="164592" cy="11155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58368" y="401335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Duplicados en el padrón de beneficiarios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437911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Si el padrón de un programa social tiene 30% de registros duplicados, el gasto per cápita reportado está inflado artificialmente. Cualquier evaluación de impacto que use ese padrón como línea de base produce resultados incorrectos.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202076"/>
            <a:ext cx="1147572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365760" y="5202076"/>
            <a:ext cx="164592" cy="11155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658368" y="52752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Inconsistencias en la ENIGH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56409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Un hogar donde el jefe tiene 15 años y nivel educativo "Posgrado" no es un error obvio si solo miras una columna a la vez. Si no se detecta con reglas de consistencia entre variables, contamina cualquier modelo de retorno educativo.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Las 6 dimensiones de calidad de datos — Tema 1.2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Marco conceptual para diagnosticar cualquier dataset antes de tocarlo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Antes de modificar un solo dato, necesitamos un vocabulario compartido para describir los problemas: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57200" y="1517904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Completitud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975104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¿Están todos los valores presentes?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40864"/>
            <a:ext cx="3331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Un dataset es completo si cada observación tiene valor para cada variable. En la práctica casi nunca. Los valores faltantes (NaN) pueden ser aleatorios o sistemáticos — y esa diferencia importa mucho.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5643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Ingreso mensual faltante en 20% de los hogares de la ENIGH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0248" y="1444752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270248" y="1444752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407408" y="1517904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Consistencia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1975104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valores tienen sentido entre sí?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340864"/>
            <a:ext cx="33313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Las variables de un mismo registro deben ser coherentes. Un error de consistencia ocurre cuando dos variables de la misma fila se contradicen según la lógica del dominio.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407408" y="345643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Edad = 5 años, nivel educativo = "Licenciatura" — imposible biológicamente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0456" y="1444752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8220456" y="1444752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8357616" y="1517904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Exactitud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1975104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valores son correctos?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57616" y="2340864"/>
            <a:ext cx="3331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¿El dato refleja la realidad? Es la dimensión más difícil de verificar. Se detecta comparando con rangos esperados del dominio o con fuentes externas de referencia.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357616" y="345643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Ingreso mensual = $9,999,999 — probablemente un código de no respuesta (999) mal procesado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023360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20040" y="4023360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457200" y="4096512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Unicidad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5371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¿Cada observación aparece exactamente una vez?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919472"/>
            <a:ext cx="3331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Los registros duplicados inflan el tamaño de la muestra y distorsionan estadísticas. Ocurren por errores de sistema, duplicación en el proceso ETL o merge mal ejecutado.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035040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El hogar con folio 1001 aparece dos veces con datos idénticos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70248" y="4023360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4270248" y="4023360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4407408" y="4096512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Granularidad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07408" y="455371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¿El nivel de detalle es el adecuado para el análisis?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407408" y="4919472"/>
            <a:ext cx="3331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 veces los datos tienen más o menos detalle del que necesitas. La granularidad incorrecta puede hacer el análisis imposible sin cruzar con otras fuentes.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4407408" y="6035040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Necesito analizar desigualdad por municipio, pero el dataset solo tiene nivel estatal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0456" y="4023360"/>
            <a:ext cx="3611880" cy="242316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8220456" y="4023360"/>
            <a:ext cx="3611880" cy="43891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8357616" y="4096512"/>
            <a:ext cx="33313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Temporalidad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357616" y="4553712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¿Los datos son del período correcto y son comparables entre sí?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357616" y="4919472"/>
            <a:ext cx="33313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Mezclar datos de distintos años sin ajustar puede introducir sesgos enormes: inflación, cambios metodológicos, cambios de cobertura de la encuesta.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8357616" y="6035040"/>
            <a:ext cx="33313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Ej: Mezclar ENIGH 2018 y ENIGH 2022 sin homologar — hubo pandemia y cambios de cuestionario entre ambas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Completitud a fondo: ¿por qué falta un valor? — Tema 1.2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El mecanismo por el que falta un dato determina qué tan sesgada queda tu muestra si los eliminas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No todos los valores faltantes son iguales. Esta distinción es fundamental para decidir qué hacer con los NaN.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392" y="1382816"/>
            <a:ext cx="3554405" cy="436237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9392" y="1382816"/>
            <a:ext cx="3554405" cy="5486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96104" y="1446824"/>
            <a:ext cx="325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MCAR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6104" y="202289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Missing Completely At Random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96104" y="2306360"/>
            <a:ext cx="3254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Faltante completamente aleatorio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6104" y="266297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Definición: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6104" y="2937296"/>
            <a:ext cx="325463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La probabilidad de que falte un valor NO depende del valor que faltó NI de ninguna otra variable. El faltante es puro accidente.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96104" y="3879128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Ejemplo: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6104" y="4153448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Un encuestador derramó café sobre 50 cuestionarios de la ENIGH. Esas páginas quedaron ilegibles.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045" y="4857536"/>
            <a:ext cx="3383108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496104" y="4948976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dropna() es aceptable. Imputar también funciona. Cualquier estrategia funciona.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7032" y="1382816"/>
            <a:ext cx="3554405" cy="436237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4307032" y="1382816"/>
            <a:ext cx="3554405" cy="5486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4473744" y="1446824"/>
            <a:ext cx="325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473744" y="202289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Missing At Random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473744" y="2306360"/>
            <a:ext cx="3254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Faltante condicional a otras variables observadas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473744" y="266297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Definición: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73744" y="2937296"/>
            <a:ext cx="325463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La probabilidad de que falte depende de OTRAS variables observadas, pero NO del valor que faltó. Controlable estadísticamente.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73744" y="3879128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Ejemplo: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473744" y="4153448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Los hombres de 60+ en la ENIGH no reportan ingreso con más frecuencia. El faltante depende de la edad y el sexo (observados), no del ingreso en sí.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99685" y="4857536"/>
            <a:ext cx="3383108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4473744" y="4948976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Imputación condicional (mediana por grupo de edad y sexo). No eliminar sin controlar primero.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84672" y="1382816"/>
            <a:ext cx="3554405" cy="436237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8284672" y="1382816"/>
            <a:ext cx="3554405" cy="5486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8451384" y="1446824"/>
            <a:ext cx="325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MNAR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451384" y="202289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6B"/>
                </a:solidFill>
              </a:rPr>
              <a:t>Missing Not At Random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451384" y="2306360"/>
            <a:ext cx="32546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Faltante NO aleatorio — el más problemático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451384" y="2662976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Definición: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51384" y="2937296"/>
            <a:ext cx="325463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La probabilidad de que falte depende del PROPIO valor que faltó. El dato falta POR LO QUE ES. Introduce sesgo sistemático difícil de corregir.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51384" y="3879128"/>
            <a:ext cx="32546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5555"/>
                </a:solidFill>
              </a:rPr>
              <a:t>Ejemplo: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51384" y="4153448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Los hogares con ingreso muy alto o muy bajo no reportan su ingreso en la ENIGH. El faltante en "ingreso" depende del nivel de ingreso mismo.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77325" y="4857536"/>
            <a:ext cx="3383108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8451384" y="4948976"/>
            <a:ext cx="325463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Modelo del mecanismo de faltante. Crear indicador de faltante. Imputación múltiple. No hay solución simple.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65760" y="6026592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En economía, MNAR es la situación más frecuente y más peligrosa: ricos y pobres subreportan. Siempre preguntar: ¿hay alguna razón por la que un dato faltaría?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Diagnóstico sistemático con Pandas — Tema 1.2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Correr estas 8 preguntas en ORDEN antes de modificar cualquier dato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Protocolo obligatorio: la "radiografía" siempre va primero.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259" y="1325019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8" name="Shape 6"/>
          <p:cNvSpPr/>
          <p:nvPr/>
        </p:nvSpPr>
        <p:spPr>
          <a:xfrm>
            <a:off x="264834" y="1325019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386605" y="1363653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6605" y="1791363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¿Cuántas filas y columnas?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483300" y="1361595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(150000, 23)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483300" y="2076233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Primera línea. Siempre.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7579" y="1325019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6193763" y="1325019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6263781" y="1372279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1800" y="1791363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¿Qué tipo asignó Python?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377731" y="1361595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 float64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object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 object  ← debería ser datetime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377731" y="2076233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Detecta variables mal tipadas.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259" y="2660043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264832" y="2660043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377973" y="2698677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df.head(10)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69347" y="3117761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¿Cómo se ven los datos?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2483300" y="2696619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Vista de las 10 primeras filas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83300" y="3411257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Nunca analices datos que no has visto.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77579" y="2660043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29" name="Shape 27"/>
          <p:cNvSpPr/>
          <p:nvPr/>
        </p:nvSpPr>
        <p:spPr>
          <a:xfrm>
            <a:off x="6193767" y="2660043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6272404" y="2715929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01800" y="3126387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¿Cuántos NaN por columna?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77731" y="2696619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ingreso  2450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     8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377731" y="3411257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Calcular también /len(df)*100 para el %.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8259" y="3995067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Shape 34"/>
          <p:cNvSpPr/>
          <p:nvPr/>
        </p:nvSpPr>
        <p:spPr>
          <a:xfrm>
            <a:off x="264832" y="3995067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360722" y="4068206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</a:t>
            </a:r>
            <a:b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'id').sum()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360723" y="4461411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¿Hay filas repetidas?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2483300" y="4031643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 ← 47 filas duplicadas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414290" y="4746281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Siempre por la clave primaria del dataset.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77579" y="3995067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6193767" y="3995067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 txBox="1"/>
          <p:nvPr/>
        </p:nvSpPr>
        <p:spPr>
          <a:xfrm>
            <a:off x="6281032" y="4068206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df[col].</a:t>
            </a:r>
            <a:r>
              <a:rPr lang="en-US" sz="1000" b="1" dirty="0" err="1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</a:t>
            </a:r>
            <a:b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(dropna=False)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01800" y="4461411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¿Qué valores únicos hay?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377731" y="4031643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'CDMX'  350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'cdmx'    8 ← inconsistencia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      12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377731" y="4746281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Para categóricas. dropna=False incluye NaN.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8259" y="5330091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Shape 48"/>
          <p:cNvSpPr/>
          <p:nvPr/>
        </p:nvSpPr>
        <p:spPr>
          <a:xfrm>
            <a:off x="264832" y="5330091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Text 49"/>
          <p:cNvSpPr txBox="1"/>
          <p:nvPr/>
        </p:nvSpPr>
        <p:spPr>
          <a:xfrm>
            <a:off x="403854" y="5394608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317589" y="5770557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¿Cuál es el rango numérico?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2483300" y="5366667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min=-1   max=9999999 ← imposibles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40170" y="6081305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Detecta outliers y valores imposibles.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277579" y="5330091"/>
            <a:ext cx="5673451" cy="111556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6193767" y="5330091"/>
            <a:ext cx="193617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6"/>
          <p:cNvSpPr txBox="1"/>
          <p:nvPr/>
        </p:nvSpPr>
        <p:spPr>
          <a:xfrm>
            <a:off x="6401800" y="5351473"/>
            <a:ext cx="1801095" cy="3260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df[col].unique()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6401800" y="5796435"/>
            <a:ext cx="180109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¿Todos los valores únicos?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8377731" y="5366667"/>
            <a:ext cx="344009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['Si', 'No', 1, 0, 'si', None]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8377731" y="6081305"/>
            <a:ext cx="3440092" cy="300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Para columnas con pocos valores únicos.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 1: Duplicados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No todos los duplicados son iguales. Antes de borrar, entender por qué están.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¿Por qué existen los duplicados?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2715768" cy="14173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15768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57200" y="1444752"/>
            <a:ext cx="2470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de sistema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847088"/>
            <a:ext cx="2470473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El mismo registro se insertó dos veces en la BD por un bug en el proceso ETL. Solución: tomar el primero y eliminar el resto.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389888"/>
            <a:ext cx="2715768" cy="14173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91840" y="1389888"/>
            <a:ext cx="2715768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429000" y="1444752"/>
            <a:ext cx="2470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de captura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847088"/>
            <a:ext cx="2470473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Un operador capturó la misma encuesta dos veces. Puede tener pequeñas diferencias entre las dos versiones.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389888"/>
            <a:ext cx="2715768" cy="14173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263640" y="1389888"/>
            <a:ext cx="2715768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 txBox="1"/>
          <p:nvPr/>
        </p:nvSpPr>
        <p:spPr>
          <a:xfrm>
            <a:off x="6400800" y="1444752"/>
            <a:ext cx="2470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Merge mal hecho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847088"/>
            <a:ext cx="2470473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Al cruzar dos tablas por una variable con valores repetidos, se generan filas extra artificialmente.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35440" y="1389888"/>
            <a:ext cx="2715768" cy="14173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9235440" y="1389888"/>
            <a:ext cx="2715768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9372600" y="1444752"/>
            <a:ext cx="24704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Duplicado legítimo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1847088"/>
            <a:ext cx="2470473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Un hogar que aparece en dos encuestas diferentes (panel). NO es un error — usar subset para verificar por la clave correcta.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" y="2944368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Paso a paso en Pandas: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6568"/>
            <a:ext cx="11475720" cy="2683681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566928" y="346713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Detectar: ¿cuántos son?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74145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n_dup = df.duplicated(subset='folio_hogar').sum()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401577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print(f'{n_dup} filas duplicadas de {len(df)}')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56448" y="401577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 ej: 47 filas duplicadas de 2000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43159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40051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Inspeccionarlos antes de borrar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67483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df[df.duplicated(subset='folio_hogar', keep=False)].sort_values('folio_hogar').head(10)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156448" y="467483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 muestra el original Y el duplicado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1389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511133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7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Eliminar (keep="first" conserva la primera aparición)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53856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df.drop_duplicates(subset='folio_hogar', keep='first')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56599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print(f'Filas después: {len(df_clean)}')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56448" y="56599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→  ej: 1953 (se eliminaron 47)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" y="6281762"/>
            <a:ext cx="11475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⚠  Siempre trabajar sobre df.copy() — el dataset original nunca se toca.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 2: Estandarización de texto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Para Python, "CDMX" y "cdmx" son dos categorías distintas. Tú sabes que son la misma. Python no.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1475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48640" y="1078992"/>
            <a:ext cx="4114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Capitalización inconsistente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60704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4754880" y="1106424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"Primaria"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19088" y="1060704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 txBox="1"/>
          <p:nvPr/>
        </p:nvSpPr>
        <p:spPr>
          <a:xfrm>
            <a:off x="6419088" y="1106424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"primaria"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060704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083296" y="1106424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"PRIMARIA"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738360" y="1106424"/>
            <a:ext cx="36576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149840" y="1042416"/>
            <a:ext cx="1097280" cy="34508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10149840" y="1088136"/>
            <a:ext cx="109728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1476846"/>
            <a:ext cx="10972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.str.title()   o   .str.lower()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1842606"/>
            <a:ext cx="10972800" cy="23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Detectar con: df[col].unique()   o   df[col].value_counts()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265298"/>
            <a:ext cx="11475720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548640" y="2356738"/>
            <a:ext cx="4114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Espacios extra invisibles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8450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4754880" y="2384170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"Jalisco "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19088" y="2338450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 txBox="1"/>
          <p:nvPr/>
        </p:nvSpPr>
        <p:spPr>
          <a:xfrm>
            <a:off x="6419088" y="2384170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CDMX"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2338450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8083296" y="2384170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"Oaxaca  "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738360" y="2384170"/>
            <a:ext cx="36576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149840" y="2320162"/>
            <a:ext cx="1097280" cy="34508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10149840" y="2365882"/>
            <a:ext cx="109728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2745966"/>
            <a:ext cx="10972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.str.strip()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3111726"/>
            <a:ext cx="10972800" cy="23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Detectar con: df[col].unique()   o   df[col].value_counts()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517165"/>
            <a:ext cx="1147572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548640" y="3608605"/>
            <a:ext cx="4114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Abreviaturas mezcladas con nombres completos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59031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4754880" y="363603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"CDMX"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19088" y="359031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6419088" y="363603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"Ciudad de México"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083296" y="359031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8083296" y="363603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"Df"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738360" y="3636037"/>
            <a:ext cx="36576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149840" y="3572029"/>
            <a:ext cx="1097280" cy="34508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 txBox="1"/>
          <p:nvPr/>
        </p:nvSpPr>
        <p:spPr>
          <a:xfrm>
            <a:off x="10149840" y="3617749"/>
            <a:ext cx="109728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4015085"/>
            <a:ext cx="10972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.replace({"CDMX": "Ciudad de México", "Df": "Ciudad de México"})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4380845"/>
            <a:ext cx="10972800" cy="23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Detectar con: df[col].unique()   o   df[col].value_counts()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786285"/>
            <a:ext cx="11475720" cy="113385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 txBox="1"/>
          <p:nvPr/>
        </p:nvSpPr>
        <p:spPr>
          <a:xfrm>
            <a:off x="548640" y="4877725"/>
            <a:ext cx="4114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Tipos mixtos en una misma columna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754880" y="485943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6"/>
          <p:cNvSpPr txBox="1"/>
          <p:nvPr/>
        </p:nvSpPr>
        <p:spPr>
          <a:xfrm>
            <a:off x="4754880" y="490515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19088" y="485943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8"/>
          <p:cNvSpPr txBox="1"/>
          <p:nvPr/>
        </p:nvSpPr>
        <p:spPr>
          <a:xfrm>
            <a:off x="6419088" y="490515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"Si"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083296" y="4859437"/>
            <a:ext cx="1536192" cy="345087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 txBox="1"/>
          <p:nvPr/>
        </p:nvSpPr>
        <p:spPr>
          <a:xfrm>
            <a:off x="8083296" y="490515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"TRUE"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9747504" y="4905157"/>
            <a:ext cx="1536192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2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9738360" y="4905157"/>
            <a:ext cx="36576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149840" y="4841149"/>
            <a:ext cx="1097280" cy="345087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Text 55"/>
          <p:cNvSpPr txBox="1"/>
          <p:nvPr/>
        </p:nvSpPr>
        <p:spPr>
          <a:xfrm>
            <a:off x="10149840" y="4886869"/>
            <a:ext cx="1097280" cy="246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limpio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275579"/>
            <a:ext cx="10972800" cy="287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función personalizada con .apply()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548640" y="5641339"/>
            <a:ext cx="10972800" cy="230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Detectar con: df[col].unique()   o   df[col].value_counts()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6185833"/>
            <a:ext cx="11475720" cy="25603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1" name="Text 59"/>
          <p:cNvSpPr txBox="1"/>
          <p:nvPr/>
        </p:nvSpPr>
        <p:spPr>
          <a:xfrm>
            <a:off x="548640" y="6231553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completo:  df['estado'] = df['estado'].str.strip().str.title().replace({'Cdmx':'Ciudad de México','Nl':'Nuevo León'})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 3: Valores imposibles y outliers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Un valor puede no ser NaN y aun así ser incorrecto. Se detecta con lógica de dominio.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</a:rPr>
              <a:t>Herramienta clave para detectarlos: df.describe() — si el min es negativo o el max es 999, algo está raro.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1475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64592" cy="1600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658368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Códigos de no respuesta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874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Muchas encuestas codifican la no-respuesta con un número: 999, 9999, -1 o -99. Si no se detectan, distorsionan la media y el rango de la variable.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423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Ejemplo: df['edad'] → describe() muestra max = 999 → claramente un código, no una edad real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49640" y="1508760"/>
            <a:ext cx="0" cy="141732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8686800" y="15087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Fix: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0" y="1801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df.loc[df['edad'] == 999, 'edad'] = np.nan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¿Cómo saber cuáles son los códigos? Siempre leer el diccionario de datos / cuestionario de la encuesta.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72968"/>
            <a:ext cx="11475720" cy="160020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164592" cy="1600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58368" y="32644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Valores físicamente imposibles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63016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Violan restricciones lógicas del dominio que cualquier conocedor del tema reconocería inmediatamente.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4178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Ejemplo: df['num_hijos'].min() = -1   ·   df['edad_jefe'].min() = -5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49640" y="3264408"/>
            <a:ext cx="0" cy="141732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686800" y="32644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Fix: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355701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df.loc[df['num_hijos'] &lt; 0, 'num_hijos'] = np.nan  # núm. de hijos no puede ser negativo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41330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Definir un rango válido para cada variable numérica con base en el dominio, no en los datos.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928616"/>
            <a:ext cx="114757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365760" y="4928616"/>
            <a:ext cx="164592" cy="1600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658368" y="50200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Outliers extremos (posiblemente reales)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3858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Un ingreso de $2,000,000 pesos al mes puede ser real (un alto ejecutivo). No necesariamente es un error — depende del contexto del análisis.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59344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</a:rPr>
              <a:t>Ejemplo: df['ingreso'].max() = 2,450,000 → ¿captura real o error de tecleado?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49640" y="5020056"/>
            <a:ext cx="0" cy="1417320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8686800" y="5020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Fix: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686800" y="53126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Investigar: ver percentil 99, comparar con registros alternativos, documentar la decisión explícitamente.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58887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La distinción entre outlier real y error es de dominio, no estadística. No borrar automáticamente.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 4: Imputación de valores faltantes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El "cómo" depende del "por qué falta". No hay una sola respuesta correcta.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96012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Árbol de decisión para elegir la estrategia de imputación: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353312"/>
            <a:ext cx="320040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4480560" y="142646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¿Por qué falta el dato?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883664"/>
            <a:ext cx="0" cy="34747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2148840" y="2231136"/>
            <a:ext cx="393192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6080760" y="2231136"/>
            <a:ext cx="3794760" cy="0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2148840" y="2231136"/>
            <a:ext cx="0" cy="34747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6080760" y="2231136"/>
            <a:ext cx="0" cy="34747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9875520" y="2231136"/>
            <a:ext cx="0" cy="347472"/>
          </a:xfrm>
          <a:prstGeom prst="line">
            <a:avLst/>
          </a:prstGeom>
          <a:noFill/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3474720" cy="5669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 txBox="1"/>
          <p:nvPr/>
        </p:nvSpPr>
        <p:spPr>
          <a:xfrm>
            <a:off x="4114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&lt; 5% y parece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aleatorio (MCAR)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152784"/>
            <a:ext cx="3474720" cy="234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457200" y="3244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Eliminar con dropna()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87729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df.dropna(subset=['ingreso'])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4344269"/>
            <a:ext cx="329184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457200" y="4435709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Pérdida de muestra mínima y sin sesgo. La muestra resultante sigue siendo representativa.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2578608"/>
            <a:ext cx="3474720" cy="5669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45262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Variable numérica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(ingresos, edad)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152784"/>
            <a:ext cx="3474720" cy="234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4572000" y="3244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Mediana por grupo (condicional)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587729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df['ing'].fillna(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df.groupby('estado')['ing']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.transform('median'))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4344269"/>
            <a:ext cx="329184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4572000" y="4435709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¿Por qué mediana y no media? Robusta a outliers. Un ingreso de $2M no jala el promedio del grupo.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49640" y="2578608"/>
            <a:ext cx="3474720" cy="56692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86410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Variable categórica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</a:rPr>
              <a:t>(estado, escolaridad)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549640" y="3152784"/>
            <a:ext cx="3474720" cy="2348799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 txBox="1"/>
          <p:nvPr/>
        </p:nvSpPr>
        <p:spPr>
          <a:xfrm>
            <a:off x="8686800" y="324422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Categoría especial "No especificado"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686800" y="3587729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df['estado'].fillna('No especificado')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641080" y="4344269"/>
            <a:ext cx="3291840" cy="36576"/>
          </a:xfrm>
          <a:prstGeom prst="rect">
            <a:avLst/>
          </a:prstGeom>
          <a:solidFill>
            <a:srgbClr val="C8CED8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8686800" y="4435709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¿Por qué no la moda? Decir "lo más probable" puede ser incorrecto cuando no sabes el estado real.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5747956"/>
            <a:ext cx="11475720" cy="644215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548640" y="5775388"/>
            <a:ext cx="11155680" cy="527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especial: df['ingreso_faltante'] = df['ingreso'].isnull().astype(int)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Cuando el faltante mismo es informativo (MNAR), crear un indicador binario.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 5: Corregir tipos de datos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pd.read_csv() no sabe qué es cada columna. Tú sí. Corregirlos mejora el rendimiento y evita errores silenciosos.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1475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164592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58368" y="1060704"/>
            <a:ext cx="2560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→ category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463040"/>
            <a:ext cx="7132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Cuándo: Variables categóricas con pocos valores únicos (estado, escolaridad, sector)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856232"/>
            <a:ext cx="7132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df['estado'] = df['estado'].astype('category')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955280" y="1078992"/>
            <a:ext cx="0" cy="1018903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8092440" y="1170432"/>
            <a:ext cx="3566160" cy="806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✓ 10x menos memoria. groupby y value_counts() más rápidos. Pandas la reconoce como categórica.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66851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65760" y="2266851"/>
            <a:ext cx="164592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658368" y="2340003"/>
            <a:ext cx="2560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→ float64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742339"/>
            <a:ext cx="7132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Cuándo: Columnas numéricas leídas como texto. Ej: "22,450" con coma como separador de miles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135531"/>
            <a:ext cx="7132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df['ingreso'] = pd.to_numeric(df['ingreso'].str.replace(',',''), errors='coerce')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2358291"/>
            <a:ext cx="0" cy="1018903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8092440" y="2449731"/>
            <a:ext cx="3566160" cy="806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✓ errors="coerce" convierte lo que no puede parsear a NaN en lugar de tirar error.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3572030"/>
            <a:ext cx="11475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365760" y="3572030"/>
            <a:ext cx="164592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658368" y="3645182"/>
            <a:ext cx="2560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→ datetime64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047518"/>
            <a:ext cx="7132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Cuándo: Columnas de fecha en cualquier formato: '2022-03-15', '15/03/2022', 'marzo 2022'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4440710"/>
            <a:ext cx="7132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df['fecha'] = pd.to_datetime(df['fecha'], format='%d/%m/%Y')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55280" y="3663470"/>
            <a:ext cx="0" cy="1018903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8092440" y="3754910"/>
            <a:ext cx="3566160" cy="806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✓ Permite calcular diferencias de tiempo, agrupar por mes/año, construir series de tiempo.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" y="4877209"/>
            <a:ext cx="11475720" cy="11887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365760" y="4877209"/>
            <a:ext cx="164592" cy="11887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 txBox="1"/>
          <p:nvPr/>
        </p:nvSpPr>
        <p:spPr>
          <a:xfrm>
            <a:off x="658368" y="4950361"/>
            <a:ext cx="2560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 → Int64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5352697"/>
            <a:ext cx="7132320" cy="322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</a:rPr>
              <a:t>Cuándo: Variables enteras que tienen valores faltantes (int64 no acepta NaN → Pandas las sube a float)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745889"/>
            <a:ext cx="71323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df['num_hijos'] = df['num_hijos'].astype('Int64')  # I mayúscula = nullable integer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4968649"/>
            <a:ext cx="0" cy="1018903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8092440" y="5060089"/>
            <a:ext cx="3566160" cy="806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55555"/>
                </a:solidFill>
              </a:rPr>
              <a:t>✓ Acepta NaN. Evita el antipatrón de 3.0 en lugar de 3. Joins y comparaciones correctas.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65760" y="6294524"/>
            <a:ext cx="11475720" cy="274326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 txBox="1"/>
          <p:nvPr/>
        </p:nvSpPr>
        <p:spPr>
          <a:xfrm>
            <a:off x="548640" y="6312811"/>
            <a:ext cx="11155680" cy="22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Verificar siempre con df.dtypes después de cada conversión. Y df.isnull().sum() para confirmar que errors="coerce" no generó NaN inesperados.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Técnicas de limpieza: menú completo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3749040" cy="38404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576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Duplicados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drop_duplicates(subset=...)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Identificar con duplicated()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Decidir qué observación conservar (keep=first/last)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Verificar si el duplicado es real o un error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4206240" y="960120"/>
            <a:ext cx="3749040" cy="384048"/>
          </a:xfrm>
          <a:prstGeom prst="rect">
            <a:avLst/>
          </a:prstGeom>
          <a:solidFill>
            <a:srgbClr val="2C5F9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 txBox="1"/>
          <p:nvPr/>
        </p:nvSpPr>
        <p:spPr>
          <a:xfrm>
            <a:off x="429768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Texto inconsistente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 / .replace()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strip() para espacios extra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lower() o title() para capitalización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replace() con diccionario de mapeo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Expresiones regulares para patrones complejos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38160" y="9601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8138160" y="960120"/>
            <a:ext cx="374904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 txBox="1"/>
          <p:nvPr/>
        </p:nvSpPr>
        <p:spPr>
          <a:xfrm>
            <a:off x="8229600" y="9966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 imposibles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14173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Condiciones lógicas + np.nan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7556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Definir rango válido (edad: 0-120)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21671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Identificar códigos de no respuesta (999, -1)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578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Reemplazar con np.nan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29900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pd.to_numeric(errors="coerce")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374904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36576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Valores faltantes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fillna() / dropna()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Eliminar si &lt;5% y aleatorio (dropna)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Mediana/media según distribución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Moda para categóricas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5733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Crear indicador de faltante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Shape 35"/>
          <p:cNvSpPr/>
          <p:nvPr/>
        </p:nvSpPr>
        <p:spPr>
          <a:xfrm>
            <a:off x="4206240" y="3703320"/>
            <a:ext cx="3749040" cy="384048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 txBox="1"/>
          <p:nvPr/>
        </p:nvSpPr>
        <p:spPr>
          <a:xfrm>
            <a:off x="429768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Tipos incorrectos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29768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astype() / to_datetime()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29768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category (categóricas)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29768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float con to_numeric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29768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object → datetime con to_datetime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297680" y="57332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Usar Int64 para enteros con NaN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370332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F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8138160" y="3703320"/>
            <a:ext cx="3749040" cy="38404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 txBox="1"/>
          <p:nvPr/>
        </p:nvSpPr>
        <p:spPr>
          <a:xfrm>
            <a:off x="8229600" y="373989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Granularidad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229600" y="4160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5F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groupby() / merge()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8229600" y="4498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Agregar si necesitamos menos detalle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229600" y="4910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Merge con catálogos para más detalle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229600" y="53218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</a:rPr>
              <a:t>• Verificar que el join sea correcto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Flujo completo de limpieza — Tema 1.3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Un protocolo reproducible que cualquier colaborador puede seguir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75720" cy="960120"/>
          </a:xfrm>
          <a:prstGeom prst="rect">
            <a:avLst/>
          </a:prstGeom>
          <a:solidFill>
            <a:srgbClr val="FAE5E2"/>
          </a:solidFill>
          <a:ln w="12700">
            <a:solidFill>
              <a:srgbClr val="AA22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548640" y="10332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A2200"/>
                </a:solidFill>
              </a:rPr>
              <a:t>⛔  REGLA DE ORO: El dataset raw es sagrado. Nunca lo modifiques directamente.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Siempre crear una copia primero: df_clean = df.copy() — si algo sale mal, tienes el original intacto.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084832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Aplicar en este orden: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 txBox="1"/>
          <p:nvPr/>
        </p:nvSpPr>
        <p:spPr>
          <a:xfrm>
            <a:off x="320040" y="2898648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2587752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Crear copia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990088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df.copy()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383280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El raw es intocable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29617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70248" y="2514600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270248" y="2514600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4270248" y="2898648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587752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2990088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shape, dtypes, isnull, describe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864608" y="3383280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Entender antes de actuar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900416" y="2961793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0456" y="2514600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8220456" y="2514600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 txBox="1"/>
          <p:nvPr/>
        </p:nvSpPr>
        <p:spPr>
          <a:xfrm>
            <a:off x="8220456" y="2898648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814816" y="2587752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Duplicados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14816" y="2990088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drop_duplicates(subset=)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814816" y="3383280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Por clave primaria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904488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320040" y="3904488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 txBox="1"/>
          <p:nvPr/>
        </p:nvSpPr>
        <p:spPr>
          <a:xfrm>
            <a:off x="320040" y="4288536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3977640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Texto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379976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.str.title(), .replace()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773168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Estandarizar categorías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50208" y="435168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270248" y="3904488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Shape 36"/>
          <p:cNvSpPr/>
          <p:nvPr/>
        </p:nvSpPr>
        <p:spPr>
          <a:xfrm>
            <a:off x="4270248" y="3904488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4270248" y="4288536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864608" y="3977640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Imposibles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4864608" y="4379976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rangos + np.nan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4864608" y="4773168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Códigos de no respuesta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900416" y="435168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220456" y="3904488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8220456" y="3904488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 txBox="1"/>
          <p:nvPr/>
        </p:nvSpPr>
        <p:spPr>
          <a:xfrm>
            <a:off x="8220456" y="4288536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814816" y="3977640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Tipos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814816" y="4379976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astype(), to_datetime()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814816" y="4773168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object → category/float/date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" y="5294376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Shape 49"/>
          <p:cNvSpPr/>
          <p:nvPr/>
        </p:nvSpPr>
        <p:spPr>
          <a:xfrm>
            <a:off x="320040" y="5294376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2" name="Text 50"/>
          <p:cNvSpPr txBox="1"/>
          <p:nvPr/>
        </p:nvSpPr>
        <p:spPr>
          <a:xfrm>
            <a:off x="320040" y="5678424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914400" y="5367528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Imputar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914400" y="5769864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fillna(), dropna()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14400" y="6163056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Mediana/categoría/indicador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950208" y="5741569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270248" y="5294376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4270248" y="5294376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 txBox="1"/>
          <p:nvPr/>
        </p:nvSpPr>
        <p:spPr>
          <a:xfrm>
            <a:off x="4270248" y="5678424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4864608" y="5367528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Verificar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4864608" y="5769864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isnull().sum() == 0?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64608" y="6163056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¿Se resolvió todo?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7900416" y="5741569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→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8220456" y="5294376"/>
            <a:ext cx="3630168" cy="1261872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5" name="Shape 63"/>
          <p:cNvSpPr/>
          <p:nvPr/>
        </p:nvSpPr>
        <p:spPr>
          <a:xfrm>
            <a:off x="8220456" y="5294376"/>
            <a:ext cx="458177" cy="1261872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6" name="Text 64"/>
          <p:cNvSpPr txBox="1"/>
          <p:nvPr/>
        </p:nvSpPr>
        <p:spPr>
          <a:xfrm>
            <a:off x="8220456" y="5678424"/>
            <a:ext cx="45817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67" name="Text 65"/>
          <p:cNvSpPr txBox="1"/>
          <p:nvPr/>
        </p:nvSpPr>
        <p:spPr>
          <a:xfrm>
            <a:off x="8814816" y="5367528"/>
            <a:ext cx="29252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Guardar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8814816" y="5769864"/>
            <a:ext cx="29252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3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to_csv('clean.csv', index=False)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8814816" y="6163056"/>
            <a:ext cx="29252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Listo para el análisis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Ejercicio </a:t>
            </a:r>
            <a:r>
              <a:rPr lang="en-US" sz="2100" b="1" dirty="0" err="1">
                <a:solidFill>
                  <a:srgbClr val="FFFFFF"/>
                </a:solidFill>
              </a:rPr>
              <a:t>en</a:t>
            </a:r>
            <a:r>
              <a:rPr lang="en-US" sz="2100" b="1">
                <a:solidFill>
                  <a:srgbClr val="FFFFFF"/>
                </a:solidFill>
              </a:rPr>
              <a:t> Google </a:t>
            </a:r>
            <a:r>
              <a:rPr lang="en-US" sz="2100" b="1" dirty="0">
                <a:solidFill>
                  <a:srgbClr val="FFFFFF"/>
                </a:solidFill>
              </a:rPr>
              <a:t>Colab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Abrir sesion2_notebook.ipynb · Dataset: ENIGH simulada con 8 tipos de problemas intencionales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 txBox="1"/>
          <p:nvPr/>
        </p:nvSpPr>
        <p:spPr>
          <a:xfrm>
            <a:off x="36576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 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27632" y="987552"/>
            <a:ext cx="101681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 txBox="1"/>
          <p:nvPr/>
        </p:nvSpPr>
        <p:spPr>
          <a:xfrm>
            <a:off x="1810512" y="12246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Setup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06070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Correr imports + verificar ambiente. 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1883664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36576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 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27632" y="1883664"/>
            <a:ext cx="10168128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1810512" y="21207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Contexto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195681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Leer las 6 dimensiones y la tabla de problemas en el notebook. 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2779776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 txBox="1"/>
          <p:nvPr/>
        </p:nvSpPr>
        <p:spPr>
          <a:xfrm>
            <a:off x="365760" y="29809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 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27632" y="2779776"/>
            <a:ext cx="101681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 txBox="1"/>
          <p:nvPr/>
        </p:nvSpPr>
        <p:spPr>
          <a:xfrm>
            <a:off x="1810512" y="30168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Cargar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85292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Ejecutar la celda de creación del dataset. Ver el DataFrame con head(). 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675888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365760" y="387705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 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627632" y="3675888"/>
            <a:ext cx="10168128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 txBox="1"/>
          <p:nvPr/>
        </p:nvSpPr>
        <p:spPr>
          <a:xfrm>
            <a:off x="1810512" y="39129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63440" y="37490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Correr todas las celdas de diagnóstico. Llenar la tabla de problemas encontrados. 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 txBox="1"/>
          <p:nvPr/>
        </p:nvSpPr>
        <p:spPr>
          <a:xfrm>
            <a:off x="365760" y="4773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 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627632" y="4572000"/>
            <a:ext cx="1016812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 txBox="1"/>
          <p:nvPr/>
        </p:nvSpPr>
        <p:spPr>
          <a:xfrm>
            <a:off x="1810512" y="48090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Limpieza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464515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Aplicar las 5 técnicas paso a paso. Verificar después de cada una. 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65760" y="5468112"/>
            <a:ext cx="1188720" cy="74980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 txBox="1"/>
          <p:nvPr/>
        </p:nvSpPr>
        <p:spPr>
          <a:xfrm>
            <a:off x="365760" y="5669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Partes 5-6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627632" y="5468112"/>
            <a:ext cx="10168128" cy="749808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 txBox="1"/>
          <p:nvPr/>
        </p:nvSpPr>
        <p:spPr>
          <a:xfrm>
            <a:off x="1810512" y="57051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Verificar y guardar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663440" y="554126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Reporte final + guardar CSV limpio. Este CSV lo usamos en las sesiones 3 y 4.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 txBox="1"/>
          <p:nvPr/>
        </p:nvSpPr>
        <p:spPr>
          <a:xfrm>
            <a:off x="411480" y="91440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que aprendimos hoy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56692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8"/>
                </a:solidFill>
              </a:rPr>
              <a:t>Sesión 2 — Calidad de datos y técnicas de limpieza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75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164592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 txBox="1"/>
          <p:nvPr/>
        </p:nvSpPr>
        <p:spPr>
          <a:xfrm>
            <a:off x="658368" y="1241337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GIGO y por qué importa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33272"/>
            <a:ext cx="0" cy="804672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 txBox="1"/>
          <p:nvPr/>
        </p:nvSpPr>
        <p:spPr>
          <a:xfrm>
            <a:off x="4846320" y="105156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Un dato sucio produce conclusiones incorrectas. El error de Excel del FMI (Reinhart-Rogoff) afectó políticas de austeridad reales en Europa.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11475720" cy="9601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164592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 txBox="1"/>
          <p:nvPr/>
        </p:nvSpPr>
        <p:spPr>
          <a:xfrm>
            <a:off x="658368" y="2320329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Las 6 dimensiones de calidad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2112264"/>
            <a:ext cx="0" cy="804672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 txBox="1"/>
          <p:nvPr/>
        </p:nvSpPr>
        <p:spPr>
          <a:xfrm>
            <a:off x="4846320" y="213055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Completitud · Consistencia · Exactitud · Unicidad · Granularidad · Temporalidad. Marco para diagnosticar cualquier dataset.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3118104"/>
            <a:ext cx="11475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164592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 txBox="1"/>
          <p:nvPr/>
        </p:nvSpPr>
        <p:spPr>
          <a:xfrm>
            <a:off x="658368" y="3399321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MCAR / MAR / MNAR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191256"/>
            <a:ext cx="0" cy="804672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 txBox="1"/>
          <p:nvPr/>
        </p:nvSpPr>
        <p:spPr>
          <a:xfrm>
            <a:off x="4846320" y="320954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El mecanismo por el que falta un dato determina si puedes ignorarlo, imputarlo, o necesitas modelarlo explícitamente.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4197096"/>
            <a:ext cx="11475720" cy="960120"/>
          </a:xfrm>
          <a:prstGeom prst="rect">
            <a:avLst/>
          </a:prstGeom>
          <a:solidFill>
            <a:srgbClr val="F0F2F5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365760" y="4197096"/>
            <a:ext cx="164592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 txBox="1"/>
          <p:nvPr/>
        </p:nvSpPr>
        <p:spPr>
          <a:xfrm>
            <a:off x="658368" y="4478313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Protocolo de diagnóstico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4270248"/>
            <a:ext cx="0" cy="804672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 txBox="1"/>
          <p:nvPr/>
        </p:nvSpPr>
        <p:spPr>
          <a:xfrm>
            <a:off x="4846320" y="428853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shape → dtypes → head → isnull → duplicated → value_counts → describe → unique. En ese orden. Siempre.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5276088"/>
            <a:ext cx="11475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5276088"/>
            <a:ext cx="164592" cy="96012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 txBox="1"/>
          <p:nvPr/>
        </p:nvSpPr>
        <p:spPr>
          <a:xfrm>
            <a:off x="658368" y="5557305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5 técnicas de limpieza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5349240"/>
            <a:ext cx="0" cy="804672"/>
          </a:xfrm>
          <a:prstGeom prst="line">
            <a:avLst/>
          </a:prstGeom>
          <a:noFill/>
          <a:ln w="12700">
            <a:solidFill>
              <a:srgbClr val="C8CE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 txBox="1"/>
          <p:nvPr/>
        </p:nvSpPr>
        <p:spPr>
          <a:xfrm>
            <a:off x="4846320" y="536752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5555"/>
                </a:solidFill>
              </a:rPr>
              <a:t>Duplicados · texto · valores imposibles · imputación · tipos. Con el flujo de 9 pasos y la regla de oro del raw.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Próxima sesión: </a:t>
            </a:r>
            <a:r>
              <a:rPr lang="en-US" sz="1300" b="1" dirty="0" err="1">
                <a:solidFill>
                  <a:srgbClr val="1B3A6B"/>
                </a:solidFill>
              </a:rPr>
              <a:t>Análisis</a:t>
            </a:r>
            <a:r>
              <a:rPr lang="en-US" sz="1300" b="1" dirty="0">
                <a:solidFill>
                  <a:srgbClr val="1B3A6B"/>
                </a:solidFill>
              </a:rPr>
              <a:t> </a:t>
            </a:r>
            <a:r>
              <a:rPr lang="en-US" sz="1300" b="1" dirty="0" err="1">
                <a:solidFill>
                  <a:srgbClr val="1B3A6B"/>
                </a:solidFill>
              </a:rPr>
              <a:t>exploratorio</a:t>
            </a:r>
            <a:r>
              <a:rPr lang="en-US" sz="1300" b="1" dirty="0">
                <a:solidFill>
                  <a:srgbClr val="1B3A6B"/>
                </a:solidFill>
              </a:rPr>
              <a:t>: </a:t>
            </a:r>
            <a:r>
              <a:rPr lang="en-US" sz="1300" b="1" dirty="0" err="1">
                <a:solidFill>
                  <a:srgbClr val="1B3A6B"/>
                </a:solidFill>
              </a:rPr>
              <a:t>distribuciones</a:t>
            </a:r>
            <a:r>
              <a:rPr lang="en-US" sz="1300" b="1" dirty="0">
                <a:solidFill>
                  <a:srgbClr val="1B3A6B"/>
                </a:solidFill>
              </a:rPr>
              <a:t>, histogramas, boxplots y qué nos dicen los datos.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3812</Words>
  <Application>Microsoft Office PowerPoint</Application>
  <PresentationFormat>Widescreen</PresentationFormat>
  <Paragraphs>377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Natalia Cadavid Aguilar</cp:lastModifiedBy>
  <cp:revision>6</cp:revision>
  <dcterms:created xsi:type="dcterms:W3CDTF">2026-09-13T05:55:00Z</dcterms:created>
  <dcterms:modified xsi:type="dcterms:W3CDTF">2026-09-13T23:06:24Z</dcterms:modified>
</cp:coreProperties>
</file>