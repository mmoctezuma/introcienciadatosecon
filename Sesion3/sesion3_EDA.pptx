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904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sesión: aprender a explorar datos antes de modelar. EDA no es un paso opcional — es donde se generan las hipótesis que guían todo el análisis posterior.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Conectar con sesiones anteriores: en sesión 1 aprendimos a clasificar variables por tipo. En sesión 2 las limpiamos. Hoy por fin las analizamos. El EDA genera hipótesis — no confirma causalidad.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la referencia que deben consultar cada vez que empiecen un análisis. Preguntar: ¿qué tipo es el código postal? ¿Y el año? ¿Y "número de hijos"? Recordar que el tipo estadístico ≠ tipo que Python asigna automáticamente.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Trampa pedagógica: preguntar ¿cuál es el promedio de escolaridad? Eso no tiene sentido matemático para una categórica nominal. La MODA es lo que aplica. Para ordinales como esta, la mediana y la frecuencia acumulada también tienen sentido.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trampa: ¿cuál es el "ingreso promedio" en México? Depende de qué queremos decir. La media de la ENIGH es mucho mayor que la mediana por los hogares de alto ingreso. Los políticos suelen reportar la media porque es más alta. Los economistas prefieren la mediana.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 para discutir en clase: ¿cuál prefieres reportar si eres el Secretario de Hacienda y quieres "vender" que la economía va bien? La media. ¿Si quieres describir la realidad de la mayoría? La mediana. Este sesgo de selección de estadístico es muy común en comunicación de política pública.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Demostración en vivo: abrir el notebook, Parte 2. Mostrar cómo cambia la percepción de la distribución al cambiar el número de bins del histograma. Eso ilustra por qué el KDE a veces es más robusto.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Énfasis clave: la combinación de tipos determina el método. No se puede calcular la correlación de Pearson entre "estado" e "ingreso". No se puede hacer una tabla de contingencia entre "ingreso" y "educación" sin discretizar primero. El error más común es aplicar la herramienta incorrecta.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Ejercicio rápido: ¿cuál esperamos que sea el signo de la correlación entre años de escolaridad e ingreso? ¿Entre tasa de inflación e inversión extranjera? ¿Entre precio del petróleo y PIB de Venezuela vs. Corea del Sur? Primero la intuición económica, luego el número.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discusión: ¿por qué la correlación de Okun podría ser más débil en economías con alto empleo informal? En México, cerca del 55% del empleo es informal. Cuando hay una recesión, muchos trabajadores informales no "salen" de la fuerza laboral de forma contable, lo que subestima el impacto real en el desempleo.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leer la matriz: buscar los cuadros de color más intenso (azul = positiva fuerte, rojo = negativa fuerte). En este ejemplo: PIB per cápita y participación femenina tienen correlación positiva (0.52) — países más ricos tienden a tener mayor participación de la mujer en el mercado laboral. ¿Causalidad? Hablar de variables confusoras.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discusión: ¿este diferencial de ingresos prueba que estudiar un posgrado CAUSA mayores ingresos? No necesariamente — sesgo de selección. Quienes hacen posgrado pueden tener características previas (habilidades, redes) que también explican el mayor ingreso. Para estimar el retorno causal necesitamos instrumentos o experimentos naturales (IV, RDD).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 ¿qué hipótesis económica hay detrás? Los hogares rentados tienden a estar en zonas urbanas con mejor infraestructura de telecomunicaciones. Los prestados (en casa de familiares) tienden a estar en zonas rurales. El tipo de vivienda es un PROXY de otras características socioeconómicas — ejemplo de variable confusora.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de política pública para discutir: en los 2000s varios estudios mostraban correlación positiva entre tamaño de aula y resultados educativos (aulas grandes → mejores notas). ¿Qué tiene de sospechoso? Variable confusora: las escuelas más ricas tienen más alumnos POR aula Y mejores resultados. La variable confusora es el nivel socioeconómico de la escuela.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Énfasis: el paso 5 es el más ignorado y el más importante. Los alumnos que van directamente del EDA al modelo sin documentar hipótesis tienden a ajustar el modelo hasta que "funciona" — eso es overfitting conceptual. Las hipótesis deben escribirse ANTES de ver los resultados del modelo.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5 min de buffer para la conexión a la API del Banco Mundial — a veces tarda. Si la API falla, el notebook tiene un fallback con datos simulados. La discusión del cierre es lo más valioso: que los alumnos empiecen a formular sus propias hipótesis para el proyecto final.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Tarea para la próxima sesión: aplicar el flujo EDA de 5 pasos a su propio dataset del proyecto final. Documentar al menos 3 hipótesis con evidencia del EDA. Traer las gráficas al siguiente clase para discutirlas.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B3A6B"/>
          </a:solidFill>
          <a:ln/>
        </p:spPr>
        <p:txBody>
          <a:bodyPr/>
          <a:lstStyle/>
          <a:p>
            <a:endParaRPr lang="es-MX"/>
          </a:p>
        </p:txBody>
      </p:sp>
      <p:sp>
        <p:nvSpPr>
          <p:cNvPr id="3" name="Shape 1"/>
          <p:cNvSpPr/>
          <p:nvPr/>
        </p:nvSpPr>
        <p:spPr>
          <a:xfrm>
            <a:off x="8046720" y="-640080"/>
            <a:ext cx="4023360" cy="4023360"/>
          </a:xfrm>
          <a:prstGeom prst="ellipse">
            <a:avLst/>
          </a:prstGeom>
          <a:solidFill>
            <a:srgbClr val="FFFFFF">
              <a:alpha val="7000"/>
            </a:srgbClr>
          </a:solidFill>
          <a:ln w="12700">
            <a:solidFill>
              <a:srgbClr val="FFFFFF">
                <a:alpha val="7000"/>
              </a:srgbClr>
            </a:solidFill>
            <a:prstDash val="solid"/>
          </a:ln>
        </p:spPr>
        <p:txBody>
          <a:bodyPr/>
          <a:lstStyle/>
          <a:p>
            <a:endParaRPr lang="es-MX"/>
          </a:p>
        </p:txBody>
      </p:sp>
      <p:sp>
        <p:nvSpPr>
          <p:cNvPr id="4" name="Shape 2"/>
          <p:cNvSpPr/>
          <p:nvPr/>
        </p:nvSpPr>
        <p:spPr>
          <a:xfrm>
            <a:off x="8686800" y="2286000"/>
            <a:ext cx="5486400" cy="5486400"/>
          </a:xfrm>
          <a:prstGeom prst="ellipse">
            <a:avLst/>
          </a:prstGeom>
          <a:solidFill>
            <a:srgbClr val="FFFFFF">
              <a:alpha val="5000"/>
            </a:srgbClr>
          </a:solidFill>
          <a:ln w="12700">
            <a:solidFill>
              <a:srgbClr val="FFFFFF">
                <a:alpha val="5000"/>
              </a:srgbClr>
            </a:solidFill>
            <a:prstDash val="solid"/>
          </a:ln>
        </p:spPr>
        <p:txBody>
          <a:bodyPr/>
          <a:lstStyle/>
          <a:p>
            <a:endParaRPr lang="es-MX"/>
          </a:p>
        </p:txBody>
      </p:sp>
      <p:sp>
        <p:nvSpPr>
          <p:cNvPr id="5" name="Shape 3"/>
          <p:cNvSpPr/>
          <p:nvPr/>
        </p:nvSpPr>
        <p:spPr>
          <a:xfrm>
            <a:off x="-731520" y="4297680"/>
            <a:ext cx="3291840" cy="3291840"/>
          </a:xfrm>
          <a:prstGeom prst="ellipse">
            <a:avLst/>
          </a:prstGeom>
          <a:solidFill>
            <a:srgbClr val="FFFFFF">
              <a:alpha val="6000"/>
            </a:srgbClr>
          </a:solidFill>
          <a:ln w="12700">
            <a:solidFill>
              <a:srgbClr val="FFFFFF">
                <a:alpha val="6000"/>
              </a:srgbClr>
            </a:solidFill>
            <a:prstDash val="solid"/>
          </a:ln>
        </p:spPr>
        <p:txBody>
          <a:bodyPr/>
          <a:lstStyle/>
          <a:p>
            <a:endParaRPr lang="es-MX"/>
          </a:p>
        </p:txBody>
      </p:sp>
      <p:sp>
        <p:nvSpPr>
          <p:cNvPr id="6" name="Text 4"/>
          <p:cNvSpPr txBox="1"/>
          <p:nvPr/>
        </p:nvSpPr>
        <p:spPr>
          <a:xfrm>
            <a:off x="640080" y="1463040"/>
            <a:ext cx="8229600" cy="457200"/>
          </a:xfrm>
          <a:prstGeom prst="rect">
            <a:avLst/>
          </a:prstGeom>
          <a:noFill/>
          <a:ln/>
        </p:spPr>
        <p:txBody>
          <a:bodyPr wrap="square" rtlCol="0" anchor="ctr"/>
          <a:lstStyle/>
          <a:p>
            <a:pPr marL="0" indent="0">
              <a:buNone/>
            </a:pPr>
            <a:r>
              <a:rPr lang="en-US" sz="1400" b="1" dirty="0">
                <a:solidFill>
                  <a:srgbClr val="E8A020"/>
                </a:solidFill>
                <a:latin typeface="Calibri" pitchFamily="34" charset="0"/>
                <a:ea typeface="Calibri" pitchFamily="34" charset="-122"/>
                <a:cs typeface="Calibri" pitchFamily="34" charset="-120"/>
              </a:rPr>
              <a:t>EO4040 — Introducción a la Ciencia de Datos para Economía</a:t>
            </a:r>
            <a:endParaRPr lang="en-US" sz="1400" dirty="0"/>
          </a:p>
        </p:txBody>
      </p:sp>
      <p:sp>
        <p:nvSpPr>
          <p:cNvPr id="7" name="Text 5"/>
          <p:cNvSpPr txBox="1"/>
          <p:nvPr/>
        </p:nvSpPr>
        <p:spPr>
          <a:xfrm>
            <a:off x="640080" y="2057400"/>
            <a:ext cx="3657600" cy="36576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Sesión 3</a:t>
            </a:r>
            <a:endParaRPr lang="en-US" sz="1600" dirty="0"/>
          </a:p>
        </p:txBody>
      </p:sp>
      <p:sp>
        <p:nvSpPr>
          <p:cNvPr id="8" name="Text 6"/>
          <p:cNvSpPr txBox="1"/>
          <p:nvPr/>
        </p:nvSpPr>
        <p:spPr>
          <a:xfrm>
            <a:off x="640080" y="2468880"/>
            <a:ext cx="9144000" cy="1371600"/>
          </a:xfrm>
          <a:prstGeom prst="rect">
            <a:avLst/>
          </a:prstGeom>
          <a:noFill/>
          <a:ln/>
        </p:spPr>
        <p:txBody>
          <a:bodyPr wrap="square" rtlCol="0" anchor="ctr"/>
          <a:lstStyle/>
          <a:p>
            <a:pPr marL="0" indent="0">
              <a:lnSpc>
                <a:spcPct val="110000"/>
              </a:lnSpc>
              <a:buNone/>
            </a:pPr>
            <a:r>
              <a:rPr lang="en-US" sz="4400" b="1" dirty="0">
                <a:solidFill>
                  <a:srgbClr val="FFFFFF"/>
                </a:solidFill>
                <a:latin typeface="Calibri" pitchFamily="34" charset="0"/>
                <a:ea typeface="Calibri" pitchFamily="34" charset="-122"/>
                <a:cs typeface="Calibri" pitchFamily="34" charset="-120"/>
              </a:rPr>
              <a:t>Análisis Exploratorio</a:t>
            </a:r>
            <a:endParaRPr lang="en-US" sz="4400" dirty="0"/>
          </a:p>
          <a:p>
            <a:pPr marL="0" indent="0">
              <a:lnSpc>
                <a:spcPct val="110000"/>
              </a:lnSpc>
              <a:buNone/>
            </a:pPr>
            <a:r>
              <a:rPr lang="en-US" sz="4400" b="1" dirty="0">
                <a:solidFill>
                  <a:srgbClr val="FFFFFF"/>
                </a:solidFill>
                <a:latin typeface="Calibri" pitchFamily="34" charset="0"/>
                <a:ea typeface="Calibri" pitchFamily="34" charset="-122"/>
                <a:cs typeface="Calibri" pitchFamily="34" charset="-120"/>
              </a:rPr>
              <a:t>de Datos (EDA)</a:t>
            </a:r>
            <a:endParaRPr lang="en-US" sz="4400" dirty="0"/>
          </a:p>
        </p:txBody>
      </p:sp>
      <p:sp>
        <p:nvSpPr>
          <p:cNvPr id="9" name="Text 7"/>
          <p:cNvSpPr txBox="1"/>
          <p:nvPr/>
        </p:nvSpPr>
        <p:spPr>
          <a:xfrm>
            <a:off x="640080" y="4023360"/>
            <a:ext cx="10058400" cy="365760"/>
          </a:xfrm>
          <a:prstGeom prst="rect">
            <a:avLst/>
          </a:prstGeom>
          <a:noFill/>
          <a:ln/>
        </p:spPr>
        <p:txBody>
          <a:bodyPr wrap="square" rtlCol="0" anchor="ctr"/>
          <a:lstStyle/>
          <a:p>
            <a:pPr marL="0" indent="0">
              <a:buNone/>
            </a:pPr>
            <a:r>
              <a:rPr lang="en-US" sz="1200" dirty="0">
                <a:solidFill>
                  <a:srgbClr val="A0B4D0"/>
                </a:solidFill>
                <a:latin typeface="Calibri" pitchFamily="34" charset="0"/>
                <a:ea typeface="Calibri" pitchFamily="34" charset="-122"/>
                <a:cs typeface="Calibri" pitchFamily="34" charset="-120"/>
              </a:rPr>
              <a:t>Tema 2.1 — Una variable: categóricas y continuas  |  Tema 2.2 — Varias variables: covarianza y combinaciones</a:t>
            </a:r>
            <a:endParaRPr lang="en-US" sz="1200" dirty="0"/>
          </a:p>
        </p:txBody>
      </p:sp>
      <p:sp>
        <p:nvSpPr>
          <p:cNvPr id="10" name="Shape 8"/>
          <p:cNvSpPr/>
          <p:nvPr/>
        </p:nvSpPr>
        <p:spPr>
          <a:xfrm>
            <a:off x="640080" y="4434840"/>
            <a:ext cx="4572000" cy="0"/>
          </a:xfrm>
          <a:prstGeom prst="line">
            <a:avLst/>
          </a:prstGeom>
          <a:noFill/>
          <a:ln w="25400">
            <a:solidFill>
              <a:srgbClr val="E8A020"/>
            </a:solidFill>
            <a:prstDash val="solid"/>
          </a:ln>
        </p:spPr>
        <p:txBody>
          <a:bodyPr/>
          <a:lstStyle/>
          <a:p>
            <a:endParaRPr lang="es-MX"/>
          </a:p>
        </p:txBody>
      </p:sp>
      <p:sp>
        <p:nvSpPr>
          <p:cNvPr id="11" name="Text 9"/>
          <p:cNvSpPr txBox="1"/>
          <p:nvPr/>
        </p:nvSpPr>
        <p:spPr>
          <a:xfrm>
            <a:off x="640080" y="4572000"/>
            <a:ext cx="7315200" cy="320040"/>
          </a:xfrm>
          <a:prstGeom prst="rect">
            <a:avLst/>
          </a:prstGeom>
          <a:noFill/>
          <a:ln/>
        </p:spPr>
        <p:txBody>
          <a:bodyPr wrap="square" rtlCol="0" anchor="ctr"/>
          <a:lstStyle/>
          <a:p>
            <a:pPr marL="0" indent="0">
              <a:buNone/>
            </a:pPr>
            <a:r>
              <a:rPr lang="en-US" sz="1100" dirty="0">
                <a:solidFill>
                  <a:srgbClr val="90A8C0"/>
                </a:solidFill>
                <a:latin typeface="Calibri" pitchFamily="34" charset="0"/>
                <a:ea typeface="Calibri" pitchFamily="34" charset="-122"/>
                <a:cs typeface="Calibri" pitchFamily="34" charset="-120"/>
              </a:rPr>
              <a:t>Tec de Monterrey  ·  Gobierno y Transformación Pública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txBody>
          <a:bodyPr/>
          <a:lstStyle/>
          <a:p>
            <a:endParaRPr lang="es-MX"/>
          </a:p>
        </p:txBody>
      </p:sp>
      <p:sp>
        <p:nvSpPr>
          <p:cNvPr id="3" name="Text 1"/>
          <p:cNvSpPr txBox="1"/>
          <p:nvPr/>
        </p:nvSpPr>
        <p:spPr>
          <a:xfrm>
            <a:off x="228600" y="36576"/>
            <a:ext cx="8229600" cy="27432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marL="0" indent="0" algn="r">
              <a:buNone/>
            </a:pPr>
            <a:r>
              <a:rPr lang="en-US" sz="900" b="1" dirty="0">
                <a:solidFill>
                  <a:srgbClr val="E8A020"/>
                </a:solidFill>
                <a:latin typeface="Calibri" pitchFamily="34" charset="0"/>
                <a:ea typeface="Calibri" pitchFamily="34" charset="-122"/>
                <a:cs typeface="Calibri" pitchFamily="34" charset="-120"/>
              </a:rPr>
              <a:t>Sesión 3</a:t>
            </a:r>
            <a:endParaRPr lang="en-US" sz="900" dirty="0"/>
          </a:p>
        </p:txBody>
      </p:sp>
      <p:sp>
        <p:nvSpPr>
          <p:cNvPr id="5" name="Shape 3"/>
          <p:cNvSpPr/>
          <p:nvPr/>
        </p:nvSpPr>
        <p:spPr>
          <a:xfrm>
            <a:off x="0" y="6565392"/>
            <a:ext cx="12161520" cy="292608"/>
          </a:xfrm>
          <a:prstGeom prst="rect">
            <a:avLst/>
          </a:prstGeom>
          <a:solidFill>
            <a:srgbClr val="1B3A6B"/>
          </a:solidFill>
          <a:ln/>
        </p:spPr>
        <p:txBody>
          <a:bodyPr/>
          <a:lstStyle/>
          <a:p>
            <a:endParaRPr lang="es-MX"/>
          </a:p>
        </p:txBody>
      </p:sp>
      <p:sp>
        <p:nvSpPr>
          <p:cNvPr id="6" name="Text 4"/>
          <p:cNvSpPr txBox="1"/>
          <p:nvPr/>
        </p:nvSpPr>
        <p:spPr>
          <a:xfrm>
            <a:off x="228600" y="6592824"/>
            <a:ext cx="73152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7" name="Text 5"/>
          <p:cNvSpPr txBox="1"/>
          <p:nvPr/>
        </p:nvSpPr>
        <p:spPr>
          <a:xfrm>
            <a:off x="320040" y="457200"/>
            <a:ext cx="10972800" cy="502920"/>
          </a:xfrm>
          <a:prstGeom prst="rect">
            <a:avLst/>
          </a:prstGeom>
          <a:noFill/>
          <a:ln/>
        </p:spPr>
        <p:txBody>
          <a:bodyPr wrap="square" rtlCol="0" anchor="ctr"/>
          <a:lstStyle/>
          <a:p>
            <a:pPr marL="0" indent="0">
              <a:buNone/>
            </a:pPr>
            <a:r>
              <a:rPr lang="en-US" sz="2600" b="1" dirty="0">
                <a:solidFill>
                  <a:srgbClr val="1B3A6B"/>
                </a:solidFill>
                <a:latin typeface="Calibri" pitchFamily="34" charset="0"/>
                <a:ea typeface="Calibri" pitchFamily="34" charset="-122"/>
                <a:cs typeface="Calibri" pitchFamily="34" charset="-120"/>
              </a:rPr>
              <a:t>¿Qué vamos a aprender hoy?</a:t>
            </a:r>
            <a:endParaRPr lang="en-US" sz="2600" dirty="0"/>
          </a:p>
        </p:txBody>
      </p:sp>
      <p:sp>
        <p:nvSpPr>
          <p:cNvPr id="8" name="Shape 6"/>
          <p:cNvSpPr/>
          <p:nvPr/>
        </p:nvSpPr>
        <p:spPr>
          <a:xfrm>
            <a:off x="320040" y="1143000"/>
            <a:ext cx="5577840" cy="2011680"/>
          </a:xfrm>
          <a:prstGeom prst="rect">
            <a:avLst/>
          </a:prstGeom>
          <a:solidFill>
            <a:srgbClr val="FFFFFF"/>
          </a:solidFill>
          <a:ln w="12700">
            <a:solidFill>
              <a:srgbClr val="D1D5DB"/>
            </a:solidFill>
            <a:prstDash val="solid"/>
          </a:ln>
        </p:spPr>
        <p:txBody>
          <a:bodyPr/>
          <a:lstStyle/>
          <a:p>
            <a:endParaRPr lang="es-MX"/>
          </a:p>
        </p:txBody>
      </p:sp>
      <p:sp>
        <p:nvSpPr>
          <p:cNvPr id="9" name="Shape 7"/>
          <p:cNvSpPr/>
          <p:nvPr/>
        </p:nvSpPr>
        <p:spPr>
          <a:xfrm>
            <a:off x="320040" y="1143000"/>
            <a:ext cx="411480" cy="2011680"/>
          </a:xfrm>
          <a:prstGeom prst="rect">
            <a:avLst/>
          </a:prstGeom>
          <a:solidFill>
            <a:srgbClr val="2A7ABF"/>
          </a:solidFill>
          <a:ln w="12700">
            <a:solidFill>
              <a:srgbClr val="2A7ABF"/>
            </a:solidFill>
            <a:prstDash val="solid"/>
          </a:ln>
        </p:spPr>
        <p:txBody>
          <a:bodyPr/>
          <a:lstStyle/>
          <a:p>
            <a:endParaRPr lang="es-MX"/>
          </a:p>
        </p:txBody>
      </p:sp>
      <p:sp>
        <p:nvSpPr>
          <p:cNvPr id="10" name="Text 8"/>
          <p:cNvSpPr txBox="1"/>
          <p:nvPr/>
        </p:nvSpPr>
        <p:spPr>
          <a:xfrm>
            <a:off x="777240" y="1371600"/>
            <a:ext cx="1828800" cy="411480"/>
          </a:xfrm>
          <a:prstGeom prst="rect">
            <a:avLst/>
          </a:prstGeom>
          <a:noFill/>
          <a:ln/>
        </p:spPr>
        <p:txBody>
          <a:bodyPr wrap="square" rtlCol="0" anchor="ctr"/>
          <a:lstStyle/>
          <a:p>
            <a:pPr marL="0" indent="0">
              <a:buNone/>
            </a:pPr>
            <a:r>
              <a:rPr lang="en-US" sz="1800" b="1" dirty="0">
                <a:solidFill>
                  <a:srgbClr val="2A7ABF"/>
                </a:solidFill>
                <a:latin typeface="Calibri" pitchFamily="34" charset="0"/>
                <a:ea typeface="Calibri" pitchFamily="34" charset="-122"/>
                <a:cs typeface="Calibri" pitchFamily="34" charset="-120"/>
              </a:rPr>
              <a:t>2.1</a:t>
            </a:r>
            <a:endParaRPr lang="en-US" sz="1800" dirty="0"/>
          </a:p>
        </p:txBody>
      </p:sp>
      <p:sp>
        <p:nvSpPr>
          <p:cNvPr id="11" name="Text 9"/>
          <p:cNvSpPr txBox="1"/>
          <p:nvPr/>
        </p:nvSpPr>
        <p:spPr>
          <a:xfrm>
            <a:off x="777240" y="1691640"/>
            <a:ext cx="4937760" cy="365760"/>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Una variable</a:t>
            </a:r>
            <a:endParaRPr lang="en-US" sz="1500" dirty="0"/>
          </a:p>
        </p:txBody>
      </p:sp>
      <p:sp>
        <p:nvSpPr>
          <p:cNvPr id="12" name="Text 10"/>
          <p:cNvSpPr txBox="1"/>
          <p:nvPr/>
        </p:nvSpPr>
        <p:spPr>
          <a:xfrm>
            <a:off x="777240" y="2057400"/>
            <a:ext cx="4937760" cy="91440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Elegir el estadístico y la gráfica correcta según el tipo de variable: categórica (nominal u ordinal) o continua.</a:t>
            </a:r>
            <a:endParaRPr lang="en-US" sz="1150" dirty="0"/>
          </a:p>
        </p:txBody>
      </p:sp>
      <p:sp>
        <p:nvSpPr>
          <p:cNvPr id="13" name="Shape 11"/>
          <p:cNvSpPr/>
          <p:nvPr/>
        </p:nvSpPr>
        <p:spPr>
          <a:xfrm>
            <a:off x="6080760" y="1143000"/>
            <a:ext cx="5577840" cy="2011680"/>
          </a:xfrm>
          <a:prstGeom prst="rect">
            <a:avLst/>
          </a:prstGeom>
          <a:solidFill>
            <a:srgbClr val="FFFFFF"/>
          </a:solidFill>
          <a:ln w="12700">
            <a:solidFill>
              <a:srgbClr val="D1D5DB"/>
            </a:solidFill>
            <a:prstDash val="solid"/>
          </a:ln>
        </p:spPr>
        <p:txBody>
          <a:bodyPr/>
          <a:lstStyle/>
          <a:p>
            <a:endParaRPr lang="es-MX"/>
          </a:p>
        </p:txBody>
      </p:sp>
      <p:sp>
        <p:nvSpPr>
          <p:cNvPr id="14" name="Shape 12"/>
          <p:cNvSpPr/>
          <p:nvPr/>
        </p:nvSpPr>
        <p:spPr>
          <a:xfrm>
            <a:off x="6080760" y="1143000"/>
            <a:ext cx="411480" cy="2011680"/>
          </a:xfrm>
          <a:prstGeom prst="rect">
            <a:avLst/>
          </a:prstGeom>
          <a:solidFill>
            <a:srgbClr val="1A9641"/>
          </a:solidFill>
          <a:ln w="12700">
            <a:solidFill>
              <a:srgbClr val="1A9641"/>
            </a:solidFill>
            <a:prstDash val="solid"/>
          </a:ln>
        </p:spPr>
        <p:txBody>
          <a:bodyPr/>
          <a:lstStyle/>
          <a:p>
            <a:endParaRPr lang="es-MX"/>
          </a:p>
        </p:txBody>
      </p:sp>
      <p:sp>
        <p:nvSpPr>
          <p:cNvPr id="15" name="Text 13"/>
          <p:cNvSpPr txBox="1"/>
          <p:nvPr/>
        </p:nvSpPr>
        <p:spPr>
          <a:xfrm>
            <a:off x="6537960" y="1371600"/>
            <a:ext cx="1828800" cy="411480"/>
          </a:xfrm>
          <a:prstGeom prst="rect">
            <a:avLst/>
          </a:prstGeom>
          <a:noFill/>
          <a:ln/>
        </p:spPr>
        <p:txBody>
          <a:bodyPr wrap="square" rtlCol="0" anchor="ctr"/>
          <a:lstStyle/>
          <a:p>
            <a:pPr marL="0" indent="0">
              <a:buNone/>
            </a:pPr>
            <a:r>
              <a:rPr lang="en-US" sz="1800" b="1" dirty="0">
                <a:solidFill>
                  <a:srgbClr val="1A9641"/>
                </a:solidFill>
                <a:latin typeface="Calibri" pitchFamily="34" charset="0"/>
                <a:ea typeface="Calibri" pitchFamily="34" charset="-122"/>
                <a:cs typeface="Calibri" pitchFamily="34" charset="-120"/>
              </a:rPr>
              <a:t>2.2</a:t>
            </a:r>
            <a:endParaRPr lang="en-US" sz="1800" dirty="0"/>
          </a:p>
        </p:txBody>
      </p:sp>
      <p:sp>
        <p:nvSpPr>
          <p:cNvPr id="16" name="Text 14"/>
          <p:cNvSpPr txBox="1"/>
          <p:nvPr/>
        </p:nvSpPr>
        <p:spPr>
          <a:xfrm>
            <a:off x="6537960" y="1691640"/>
            <a:ext cx="4937760" cy="365760"/>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Varias variables</a:t>
            </a:r>
            <a:endParaRPr lang="en-US" sz="1500" dirty="0"/>
          </a:p>
        </p:txBody>
      </p:sp>
      <p:sp>
        <p:nvSpPr>
          <p:cNvPr id="17" name="Text 15"/>
          <p:cNvSpPr txBox="1"/>
          <p:nvPr/>
        </p:nvSpPr>
        <p:spPr>
          <a:xfrm>
            <a:off x="6537960" y="2057400"/>
            <a:ext cx="4937760" cy="91440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Seleccionar la métrica adecuada para cada combinación de tipos: numérica×numérica, numérica×categórica, categórica×categórica.</a:t>
            </a:r>
            <a:endParaRPr lang="en-US" sz="1150" dirty="0"/>
          </a:p>
        </p:txBody>
      </p:sp>
      <p:sp>
        <p:nvSpPr>
          <p:cNvPr id="18" name="Shape 16"/>
          <p:cNvSpPr/>
          <p:nvPr/>
        </p:nvSpPr>
        <p:spPr>
          <a:xfrm>
            <a:off x="320040" y="3429000"/>
            <a:ext cx="5577840" cy="2011680"/>
          </a:xfrm>
          <a:prstGeom prst="rect">
            <a:avLst/>
          </a:prstGeom>
          <a:solidFill>
            <a:srgbClr val="FFFFFF"/>
          </a:solidFill>
          <a:ln w="12700">
            <a:solidFill>
              <a:srgbClr val="D1D5DB"/>
            </a:solidFill>
            <a:prstDash val="solid"/>
          </a:ln>
        </p:spPr>
        <p:txBody>
          <a:bodyPr/>
          <a:lstStyle/>
          <a:p>
            <a:endParaRPr lang="es-MX"/>
          </a:p>
        </p:txBody>
      </p:sp>
      <p:sp>
        <p:nvSpPr>
          <p:cNvPr id="19" name="Shape 17"/>
          <p:cNvSpPr/>
          <p:nvPr/>
        </p:nvSpPr>
        <p:spPr>
          <a:xfrm>
            <a:off x="320040" y="3429000"/>
            <a:ext cx="411480" cy="2011680"/>
          </a:xfrm>
          <a:prstGeom prst="rect">
            <a:avLst/>
          </a:prstGeom>
          <a:solidFill>
            <a:srgbClr val="C0392B"/>
          </a:solidFill>
          <a:ln w="12700">
            <a:solidFill>
              <a:srgbClr val="C0392B"/>
            </a:solidFill>
            <a:prstDash val="solid"/>
          </a:ln>
        </p:spPr>
        <p:txBody>
          <a:bodyPr/>
          <a:lstStyle/>
          <a:p>
            <a:endParaRPr lang="es-MX"/>
          </a:p>
        </p:txBody>
      </p:sp>
      <p:sp>
        <p:nvSpPr>
          <p:cNvPr id="20" name="Text 18"/>
          <p:cNvSpPr txBox="1"/>
          <p:nvPr/>
        </p:nvSpPr>
        <p:spPr>
          <a:xfrm>
            <a:off x="777240" y="3657600"/>
            <a:ext cx="1828800" cy="411480"/>
          </a:xfrm>
          <a:prstGeom prst="rect">
            <a:avLst/>
          </a:prstGeom>
          <a:noFill/>
          <a:ln/>
        </p:spPr>
        <p:txBody>
          <a:bodyPr wrap="square" rtlCol="0" anchor="ctr"/>
          <a:lstStyle/>
          <a:p>
            <a:pPr marL="0" indent="0">
              <a:buNone/>
            </a:pPr>
            <a:r>
              <a:rPr lang="en-US" sz="1800" b="1" dirty="0">
                <a:solidFill>
                  <a:srgbClr val="C0392B"/>
                </a:solidFill>
                <a:latin typeface="Calibri" pitchFamily="34" charset="0"/>
                <a:ea typeface="Calibri" pitchFamily="34" charset="-122"/>
                <a:cs typeface="Calibri" pitchFamily="34" charset="-120"/>
              </a:rPr>
              <a:t>⚠</a:t>
            </a:r>
            <a:endParaRPr lang="en-US" sz="1800" dirty="0"/>
          </a:p>
        </p:txBody>
      </p:sp>
      <p:sp>
        <p:nvSpPr>
          <p:cNvPr id="21" name="Text 19"/>
          <p:cNvSpPr txBox="1"/>
          <p:nvPr/>
        </p:nvSpPr>
        <p:spPr>
          <a:xfrm>
            <a:off x="777240" y="3977640"/>
            <a:ext cx="4937760" cy="365760"/>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Correlación ≠ Causalidad</a:t>
            </a:r>
            <a:endParaRPr lang="en-US" sz="1500" dirty="0"/>
          </a:p>
        </p:txBody>
      </p:sp>
      <p:sp>
        <p:nvSpPr>
          <p:cNvPr id="22" name="Text 20"/>
          <p:cNvSpPr txBox="1"/>
          <p:nvPr/>
        </p:nvSpPr>
        <p:spPr>
          <a:xfrm>
            <a:off x="777240" y="4343400"/>
            <a:ext cx="4937760" cy="91440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Identificar las tres razones por las que dos variables pueden estar correlacionadas y cuándo eso NO implica que una causa a la otra.</a:t>
            </a:r>
            <a:endParaRPr lang="en-US" sz="1150" dirty="0"/>
          </a:p>
        </p:txBody>
      </p:sp>
      <p:sp>
        <p:nvSpPr>
          <p:cNvPr id="23" name="Shape 21"/>
          <p:cNvSpPr/>
          <p:nvPr/>
        </p:nvSpPr>
        <p:spPr>
          <a:xfrm>
            <a:off x="6080760" y="3429000"/>
            <a:ext cx="5577840" cy="2011680"/>
          </a:xfrm>
          <a:prstGeom prst="rect">
            <a:avLst/>
          </a:prstGeom>
          <a:solidFill>
            <a:srgbClr val="FFFFFF"/>
          </a:solidFill>
          <a:ln w="12700">
            <a:solidFill>
              <a:srgbClr val="D1D5DB"/>
            </a:solidFill>
            <a:prstDash val="solid"/>
          </a:ln>
        </p:spPr>
        <p:txBody>
          <a:bodyPr/>
          <a:lstStyle/>
          <a:p>
            <a:endParaRPr lang="es-MX"/>
          </a:p>
        </p:txBody>
      </p:sp>
      <p:sp>
        <p:nvSpPr>
          <p:cNvPr id="24" name="Shape 22"/>
          <p:cNvSpPr/>
          <p:nvPr/>
        </p:nvSpPr>
        <p:spPr>
          <a:xfrm>
            <a:off x="6080760" y="3429000"/>
            <a:ext cx="411480" cy="2011680"/>
          </a:xfrm>
          <a:prstGeom prst="rect">
            <a:avLst/>
          </a:prstGeom>
          <a:solidFill>
            <a:srgbClr val="6A3D9A"/>
          </a:solidFill>
          <a:ln w="12700">
            <a:solidFill>
              <a:srgbClr val="6A3D9A"/>
            </a:solidFill>
            <a:prstDash val="solid"/>
          </a:ln>
        </p:spPr>
        <p:txBody>
          <a:bodyPr/>
          <a:lstStyle/>
          <a:p>
            <a:endParaRPr lang="es-MX"/>
          </a:p>
        </p:txBody>
      </p:sp>
      <p:sp>
        <p:nvSpPr>
          <p:cNvPr id="25" name="Text 23"/>
          <p:cNvSpPr txBox="1"/>
          <p:nvPr/>
        </p:nvSpPr>
        <p:spPr>
          <a:xfrm>
            <a:off x="6537960" y="3657600"/>
            <a:ext cx="1828800" cy="411480"/>
          </a:xfrm>
          <a:prstGeom prst="rect">
            <a:avLst/>
          </a:prstGeom>
          <a:noFill/>
          <a:ln/>
        </p:spPr>
        <p:txBody>
          <a:bodyPr wrap="square" rtlCol="0" anchor="ctr"/>
          <a:lstStyle/>
          <a:p>
            <a:pPr marL="0" indent="0">
              <a:buNone/>
            </a:pPr>
            <a:r>
              <a:rPr lang="en-US" sz="1800" b="1" dirty="0">
                <a:solidFill>
                  <a:srgbClr val="6A3D9A"/>
                </a:solidFill>
                <a:latin typeface="Calibri" pitchFamily="34" charset="0"/>
                <a:ea typeface="Calibri" pitchFamily="34" charset="-122"/>
                <a:cs typeface="Calibri" pitchFamily="34" charset="-120"/>
              </a:rPr>
              <a:t>▶</a:t>
            </a:r>
            <a:endParaRPr lang="en-US" sz="1800" dirty="0"/>
          </a:p>
        </p:txBody>
      </p:sp>
      <p:sp>
        <p:nvSpPr>
          <p:cNvPr id="26" name="Text 24"/>
          <p:cNvSpPr txBox="1"/>
          <p:nvPr/>
        </p:nvSpPr>
        <p:spPr>
          <a:xfrm>
            <a:off x="6537960" y="3977640"/>
            <a:ext cx="4937760" cy="365760"/>
          </a:xfrm>
          <a:prstGeom prst="rect">
            <a:avLst/>
          </a:prstGeom>
          <a:noFill/>
          <a:ln/>
        </p:spPr>
        <p:txBody>
          <a:bodyPr wrap="square" rtlCol="0" anchor="ctr"/>
          <a:lstStyle/>
          <a:p>
            <a:pPr marL="0" indent="0">
              <a:buNone/>
            </a:pPr>
            <a:r>
              <a:rPr lang="en-US" sz="1500" b="1" dirty="0">
                <a:solidFill>
                  <a:srgbClr val="1B3A6B"/>
                </a:solidFill>
                <a:latin typeface="Calibri" pitchFamily="34" charset="0"/>
                <a:ea typeface="Calibri" pitchFamily="34" charset="-122"/>
                <a:cs typeface="Calibri" pitchFamily="34" charset="-120"/>
              </a:rPr>
              <a:t>Flujo EDA real</a:t>
            </a:r>
            <a:endParaRPr lang="en-US" sz="1500" dirty="0"/>
          </a:p>
        </p:txBody>
      </p:sp>
      <p:sp>
        <p:nvSpPr>
          <p:cNvPr id="27" name="Text 25"/>
          <p:cNvSpPr txBox="1"/>
          <p:nvPr/>
        </p:nvSpPr>
        <p:spPr>
          <a:xfrm>
            <a:off x="6537960" y="4343400"/>
            <a:ext cx="4937760" cy="91440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Aplicar un protocolo de exploración sistemático sobre datos reales del Banco Mundial y la ENIGH para generar hipótesis de modelado.</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txBody>
          <a:bodyPr/>
          <a:lstStyle/>
          <a:p>
            <a:endParaRPr lang="es-MX"/>
          </a:p>
        </p:txBody>
      </p:sp>
      <p:sp>
        <p:nvSpPr>
          <p:cNvPr id="3" name="Text 1"/>
          <p:cNvSpPr txBox="1"/>
          <p:nvPr/>
        </p:nvSpPr>
        <p:spPr>
          <a:xfrm>
            <a:off x="228600" y="36576"/>
            <a:ext cx="8229600" cy="27432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marL="0" indent="0" algn="r">
              <a:buNone/>
            </a:pPr>
            <a:r>
              <a:rPr lang="en-US" sz="900" b="1" dirty="0">
                <a:solidFill>
                  <a:srgbClr val="E8A020"/>
                </a:solidFill>
                <a:latin typeface="Calibri" pitchFamily="34" charset="0"/>
                <a:ea typeface="Calibri" pitchFamily="34" charset="-122"/>
                <a:cs typeface="Calibri" pitchFamily="34" charset="-120"/>
              </a:rPr>
              <a:t>Tema 2.1</a:t>
            </a:r>
            <a:endParaRPr lang="en-US" sz="900" dirty="0"/>
          </a:p>
        </p:txBody>
      </p:sp>
      <p:sp>
        <p:nvSpPr>
          <p:cNvPr id="5" name="Shape 3"/>
          <p:cNvSpPr/>
          <p:nvPr/>
        </p:nvSpPr>
        <p:spPr>
          <a:xfrm>
            <a:off x="0" y="6565392"/>
            <a:ext cx="12161520" cy="292608"/>
          </a:xfrm>
          <a:prstGeom prst="rect">
            <a:avLst/>
          </a:prstGeom>
          <a:solidFill>
            <a:srgbClr val="1B3A6B"/>
          </a:solidFill>
          <a:ln/>
        </p:spPr>
        <p:txBody>
          <a:bodyPr/>
          <a:lstStyle/>
          <a:p>
            <a:endParaRPr lang="es-MX"/>
          </a:p>
        </p:txBody>
      </p:sp>
      <p:sp>
        <p:nvSpPr>
          <p:cNvPr id="6" name="Text 4"/>
          <p:cNvSpPr txBox="1"/>
          <p:nvPr/>
        </p:nvSpPr>
        <p:spPr>
          <a:xfrm>
            <a:off x="228600" y="6592824"/>
            <a:ext cx="73152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7" name="Shape 5"/>
          <p:cNvSpPr/>
          <p:nvPr/>
        </p:nvSpPr>
        <p:spPr>
          <a:xfrm>
            <a:off x="320040" y="364724"/>
            <a:ext cx="1700784" cy="256032"/>
          </a:xfrm>
          <a:prstGeom prst="roundRect">
            <a:avLst>
              <a:gd name="adj" fmla="val 17857"/>
            </a:avLst>
          </a:prstGeom>
          <a:solidFill>
            <a:srgbClr val="2A7ABF"/>
          </a:solidFill>
          <a:ln/>
        </p:spPr>
        <p:txBody>
          <a:bodyPr/>
          <a:lstStyle/>
          <a:p>
            <a:endParaRPr lang="es-MX"/>
          </a:p>
        </p:txBody>
      </p:sp>
      <p:sp>
        <p:nvSpPr>
          <p:cNvPr id="8" name="Text 6"/>
          <p:cNvSpPr txBox="1"/>
          <p:nvPr/>
        </p:nvSpPr>
        <p:spPr>
          <a:xfrm>
            <a:off x="365760" y="383012"/>
            <a:ext cx="1333644" cy="21945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Mapa del EDA</a:t>
            </a:r>
            <a:endParaRPr lang="en-US" sz="850" dirty="0"/>
          </a:p>
        </p:txBody>
      </p:sp>
      <p:sp>
        <p:nvSpPr>
          <p:cNvPr id="9" name="Text 7"/>
          <p:cNvSpPr txBox="1"/>
          <p:nvPr/>
        </p:nvSpPr>
        <p:spPr>
          <a:xfrm>
            <a:off x="320040" y="744629"/>
            <a:ext cx="10972800" cy="502920"/>
          </a:xfrm>
          <a:prstGeom prst="rect">
            <a:avLst/>
          </a:prstGeom>
          <a:noFill/>
          <a:ln/>
        </p:spPr>
        <p:txBody>
          <a:bodyPr wrap="square" rtlCol="0" anchor="ctr"/>
          <a:lstStyle/>
          <a:p>
            <a:pPr marL="0" indent="0">
              <a:buNone/>
            </a:pPr>
            <a:r>
              <a:rPr lang="en-US" sz="2500" b="1" dirty="0">
                <a:solidFill>
                  <a:srgbClr val="1B3A6B"/>
                </a:solidFill>
                <a:latin typeface="Calibri" pitchFamily="34" charset="0"/>
                <a:ea typeface="Calibri" pitchFamily="34" charset="-122"/>
                <a:cs typeface="Calibri" pitchFamily="34" charset="-120"/>
              </a:rPr>
              <a:t>Tipo de variable → herramienta correcta</a:t>
            </a:r>
            <a:endParaRPr lang="en-US" sz="2500" dirty="0"/>
          </a:p>
        </p:txBody>
      </p:sp>
      <p:sp>
        <p:nvSpPr>
          <p:cNvPr id="10" name="Text 8"/>
          <p:cNvSpPr txBox="1"/>
          <p:nvPr/>
        </p:nvSpPr>
        <p:spPr>
          <a:xfrm>
            <a:off x="320040" y="1339683"/>
            <a:ext cx="10972800" cy="32004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Usar la herramienta incorrecta produce conclusiones incorrectas.</a:t>
            </a:r>
            <a:endParaRPr lang="en-US" sz="1200" dirty="0"/>
          </a:p>
        </p:txBody>
      </p:sp>
      <p:sp>
        <p:nvSpPr>
          <p:cNvPr id="11" name="Shape 9"/>
          <p:cNvSpPr/>
          <p:nvPr/>
        </p:nvSpPr>
        <p:spPr>
          <a:xfrm>
            <a:off x="320040" y="2130721"/>
            <a:ext cx="2514600" cy="457200"/>
          </a:xfrm>
          <a:prstGeom prst="rect">
            <a:avLst/>
          </a:prstGeom>
          <a:solidFill>
            <a:srgbClr val="1B3A6B"/>
          </a:solidFill>
          <a:ln/>
        </p:spPr>
        <p:txBody>
          <a:bodyPr/>
          <a:lstStyle/>
          <a:p>
            <a:endParaRPr lang="es-MX"/>
          </a:p>
        </p:txBody>
      </p:sp>
      <p:sp>
        <p:nvSpPr>
          <p:cNvPr id="12" name="Text 10"/>
          <p:cNvSpPr txBox="1"/>
          <p:nvPr/>
        </p:nvSpPr>
        <p:spPr>
          <a:xfrm>
            <a:off x="411480" y="2149009"/>
            <a:ext cx="2377440" cy="41148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Tipo de variable</a:t>
            </a:r>
            <a:endParaRPr lang="en-US" sz="1100" dirty="0"/>
          </a:p>
        </p:txBody>
      </p:sp>
      <p:sp>
        <p:nvSpPr>
          <p:cNvPr id="13" name="Shape 11"/>
          <p:cNvSpPr/>
          <p:nvPr/>
        </p:nvSpPr>
        <p:spPr>
          <a:xfrm>
            <a:off x="2880360" y="2130721"/>
            <a:ext cx="2697480" cy="457200"/>
          </a:xfrm>
          <a:prstGeom prst="rect">
            <a:avLst/>
          </a:prstGeom>
          <a:solidFill>
            <a:srgbClr val="1B3A6B"/>
          </a:solidFill>
          <a:ln/>
        </p:spPr>
        <p:txBody>
          <a:bodyPr/>
          <a:lstStyle/>
          <a:p>
            <a:endParaRPr lang="es-MX"/>
          </a:p>
        </p:txBody>
      </p:sp>
      <p:sp>
        <p:nvSpPr>
          <p:cNvPr id="14" name="Text 12"/>
          <p:cNvSpPr txBox="1"/>
          <p:nvPr/>
        </p:nvSpPr>
        <p:spPr>
          <a:xfrm>
            <a:off x="2971800" y="2149009"/>
            <a:ext cx="2560320" cy="41148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Pregunta clave</a:t>
            </a:r>
            <a:endParaRPr lang="en-US" sz="1100" dirty="0"/>
          </a:p>
        </p:txBody>
      </p:sp>
      <p:sp>
        <p:nvSpPr>
          <p:cNvPr id="15" name="Shape 13"/>
          <p:cNvSpPr/>
          <p:nvPr/>
        </p:nvSpPr>
        <p:spPr>
          <a:xfrm>
            <a:off x="5623560" y="2130721"/>
            <a:ext cx="3063240" cy="457200"/>
          </a:xfrm>
          <a:prstGeom prst="rect">
            <a:avLst/>
          </a:prstGeom>
          <a:solidFill>
            <a:srgbClr val="1B3A6B"/>
          </a:solidFill>
          <a:ln/>
        </p:spPr>
        <p:txBody>
          <a:bodyPr/>
          <a:lstStyle/>
          <a:p>
            <a:endParaRPr lang="es-MX"/>
          </a:p>
        </p:txBody>
      </p:sp>
      <p:sp>
        <p:nvSpPr>
          <p:cNvPr id="16" name="Text 14"/>
          <p:cNvSpPr txBox="1"/>
          <p:nvPr/>
        </p:nvSpPr>
        <p:spPr>
          <a:xfrm>
            <a:off x="5715000" y="2149009"/>
            <a:ext cx="2926080" cy="41148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Estadístico(s)</a:t>
            </a:r>
            <a:endParaRPr lang="en-US" sz="1100" dirty="0"/>
          </a:p>
        </p:txBody>
      </p:sp>
      <p:sp>
        <p:nvSpPr>
          <p:cNvPr id="17" name="Shape 15"/>
          <p:cNvSpPr/>
          <p:nvPr/>
        </p:nvSpPr>
        <p:spPr>
          <a:xfrm>
            <a:off x="8732520" y="2130721"/>
            <a:ext cx="3154680" cy="457200"/>
          </a:xfrm>
          <a:prstGeom prst="rect">
            <a:avLst/>
          </a:prstGeom>
          <a:solidFill>
            <a:srgbClr val="1B3A6B"/>
          </a:solidFill>
          <a:ln/>
        </p:spPr>
        <p:txBody>
          <a:bodyPr/>
          <a:lstStyle/>
          <a:p>
            <a:endParaRPr lang="es-MX"/>
          </a:p>
        </p:txBody>
      </p:sp>
      <p:sp>
        <p:nvSpPr>
          <p:cNvPr id="18" name="Text 16"/>
          <p:cNvSpPr txBox="1"/>
          <p:nvPr/>
        </p:nvSpPr>
        <p:spPr>
          <a:xfrm>
            <a:off x="8823960" y="2149009"/>
            <a:ext cx="3017520" cy="41148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Gráfica(s)</a:t>
            </a:r>
            <a:endParaRPr lang="en-US" sz="1100" dirty="0"/>
          </a:p>
        </p:txBody>
      </p:sp>
      <p:sp>
        <p:nvSpPr>
          <p:cNvPr id="19" name="Shape 17"/>
          <p:cNvSpPr/>
          <p:nvPr/>
        </p:nvSpPr>
        <p:spPr>
          <a:xfrm>
            <a:off x="320040" y="2587921"/>
            <a:ext cx="2514600" cy="612648"/>
          </a:xfrm>
          <a:prstGeom prst="rect">
            <a:avLst/>
          </a:prstGeom>
          <a:solidFill>
            <a:srgbClr val="FFFFFF"/>
          </a:solidFill>
          <a:ln w="12700">
            <a:solidFill>
              <a:srgbClr val="D1D5DB"/>
            </a:solidFill>
            <a:prstDash val="solid"/>
          </a:ln>
        </p:spPr>
        <p:txBody>
          <a:bodyPr/>
          <a:lstStyle/>
          <a:p>
            <a:endParaRPr lang="es-MX"/>
          </a:p>
        </p:txBody>
      </p:sp>
      <p:sp>
        <p:nvSpPr>
          <p:cNvPr id="20" name="Shape 18"/>
          <p:cNvSpPr/>
          <p:nvPr/>
        </p:nvSpPr>
        <p:spPr>
          <a:xfrm>
            <a:off x="2880360" y="2587921"/>
            <a:ext cx="2697480" cy="612648"/>
          </a:xfrm>
          <a:prstGeom prst="rect">
            <a:avLst/>
          </a:prstGeom>
          <a:solidFill>
            <a:srgbClr val="FFFFFF"/>
          </a:solidFill>
          <a:ln w="12700">
            <a:solidFill>
              <a:srgbClr val="D1D5DB"/>
            </a:solidFill>
            <a:prstDash val="solid"/>
          </a:ln>
        </p:spPr>
        <p:txBody>
          <a:bodyPr/>
          <a:lstStyle/>
          <a:p>
            <a:endParaRPr lang="es-MX"/>
          </a:p>
        </p:txBody>
      </p:sp>
      <p:sp>
        <p:nvSpPr>
          <p:cNvPr id="21" name="Shape 19"/>
          <p:cNvSpPr/>
          <p:nvPr/>
        </p:nvSpPr>
        <p:spPr>
          <a:xfrm>
            <a:off x="5623560" y="2587921"/>
            <a:ext cx="3063240" cy="612648"/>
          </a:xfrm>
          <a:prstGeom prst="rect">
            <a:avLst/>
          </a:prstGeom>
          <a:solidFill>
            <a:srgbClr val="FFFFFF"/>
          </a:solidFill>
          <a:ln w="12700">
            <a:solidFill>
              <a:srgbClr val="D1D5DB"/>
            </a:solidFill>
            <a:prstDash val="solid"/>
          </a:ln>
        </p:spPr>
        <p:txBody>
          <a:bodyPr/>
          <a:lstStyle/>
          <a:p>
            <a:endParaRPr lang="es-MX"/>
          </a:p>
        </p:txBody>
      </p:sp>
      <p:sp>
        <p:nvSpPr>
          <p:cNvPr id="22" name="Shape 20"/>
          <p:cNvSpPr/>
          <p:nvPr/>
        </p:nvSpPr>
        <p:spPr>
          <a:xfrm>
            <a:off x="8732520" y="2587921"/>
            <a:ext cx="3154680" cy="612648"/>
          </a:xfrm>
          <a:prstGeom prst="rect">
            <a:avLst/>
          </a:prstGeom>
          <a:solidFill>
            <a:srgbClr val="FFFFFF"/>
          </a:solidFill>
          <a:ln w="12700">
            <a:solidFill>
              <a:srgbClr val="D1D5DB"/>
            </a:solidFill>
            <a:prstDash val="solid"/>
          </a:ln>
        </p:spPr>
        <p:txBody>
          <a:bodyPr/>
          <a:lstStyle/>
          <a:p>
            <a:endParaRPr lang="es-MX"/>
          </a:p>
        </p:txBody>
      </p:sp>
      <p:sp>
        <p:nvSpPr>
          <p:cNvPr id="23" name="Shape 21"/>
          <p:cNvSpPr/>
          <p:nvPr/>
        </p:nvSpPr>
        <p:spPr>
          <a:xfrm>
            <a:off x="320040" y="2587921"/>
            <a:ext cx="73152" cy="612648"/>
          </a:xfrm>
          <a:prstGeom prst="rect">
            <a:avLst/>
          </a:prstGeom>
          <a:solidFill>
            <a:srgbClr val="2A7ABF"/>
          </a:solidFill>
          <a:ln/>
        </p:spPr>
        <p:txBody>
          <a:bodyPr/>
          <a:lstStyle/>
          <a:p>
            <a:endParaRPr lang="es-MX"/>
          </a:p>
        </p:txBody>
      </p:sp>
      <p:sp>
        <p:nvSpPr>
          <p:cNvPr id="24" name="Text 22"/>
          <p:cNvSpPr txBox="1"/>
          <p:nvPr/>
        </p:nvSpPr>
        <p:spPr>
          <a:xfrm>
            <a:off x="448056" y="2679361"/>
            <a:ext cx="2331720" cy="429768"/>
          </a:xfrm>
          <a:prstGeom prst="rect">
            <a:avLst/>
          </a:prstGeom>
          <a:noFill/>
          <a:ln/>
        </p:spPr>
        <p:txBody>
          <a:bodyPr wrap="square" rtlCol="0" anchor="ctr"/>
          <a:lstStyle/>
          <a:p>
            <a:pPr marL="0" indent="0">
              <a:buNone/>
            </a:pPr>
            <a:r>
              <a:rPr lang="en-US" sz="1150" b="1" dirty="0">
                <a:solidFill>
                  <a:srgbClr val="2A7ABF"/>
                </a:solidFill>
                <a:latin typeface="Calibri" pitchFamily="34" charset="0"/>
                <a:ea typeface="Calibri" pitchFamily="34" charset="-122"/>
                <a:cs typeface="Calibri" pitchFamily="34" charset="-120"/>
              </a:rPr>
              <a:t>Categórica nominal</a:t>
            </a:r>
            <a:endParaRPr lang="en-US" sz="1150" dirty="0"/>
          </a:p>
        </p:txBody>
      </p:sp>
      <p:sp>
        <p:nvSpPr>
          <p:cNvPr id="25" name="Text 23"/>
          <p:cNvSpPr txBox="1"/>
          <p:nvPr/>
        </p:nvSpPr>
        <p:spPr>
          <a:xfrm>
            <a:off x="2971800" y="2679361"/>
            <a:ext cx="2560320" cy="42976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¿Cuál categoría es más frecuente?</a:t>
            </a:r>
            <a:endParaRPr lang="en-US" sz="1050" dirty="0"/>
          </a:p>
        </p:txBody>
      </p:sp>
      <p:sp>
        <p:nvSpPr>
          <p:cNvPr id="26" name="Text 24"/>
          <p:cNvSpPr txBox="1"/>
          <p:nvPr/>
        </p:nvSpPr>
        <p:spPr>
          <a:xfrm>
            <a:off x="5715000" y="2679361"/>
            <a:ext cx="2926080" cy="42976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Frecuencia · Proporción · Moda</a:t>
            </a:r>
            <a:endParaRPr lang="en-US" sz="1050" dirty="0"/>
          </a:p>
        </p:txBody>
      </p:sp>
      <p:sp>
        <p:nvSpPr>
          <p:cNvPr id="27" name="Text 25"/>
          <p:cNvSpPr txBox="1"/>
          <p:nvPr/>
        </p:nvSpPr>
        <p:spPr>
          <a:xfrm>
            <a:off x="8823960" y="2679361"/>
            <a:ext cx="3017520" cy="42976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Barras (ordenadas por frec.)</a:t>
            </a:r>
            <a:endParaRPr lang="en-US" sz="1050" dirty="0"/>
          </a:p>
        </p:txBody>
      </p:sp>
      <p:sp>
        <p:nvSpPr>
          <p:cNvPr id="28" name="Shape 26"/>
          <p:cNvSpPr/>
          <p:nvPr/>
        </p:nvSpPr>
        <p:spPr>
          <a:xfrm>
            <a:off x="320040" y="3246289"/>
            <a:ext cx="2514600" cy="612648"/>
          </a:xfrm>
          <a:prstGeom prst="rect">
            <a:avLst/>
          </a:prstGeom>
          <a:solidFill>
            <a:srgbClr val="EBF0F8"/>
          </a:solidFill>
          <a:ln w="12700">
            <a:solidFill>
              <a:srgbClr val="D1D5DB"/>
            </a:solidFill>
            <a:prstDash val="solid"/>
          </a:ln>
        </p:spPr>
        <p:txBody>
          <a:bodyPr/>
          <a:lstStyle/>
          <a:p>
            <a:endParaRPr lang="es-MX"/>
          </a:p>
        </p:txBody>
      </p:sp>
      <p:sp>
        <p:nvSpPr>
          <p:cNvPr id="29" name="Shape 27"/>
          <p:cNvSpPr/>
          <p:nvPr/>
        </p:nvSpPr>
        <p:spPr>
          <a:xfrm>
            <a:off x="2880360" y="3246289"/>
            <a:ext cx="2697480" cy="612648"/>
          </a:xfrm>
          <a:prstGeom prst="rect">
            <a:avLst/>
          </a:prstGeom>
          <a:solidFill>
            <a:srgbClr val="EBF0F8"/>
          </a:solidFill>
          <a:ln w="12700">
            <a:solidFill>
              <a:srgbClr val="D1D5DB"/>
            </a:solidFill>
            <a:prstDash val="solid"/>
          </a:ln>
        </p:spPr>
        <p:txBody>
          <a:bodyPr/>
          <a:lstStyle/>
          <a:p>
            <a:endParaRPr lang="es-MX"/>
          </a:p>
        </p:txBody>
      </p:sp>
      <p:sp>
        <p:nvSpPr>
          <p:cNvPr id="30" name="Shape 28"/>
          <p:cNvSpPr/>
          <p:nvPr/>
        </p:nvSpPr>
        <p:spPr>
          <a:xfrm>
            <a:off x="5623560" y="3246289"/>
            <a:ext cx="3063240" cy="612648"/>
          </a:xfrm>
          <a:prstGeom prst="rect">
            <a:avLst/>
          </a:prstGeom>
          <a:solidFill>
            <a:srgbClr val="EBF0F8"/>
          </a:solidFill>
          <a:ln w="12700">
            <a:solidFill>
              <a:srgbClr val="D1D5DB"/>
            </a:solidFill>
            <a:prstDash val="solid"/>
          </a:ln>
        </p:spPr>
        <p:txBody>
          <a:bodyPr/>
          <a:lstStyle/>
          <a:p>
            <a:endParaRPr lang="es-MX"/>
          </a:p>
        </p:txBody>
      </p:sp>
      <p:sp>
        <p:nvSpPr>
          <p:cNvPr id="31" name="Shape 29"/>
          <p:cNvSpPr/>
          <p:nvPr/>
        </p:nvSpPr>
        <p:spPr>
          <a:xfrm>
            <a:off x="8732520" y="3246289"/>
            <a:ext cx="3154680" cy="612648"/>
          </a:xfrm>
          <a:prstGeom prst="rect">
            <a:avLst/>
          </a:prstGeom>
          <a:solidFill>
            <a:srgbClr val="EBF0F8"/>
          </a:solidFill>
          <a:ln w="12700">
            <a:solidFill>
              <a:srgbClr val="D1D5DB"/>
            </a:solidFill>
            <a:prstDash val="solid"/>
          </a:ln>
        </p:spPr>
        <p:txBody>
          <a:bodyPr/>
          <a:lstStyle/>
          <a:p>
            <a:endParaRPr lang="es-MX"/>
          </a:p>
        </p:txBody>
      </p:sp>
      <p:sp>
        <p:nvSpPr>
          <p:cNvPr id="32" name="Shape 30"/>
          <p:cNvSpPr/>
          <p:nvPr/>
        </p:nvSpPr>
        <p:spPr>
          <a:xfrm>
            <a:off x="320040" y="3246289"/>
            <a:ext cx="73152" cy="612648"/>
          </a:xfrm>
          <a:prstGeom prst="rect">
            <a:avLst/>
          </a:prstGeom>
          <a:solidFill>
            <a:srgbClr val="1A9641"/>
          </a:solidFill>
          <a:ln/>
        </p:spPr>
        <p:txBody>
          <a:bodyPr/>
          <a:lstStyle/>
          <a:p>
            <a:endParaRPr lang="es-MX"/>
          </a:p>
        </p:txBody>
      </p:sp>
      <p:sp>
        <p:nvSpPr>
          <p:cNvPr id="33" name="Text 31"/>
          <p:cNvSpPr txBox="1"/>
          <p:nvPr/>
        </p:nvSpPr>
        <p:spPr>
          <a:xfrm>
            <a:off x="448056" y="3337729"/>
            <a:ext cx="2331720" cy="429768"/>
          </a:xfrm>
          <a:prstGeom prst="rect">
            <a:avLst/>
          </a:prstGeom>
          <a:noFill/>
          <a:ln/>
        </p:spPr>
        <p:txBody>
          <a:bodyPr wrap="square" rtlCol="0" anchor="ctr"/>
          <a:lstStyle/>
          <a:p>
            <a:pPr marL="0" indent="0">
              <a:buNone/>
            </a:pPr>
            <a:r>
              <a:rPr lang="en-US" sz="1150" b="1" dirty="0">
                <a:solidFill>
                  <a:srgbClr val="1A9641"/>
                </a:solidFill>
                <a:latin typeface="Calibri" pitchFamily="34" charset="0"/>
                <a:ea typeface="Calibri" pitchFamily="34" charset="-122"/>
                <a:cs typeface="Calibri" pitchFamily="34" charset="-120"/>
              </a:rPr>
              <a:t>Categórica ordinal</a:t>
            </a:r>
            <a:endParaRPr lang="en-US" sz="1150" dirty="0"/>
          </a:p>
        </p:txBody>
      </p:sp>
      <p:sp>
        <p:nvSpPr>
          <p:cNvPr id="34" name="Text 32"/>
          <p:cNvSpPr txBox="1"/>
          <p:nvPr/>
        </p:nvSpPr>
        <p:spPr>
          <a:xfrm>
            <a:off x="2971800" y="3337729"/>
            <a:ext cx="2560320" cy="42976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¿Cuál es la distribución acumulada?</a:t>
            </a:r>
            <a:endParaRPr lang="en-US" sz="1050" dirty="0"/>
          </a:p>
        </p:txBody>
      </p:sp>
      <p:sp>
        <p:nvSpPr>
          <p:cNvPr id="35" name="Text 33"/>
          <p:cNvSpPr txBox="1"/>
          <p:nvPr/>
        </p:nvSpPr>
        <p:spPr>
          <a:xfrm>
            <a:off x="5715000" y="3337729"/>
            <a:ext cx="2926080" cy="42976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Frec. acumulada + anteriores</a:t>
            </a:r>
            <a:endParaRPr lang="en-US" sz="1050" dirty="0"/>
          </a:p>
        </p:txBody>
      </p:sp>
      <p:sp>
        <p:nvSpPr>
          <p:cNvPr id="36" name="Text 34"/>
          <p:cNvSpPr txBox="1"/>
          <p:nvPr/>
        </p:nvSpPr>
        <p:spPr>
          <a:xfrm>
            <a:off x="8823960" y="3337729"/>
            <a:ext cx="3017520" cy="42976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Barras respetando el orden</a:t>
            </a:r>
            <a:endParaRPr lang="en-US" sz="1050" dirty="0"/>
          </a:p>
        </p:txBody>
      </p:sp>
      <p:sp>
        <p:nvSpPr>
          <p:cNvPr id="37" name="Shape 35"/>
          <p:cNvSpPr/>
          <p:nvPr/>
        </p:nvSpPr>
        <p:spPr>
          <a:xfrm>
            <a:off x="320040" y="3904657"/>
            <a:ext cx="2514600" cy="612648"/>
          </a:xfrm>
          <a:prstGeom prst="rect">
            <a:avLst/>
          </a:prstGeom>
          <a:solidFill>
            <a:srgbClr val="FFFFFF"/>
          </a:solidFill>
          <a:ln w="12700">
            <a:solidFill>
              <a:srgbClr val="D1D5DB"/>
            </a:solidFill>
            <a:prstDash val="solid"/>
          </a:ln>
        </p:spPr>
        <p:txBody>
          <a:bodyPr/>
          <a:lstStyle/>
          <a:p>
            <a:endParaRPr lang="es-MX"/>
          </a:p>
        </p:txBody>
      </p:sp>
      <p:sp>
        <p:nvSpPr>
          <p:cNvPr id="38" name="Shape 36"/>
          <p:cNvSpPr/>
          <p:nvPr/>
        </p:nvSpPr>
        <p:spPr>
          <a:xfrm>
            <a:off x="2880360" y="3904657"/>
            <a:ext cx="2697480" cy="612648"/>
          </a:xfrm>
          <a:prstGeom prst="rect">
            <a:avLst/>
          </a:prstGeom>
          <a:solidFill>
            <a:srgbClr val="FFFFFF"/>
          </a:solidFill>
          <a:ln w="12700">
            <a:solidFill>
              <a:srgbClr val="D1D5DB"/>
            </a:solidFill>
            <a:prstDash val="solid"/>
          </a:ln>
        </p:spPr>
        <p:txBody>
          <a:bodyPr/>
          <a:lstStyle/>
          <a:p>
            <a:endParaRPr lang="es-MX"/>
          </a:p>
        </p:txBody>
      </p:sp>
      <p:sp>
        <p:nvSpPr>
          <p:cNvPr id="39" name="Shape 37"/>
          <p:cNvSpPr/>
          <p:nvPr/>
        </p:nvSpPr>
        <p:spPr>
          <a:xfrm>
            <a:off x="5623560" y="3904657"/>
            <a:ext cx="3063240" cy="612648"/>
          </a:xfrm>
          <a:prstGeom prst="rect">
            <a:avLst/>
          </a:prstGeom>
          <a:solidFill>
            <a:srgbClr val="FFFFFF"/>
          </a:solidFill>
          <a:ln w="12700">
            <a:solidFill>
              <a:srgbClr val="D1D5DB"/>
            </a:solidFill>
            <a:prstDash val="solid"/>
          </a:ln>
        </p:spPr>
        <p:txBody>
          <a:bodyPr/>
          <a:lstStyle/>
          <a:p>
            <a:endParaRPr lang="es-MX"/>
          </a:p>
        </p:txBody>
      </p:sp>
      <p:sp>
        <p:nvSpPr>
          <p:cNvPr id="40" name="Shape 38"/>
          <p:cNvSpPr/>
          <p:nvPr/>
        </p:nvSpPr>
        <p:spPr>
          <a:xfrm>
            <a:off x="8732520" y="3904657"/>
            <a:ext cx="3154680" cy="612648"/>
          </a:xfrm>
          <a:prstGeom prst="rect">
            <a:avLst/>
          </a:prstGeom>
          <a:solidFill>
            <a:srgbClr val="FFFFFF"/>
          </a:solidFill>
          <a:ln w="12700">
            <a:solidFill>
              <a:srgbClr val="D1D5DB"/>
            </a:solidFill>
            <a:prstDash val="solid"/>
          </a:ln>
        </p:spPr>
        <p:txBody>
          <a:bodyPr/>
          <a:lstStyle/>
          <a:p>
            <a:endParaRPr lang="es-MX"/>
          </a:p>
        </p:txBody>
      </p:sp>
      <p:sp>
        <p:nvSpPr>
          <p:cNvPr id="41" name="Shape 39"/>
          <p:cNvSpPr/>
          <p:nvPr/>
        </p:nvSpPr>
        <p:spPr>
          <a:xfrm>
            <a:off x="320040" y="3904657"/>
            <a:ext cx="73152" cy="612648"/>
          </a:xfrm>
          <a:prstGeom prst="rect">
            <a:avLst/>
          </a:prstGeom>
          <a:solidFill>
            <a:srgbClr val="6A3D9A"/>
          </a:solidFill>
          <a:ln/>
        </p:spPr>
        <p:txBody>
          <a:bodyPr/>
          <a:lstStyle/>
          <a:p>
            <a:endParaRPr lang="es-MX"/>
          </a:p>
        </p:txBody>
      </p:sp>
      <p:sp>
        <p:nvSpPr>
          <p:cNvPr id="42" name="Text 40"/>
          <p:cNvSpPr txBox="1"/>
          <p:nvPr/>
        </p:nvSpPr>
        <p:spPr>
          <a:xfrm>
            <a:off x="448056" y="3996097"/>
            <a:ext cx="2331720" cy="429768"/>
          </a:xfrm>
          <a:prstGeom prst="rect">
            <a:avLst/>
          </a:prstGeom>
          <a:noFill/>
          <a:ln/>
        </p:spPr>
        <p:txBody>
          <a:bodyPr wrap="square" rtlCol="0" anchor="ctr"/>
          <a:lstStyle/>
          <a:p>
            <a:pPr marL="0" indent="0">
              <a:buNone/>
            </a:pPr>
            <a:r>
              <a:rPr lang="en-US" sz="1150" b="1" dirty="0">
                <a:solidFill>
                  <a:srgbClr val="6A3D9A"/>
                </a:solidFill>
                <a:latin typeface="Calibri" pitchFamily="34" charset="0"/>
                <a:ea typeface="Calibri" pitchFamily="34" charset="-122"/>
                <a:cs typeface="Calibri" pitchFamily="34" charset="-120"/>
              </a:rPr>
              <a:t>Numérica continua</a:t>
            </a:r>
            <a:endParaRPr lang="en-US" sz="1150" dirty="0"/>
          </a:p>
        </p:txBody>
      </p:sp>
      <p:sp>
        <p:nvSpPr>
          <p:cNvPr id="43" name="Text 41"/>
          <p:cNvSpPr txBox="1"/>
          <p:nvPr/>
        </p:nvSpPr>
        <p:spPr>
          <a:xfrm>
            <a:off x="2971800" y="3996097"/>
            <a:ext cx="2560320" cy="42976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¿Dónde está el centro? ¿Qué tan dispersa?</a:t>
            </a:r>
            <a:endParaRPr lang="en-US" sz="1050" dirty="0"/>
          </a:p>
        </p:txBody>
      </p:sp>
      <p:sp>
        <p:nvSpPr>
          <p:cNvPr id="44" name="Text 42"/>
          <p:cNvSpPr txBox="1"/>
          <p:nvPr/>
        </p:nvSpPr>
        <p:spPr>
          <a:xfrm>
            <a:off x="5715000" y="3996097"/>
            <a:ext cx="2926080" cy="42976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Media · Mediana · Desv. std · Percentiles · Asimetría</a:t>
            </a:r>
            <a:endParaRPr lang="en-US" sz="1050" dirty="0"/>
          </a:p>
        </p:txBody>
      </p:sp>
      <p:sp>
        <p:nvSpPr>
          <p:cNvPr id="45" name="Text 43"/>
          <p:cNvSpPr txBox="1"/>
          <p:nvPr/>
        </p:nvSpPr>
        <p:spPr>
          <a:xfrm>
            <a:off x="8823960" y="3996097"/>
            <a:ext cx="3017520" cy="42976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Histograma · Box plot · KDE</a:t>
            </a:r>
            <a:endParaRPr lang="en-US" sz="1050" dirty="0"/>
          </a:p>
        </p:txBody>
      </p:sp>
      <p:sp>
        <p:nvSpPr>
          <p:cNvPr id="46" name="Shape 44"/>
          <p:cNvSpPr/>
          <p:nvPr/>
        </p:nvSpPr>
        <p:spPr>
          <a:xfrm>
            <a:off x="320040" y="4563025"/>
            <a:ext cx="2514600" cy="612648"/>
          </a:xfrm>
          <a:prstGeom prst="rect">
            <a:avLst/>
          </a:prstGeom>
          <a:solidFill>
            <a:srgbClr val="EBF0F8"/>
          </a:solidFill>
          <a:ln w="12700">
            <a:solidFill>
              <a:srgbClr val="D1D5DB"/>
            </a:solidFill>
            <a:prstDash val="solid"/>
          </a:ln>
        </p:spPr>
        <p:txBody>
          <a:bodyPr/>
          <a:lstStyle/>
          <a:p>
            <a:endParaRPr lang="es-MX"/>
          </a:p>
        </p:txBody>
      </p:sp>
      <p:sp>
        <p:nvSpPr>
          <p:cNvPr id="47" name="Shape 45"/>
          <p:cNvSpPr/>
          <p:nvPr/>
        </p:nvSpPr>
        <p:spPr>
          <a:xfrm>
            <a:off x="2880360" y="4563025"/>
            <a:ext cx="2697480" cy="612648"/>
          </a:xfrm>
          <a:prstGeom prst="rect">
            <a:avLst/>
          </a:prstGeom>
          <a:solidFill>
            <a:srgbClr val="EBF0F8"/>
          </a:solidFill>
          <a:ln w="12700">
            <a:solidFill>
              <a:srgbClr val="D1D5DB"/>
            </a:solidFill>
            <a:prstDash val="solid"/>
          </a:ln>
        </p:spPr>
        <p:txBody>
          <a:bodyPr/>
          <a:lstStyle/>
          <a:p>
            <a:endParaRPr lang="es-MX"/>
          </a:p>
        </p:txBody>
      </p:sp>
      <p:sp>
        <p:nvSpPr>
          <p:cNvPr id="48" name="Shape 46"/>
          <p:cNvSpPr/>
          <p:nvPr/>
        </p:nvSpPr>
        <p:spPr>
          <a:xfrm>
            <a:off x="5623560" y="4563025"/>
            <a:ext cx="3063240" cy="612648"/>
          </a:xfrm>
          <a:prstGeom prst="rect">
            <a:avLst/>
          </a:prstGeom>
          <a:solidFill>
            <a:srgbClr val="EBF0F8"/>
          </a:solidFill>
          <a:ln w="12700">
            <a:solidFill>
              <a:srgbClr val="D1D5DB"/>
            </a:solidFill>
            <a:prstDash val="solid"/>
          </a:ln>
        </p:spPr>
        <p:txBody>
          <a:bodyPr/>
          <a:lstStyle/>
          <a:p>
            <a:endParaRPr lang="es-MX"/>
          </a:p>
        </p:txBody>
      </p:sp>
      <p:sp>
        <p:nvSpPr>
          <p:cNvPr id="49" name="Shape 47"/>
          <p:cNvSpPr/>
          <p:nvPr/>
        </p:nvSpPr>
        <p:spPr>
          <a:xfrm>
            <a:off x="8732520" y="4563025"/>
            <a:ext cx="3154680" cy="612648"/>
          </a:xfrm>
          <a:prstGeom prst="rect">
            <a:avLst/>
          </a:prstGeom>
          <a:solidFill>
            <a:srgbClr val="EBF0F8"/>
          </a:solidFill>
          <a:ln w="12700">
            <a:solidFill>
              <a:srgbClr val="D1D5DB"/>
            </a:solidFill>
            <a:prstDash val="solid"/>
          </a:ln>
        </p:spPr>
        <p:txBody>
          <a:bodyPr/>
          <a:lstStyle/>
          <a:p>
            <a:endParaRPr lang="es-MX"/>
          </a:p>
        </p:txBody>
      </p:sp>
      <p:sp>
        <p:nvSpPr>
          <p:cNvPr id="50" name="Shape 48"/>
          <p:cNvSpPr/>
          <p:nvPr/>
        </p:nvSpPr>
        <p:spPr>
          <a:xfrm>
            <a:off x="320040" y="4563025"/>
            <a:ext cx="73152" cy="612648"/>
          </a:xfrm>
          <a:prstGeom prst="rect">
            <a:avLst/>
          </a:prstGeom>
          <a:solidFill>
            <a:srgbClr val="C0392B"/>
          </a:solidFill>
          <a:ln/>
        </p:spPr>
        <p:txBody>
          <a:bodyPr/>
          <a:lstStyle/>
          <a:p>
            <a:endParaRPr lang="es-MX"/>
          </a:p>
        </p:txBody>
      </p:sp>
      <p:sp>
        <p:nvSpPr>
          <p:cNvPr id="51" name="Text 49"/>
          <p:cNvSpPr txBox="1"/>
          <p:nvPr/>
        </p:nvSpPr>
        <p:spPr>
          <a:xfrm>
            <a:off x="448056" y="4654465"/>
            <a:ext cx="2331720" cy="429768"/>
          </a:xfrm>
          <a:prstGeom prst="rect">
            <a:avLst/>
          </a:prstGeom>
          <a:noFill/>
          <a:ln/>
        </p:spPr>
        <p:txBody>
          <a:bodyPr wrap="square" rtlCol="0" anchor="ctr"/>
          <a:lstStyle/>
          <a:p>
            <a:pPr marL="0" indent="0">
              <a:buNone/>
            </a:pPr>
            <a:r>
              <a:rPr lang="en-US" sz="1150" b="1" dirty="0">
                <a:solidFill>
                  <a:srgbClr val="C0392B"/>
                </a:solidFill>
                <a:latin typeface="Calibri" pitchFamily="34" charset="0"/>
                <a:ea typeface="Calibri" pitchFamily="34" charset="-122"/>
                <a:cs typeface="Calibri" pitchFamily="34" charset="-120"/>
              </a:rPr>
              <a:t>Numérica discreta</a:t>
            </a:r>
            <a:endParaRPr lang="en-US" sz="1150" dirty="0"/>
          </a:p>
        </p:txBody>
      </p:sp>
      <p:sp>
        <p:nvSpPr>
          <p:cNvPr id="52" name="Text 50"/>
          <p:cNvSpPr txBox="1"/>
          <p:nvPr/>
        </p:nvSpPr>
        <p:spPr>
          <a:xfrm>
            <a:off x="2971800" y="4654465"/>
            <a:ext cx="2560320" cy="42976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¿Cuánto vale típicamente?</a:t>
            </a:r>
            <a:endParaRPr lang="en-US" sz="1050" dirty="0"/>
          </a:p>
        </p:txBody>
      </p:sp>
      <p:sp>
        <p:nvSpPr>
          <p:cNvPr id="53" name="Text 51"/>
          <p:cNvSpPr txBox="1"/>
          <p:nvPr/>
        </p:nvSpPr>
        <p:spPr>
          <a:xfrm>
            <a:off x="5715000" y="4654465"/>
            <a:ext cx="2926080" cy="42976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Igual que continua (con cuidado)</a:t>
            </a:r>
            <a:endParaRPr lang="en-US" sz="1050" dirty="0"/>
          </a:p>
        </p:txBody>
      </p:sp>
      <p:sp>
        <p:nvSpPr>
          <p:cNvPr id="54" name="Text 52"/>
          <p:cNvSpPr txBox="1"/>
          <p:nvPr/>
        </p:nvSpPr>
        <p:spPr>
          <a:xfrm>
            <a:off x="8823960" y="4654465"/>
            <a:ext cx="3017520" cy="42976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Histograma con bins enteros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txBody>
          <a:bodyPr/>
          <a:lstStyle/>
          <a:p>
            <a:endParaRPr lang="es-MX"/>
          </a:p>
        </p:txBody>
      </p:sp>
      <p:sp>
        <p:nvSpPr>
          <p:cNvPr id="3" name="Text 1"/>
          <p:cNvSpPr txBox="1"/>
          <p:nvPr/>
        </p:nvSpPr>
        <p:spPr>
          <a:xfrm>
            <a:off x="228600" y="36576"/>
            <a:ext cx="8229600" cy="27432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marL="0" indent="0" algn="r">
              <a:buNone/>
            </a:pPr>
            <a:r>
              <a:rPr lang="en-US" sz="900" b="1" dirty="0">
                <a:solidFill>
                  <a:srgbClr val="E8A020"/>
                </a:solidFill>
                <a:latin typeface="Calibri" pitchFamily="34" charset="0"/>
                <a:ea typeface="Calibri" pitchFamily="34" charset="-122"/>
                <a:cs typeface="Calibri" pitchFamily="34" charset="-120"/>
              </a:rPr>
              <a:t>Tema 2.1</a:t>
            </a:r>
            <a:endParaRPr lang="en-US" sz="900" dirty="0"/>
          </a:p>
        </p:txBody>
      </p:sp>
      <p:sp>
        <p:nvSpPr>
          <p:cNvPr id="5" name="Shape 3"/>
          <p:cNvSpPr/>
          <p:nvPr/>
        </p:nvSpPr>
        <p:spPr>
          <a:xfrm>
            <a:off x="0" y="6565392"/>
            <a:ext cx="12161520" cy="292608"/>
          </a:xfrm>
          <a:prstGeom prst="rect">
            <a:avLst/>
          </a:prstGeom>
          <a:solidFill>
            <a:srgbClr val="1B3A6B"/>
          </a:solidFill>
          <a:ln/>
        </p:spPr>
        <p:txBody>
          <a:bodyPr/>
          <a:lstStyle/>
          <a:p>
            <a:endParaRPr lang="es-MX"/>
          </a:p>
        </p:txBody>
      </p:sp>
      <p:sp>
        <p:nvSpPr>
          <p:cNvPr id="6" name="Text 4"/>
          <p:cNvSpPr txBox="1"/>
          <p:nvPr/>
        </p:nvSpPr>
        <p:spPr>
          <a:xfrm>
            <a:off x="228600" y="6592824"/>
            <a:ext cx="73152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7" name="Shape 5"/>
          <p:cNvSpPr/>
          <p:nvPr/>
        </p:nvSpPr>
        <p:spPr>
          <a:xfrm>
            <a:off x="320040" y="364724"/>
            <a:ext cx="2770632" cy="256032"/>
          </a:xfrm>
          <a:prstGeom prst="roundRect">
            <a:avLst>
              <a:gd name="adj" fmla="val 17857"/>
            </a:avLst>
          </a:prstGeom>
          <a:solidFill>
            <a:srgbClr val="2A7ABF"/>
          </a:solidFill>
          <a:ln/>
        </p:spPr>
        <p:txBody>
          <a:bodyPr/>
          <a:lstStyle/>
          <a:p>
            <a:endParaRPr lang="es-MX"/>
          </a:p>
        </p:txBody>
      </p:sp>
      <p:sp>
        <p:nvSpPr>
          <p:cNvPr id="8" name="Text 6"/>
          <p:cNvSpPr txBox="1"/>
          <p:nvPr/>
        </p:nvSpPr>
        <p:spPr>
          <a:xfrm>
            <a:off x="365760" y="383012"/>
            <a:ext cx="2041010" cy="21945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Variables categóricas</a:t>
            </a:r>
            <a:endParaRPr lang="en-US" sz="850" dirty="0"/>
          </a:p>
        </p:txBody>
      </p:sp>
      <p:sp>
        <p:nvSpPr>
          <p:cNvPr id="9" name="Text 7"/>
          <p:cNvSpPr txBox="1"/>
          <p:nvPr/>
        </p:nvSpPr>
        <p:spPr>
          <a:xfrm>
            <a:off x="320040" y="658368"/>
            <a:ext cx="10972800" cy="502920"/>
          </a:xfrm>
          <a:prstGeom prst="rect">
            <a:avLst/>
          </a:prstGeom>
          <a:noFill/>
          <a:ln/>
        </p:spPr>
        <p:txBody>
          <a:bodyPr wrap="square" rtlCol="0" anchor="ctr"/>
          <a:lstStyle/>
          <a:p>
            <a:pPr marL="0" indent="0">
              <a:buNone/>
            </a:pPr>
            <a:r>
              <a:rPr lang="en-US" sz="2500" b="1" dirty="0">
                <a:solidFill>
                  <a:srgbClr val="1B3A6B"/>
                </a:solidFill>
                <a:latin typeface="Calibri" pitchFamily="34" charset="0"/>
                <a:ea typeface="Calibri" pitchFamily="34" charset="-122"/>
                <a:cs typeface="Calibri" pitchFamily="34" charset="-120"/>
              </a:rPr>
              <a:t>Explorar una variable categórica</a:t>
            </a:r>
            <a:endParaRPr lang="en-US" sz="2500" dirty="0"/>
          </a:p>
        </p:txBody>
      </p:sp>
      <p:sp>
        <p:nvSpPr>
          <p:cNvPr id="10" name="Shape 8"/>
          <p:cNvSpPr/>
          <p:nvPr/>
        </p:nvSpPr>
        <p:spPr>
          <a:xfrm>
            <a:off x="320040" y="1278429"/>
            <a:ext cx="5303520" cy="1143000"/>
          </a:xfrm>
          <a:prstGeom prst="rect">
            <a:avLst/>
          </a:prstGeom>
          <a:solidFill>
            <a:srgbClr val="FFFFFF"/>
          </a:solidFill>
          <a:ln w="12700">
            <a:solidFill>
              <a:srgbClr val="D1D5DB"/>
            </a:solidFill>
            <a:prstDash val="solid"/>
          </a:ln>
        </p:spPr>
        <p:txBody>
          <a:bodyPr/>
          <a:lstStyle/>
          <a:p>
            <a:endParaRPr lang="es-MX"/>
          </a:p>
        </p:txBody>
      </p:sp>
      <p:sp>
        <p:nvSpPr>
          <p:cNvPr id="11" name="Shape 9"/>
          <p:cNvSpPr/>
          <p:nvPr/>
        </p:nvSpPr>
        <p:spPr>
          <a:xfrm>
            <a:off x="320040" y="1278429"/>
            <a:ext cx="73152" cy="1143000"/>
          </a:xfrm>
          <a:prstGeom prst="rect">
            <a:avLst/>
          </a:prstGeom>
          <a:solidFill>
            <a:srgbClr val="2A7ABF"/>
          </a:solidFill>
          <a:ln/>
        </p:spPr>
        <p:txBody>
          <a:bodyPr/>
          <a:lstStyle/>
          <a:p>
            <a:endParaRPr lang="es-MX"/>
          </a:p>
        </p:txBody>
      </p:sp>
      <p:sp>
        <p:nvSpPr>
          <p:cNvPr id="12" name="Text 10"/>
          <p:cNvSpPr txBox="1"/>
          <p:nvPr/>
        </p:nvSpPr>
        <p:spPr>
          <a:xfrm>
            <a:off x="457200" y="1351581"/>
            <a:ext cx="5029200" cy="320040"/>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Frecuencia absoluta (n)</a:t>
            </a:r>
            <a:endParaRPr lang="en-US" sz="1200" dirty="0"/>
          </a:p>
        </p:txBody>
      </p:sp>
      <p:sp>
        <p:nvSpPr>
          <p:cNvPr id="13" name="Text 11"/>
          <p:cNvSpPr txBox="1"/>
          <p:nvPr/>
        </p:nvSpPr>
        <p:spPr>
          <a:xfrm>
            <a:off x="457200" y="1662477"/>
            <a:ext cx="5029200" cy="32004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¿Cuántos casos hay en cada categoría?</a:t>
            </a:r>
            <a:endParaRPr lang="en-US" sz="1050" dirty="0"/>
          </a:p>
        </p:txBody>
      </p:sp>
      <p:sp>
        <p:nvSpPr>
          <p:cNvPr id="14" name="Shape 12"/>
          <p:cNvSpPr/>
          <p:nvPr/>
        </p:nvSpPr>
        <p:spPr>
          <a:xfrm>
            <a:off x="457200" y="1991661"/>
            <a:ext cx="5029200" cy="347472"/>
          </a:xfrm>
          <a:prstGeom prst="rect">
            <a:avLst/>
          </a:prstGeom>
          <a:solidFill>
            <a:srgbClr val="1E2D40"/>
          </a:solidFill>
          <a:ln w="12700">
            <a:solidFill>
              <a:srgbClr val="2A7ABF"/>
            </a:solidFill>
            <a:prstDash val="solid"/>
          </a:ln>
        </p:spPr>
        <p:txBody>
          <a:bodyPr/>
          <a:lstStyle/>
          <a:p>
            <a:endParaRPr lang="es-MX"/>
          </a:p>
        </p:txBody>
      </p:sp>
      <p:sp>
        <p:nvSpPr>
          <p:cNvPr id="15" name="Text 13"/>
          <p:cNvSpPr txBox="1"/>
          <p:nvPr/>
        </p:nvSpPr>
        <p:spPr>
          <a:xfrm>
            <a:off x="566928" y="2083101"/>
            <a:ext cx="4809744" cy="164592"/>
          </a:xfrm>
          <a:prstGeom prst="rect">
            <a:avLst/>
          </a:prstGeom>
          <a:noFill/>
          <a:ln/>
        </p:spPr>
        <p:txBody>
          <a:bodyPr wrap="square" rtlCol="0" anchor="t"/>
          <a:lstStyle/>
          <a:p>
            <a:pPr marL="0" indent="0">
              <a:buNone/>
            </a:pPr>
            <a:r>
              <a:rPr lang="en-US" sz="850" dirty="0">
                <a:solidFill>
                  <a:srgbClr val="A8D8F0"/>
                </a:solidFill>
                <a:latin typeface="Courier New" pitchFamily="34" charset="0"/>
                <a:ea typeface="Courier New" pitchFamily="34" charset="-122"/>
                <a:cs typeface="Courier New" pitchFamily="34" charset="-120"/>
              </a:rPr>
              <a:t>df[col].value_counts()</a:t>
            </a:r>
            <a:endParaRPr lang="en-US" sz="850" dirty="0"/>
          </a:p>
        </p:txBody>
      </p:sp>
      <p:sp>
        <p:nvSpPr>
          <p:cNvPr id="16" name="Shape 14"/>
          <p:cNvSpPr/>
          <p:nvPr/>
        </p:nvSpPr>
        <p:spPr>
          <a:xfrm>
            <a:off x="320040" y="2512869"/>
            <a:ext cx="5303520" cy="1143000"/>
          </a:xfrm>
          <a:prstGeom prst="rect">
            <a:avLst/>
          </a:prstGeom>
          <a:solidFill>
            <a:srgbClr val="FFFFFF"/>
          </a:solidFill>
          <a:ln w="12700">
            <a:solidFill>
              <a:srgbClr val="D1D5DB"/>
            </a:solidFill>
            <a:prstDash val="solid"/>
          </a:ln>
        </p:spPr>
        <p:txBody>
          <a:bodyPr/>
          <a:lstStyle/>
          <a:p>
            <a:endParaRPr lang="es-MX"/>
          </a:p>
        </p:txBody>
      </p:sp>
      <p:sp>
        <p:nvSpPr>
          <p:cNvPr id="17" name="Shape 15"/>
          <p:cNvSpPr/>
          <p:nvPr/>
        </p:nvSpPr>
        <p:spPr>
          <a:xfrm>
            <a:off x="320040" y="2512869"/>
            <a:ext cx="73152" cy="1143000"/>
          </a:xfrm>
          <a:prstGeom prst="rect">
            <a:avLst/>
          </a:prstGeom>
          <a:solidFill>
            <a:srgbClr val="2A7ABF"/>
          </a:solidFill>
          <a:ln/>
        </p:spPr>
        <p:txBody>
          <a:bodyPr/>
          <a:lstStyle/>
          <a:p>
            <a:endParaRPr lang="es-MX"/>
          </a:p>
        </p:txBody>
      </p:sp>
      <p:sp>
        <p:nvSpPr>
          <p:cNvPr id="18" name="Text 16"/>
          <p:cNvSpPr txBox="1"/>
          <p:nvPr/>
        </p:nvSpPr>
        <p:spPr>
          <a:xfrm>
            <a:off x="457200" y="2586021"/>
            <a:ext cx="5029200" cy="320040"/>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Proporción (%)</a:t>
            </a:r>
            <a:endParaRPr lang="en-US" sz="1200" dirty="0"/>
          </a:p>
        </p:txBody>
      </p:sp>
      <p:sp>
        <p:nvSpPr>
          <p:cNvPr id="19" name="Text 17"/>
          <p:cNvSpPr txBox="1"/>
          <p:nvPr/>
        </p:nvSpPr>
        <p:spPr>
          <a:xfrm>
            <a:off x="457200" y="2896917"/>
            <a:ext cx="5029200" cy="32004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Frecuencia / total × 100. Permite comparar grupos de distinto tamaño.</a:t>
            </a:r>
            <a:endParaRPr lang="en-US" sz="1050" dirty="0"/>
          </a:p>
        </p:txBody>
      </p:sp>
      <p:sp>
        <p:nvSpPr>
          <p:cNvPr id="20" name="Shape 18"/>
          <p:cNvSpPr/>
          <p:nvPr/>
        </p:nvSpPr>
        <p:spPr>
          <a:xfrm>
            <a:off x="457200" y="3226101"/>
            <a:ext cx="5029200" cy="347472"/>
          </a:xfrm>
          <a:prstGeom prst="rect">
            <a:avLst/>
          </a:prstGeom>
          <a:solidFill>
            <a:srgbClr val="1E2D40"/>
          </a:solidFill>
          <a:ln w="12700">
            <a:solidFill>
              <a:srgbClr val="2A7ABF"/>
            </a:solidFill>
            <a:prstDash val="solid"/>
          </a:ln>
        </p:spPr>
        <p:txBody>
          <a:bodyPr/>
          <a:lstStyle/>
          <a:p>
            <a:endParaRPr lang="es-MX"/>
          </a:p>
        </p:txBody>
      </p:sp>
      <p:sp>
        <p:nvSpPr>
          <p:cNvPr id="21" name="Text 19"/>
          <p:cNvSpPr txBox="1"/>
          <p:nvPr/>
        </p:nvSpPr>
        <p:spPr>
          <a:xfrm>
            <a:off x="566928" y="3317541"/>
            <a:ext cx="4809744" cy="164592"/>
          </a:xfrm>
          <a:prstGeom prst="rect">
            <a:avLst/>
          </a:prstGeom>
          <a:noFill/>
          <a:ln/>
        </p:spPr>
        <p:txBody>
          <a:bodyPr wrap="square" rtlCol="0" anchor="t"/>
          <a:lstStyle/>
          <a:p>
            <a:pPr marL="0" indent="0">
              <a:buNone/>
            </a:pPr>
            <a:r>
              <a:rPr lang="en-US" sz="850" dirty="0">
                <a:solidFill>
                  <a:srgbClr val="A8D8F0"/>
                </a:solidFill>
                <a:latin typeface="Courier New" pitchFamily="34" charset="0"/>
                <a:ea typeface="Courier New" pitchFamily="34" charset="-122"/>
                <a:cs typeface="Courier New" pitchFamily="34" charset="-120"/>
              </a:rPr>
              <a:t>df[col].value_counts(normalize=True) * 100</a:t>
            </a:r>
            <a:endParaRPr lang="en-US" sz="850" dirty="0"/>
          </a:p>
        </p:txBody>
      </p:sp>
      <p:sp>
        <p:nvSpPr>
          <p:cNvPr id="22" name="Shape 20"/>
          <p:cNvSpPr/>
          <p:nvPr/>
        </p:nvSpPr>
        <p:spPr>
          <a:xfrm>
            <a:off x="320040" y="3747309"/>
            <a:ext cx="5303520" cy="1143000"/>
          </a:xfrm>
          <a:prstGeom prst="rect">
            <a:avLst/>
          </a:prstGeom>
          <a:solidFill>
            <a:srgbClr val="FFFFFF"/>
          </a:solidFill>
          <a:ln w="12700">
            <a:solidFill>
              <a:srgbClr val="D1D5DB"/>
            </a:solidFill>
            <a:prstDash val="solid"/>
          </a:ln>
        </p:spPr>
        <p:txBody>
          <a:bodyPr/>
          <a:lstStyle/>
          <a:p>
            <a:endParaRPr lang="es-MX"/>
          </a:p>
        </p:txBody>
      </p:sp>
      <p:sp>
        <p:nvSpPr>
          <p:cNvPr id="23" name="Shape 21"/>
          <p:cNvSpPr/>
          <p:nvPr/>
        </p:nvSpPr>
        <p:spPr>
          <a:xfrm>
            <a:off x="320040" y="3747309"/>
            <a:ext cx="73152" cy="1143000"/>
          </a:xfrm>
          <a:prstGeom prst="rect">
            <a:avLst/>
          </a:prstGeom>
          <a:solidFill>
            <a:srgbClr val="2A7ABF"/>
          </a:solidFill>
          <a:ln/>
        </p:spPr>
        <p:txBody>
          <a:bodyPr/>
          <a:lstStyle/>
          <a:p>
            <a:endParaRPr lang="es-MX"/>
          </a:p>
        </p:txBody>
      </p:sp>
      <p:sp>
        <p:nvSpPr>
          <p:cNvPr id="24" name="Text 22"/>
          <p:cNvSpPr txBox="1"/>
          <p:nvPr/>
        </p:nvSpPr>
        <p:spPr>
          <a:xfrm>
            <a:off x="457200" y="3820461"/>
            <a:ext cx="5029200" cy="320040"/>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Moda</a:t>
            </a:r>
            <a:endParaRPr lang="en-US" sz="1200" dirty="0"/>
          </a:p>
        </p:txBody>
      </p:sp>
      <p:sp>
        <p:nvSpPr>
          <p:cNvPr id="25" name="Text 23"/>
          <p:cNvSpPr txBox="1"/>
          <p:nvPr/>
        </p:nvSpPr>
        <p:spPr>
          <a:xfrm>
            <a:off x="457200" y="4131357"/>
            <a:ext cx="5029200" cy="32004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La categoría más frecuente. Es el único "promedio" válido en nominales.</a:t>
            </a:r>
            <a:endParaRPr lang="en-US" sz="1050" dirty="0"/>
          </a:p>
        </p:txBody>
      </p:sp>
      <p:sp>
        <p:nvSpPr>
          <p:cNvPr id="26" name="Shape 24"/>
          <p:cNvSpPr/>
          <p:nvPr/>
        </p:nvSpPr>
        <p:spPr>
          <a:xfrm>
            <a:off x="457200" y="4460541"/>
            <a:ext cx="5029200" cy="347472"/>
          </a:xfrm>
          <a:prstGeom prst="rect">
            <a:avLst/>
          </a:prstGeom>
          <a:solidFill>
            <a:srgbClr val="1E2D40"/>
          </a:solidFill>
          <a:ln w="12700">
            <a:solidFill>
              <a:srgbClr val="2A7ABF"/>
            </a:solidFill>
            <a:prstDash val="solid"/>
          </a:ln>
        </p:spPr>
        <p:txBody>
          <a:bodyPr/>
          <a:lstStyle/>
          <a:p>
            <a:endParaRPr lang="es-MX"/>
          </a:p>
        </p:txBody>
      </p:sp>
      <p:sp>
        <p:nvSpPr>
          <p:cNvPr id="27" name="Text 25"/>
          <p:cNvSpPr txBox="1"/>
          <p:nvPr/>
        </p:nvSpPr>
        <p:spPr>
          <a:xfrm>
            <a:off x="566928" y="4551981"/>
            <a:ext cx="4809744" cy="164592"/>
          </a:xfrm>
          <a:prstGeom prst="rect">
            <a:avLst/>
          </a:prstGeom>
          <a:noFill/>
          <a:ln/>
        </p:spPr>
        <p:txBody>
          <a:bodyPr wrap="square" rtlCol="0" anchor="t"/>
          <a:lstStyle/>
          <a:p>
            <a:pPr marL="0" indent="0">
              <a:buNone/>
            </a:pPr>
            <a:r>
              <a:rPr lang="en-US" sz="850" dirty="0">
                <a:solidFill>
                  <a:srgbClr val="A8D8F0"/>
                </a:solidFill>
                <a:latin typeface="Courier New" pitchFamily="34" charset="0"/>
                <a:ea typeface="Courier New" pitchFamily="34" charset="-122"/>
                <a:cs typeface="Courier New" pitchFamily="34" charset="-120"/>
              </a:rPr>
              <a:t>df[col].mode()[0]</a:t>
            </a:r>
            <a:endParaRPr lang="en-US" sz="850" dirty="0"/>
          </a:p>
        </p:txBody>
      </p:sp>
      <p:sp>
        <p:nvSpPr>
          <p:cNvPr id="28" name="Shape 26"/>
          <p:cNvSpPr/>
          <p:nvPr/>
        </p:nvSpPr>
        <p:spPr>
          <a:xfrm>
            <a:off x="320040" y="4981749"/>
            <a:ext cx="5303520" cy="1143000"/>
          </a:xfrm>
          <a:prstGeom prst="rect">
            <a:avLst/>
          </a:prstGeom>
          <a:solidFill>
            <a:srgbClr val="FFFFFF"/>
          </a:solidFill>
          <a:ln w="12700">
            <a:solidFill>
              <a:srgbClr val="D1D5DB"/>
            </a:solidFill>
            <a:prstDash val="solid"/>
          </a:ln>
        </p:spPr>
        <p:txBody>
          <a:bodyPr/>
          <a:lstStyle/>
          <a:p>
            <a:endParaRPr lang="es-MX"/>
          </a:p>
        </p:txBody>
      </p:sp>
      <p:sp>
        <p:nvSpPr>
          <p:cNvPr id="29" name="Shape 27"/>
          <p:cNvSpPr/>
          <p:nvPr/>
        </p:nvSpPr>
        <p:spPr>
          <a:xfrm>
            <a:off x="320040" y="4981749"/>
            <a:ext cx="73152" cy="1143000"/>
          </a:xfrm>
          <a:prstGeom prst="rect">
            <a:avLst/>
          </a:prstGeom>
          <a:solidFill>
            <a:srgbClr val="2A7ABF"/>
          </a:solidFill>
          <a:ln/>
        </p:spPr>
        <p:txBody>
          <a:bodyPr/>
          <a:lstStyle/>
          <a:p>
            <a:endParaRPr lang="es-MX"/>
          </a:p>
        </p:txBody>
      </p:sp>
      <p:sp>
        <p:nvSpPr>
          <p:cNvPr id="30" name="Text 28"/>
          <p:cNvSpPr txBox="1"/>
          <p:nvPr/>
        </p:nvSpPr>
        <p:spPr>
          <a:xfrm>
            <a:off x="457200" y="5054901"/>
            <a:ext cx="5029200" cy="320040"/>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Frecuencia acumulada</a:t>
            </a:r>
            <a:endParaRPr lang="en-US" sz="1200" dirty="0"/>
          </a:p>
        </p:txBody>
      </p:sp>
      <p:sp>
        <p:nvSpPr>
          <p:cNvPr id="31" name="Text 29"/>
          <p:cNvSpPr txBox="1"/>
          <p:nvPr/>
        </p:nvSpPr>
        <p:spPr>
          <a:xfrm>
            <a:off x="457200" y="5365797"/>
            <a:ext cx="5029200" cy="32004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Solo tiene sentido en variables ORDINALES (con orden natural).</a:t>
            </a:r>
            <a:endParaRPr lang="en-US" sz="1050" dirty="0"/>
          </a:p>
        </p:txBody>
      </p:sp>
      <p:sp>
        <p:nvSpPr>
          <p:cNvPr id="32" name="Shape 30"/>
          <p:cNvSpPr/>
          <p:nvPr/>
        </p:nvSpPr>
        <p:spPr>
          <a:xfrm>
            <a:off x="457200" y="5694981"/>
            <a:ext cx="5029200" cy="347472"/>
          </a:xfrm>
          <a:prstGeom prst="rect">
            <a:avLst/>
          </a:prstGeom>
          <a:solidFill>
            <a:srgbClr val="1E2D40"/>
          </a:solidFill>
          <a:ln w="12700">
            <a:solidFill>
              <a:srgbClr val="2A7ABF"/>
            </a:solidFill>
            <a:prstDash val="solid"/>
          </a:ln>
        </p:spPr>
        <p:txBody>
          <a:bodyPr/>
          <a:lstStyle/>
          <a:p>
            <a:endParaRPr lang="es-MX"/>
          </a:p>
        </p:txBody>
      </p:sp>
      <p:sp>
        <p:nvSpPr>
          <p:cNvPr id="33" name="Text 31"/>
          <p:cNvSpPr txBox="1"/>
          <p:nvPr/>
        </p:nvSpPr>
        <p:spPr>
          <a:xfrm>
            <a:off x="566928" y="5786421"/>
            <a:ext cx="4809744" cy="164592"/>
          </a:xfrm>
          <a:prstGeom prst="rect">
            <a:avLst/>
          </a:prstGeom>
          <a:noFill/>
          <a:ln/>
        </p:spPr>
        <p:txBody>
          <a:bodyPr wrap="square" rtlCol="0" anchor="t"/>
          <a:lstStyle/>
          <a:p>
            <a:pPr marL="0" indent="0">
              <a:buNone/>
            </a:pPr>
            <a:r>
              <a:rPr lang="en-US" sz="850" dirty="0">
                <a:solidFill>
                  <a:srgbClr val="A8D8F0"/>
                </a:solidFill>
                <a:latin typeface="Courier New" pitchFamily="34" charset="0"/>
                <a:ea typeface="Courier New" pitchFamily="34" charset="-122"/>
                <a:cs typeface="Courier New" pitchFamily="34" charset="-120"/>
              </a:rPr>
              <a:t>freq.cumsum() / freq.sum() * 100</a:t>
            </a:r>
            <a:endParaRPr lang="en-US" sz="850" dirty="0"/>
          </a:p>
        </p:txBody>
      </p:sp>
      <p:sp>
        <p:nvSpPr>
          <p:cNvPr id="34" name="Shape 32"/>
          <p:cNvSpPr/>
          <p:nvPr/>
        </p:nvSpPr>
        <p:spPr>
          <a:xfrm>
            <a:off x="5943600" y="1097280"/>
            <a:ext cx="5852160" cy="5166360"/>
          </a:xfrm>
          <a:prstGeom prst="rect">
            <a:avLst/>
          </a:prstGeom>
          <a:solidFill>
            <a:srgbClr val="FFFFFF"/>
          </a:solidFill>
          <a:ln w="12700">
            <a:solidFill>
              <a:srgbClr val="D1D5DB"/>
            </a:solidFill>
            <a:prstDash val="solid"/>
          </a:ln>
        </p:spPr>
        <p:txBody>
          <a:bodyPr/>
          <a:lstStyle/>
          <a:p>
            <a:endParaRPr lang="es-MX"/>
          </a:p>
        </p:txBody>
      </p:sp>
      <p:sp>
        <p:nvSpPr>
          <p:cNvPr id="35" name="Text 33"/>
          <p:cNvSpPr txBox="1"/>
          <p:nvPr/>
        </p:nvSpPr>
        <p:spPr>
          <a:xfrm>
            <a:off x="6080760" y="1188720"/>
            <a:ext cx="5577840" cy="548640"/>
          </a:xfrm>
          <a:prstGeom prst="rect">
            <a:avLst/>
          </a:prstGeom>
          <a:noFill/>
          <a:ln/>
        </p:spPr>
        <p:txBody>
          <a:bodyPr wrap="square" rtlCol="0" anchor="ctr"/>
          <a:lstStyle/>
          <a:p>
            <a:pPr marL="0" indent="0">
              <a:buNone/>
            </a:pPr>
            <a:r>
              <a:rPr lang="en-US" sz="1150" b="1" dirty="0">
                <a:solidFill>
                  <a:srgbClr val="1B3A6B"/>
                </a:solidFill>
                <a:latin typeface="Calibri" pitchFamily="34" charset="0"/>
                <a:ea typeface="Calibri" pitchFamily="34" charset="-122"/>
                <a:cs typeface="Calibri" pitchFamily="34" charset="-120"/>
              </a:rPr>
              <a:t>Ejemplo — Escolaridad del jefe de hogar</a:t>
            </a:r>
            <a:endParaRPr lang="en-US" sz="1150" dirty="0"/>
          </a:p>
          <a:p>
            <a:pPr marL="0" indent="0">
              <a:buNone/>
            </a:pPr>
            <a:r>
              <a:rPr lang="en-US" sz="1150" b="1" dirty="0">
                <a:solidFill>
                  <a:srgbClr val="1B3A6B"/>
                </a:solidFill>
                <a:latin typeface="Calibri" pitchFamily="34" charset="0"/>
                <a:ea typeface="Calibri" pitchFamily="34" charset="-122"/>
                <a:cs typeface="Calibri" pitchFamily="34" charset="-120"/>
              </a:rPr>
              <a:t>(ENIGH simulada, México)</a:t>
            </a:r>
            <a:endParaRPr lang="en-US" sz="1150" dirty="0"/>
          </a:p>
        </p:txBody>
      </p:sp>
      <p:sp>
        <p:nvSpPr>
          <p:cNvPr id="36" name="Text 34"/>
          <p:cNvSpPr txBox="1"/>
          <p:nvPr/>
        </p:nvSpPr>
        <p:spPr>
          <a:xfrm>
            <a:off x="6080760" y="1947672"/>
            <a:ext cx="1645920" cy="457200"/>
          </a:xfrm>
          <a:prstGeom prst="rect">
            <a:avLst/>
          </a:prstGeom>
          <a:noFill/>
          <a:ln/>
        </p:spPr>
        <p:txBody>
          <a:bodyPr wrap="square" rtlCol="0" anchor="ctr"/>
          <a:lstStyle/>
          <a:p>
            <a:pPr marL="0" indent="0" algn="r">
              <a:buNone/>
            </a:pPr>
            <a:r>
              <a:rPr lang="en-US" sz="1000" dirty="0">
                <a:solidFill>
                  <a:srgbClr val="1E293B"/>
                </a:solidFill>
                <a:latin typeface="Calibri" pitchFamily="34" charset="0"/>
                <a:ea typeface="Calibri" pitchFamily="34" charset="-122"/>
                <a:cs typeface="Calibri" pitchFamily="34" charset="-120"/>
              </a:rPr>
              <a:t>Sin escolaridad</a:t>
            </a:r>
            <a:endParaRPr lang="en-US" sz="1000" dirty="0"/>
          </a:p>
        </p:txBody>
      </p:sp>
      <p:sp>
        <p:nvSpPr>
          <p:cNvPr id="37" name="Shape 35"/>
          <p:cNvSpPr/>
          <p:nvPr/>
        </p:nvSpPr>
        <p:spPr>
          <a:xfrm>
            <a:off x="7818120" y="1965960"/>
            <a:ext cx="783771" cy="411480"/>
          </a:xfrm>
          <a:prstGeom prst="rect">
            <a:avLst/>
          </a:prstGeom>
          <a:solidFill>
            <a:srgbClr val="C0392B"/>
          </a:solidFill>
          <a:ln w="12700">
            <a:solidFill>
              <a:srgbClr val="C0392B"/>
            </a:solidFill>
            <a:prstDash val="solid"/>
          </a:ln>
        </p:spPr>
        <p:txBody>
          <a:bodyPr/>
          <a:lstStyle/>
          <a:p>
            <a:endParaRPr lang="es-MX"/>
          </a:p>
        </p:txBody>
      </p:sp>
      <p:sp>
        <p:nvSpPr>
          <p:cNvPr id="38" name="Text 36"/>
          <p:cNvSpPr txBox="1"/>
          <p:nvPr/>
        </p:nvSpPr>
        <p:spPr>
          <a:xfrm>
            <a:off x="8693331" y="1965960"/>
            <a:ext cx="1645920" cy="41148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12  (8.0%)</a:t>
            </a:r>
            <a:endParaRPr lang="en-US" sz="1000" dirty="0"/>
          </a:p>
        </p:txBody>
      </p:sp>
      <p:sp>
        <p:nvSpPr>
          <p:cNvPr id="39" name="Text 37"/>
          <p:cNvSpPr txBox="1"/>
          <p:nvPr/>
        </p:nvSpPr>
        <p:spPr>
          <a:xfrm>
            <a:off x="6080760" y="2587752"/>
            <a:ext cx="1645920" cy="457200"/>
          </a:xfrm>
          <a:prstGeom prst="rect">
            <a:avLst/>
          </a:prstGeom>
          <a:noFill/>
          <a:ln/>
        </p:spPr>
        <p:txBody>
          <a:bodyPr wrap="square" rtlCol="0" anchor="ctr"/>
          <a:lstStyle/>
          <a:p>
            <a:pPr marL="0" indent="0" algn="r">
              <a:buNone/>
            </a:pPr>
            <a:r>
              <a:rPr lang="en-US" sz="1000" dirty="0">
                <a:solidFill>
                  <a:srgbClr val="1E293B"/>
                </a:solidFill>
                <a:latin typeface="Calibri" pitchFamily="34" charset="0"/>
                <a:ea typeface="Calibri" pitchFamily="34" charset="-122"/>
                <a:cs typeface="Calibri" pitchFamily="34" charset="-120"/>
              </a:rPr>
              <a:t>Primaria</a:t>
            </a:r>
            <a:endParaRPr lang="en-US" sz="1000" dirty="0"/>
          </a:p>
        </p:txBody>
      </p:sp>
      <p:sp>
        <p:nvSpPr>
          <p:cNvPr id="40" name="Shape 38"/>
          <p:cNvSpPr/>
          <p:nvPr/>
        </p:nvSpPr>
        <p:spPr>
          <a:xfrm>
            <a:off x="7818120" y="2606040"/>
            <a:ext cx="2743200" cy="411480"/>
          </a:xfrm>
          <a:prstGeom prst="rect">
            <a:avLst/>
          </a:prstGeom>
          <a:solidFill>
            <a:srgbClr val="E67E22"/>
          </a:solidFill>
          <a:ln w="12700">
            <a:solidFill>
              <a:srgbClr val="E67E22"/>
            </a:solidFill>
            <a:prstDash val="solid"/>
          </a:ln>
        </p:spPr>
        <p:txBody>
          <a:bodyPr/>
          <a:lstStyle/>
          <a:p>
            <a:endParaRPr lang="es-MX"/>
          </a:p>
        </p:txBody>
      </p:sp>
      <p:sp>
        <p:nvSpPr>
          <p:cNvPr id="41" name="Text 39"/>
          <p:cNvSpPr txBox="1"/>
          <p:nvPr/>
        </p:nvSpPr>
        <p:spPr>
          <a:xfrm>
            <a:off x="10652760" y="2606040"/>
            <a:ext cx="1645920" cy="41148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42  (28.0%)</a:t>
            </a:r>
            <a:endParaRPr lang="en-US" sz="1000" dirty="0"/>
          </a:p>
        </p:txBody>
      </p:sp>
      <p:sp>
        <p:nvSpPr>
          <p:cNvPr id="42" name="Text 40"/>
          <p:cNvSpPr txBox="1"/>
          <p:nvPr/>
        </p:nvSpPr>
        <p:spPr>
          <a:xfrm>
            <a:off x="6080760" y="3227832"/>
            <a:ext cx="1645920" cy="457200"/>
          </a:xfrm>
          <a:prstGeom prst="rect">
            <a:avLst/>
          </a:prstGeom>
          <a:noFill/>
          <a:ln/>
        </p:spPr>
        <p:txBody>
          <a:bodyPr wrap="square" rtlCol="0" anchor="ctr"/>
          <a:lstStyle/>
          <a:p>
            <a:pPr marL="0" indent="0" algn="r">
              <a:buNone/>
            </a:pPr>
            <a:r>
              <a:rPr lang="en-US" sz="1000" dirty="0">
                <a:solidFill>
                  <a:srgbClr val="1E293B"/>
                </a:solidFill>
                <a:latin typeface="Calibri" pitchFamily="34" charset="0"/>
                <a:ea typeface="Calibri" pitchFamily="34" charset="-122"/>
                <a:cs typeface="Calibri" pitchFamily="34" charset="-120"/>
              </a:rPr>
              <a:t>Secundaria</a:t>
            </a:r>
            <a:endParaRPr lang="en-US" sz="1000" dirty="0"/>
          </a:p>
        </p:txBody>
      </p:sp>
      <p:sp>
        <p:nvSpPr>
          <p:cNvPr id="43" name="Shape 41"/>
          <p:cNvSpPr/>
          <p:nvPr/>
        </p:nvSpPr>
        <p:spPr>
          <a:xfrm>
            <a:off x="7818120" y="3246120"/>
            <a:ext cx="2155371" cy="411480"/>
          </a:xfrm>
          <a:prstGeom prst="rect">
            <a:avLst/>
          </a:prstGeom>
          <a:solidFill>
            <a:srgbClr val="F1C40F"/>
          </a:solidFill>
          <a:ln w="12700">
            <a:solidFill>
              <a:srgbClr val="F1C40F"/>
            </a:solidFill>
            <a:prstDash val="solid"/>
          </a:ln>
        </p:spPr>
        <p:txBody>
          <a:bodyPr/>
          <a:lstStyle/>
          <a:p>
            <a:endParaRPr lang="es-MX"/>
          </a:p>
        </p:txBody>
      </p:sp>
      <p:sp>
        <p:nvSpPr>
          <p:cNvPr id="44" name="Text 42"/>
          <p:cNvSpPr txBox="1"/>
          <p:nvPr/>
        </p:nvSpPr>
        <p:spPr>
          <a:xfrm>
            <a:off x="10064931" y="3246120"/>
            <a:ext cx="1645920" cy="41148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33  (22.0%)</a:t>
            </a:r>
            <a:endParaRPr lang="en-US" sz="1000" dirty="0"/>
          </a:p>
        </p:txBody>
      </p:sp>
      <p:sp>
        <p:nvSpPr>
          <p:cNvPr id="45" name="Text 43"/>
          <p:cNvSpPr txBox="1"/>
          <p:nvPr/>
        </p:nvSpPr>
        <p:spPr>
          <a:xfrm>
            <a:off x="6080760" y="3867912"/>
            <a:ext cx="1645920" cy="457200"/>
          </a:xfrm>
          <a:prstGeom prst="rect">
            <a:avLst/>
          </a:prstGeom>
          <a:noFill/>
          <a:ln/>
        </p:spPr>
        <p:txBody>
          <a:bodyPr wrap="square" rtlCol="0" anchor="ctr"/>
          <a:lstStyle/>
          <a:p>
            <a:pPr marL="0" indent="0" algn="r">
              <a:buNone/>
            </a:pPr>
            <a:r>
              <a:rPr lang="en-US" sz="1000" dirty="0">
                <a:solidFill>
                  <a:srgbClr val="1E293B"/>
                </a:solidFill>
                <a:latin typeface="Calibri" pitchFamily="34" charset="0"/>
                <a:ea typeface="Calibri" pitchFamily="34" charset="-122"/>
                <a:cs typeface="Calibri" pitchFamily="34" charset="-120"/>
              </a:rPr>
              <a:t>Preparatoria</a:t>
            </a:r>
            <a:endParaRPr lang="en-US" sz="1000" dirty="0"/>
          </a:p>
        </p:txBody>
      </p:sp>
      <p:sp>
        <p:nvSpPr>
          <p:cNvPr id="46" name="Shape 44"/>
          <p:cNvSpPr/>
          <p:nvPr/>
        </p:nvSpPr>
        <p:spPr>
          <a:xfrm>
            <a:off x="7818120" y="3886200"/>
            <a:ext cx="1763486" cy="411480"/>
          </a:xfrm>
          <a:prstGeom prst="rect">
            <a:avLst/>
          </a:prstGeom>
          <a:solidFill>
            <a:srgbClr val="1A9641"/>
          </a:solidFill>
          <a:ln w="12700">
            <a:solidFill>
              <a:srgbClr val="1A9641"/>
            </a:solidFill>
            <a:prstDash val="solid"/>
          </a:ln>
        </p:spPr>
        <p:txBody>
          <a:bodyPr/>
          <a:lstStyle/>
          <a:p>
            <a:endParaRPr lang="es-MX"/>
          </a:p>
        </p:txBody>
      </p:sp>
      <p:sp>
        <p:nvSpPr>
          <p:cNvPr id="47" name="Text 45"/>
          <p:cNvSpPr txBox="1"/>
          <p:nvPr/>
        </p:nvSpPr>
        <p:spPr>
          <a:xfrm>
            <a:off x="9673046" y="3886200"/>
            <a:ext cx="1645920" cy="41148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27  (18.0%)</a:t>
            </a:r>
            <a:endParaRPr lang="en-US" sz="1000" dirty="0"/>
          </a:p>
        </p:txBody>
      </p:sp>
      <p:sp>
        <p:nvSpPr>
          <p:cNvPr id="48" name="Text 46"/>
          <p:cNvSpPr txBox="1"/>
          <p:nvPr/>
        </p:nvSpPr>
        <p:spPr>
          <a:xfrm>
            <a:off x="6080760" y="4507992"/>
            <a:ext cx="1645920" cy="457200"/>
          </a:xfrm>
          <a:prstGeom prst="rect">
            <a:avLst/>
          </a:prstGeom>
          <a:noFill/>
          <a:ln/>
        </p:spPr>
        <p:txBody>
          <a:bodyPr wrap="square" rtlCol="0" anchor="ctr"/>
          <a:lstStyle/>
          <a:p>
            <a:pPr marL="0" indent="0" algn="r">
              <a:buNone/>
            </a:pPr>
            <a:r>
              <a:rPr lang="en-US" sz="1000" dirty="0">
                <a:solidFill>
                  <a:srgbClr val="1E293B"/>
                </a:solidFill>
                <a:latin typeface="Calibri" pitchFamily="34" charset="0"/>
                <a:ea typeface="Calibri" pitchFamily="34" charset="-122"/>
                <a:cs typeface="Calibri" pitchFamily="34" charset="-120"/>
              </a:rPr>
              <a:t>Licenciatura</a:t>
            </a:r>
            <a:endParaRPr lang="en-US" sz="1000" dirty="0"/>
          </a:p>
        </p:txBody>
      </p:sp>
      <p:sp>
        <p:nvSpPr>
          <p:cNvPr id="49" name="Shape 47"/>
          <p:cNvSpPr/>
          <p:nvPr/>
        </p:nvSpPr>
        <p:spPr>
          <a:xfrm>
            <a:off x="7818120" y="4526280"/>
            <a:ext cx="1632857" cy="411480"/>
          </a:xfrm>
          <a:prstGeom prst="rect">
            <a:avLst/>
          </a:prstGeom>
          <a:solidFill>
            <a:srgbClr val="2A7ABF"/>
          </a:solidFill>
          <a:ln w="12700">
            <a:solidFill>
              <a:srgbClr val="2A7ABF"/>
            </a:solidFill>
            <a:prstDash val="solid"/>
          </a:ln>
        </p:spPr>
        <p:txBody>
          <a:bodyPr/>
          <a:lstStyle/>
          <a:p>
            <a:endParaRPr lang="es-MX"/>
          </a:p>
        </p:txBody>
      </p:sp>
      <p:sp>
        <p:nvSpPr>
          <p:cNvPr id="50" name="Text 48"/>
          <p:cNvSpPr txBox="1"/>
          <p:nvPr/>
        </p:nvSpPr>
        <p:spPr>
          <a:xfrm>
            <a:off x="9542417" y="4526280"/>
            <a:ext cx="1645920" cy="41148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25  (16.7%)</a:t>
            </a:r>
            <a:endParaRPr lang="en-US" sz="1000" dirty="0"/>
          </a:p>
        </p:txBody>
      </p:sp>
      <p:sp>
        <p:nvSpPr>
          <p:cNvPr id="51" name="Text 49"/>
          <p:cNvSpPr txBox="1"/>
          <p:nvPr/>
        </p:nvSpPr>
        <p:spPr>
          <a:xfrm>
            <a:off x="6080760" y="5148072"/>
            <a:ext cx="1645920" cy="457200"/>
          </a:xfrm>
          <a:prstGeom prst="rect">
            <a:avLst/>
          </a:prstGeom>
          <a:noFill/>
          <a:ln/>
        </p:spPr>
        <p:txBody>
          <a:bodyPr wrap="square" rtlCol="0" anchor="ctr"/>
          <a:lstStyle/>
          <a:p>
            <a:pPr marL="0" indent="0" algn="r">
              <a:buNone/>
            </a:pPr>
            <a:r>
              <a:rPr lang="en-US" sz="1000" dirty="0">
                <a:solidFill>
                  <a:srgbClr val="1E293B"/>
                </a:solidFill>
                <a:latin typeface="Calibri" pitchFamily="34" charset="0"/>
                <a:ea typeface="Calibri" pitchFamily="34" charset="-122"/>
                <a:cs typeface="Calibri" pitchFamily="34" charset="-120"/>
              </a:rPr>
              <a:t>Posgrado</a:t>
            </a:r>
            <a:endParaRPr lang="en-US" sz="1000" dirty="0"/>
          </a:p>
        </p:txBody>
      </p:sp>
      <p:sp>
        <p:nvSpPr>
          <p:cNvPr id="52" name="Shape 50"/>
          <p:cNvSpPr/>
          <p:nvPr/>
        </p:nvSpPr>
        <p:spPr>
          <a:xfrm>
            <a:off x="7818120" y="5166360"/>
            <a:ext cx="718457" cy="411480"/>
          </a:xfrm>
          <a:prstGeom prst="rect">
            <a:avLst/>
          </a:prstGeom>
          <a:solidFill>
            <a:srgbClr val="6A3D9A"/>
          </a:solidFill>
          <a:ln w="12700">
            <a:solidFill>
              <a:srgbClr val="6A3D9A"/>
            </a:solidFill>
            <a:prstDash val="solid"/>
          </a:ln>
        </p:spPr>
        <p:txBody>
          <a:bodyPr/>
          <a:lstStyle/>
          <a:p>
            <a:endParaRPr lang="es-MX"/>
          </a:p>
        </p:txBody>
      </p:sp>
      <p:sp>
        <p:nvSpPr>
          <p:cNvPr id="53" name="Text 51"/>
          <p:cNvSpPr txBox="1"/>
          <p:nvPr/>
        </p:nvSpPr>
        <p:spPr>
          <a:xfrm>
            <a:off x="8628017" y="5166360"/>
            <a:ext cx="1645920" cy="41148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11  (7.3%)</a:t>
            </a:r>
            <a:endParaRPr lang="en-US" sz="1000" dirty="0"/>
          </a:p>
        </p:txBody>
      </p:sp>
      <p:sp>
        <p:nvSpPr>
          <p:cNvPr id="54" name="Text 52"/>
          <p:cNvSpPr txBox="1"/>
          <p:nvPr/>
        </p:nvSpPr>
        <p:spPr>
          <a:xfrm>
            <a:off x="6080760" y="5760720"/>
            <a:ext cx="5577840" cy="365760"/>
          </a:xfrm>
          <a:prstGeom prst="rect">
            <a:avLst/>
          </a:prstGeom>
          <a:noFill/>
          <a:ln/>
        </p:spPr>
        <p:txBody>
          <a:bodyPr wrap="square" rtlCol="0" anchor="ctr"/>
          <a:lstStyle/>
          <a:p>
            <a:pPr marL="0" indent="0">
              <a:buNone/>
            </a:pPr>
            <a:r>
              <a:rPr lang="en-US" sz="800" i="1" dirty="0">
                <a:solidFill>
                  <a:srgbClr val="6B7280"/>
                </a:solidFill>
                <a:latin typeface="Calibri" pitchFamily="34" charset="0"/>
                <a:ea typeface="Calibri" pitchFamily="34" charset="-122"/>
                <a:cs typeface="Calibri" pitchFamily="34" charset="-120"/>
              </a:rPr>
              <a:t>Fuente: ENIGH simulada · Moda = Primaria · Datos del Banco Mundial para LatAm disponibles en notebook</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txBody>
          <a:bodyPr/>
          <a:lstStyle/>
          <a:p>
            <a:endParaRPr lang="es-MX"/>
          </a:p>
        </p:txBody>
      </p:sp>
      <p:sp>
        <p:nvSpPr>
          <p:cNvPr id="3" name="Text 1"/>
          <p:cNvSpPr txBox="1"/>
          <p:nvPr/>
        </p:nvSpPr>
        <p:spPr>
          <a:xfrm>
            <a:off x="228600" y="36576"/>
            <a:ext cx="8229600" cy="27432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marL="0" indent="0" algn="r">
              <a:buNone/>
            </a:pPr>
            <a:r>
              <a:rPr lang="en-US" sz="900" b="1" dirty="0">
                <a:solidFill>
                  <a:srgbClr val="E8A020"/>
                </a:solidFill>
                <a:latin typeface="Calibri" pitchFamily="34" charset="0"/>
                <a:ea typeface="Calibri" pitchFamily="34" charset="-122"/>
                <a:cs typeface="Calibri" pitchFamily="34" charset="-120"/>
              </a:rPr>
              <a:t>Tema 2.1</a:t>
            </a:r>
            <a:endParaRPr lang="en-US" sz="900" dirty="0"/>
          </a:p>
        </p:txBody>
      </p:sp>
      <p:sp>
        <p:nvSpPr>
          <p:cNvPr id="5" name="Shape 3"/>
          <p:cNvSpPr/>
          <p:nvPr/>
        </p:nvSpPr>
        <p:spPr>
          <a:xfrm>
            <a:off x="0" y="6565392"/>
            <a:ext cx="12161520" cy="292608"/>
          </a:xfrm>
          <a:prstGeom prst="rect">
            <a:avLst/>
          </a:prstGeom>
          <a:solidFill>
            <a:srgbClr val="1B3A6B"/>
          </a:solidFill>
          <a:ln/>
        </p:spPr>
        <p:txBody>
          <a:bodyPr/>
          <a:lstStyle/>
          <a:p>
            <a:endParaRPr lang="es-MX"/>
          </a:p>
        </p:txBody>
      </p:sp>
      <p:sp>
        <p:nvSpPr>
          <p:cNvPr id="6" name="Text 4"/>
          <p:cNvSpPr txBox="1"/>
          <p:nvPr/>
        </p:nvSpPr>
        <p:spPr>
          <a:xfrm>
            <a:off x="228600" y="6592824"/>
            <a:ext cx="73152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7" name="Shape 5"/>
          <p:cNvSpPr/>
          <p:nvPr/>
        </p:nvSpPr>
        <p:spPr>
          <a:xfrm>
            <a:off x="320040" y="364724"/>
            <a:ext cx="2532888" cy="256032"/>
          </a:xfrm>
          <a:prstGeom prst="roundRect">
            <a:avLst>
              <a:gd name="adj" fmla="val 17857"/>
            </a:avLst>
          </a:prstGeom>
          <a:solidFill>
            <a:srgbClr val="2A7ABF"/>
          </a:solidFill>
          <a:ln/>
        </p:spPr>
        <p:txBody>
          <a:bodyPr/>
          <a:lstStyle/>
          <a:p>
            <a:endParaRPr lang="es-MX"/>
          </a:p>
        </p:txBody>
      </p:sp>
      <p:sp>
        <p:nvSpPr>
          <p:cNvPr id="8" name="Text 6"/>
          <p:cNvSpPr txBox="1"/>
          <p:nvPr/>
        </p:nvSpPr>
        <p:spPr>
          <a:xfrm>
            <a:off x="365760" y="383012"/>
            <a:ext cx="2256670" cy="21945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Variables continuas</a:t>
            </a:r>
            <a:endParaRPr lang="en-US" sz="850" dirty="0"/>
          </a:p>
        </p:txBody>
      </p:sp>
      <p:sp>
        <p:nvSpPr>
          <p:cNvPr id="9" name="Text 7"/>
          <p:cNvSpPr txBox="1"/>
          <p:nvPr/>
        </p:nvSpPr>
        <p:spPr>
          <a:xfrm>
            <a:off x="320040" y="649742"/>
            <a:ext cx="10972800" cy="502920"/>
          </a:xfrm>
          <a:prstGeom prst="rect">
            <a:avLst/>
          </a:prstGeom>
          <a:noFill/>
          <a:ln/>
        </p:spPr>
        <p:txBody>
          <a:bodyPr wrap="square" rtlCol="0" anchor="ctr"/>
          <a:lstStyle/>
          <a:p>
            <a:pPr marL="0" indent="0">
              <a:buNone/>
            </a:pPr>
            <a:r>
              <a:rPr lang="en-US" sz="2500" b="1" dirty="0">
                <a:solidFill>
                  <a:srgbClr val="1B3A6B"/>
                </a:solidFill>
                <a:latin typeface="Calibri" pitchFamily="34" charset="0"/>
                <a:ea typeface="Calibri" pitchFamily="34" charset="-122"/>
                <a:cs typeface="Calibri" pitchFamily="34" charset="-120"/>
              </a:rPr>
              <a:t>Explorar una variable continua</a:t>
            </a:r>
            <a:endParaRPr lang="en-US" sz="2500" dirty="0"/>
          </a:p>
        </p:txBody>
      </p:sp>
      <p:sp>
        <p:nvSpPr>
          <p:cNvPr id="10" name="Shape 8"/>
          <p:cNvSpPr/>
          <p:nvPr/>
        </p:nvSpPr>
        <p:spPr>
          <a:xfrm>
            <a:off x="320040" y="1172326"/>
            <a:ext cx="3840480" cy="384048"/>
          </a:xfrm>
          <a:prstGeom prst="rect">
            <a:avLst/>
          </a:prstGeom>
          <a:solidFill>
            <a:srgbClr val="2A7ABF"/>
          </a:solidFill>
          <a:ln/>
        </p:spPr>
        <p:txBody>
          <a:bodyPr/>
          <a:lstStyle/>
          <a:p>
            <a:endParaRPr lang="es-MX"/>
          </a:p>
        </p:txBody>
      </p:sp>
      <p:sp>
        <p:nvSpPr>
          <p:cNvPr id="11" name="Text 9"/>
          <p:cNvSpPr txBox="1"/>
          <p:nvPr/>
        </p:nvSpPr>
        <p:spPr>
          <a:xfrm>
            <a:off x="411480" y="1190614"/>
            <a:ext cx="365760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Tendencia central</a:t>
            </a:r>
            <a:endParaRPr lang="en-US" sz="1300" dirty="0"/>
          </a:p>
        </p:txBody>
      </p:sp>
      <p:sp>
        <p:nvSpPr>
          <p:cNvPr id="12" name="Shape 10"/>
          <p:cNvSpPr/>
          <p:nvPr/>
        </p:nvSpPr>
        <p:spPr>
          <a:xfrm>
            <a:off x="320040" y="1583806"/>
            <a:ext cx="3840480" cy="1325880"/>
          </a:xfrm>
          <a:prstGeom prst="rect">
            <a:avLst/>
          </a:prstGeom>
          <a:solidFill>
            <a:srgbClr val="FFFFFF"/>
          </a:solidFill>
          <a:ln w="12700">
            <a:solidFill>
              <a:srgbClr val="D1D5DB"/>
            </a:solidFill>
            <a:prstDash val="solid"/>
          </a:ln>
        </p:spPr>
        <p:txBody>
          <a:bodyPr/>
          <a:lstStyle/>
          <a:p>
            <a:endParaRPr lang="es-MX"/>
          </a:p>
        </p:txBody>
      </p:sp>
      <p:sp>
        <p:nvSpPr>
          <p:cNvPr id="13" name="Shape 11"/>
          <p:cNvSpPr/>
          <p:nvPr/>
        </p:nvSpPr>
        <p:spPr>
          <a:xfrm>
            <a:off x="320040" y="1583806"/>
            <a:ext cx="73152" cy="1325880"/>
          </a:xfrm>
          <a:prstGeom prst="rect">
            <a:avLst/>
          </a:prstGeom>
          <a:solidFill>
            <a:srgbClr val="2A7ABF"/>
          </a:solidFill>
          <a:ln/>
        </p:spPr>
        <p:txBody>
          <a:bodyPr/>
          <a:lstStyle/>
          <a:p>
            <a:endParaRPr lang="es-MX"/>
          </a:p>
        </p:txBody>
      </p:sp>
      <p:sp>
        <p:nvSpPr>
          <p:cNvPr id="14" name="Text 12"/>
          <p:cNvSpPr txBox="1"/>
          <p:nvPr/>
        </p:nvSpPr>
        <p:spPr>
          <a:xfrm>
            <a:off x="448056" y="1656958"/>
            <a:ext cx="3566160" cy="320040"/>
          </a:xfrm>
          <a:prstGeom prst="rect">
            <a:avLst/>
          </a:prstGeom>
          <a:noFill/>
          <a:ln/>
        </p:spPr>
        <p:txBody>
          <a:bodyPr wrap="square" rtlCol="0" anchor="ctr"/>
          <a:lstStyle/>
          <a:p>
            <a:pPr marL="0" indent="0">
              <a:buNone/>
            </a:pPr>
            <a:r>
              <a:rPr lang="en-US" sz="1150" b="1" dirty="0">
                <a:solidFill>
                  <a:srgbClr val="2A7ABF"/>
                </a:solidFill>
                <a:latin typeface="Calibri" pitchFamily="34" charset="0"/>
                <a:ea typeface="Calibri" pitchFamily="34" charset="-122"/>
                <a:cs typeface="Calibri" pitchFamily="34" charset="-120"/>
              </a:rPr>
              <a:t>Media (μ)</a:t>
            </a:r>
            <a:endParaRPr lang="en-US" sz="1150" dirty="0"/>
          </a:p>
        </p:txBody>
      </p:sp>
      <p:sp>
        <p:nvSpPr>
          <p:cNvPr id="15" name="Text 13"/>
          <p:cNvSpPr txBox="1"/>
          <p:nvPr/>
        </p:nvSpPr>
        <p:spPr>
          <a:xfrm>
            <a:off x="448056" y="1949566"/>
            <a:ext cx="3566160" cy="5029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Suma / n. Sensible a valores extremos.</a:t>
            </a:r>
            <a:endParaRPr lang="en-US" sz="1000" dirty="0"/>
          </a:p>
        </p:txBody>
      </p:sp>
      <p:sp>
        <p:nvSpPr>
          <p:cNvPr id="16" name="Shape 14"/>
          <p:cNvSpPr/>
          <p:nvPr/>
        </p:nvSpPr>
        <p:spPr>
          <a:xfrm>
            <a:off x="448056" y="2452486"/>
            <a:ext cx="3566160" cy="365760"/>
          </a:xfrm>
          <a:prstGeom prst="rect">
            <a:avLst/>
          </a:prstGeom>
          <a:solidFill>
            <a:srgbClr val="1E2D40"/>
          </a:solidFill>
          <a:ln w="12700">
            <a:solidFill>
              <a:srgbClr val="2A7ABF"/>
            </a:solidFill>
            <a:prstDash val="solid"/>
          </a:ln>
        </p:spPr>
        <p:txBody>
          <a:bodyPr/>
          <a:lstStyle/>
          <a:p>
            <a:endParaRPr lang="es-MX"/>
          </a:p>
        </p:txBody>
      </p:sp>
      <p:sp>
        <p:nvSpPr>
          <p:cNvPr id="17" name="Text 15"/>
          <p:cNvSpPr txBox="1"/>
          <p:nvPr/>
        </p:nvSpPr>
        <p:spPr>
          <a:xfrm>
            <a:off x="557784" y="2543926"/>
            <a:ext cx="3346704" cy="182880"/>
          </a:xfrm>
          <a:prstGeom prst="rect">
            <a:avLst/>
          </a:prstGeom>
          <a:noFill/>
          <a:ln/>
        </p:spPr>
        <p:txBody>
          <a:bodyPr wrap="square" rtlCol="0" anchor="t"/>
          <a:lstStyle/>
          <a:p>
            <a:pPr marL="0" indent="0">
              <a:buNone/>
            </a:pPr>
            <a:r>
              <a:rPr lang="en-US" sz="850" dirty="0">
                <a:solidFill>
                  <a:srgbClr val="A8D8F0"/>
                </a:solidFill>
                <a:latin typeface="Courier New" pitchFamily="34" charset="0"/>
                <a:ea typeface="Courier New" pitchFamily="34" charset="-122"/>
                <a:cs typeface="Courier New" pitchFamily="34" charset="-120"/>
              </a:rPr>
              <a:t>df[col].mean()</a:t>
            </a:r>
            <a:endParaRPr lang="en-US" sz="850" dirty="0"/>
          </a:p>
        </p:txBody>
      </p:sp>
      <p:sp>
        <p:nvSpPr>
          <p:cNvPr id="18" name="Shape 16"/>
          <p:cNvSpPr/>
          <p:nvPr/>
        </p:nvSpPr>
        <p:spPr>
          <a:xfrm>
            <a:off x="320040" y="3001126"/>
            <a:ext cx="3840480" cy="1325880"/>
          </a:xfrm>
          <a:prstGeom prst="rect">
            <a:avLst/>
          </a:prstGeom>
          <a:solidFill>
            <a:srgbClr val="FFFFFF"/>
          </a:solidFill>
          <a:ln w="12700">
            <a:solidFill>
              <a:srgbClr val="D1D5DB"/>
            </a:solidFill>
            <a:prstDash val="solid"/>
          </a:ln>
        </p:spPr>
        <p:txBody>
          <a:bodyPr/>
          <a:lstStyle/>
          <a:p>
            <a:endParaRPr lang="es-MX"/>
          </a:p>
        </p:txBody>
      </p:sp>
      <p:sp>
        <p:nvSpPr>
          <p:cNvPr id="19" name="Shape 17"/>
          <p:cNvSpPr/>
          <p:nvPr/>
        </p:nvSpPr>
        <p:spPr>
          <a:xfrm>
            <a:off x="320040" y="3001126"/>
            <a:ext cx="73152" cy="1325880"/>
          </a:xfrm>
          <a:prstGeom prst="rect">
            <a:avLst/>
          </a:prstGeom>
          <a:solidFill>
            <a:srgbClr val="2A7ABF"/>
          </a:solidFill>
          <a:ln/>
        </p:spPr>
        <p:txBody>
          <a:bodyPr/>
          <a:lstStyle/>
          <a:p>
            <a:endParaRPr lang="es-MX"/>
          </a:p>
        </p:txBody>
      </p:sp>
      <p:sp>
        <p:nvSpPr>
          <p:cNvPr id="20" name="Text 18"/>
          <p:cNvSpPr txBox="1"/>
          <p:nvPr/>
        </p:nvSpPr>
        <p:spPr>
          <a:xfrm>
            <a:off x="448056" y="3074278"/>
            <a:ext cx="3566160" cy="320040"/>
          </a:xfrm>
          <a:prstGeom prst="rect">
            <a:avLst/>
          </a:prstGeom>
          <a:noFill/>
          <a:ln/>
        </p:spPr>
        <p:txBody>
          <a:bodyPr wrap="square" rtlCol="0" anchor="ctr"/>
          <a:lstStyle/>
          <a:p>
            <a:pPr marL="0" indent="0">
              <a:buNone/>
            </a:pPr>
            <a:r>
              <a:rPr lang="en-US" sz="1150" b="1" dirty="0">
                <a:solidFill>
                  <a:srgbClr val="2A7ABF"/>
                </a:solidFill>
                <a:latin typeface="Calibri" pitchFamily="34" charset="0"/>
                <a:ea typeface="Calibri" pitchFamily="34" charset="-122"/>
                <a:cs typeface="Calibri" pitchFamily="34" charset="-120"/>
              </a:rPr>
              <a:t>Mediana (p50)</a:t>
            </a:r>
            <a:endParaRPr lang="en-US" sz="1150" dirty="0"/>
          </a:p>
        </p:txBody>
      </p:sp>
      <p:sp>
        <p:nvSpPr>
          <p:cNvPr id="21" name="Text 19"/>
          <p:cNvSpPr txBox="1"/>
          <p:nvPr/>
        </p:nvSpPr>
        <p:spPr>
          <a:xfrm>
            <a:off x="448056" y="3366886"/>
            <a:ext cx="3566160" cy="5029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Valor que divide la distribución a la mitad. Robusta a outliers.</a:t>
            </a:r>
            <a:endParaRPr lang="en-US" sz="1000" dirty="0"/>
          </a:p>
        </p:txBody>
      </p:sp>
      <p:sp>
        <p:nvSpPr>
          <p:cNvPr id="22" name="Shape 20"/>
          <p:cNvSpPr/>
          <p:nvPr/>
        </p:nvSpPr>
        <p:spPr>
          <a:xfrm>
            <a:off x="448056" y="3869806"/>
            <a:ext cx="3566160" cy="365760"/>
          </a:xfrm>
          <a:prstGeom prst="rect">
            <a:avLst/>
          </a:prstGeom>
          <a:solidFill>
            <a:srgbClr val="1E2D40"/>
          </a:solidFill>
          <a:ln w="12700">
            <a:solidFill>
              <a:srgbClr val="2A7ABF"/>
            </a:solidFill>
            <a:prstDash val="solid"/>
          </a:ln>
        </p:spPr>
        <p:txBody>
          <a:bodyPr/>
          <a:lstStyle/>
          <a:p>
            <a:endParaRPr lang="es-MX"/>
          </a:p>
        </p:txBody>
      </p:sp>
      <p:sp>
        <p:nvSpPr>
          <p:cNvPr id="23" name="Text 21"/>
          <p:cNvSpPr txBox="1"/>
          <p:nvPr/>
        </p:nvSpPr>
        <p:spPr>
          <a:xfrm>
            <a:off x="557784" y="3961246"/>
            <a:ext cx="3346704" cy="182880"/>
          </a:xfrm>
          <a:prstGeom prst="rect">
            <a:avLst/>
          </a:prstGeom>
          <a:noFill/>
          <a:ln/>
        </p:spPr>
        <p:txBody>
          <a:bodyPr wrap="square" rtlCol="0" anchor="t"/>
          <a:lstStyle/>
          <a:p>
            <a:pPr marL="0" indent="0">
              <a:buNone/>
            </a:pPr>
            <a:r>
              <a:rPr lang="en-US" sz="850" dirty="0">
                <a:solidFill>
                  <a:srgbClr val="A8D8F0"/>
                </a:solidFill>
                <a:latin typeface="Courier New" pitchFamily="34" charset="0"/>
                <a:ea typeface="Courier New" pitchFamily="34" charset="-122"/>
                <a:cs typeface="Courier New" pitchFamily="34" charset="-120"/>
              </a:rPr>
              <a:t>df[col].median()</a:t>
            </a:r>
            <a:endParaRPr lang="en-US" sz="850" dirty="0"/>
          </a:p>
        </p:txBody>
      </p:sp>
      <p:sp>
        <p:nvSpPr>
          <p:cNvPr id="24" name="Shape 22"/>
          <p:cNvSpPr/>
          <p:nvPr/>
        </p:nvSpPr>
        <p:spPr>
          <a:xfrm>
            <a:off x="4297680" y="1172326"/>
            <a:ext cx="3840480" cy="384048"/>
          </a:xfrm>
          <a:prstGeom prst="rect">
            <a:avLst/>
          </a:prstGeom>
          <a:solidFill>
            <a:srgbClr val="1A9641"/>
          </a:solidFill>
          <a:ln/>
        </p:spPr>
        <p:txBody>
          <a:bodyPr/>
          <a:lstStyle/>
          <a:p>
            <a:endParaRPr lang="es-MX"/>
          </a:p>
        </p:txBody>
      </p:sp>
      <p:sp>
        <p:nvSpPr>
          <p:cNvPr id="25" name="Text 23"/>
          <p:cNvSpPr txBox="1"/>
          <p:nvPr/>
        </p:nvSpPr>
        <p:spPr>
          <a:xfrm>
            <a:off x="4389120" y="1190614"/>
            <a:ext cx="365760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Dispersión</a:t>
            </a:r>
            <a:endParaRPr lang="en-US" sz="1300" dirty="0"/>
          </a:p>
        </p:txBody>
      </p:sp>
      <p:sp>
        <p:nvSpPr>
          <p:cNvPr id="26" name="Shape 24"/>
          <p:cNvSpPr/>
          <p:nvPr/>
        </p:nvSpPr>
        <p:spPr>
          <a:xfrm>
            <a:off x="4297680" y="1583806"/>
            <a:ext cx="3840480" cy="1325880"/>
          </a:xfrm>
          <a:prstGeom prst="rect">
            <a:avLst/>
          </a:prstGeom>
          <a:solidFill>
            <a:srgbClr val="FFFFFF"/>
          </a:solidFill>
          <a:ln w="12700">
            <a:solidFill>
              <a:srgbClr val="D1D5DB"/>
            </a:solidFill>
            <a:prstDash val="solid"/>
          </a:ln>
        </p:spPr>
        <p:txBody>
          <a:bodyPr/>
          <a:lstStyle/>
          <a:p>
            <a:endParaRPr lang="es-MX"/>
          </a:p>
        </p:txBody>
      </p:sp>
      <p:sp>
        <p:nvSpPr>
          <p:cNvPr id="27" name="Shape 25"/>
          <p:cNvSpPr/>
          <p:nvPr/>
        </p:nvSpPr>
        <p:spPr>
          <a:xfrm>
            <a:off x="4297680" y="1583806"/>
            <a:ext cx="73152" cy="1325880"/>
          </a:xfrm>
          <a:prstGeom prst="rect">
            <a:avLst/>
          </a:prstGeom>
          <a:solidFill>
            <a:srgbClr val="1A9641"/>
          </a:solidFill>
          <a:ln/>
        </p:spPr>
        <p:txBody>
          <a:bodyPr/>
          <a:lstStyle/>
          <a:p>
            <a:endParaRPr lang="es-MX"/>
          </a:p>
        </p:txBody>
      </p:sp>
      <p:sp>
        <p:nvSpPr>
          <p:cNvPr id="28" name="Text 26"/>
          <p:cNvSpPr txBox="1"/>
          <p:nvPr/>
        </p:nvSpPr>
        <p:spPr>
          <a:xfrm>
            <a:off x="4425696" y="1656958"/>
            <a:ext cx="3566160" cy="320040"/>
          </a:xfrm>
          <a:prstGeom prst="rect">
            <a:avLst/>
          </a:prstGeom>
          <a:noFill/>
          <a:ln/>
        </p:spPr>
        <p:txBody>
          <a:bodyPr wrap="square" rtlCol="0" anchor="ctr"/>
          <a:lstStyle/>
          <a:p>
            <a:pPr marL="0" indent="0">
              <a:buNone/>
            </a:pPr>
            <a:r>
              <a:rPr lang="en-US" sz="1150" b="1" dirty="0">
                <a:solidFill>
                  <a:srgbClr val="1A9641"/>
                </a:solidFill>
                <a:latin typeface="Calibri" pitchFamily="34" charset="0"/>
                <a:ea typeface="Calibri" pitchFamily="34" charset="-122"/>
                <a:cs typeface="Calibri" pitchFamily="34" charset="-120"/>
              </a:rPr>
              <a:t>Desv. estándar (σ)</a:t>
            </a:r>
            <a:endParaRPr lang="en-US" sz="1150" dirty="0"/>
          </a:p>
        </p:txBody>
      </p:sp>
      <p:sp>
        <p:nvSpPr>
          <p:cNvPr id="29" name="Text 27"/>
          <p:cNvSpPr txBox="1"/>
          <p:nvPr/>
        </p:nvSpPr>
        <p:spPr>
          <a:xfrm>
            <a:off x="4425696" y="1949566"/>
            <a:ext cx="3566160" cy="5029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Raíz cuadrada de la varianza. En las mismas unidades que X.</a:t>
            </a:r>
            <a:endParaRPr lang="en-US" sz="1000" dirty="0"/>
          </a:p>
        </p:txBody>
      </p:sp>
      <p:sp>
        <p:nvSpPr>
          <p:cNvPr id="30" name="Shape 28"/>
          <p:cNvSpPr/>
          <p:nvPr/>
        </p:nvSpPr>
        <p:spPr>
          <a:xfrm>
            <a:off x="4425696" y="2452486"/>
            <a:ext cx="3566160" cy="365760"/>
          </a:xfrm>
          <a:prstGeom prst="rect">
            <a:avLst/>
          </a:prstGeom>
          <a:solidFill>
            <a:srgbClr val="1E2D40"/>
          </a:solidFill>
          <a:ln w="12700">
            <a:solidFill>
              <a:srgbClr val="2A7ABF"/>
            </a:solidFill>
            <a:prstDash val="solid"/>
          </a:ln>
        </p:spPr>
        <p:txBody>
          <a:bodyPr/>
          <a:lstStyle/>
          <a:p>
            <a:endParaRPr lang="es-MX"/>
          </a:p>
        </p:txBody>
      </p:sp>
      <p:sp>
        <p:nvSpPr>
          <p:cNvPr id="31" name="Text 29"/>
          <p:cNvSpPr txBox="1"/>
          <p:nvPr/>
        </p:nvSpPr>
        <p:spPr>
          <a:xfrm>
            <a:off x="4535424" y="2543926"/>
            <a:ext cx="3346704" cy="182880"/>
          </a:xfrm>
          <a:prstGeom prst="rect">
            <a:avLst/>
          </a:prstGeom>
          <a:noFill/>
          <a:ln/>
        </p:spPr>
        <p:txBody>
          <a:bodyPr wrap="square" rtlCol="0" anchor="t"/>
          <a:lstStyle/>
          <a:p>
            <a:pPr marL="0" indent="0">
              <a:buNone/>
            </a:pPr>
            <a:r>
              <a:rPr lang="en-US" sz="850" dirty="0">
                <a:solidFill>
                  <a:srgbClr val="A8D8F0"/>
                </a:solidFill>
                <a:latin typeface="Courier New" pitchFamily="34" charset="0"/>
                <a:ea typeface="Courier New" pitchFamily="34" charset="-122"/>
                <a:cs typeface="Courier New" pitchFamily="34" charset="-120"/>
              </a:rPr>
              <a:t>df[col].std()</a:t>
            </a:r>
            <a:endParaRPr lang="en-US" sz="850" dirty="0"/>
          </a:p>
        </p:txBody>
      </p:sp>
      <p:sp>
        <p:nvSpPr>
          <p:cNvPr id="32" name="Shape 30"/>
          <p:cNvSpPr/>
          <p:nvPr/>
        </p:nvSpPr>
        <p:spPr>
          <a:xfrm>
            <a:off x="4297680" y="3001126"/>
            <a:ext cx="3840480" cy="1325880"/>
          </a:xfrm>
          <a:prstGeom prst="rect">
            <a:avLst/>
          </a:prstGeom>
          <a:solidFill>
            <a:srgbClr val="FFFFFF"/>
          </a:solidFill>
          <a:ln w="12700">
            <a:solidFill>
              <a:srgbClr val="D1D5DB"/>
            </a:solidFill>
            <a:prstDash val="solid"/>
          </a:ln>
        </p:spPr>
        <p:txBody>
          <a:bodyPr/>
          <a:lstStyle/>
          <a:p>
            <a:endParaRPr lang="es-MX"/>
          </a:p>
        </p:txBody>
      </p:sp>
      <p:sp>
        <p:nvSpPr>
          <p:cNvPr id="33" name="Shape 31"/>
          <p:cNvSpPr/>
          <p:nvPr/>
        </p:nvSpPr>
        <p:spPr>
          <a:xfrm>
            <a:off x="4297680" y="3001126"/>
            <a:ext cx="73152" cy="1325880"/>
          </a:xfrm>
          <a:prstGeom prst="rect">
            <a:avLst/>
          </a:prstGeom>
          <a:solidFill>
            <a:srgbClr val="1A9641"/>
          </a:solidFill>
          <a:ln/>
        </p:spPr>
        <p:txBody>
          <a:bodyPr/>
          <a:lstStyle/>
          <a:p>
            <a:endParaRPr lang="es-MX"/>
          </a:p>
        </p:txBody>
      </p:sp>
      <p:sp>
        <p:nvSpPr>
          <p:cNvPr id="34" name="Text 32"/>
          <p:cNvSpPr txBox="1"/>
          <p:nvPr/>
        </p:nvSpPr>
        <p:spPr>
          <a:xfrm>
            <a:off x="4425696" y="3074278"/>
            <a:ext cx="3566160" cy="320040"/>
          </a:xfrm>
          <a:prstGeom prst="rect">
            <a:avLst/>
          </a:prstGeom>
          <a:noFill/>
          <a:ln/>
        </p:spPr>
        <p:txBody>
          <a:bodyPr wrap="square" rtlCol="0" anchor="ctr"/>
          <a:lstStyle/>
          <a:p>
            <a:pPr marL="0" indent="0">
              <a:buNone/>
            </a:pPr>
            <a:r>
              <a:rPr lang="en-US" sz="1150" b="1" dirty="0">
                <a:solidFill>
                  <a:srgbClr val="1A9641"/>
                </a:solidFill>
                <a:latin typeface="Calibri" pitchFamily="34" charset="0"/>
                <a:ea typeface="Calibri" pitchFamily="34" charset="-122"/>
                <a:cs typeface="Calibri" pitchFamily="34" charset="-120"/>
              </a:rPr>
              <a:t>Coef. variación (CV)</a:t>
            </a:r>
            <a:endParaRPr lang="en-US" sz="1150" dirty="0"/>
          </a:p>
        </p:txBody>
      </p:sp>
      <p:sp>
        <p:nvSpPr>
          <p:cNvPr id="35" name="Text 33"/>
          <p:cNvSpPr txBox="1"/>
          <p:nvPr/>
        </p:nvSpPr>
        <p:spPr>
          <a:xfrm>
            <a:off x="4425696" y="3366886"/>
            <a:ext cx="3566160" cy="5029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σ/μ. Permite comparar variabilidad entre variables de distintas unidades.</a:t>
            </a:r>
            <a:endParaRPr lang="en-US" sz="1000" dirty="0"/>
          </a:p>
        </p:txBody>
      </p:sp>
      <p:sp>
        <p:nvSpPr>
          <p:cNvPr id="36" name="Shape 34"/>
          <p:cNvSpPr/>
          <p:nvPr/>
        </p:nvSpPr>
        <p:spPr>
          <a:xfrm>
            <a:off x="4425696" y="3869806"/>
            <a:ext cx="3566160" cy="365760"/>
          </a:xfrm>
          <a:prstGeom prst="rect">
            <a:avLst/>
          </a:prstGeom>
          <a:solidFill>
            <a:srgbClr val="1E2D40"/>
          </a:solidFill>
          <a:ln w="12700">
            <a:solidFill>
              <a:srgbClr val="2A7ABF"/>
            </a:solidFill>
            <a:prstDash val="solid"/>
          </a:ln>
        </p:spPr>
        <p:txBody>
          <a:bodyPr/>
          <a:lstStyle/>
          <a:p>
            <a:endParaRPr lang="es-MX"/>
          </a:p>
        </p:txBody>
      </p:sp>
      <p:sp>
        <p:nvSpPr>
          <p:cNvPr id="37" name="Text 35"/>
          <p:cNvSpPr txBox="1"/>
          <p:nvPr/>
        </p:nvSpPr>
        <p:spPr>
          <a:xfrm>
            <a:off x="4535424" y="3961246"/>
            <a:ext cx="3346704" cy="182880"/>
          </a:xfrm>
          <a:prstGeom prst="rect">
            <a:avLst/>
          </a:prstGeom>
          <a:noFill/>
          <a:ln/>
        </p:spPr>
        <p:txBody>
          <a:bodyPr wrap="square" rtlCol="0" anchor="t"/>
          <a:lstStyle/>
          <a:p>
            <a:pPr marL="0" indent="0">
              <a:buNone/>
            </a:pPr>
            <a:r>
              <a:rPr lang="en-US" sz="850" dirty="0">
                <a:solidFill>
                  <a:srgbClr val="A8D8F0"/>
                </a:solidFill>
                <a:latin typeface="Courier New" pitchFamily="34" charset="0"/>
                <a:ea typeface="Courier New" pitchFamily="34" charset="-122"/>
                <a:cs typeface="Courier New" pitchFamily="34" charset="-120"/>
              </a:rPr>
              <a:t>df[col].std() / df[col].mean()</a:t>
            </a:r>
            <a:endParaRPr lang="en-US" sz="850" dirty="0"/>
          </a:p>
        </p:txBody>
      </p:sp>
      <p:sp>
        <p:nvSpPr>
          <p:cNvPr id="38" name="Shape 36"/>
          <p:cNvSpPr/>
          <p:nvPr/>
        </p:nvSpPr>
        <p:spPr>
          <a:xfrm>
            <a:off x="4297680" y="4418446"/>
            <a:ext cx="3840480" cy="1325880"/>
          </a:xfrm>
          <a:prstGeom prst="rect">
            <a:avLst/>
          </a:prstGeom>
          <a:solidFill>
            <a:srgbClr val="FFFFFF"/>
          </a:solidFill>
          <a:ln w="12700">
            <a:solidFill>
              <a:srgbClr val="D1D5DB"/>
            </a:solidFill>
            <a:prstDash val="solid"/>
          </a:ln>
        </p:spPr>
        <p:txBody>
          <a:bodyPr/>
          <a:lstStyle/>
          <a:p>
            <a:endParaRPr lang="es-MX"/>
          </a:p>
        </p:txBody>
      </p:sp>
      <p:sp>
        <p:nvSpPr>
          <p:cNvPr id="39" name="Shape 37"/>
          <p:cNvSpPr/>
          <p:nvPr/>
        </p:nvSpPr>
        <p:spPr>
          <a:xfrm>
            <a:off x="4297680" y="4418446"/>
            <a:ext cx="73152" cy="1325880"/>
          </a:xfrm>
          <a:prstGeom prst="rect">
            <a:avLst/>
          </a:prstGeom>
          <a:solidFill>
            <a:srgbClr val="1A9641"/>
          </a:solidFill>
          <a:ln/>
        </p:spPr>
        <p:txBody>
          <a:bodyPr/>
          <a:lstStyle/>
          <a:p>
            <a:endParaRPr lang="es-MX"/>
          </a:p>
        </p:txBody>
      </p:sp>
      <p:sp>
        <p:nvSpPr>
          <p:cNvPr id="40" name="Text 38"/>
          <p:cNvSpPr txBox="1"/>
          <p:nvPr/>
        </p:nvSpPr>
        <p:spPr>
          <a:xfrm>
            <a:off x="4425696" y="4491598"/>
            <a:ext cx="3566160" cy="320040"/>
          </a:xfrm>
          <a:prstGeom prst="rect">
            <a:avLst/>
          </a:prstGeom>
          <a:noFill/>
          <a:ln/>
        </p:spPr>
        <p:txBody>
          <a:bodyPr wrap="square" rtlCol="0" anchor="ctr"/>
          <a:lstStyle/>
          <a:p>
            <a:pPr marL="0" indent="0">
              <a:buNone/>
            </a:pPr>
            <a:r>
              <a:rPr lang="en-US" sz="1150" b="1" dirty="0">
                <a:solidFill>
                  <a:srgbClr val="1A9641"/>
                </a:solidFill>
                <a:latin typeface="Calibri" pitchFamily="34" charset="0"/>
                <a:ea typeface="Calibri" pitchFamily="34" charset="-122"/>
                <a:cs typeface="Calibri" pitchFamily="34" charset="-120"/>
              </a:rPr>
              <a:t>Percentiles</a:t>
            </a:r>
            <a:endParaRPr lang="en-US" sz="1150" dirty="0"/>
          </a:p>
        </p:txBody>
      </p:sp>
      <p:sp>
        <p:nvSpPr>
          <p:cNvPr id="41" name="Text 39"/>
          <p:cNvSpPr txBox="1"/>
          <p:nvPr/>
        </p:nvSpPr>
        <p:spPr>
          <a:xfrm>
            <a:off x="4425696" y="4784206"/>
            <a:ext cx="3566160" cy="5029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p10, p25, p75, p90, p99. Muestran la forma completa de la distribución.</a:t>
            </a:r>
            <a:endParaRPr lang="en-US" sz="1000" dirty="0"/>
          </a:p>
        </p:txBody>
      </p:sp>
      <p:sp>
        <p:nvSpPr>
          <p:cNvPr id="42" name="Shape 40"/>
          <p:cNvSpPr/>
          <p:nvPr/>
        </p:nvSpPr>
        <p:spPr>
          <a:xfrm>
            <a:off x="4425696" y="5287126"/>
            <a:ext cx="3566160" cy="365760"/>
          </a:xfrm>
          <a:prstGeom prst="rect">
            <a:avLst/>
          </a:prstGeom>
          <a:solidFill>
            <a:srgbClr val="1E2D40"/>
          </a:solidFill>
          <a:ln w="12700">
            <a:solidFill>
              <a:srgbClr val="2A7ABF"/>
            </a:solidFill>
            <a:prstDash val="solid"/>
          </a:ln>
        </p:spPr>
        <p:txBody>
          <a:bodyPr/>
          <a:lstStyle/>
          <a:p>
            <a:endParaRPr lang="es-MX"/>
          </a:p>
        </p:txBody>
      </p:sp>
      <p:sp>
        <p:nvSpPr>
          <p:cNvPr id="43" name="Text 41"/>
          <p:cNvSpPr txBox="1"/>
          <p:nvPr/>
        </p:nvSpPr>
        <p:spPr>
          <a:xfrm>
            <a:off x="4535424" y="5378566"/>
            <a:ext cx="3346704" cy="182880"/>
          </a:xfrm>
          <a:prstGeom prst="rect">
            <a:avLst/>
          </a:prstGeom>
          <a:noFill/>
          <a:ln/>
        </p:spPr>
        <p:txBody>
          <a:bodyPr wrap="square" rtlCol="0" anchor="t"/>
          <a:lstStyle/>
          <a:p>
            <a:pPr marL="0" indent="0">
              <a:buNone/>
            </a:pPr>
            <a:r>
              <a:rPr lang="en-US" sz="850" dirty="0">
                <a:solidFill>
                  <a:srgbClr val="A8D8F0"/>
                </a:solidFill>
                <a:latin typeface="Courier New" pitchFamily="34" charset="0"/>
                <a:ea typeface="Courier New" pitchFamily="34" charset="-122"/>
                <a:cs typeface="Courier New" pitchFamily="34" charset="-120"/>
              </a:rPr>
              <a:t>df[col].quantile([.1,.25,.75,.9,.99])</a:t>
            </a:r>
            <a:endParaRPr lang="en-US" sz="850" dirty="0"/>
          </a:p>
        </p:txBody>
      </p:sp>
      <p:sp>
        <p:nvSpPr>
          <p:cNvPr id="44" name="Shape 42"/>
          <p:cNvSpPr/>
          <p:nvPr/>
        </p:nvSpPr>
        <p:spPr>
          <a:xfrm>
            <a:off x="8275320" y="1172326"/>
            <a:ext cx="3840480" cy="384048"/>
          </a:xfrm>
          <a:prstGeom prst="rect">
            <a:avLst/>
          </a:prstGeom>
          <a:solidFill>
            <a:srgbClr val="6A3D9A"/>
          </a:solidFill>
          <a:ln/>
        </p:spPr>
        <p:txBody>
          <a:bodyPr/>
          <a:lstStyle/>
          <a:p>
            <a:endParaRPr lang="es-MX"/>
          </a:p>
        </p:txBody>
      </p:sp>
      <p:sp>
        <p:nvSpPr>
          <p:cNvPr id="45" name="Text 43"/>
          <p:cNvSpPr txBox="1"/>
          <p:nvPr/>
        </p:nvSpPr>
        <p:spPr>
          <a:xfrm>
            <a:off x="8366760" y="1190614"/>
            <a:ext cx="365760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Forma</a:t>
            </a:r>
            <a:endParaRPr lang="en-US" sz="1300" dirty="0"/>
          </a:p>
        </p:txBody>
      </p:sp>
      <p:sp>
        <p:nvSpPr>
          <p:cNvPr id="46" name="Shape 44"/>
          <p:cNvSpPr/>
          <p:nvPr/>
        </p:nvSpPr>
        <p:spPr>
          <a:xfrm>
            <a:off x="8275320" y="1583806"/>
            <a:ext cx="3840480" cy="1325880"/>
          </a:xfrm>
          <a:prstGeom prst="rect">
            <a:avLst/>
          </a:prstGeom>
          <a:solidFill>
            <a:srgbClr val="FFFFFF"/>
          </a:solidFill>
          <a:ln w="12700">
            <a:solidFill>
              <a:srgbClr val="D1D5DB"/>
            </a:solidFill>
            <a:prstDash val="solid"/>
          </a:ln>
        </p:spPr>
        <p:txBody>
          <a:bodyPr/>
          <a:lstStyle/>
          <a:p>
            <a:endParaRPr lang="es-MX"/>
          </a:p>
        </p:txBody>
      </p:sp>
      <p:sp>
        <p:nvSpPr>
          <p:cNvPr id="47" name="Shape 45"/>
          <p:cNvSpPr/>
          <p:nvPr/>
        </p:nvSpPr>
        <p:spPr>
          <a:xfrm>
            <a:off x="8275320" y="1583806"/>
            <a:ext cx="73152" cy="1325880"/>
          </a:xfrm>
          <a:prstGeom prst="rect">
            <a:avLst/>
          </a:prstGeom>
          <a:solidFill>
            <a:srgbClr val="6A3D9A"/>
          </a:solidFill>
          <a:ln/>
        </p:spPr>
        <p:txBody>
          <a:bodyPr/>
          <a:lstStyle/>
          <a:p>
            <a:endParaRPr lang="es-MX"/>
          </a:p>
        </p:txBody>
      </p:sp>
      <p:sp>
        <p:nvSpPr>
          <p:cNvPr id="48" name="Text 46"/>
          <p:cNvSpPr txBox="1"/>
          <p:nvPr/>
        </p:nvSpPr>
        <p:spPr>
          <a:xfrm>
            <a:off x="8403336" y="1656958"/>
            <a:ext cx="3566160" cy="320040"/>
          </a:xfrm>
          <a:prstGeom prst="rect">
            <a:avLst/>
          </a:prstGeom>
          <a:noFill/>
          <a:ln/>
        </p:spPr>
        <p:txBody>
          <a:bodyPr wrap="square" rtlCol="0" anchor="ctr"/>
          <a:lstStyle/>
          <a:p>
            <a:pPr marL="0" indent="0">
              <a:buNone/>
            </a:pPr>
            <a:r>
              <a:rPr lang="en-US" sz="1150" b="1" dirty="0">
                <a:solidFill>
                  <a:srgbClr val="6A3D9A"/>
                </a:solidFill>
                <a:latin typeface="Calibri" pitchFamily="34" charset="0"/>
                <a:ea typeface="Calibri" pitchFamily="34" charset="-122"/>
                <a:cs typeface="Calibri" pitchFamily="34" charset="-120"/>
              </a:rPr>
              <a:t>Asimetría (skewness)</a:t>
            </a:r>
            <a:endParaRPr lang="en-US" sz="1150" dirty="0"/>
          </a:p>
        </p:txBody>
      </p:sp>
      <p:sp>
        <p:nvSpPr>
          <p:cNvPr id="49" name="Text 47"/>
          <p:cNvSpPr txBox="1"/>
          <p:nvPr/>
        </p:nvSpPr>
        <p:spPr>
          <a:xfrm>
            <a:off x="8403336" y="1949566"/>
            <a:ext cx="3566160" cy="5029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&gt; 0: cola a la derecha (como los ingresos). &lt; 0: cola izquierda.</a:t>
            </a:r>
            <a:endParaRPr lang="en-US" sz="1000" dirty="0"/>
          </a:p>
        </p:txBody>
      </p:sp>
      <p:sp>
        <p:nvSpPr>
          <p:cNvPr id="50" name="Shape 48"/>
          <p:cNvSpPr/>
          <p:nvPr/>
        </p:nvSpPr>
        <p:spPr>
          <a:xfrm>
            <a:off x="8403336" y="2452486"/>
            <a:ext cx="3566160" cy="365760"/>
          </a:xfrm>
          <a:prstGeom prst="rect">
            <a:avLst/>
          </a:prstGeom>
          <a:solidFill>
            <a:srgbClr val="1E2D40"/>
          </a:solidFill>
          <a:ln w="12700">
            <a:solidFill>
              <a:srgbClr val="2A7ABF"/>
            </a:solidFill>
            <a:prstDash val="solid"/>
          </a:ln>
        </p:spPr>
        <p:txBody>
          <a:bodyPr/>
          <a:lstStyle/>
          <a:p>
            <a:endParaRPr lang="es-MX"/>
          </a:p>
        </p:txBody>
      </p:sp>
      <p:sp>
        <p:nvSpPr>
          <p:cNvPr id="51" name="Text 49"/>
          <p:cNvSpPr txBox="1"/>
          <p:nvPr/>
        </p:nvSpPr>
        <p:spPr>
          <a:xfrm>
            <a:off x="8513064" y="2543926"/>
            <a:ext cx="3346704" cy="182880"/>
          </a:xfrm>
          <a:prstGeom prst="rect">
            <a:avLst/>
          </a:prstGeom>
          <a:noFill/>
          <a:ln/>
        </p:spPr>
        <p:txBody>
          <a:bodyPr wrap="square" rtlCol="0" anchor="t"/>
          <a:lstStyle/>
          <a:p>
            <a:pPr marL="0" indent="0">
              <a:buNone/>
            </a:pPr>
            <a:r>
              <a:rPr lang="en-US" sz="850" dirty="0">
                <a:solidFill>
                  <a:srgbClr val="A8D8F0"/>
                </a:solidFill>
                <a:latin typeface="Courier New" pitchFamily="34" charset="0"/>
                <a:ea typeface="Courier New" pitchFamily="34" charset="-122"/>
                <a:cs typeface="Courier New" pitchFamily="34" charset="-120"/>
              </a:rPr>
              <a:t>df[col].skew()</a:t>
            </a:r>
            <a:endParaRPr lang="en-US" sz="850" dirty="0"/>
          </a:p>
        </p:txBody>
      </p:sp>
      <p:sp>
        <p:nvSpPr>
          <p:cNvPr id="52" name="Shape 50"/>
          <p:cNvSpPr/>
          <p:nvPr/>
        </p:nvSpPr>
        <p:spPr>
          <a:xfrm>
            <a:off x="8275320" y="3001126"/>
            <a:ext cx="3840480" cy="1325880"/>
          </a:xfrm>
          <a:prstGeom prst="rect">
            <a:avLst/>
          </a:prstGeom>
          <a:solidFill>
            <a:srgbClr val="FFFFFF"/>
          </a:solidFill>
          <a:ln w="12700">
            <a:solidFill>
              <a:srgbClr val="D1D5DB"/>
            </a:solidFill>
            <a:prstDash val="solid"/>
          </a:ln>
        </p:spPr>
        <p:txBody>
          <a:bodyPr/>
          <a:lstStyle/>
          <a:p>
            <a:endParaRPr lang="es-MX"/>
          </a:p>
        </p:txBody>
      </p:sp>
      <p:sp>
        <p:nvSpPr>
          <p:cNvPr id="53" name="Shape 51"/>
          <p:cNvSpPr/>
          <p:nvPr/>
        </p:nvSpPr>
        <p:spPr>
          <a:xfrm>
            <a:off x="8275320" y="3001126"/>
            <a:ext cx="73152" cy="1325880"/>
          </a:xfrm>
          <a:prstGeom prst="rect">
            <a:avLst/>
          </a:prstGeom>
          <a:solidFill>
            <a:srgbClr val="6A3D9A"/>
          </a:solidFill>
          <a:ln/>
        </p:spPr>
        <p:txBody>
          <a:bodyPr/>
          <a:lstStyle/>
          <a:p>
            <a:endParaRPr lang="es-MX"/>
          </a:p>
        </p:txBody>
      </p:sp>
      <p:sp>
        <p:nvSpPr>
          <p:cNvPr id="54" name="Text 52"/>
          <p:cNvSpPr txBox="1"/>
          <p:nvPr/>
        </p:nvSpPr>
        <p:spPr>
          <a:xfrm>
            <a:off x="8403336" y="3074278"/>
            <a:ext cx="3566160" cy="320040"/>
          </a:xfrm>
          <a:prstGeom prst="rect">
            <a:avLst/>
          </a:prstGeom>
          <a:noFill/>
          <a:ln/>
        </p:spPr>
        <p:txBody>
          <a:bodyPr wrap="square" rtlCol="0" anchor="ctr"/>
          <a:lstStyle/>
          <a:p>
            <a:pPr marL="0" indent="0">
              <a:buNone/>
            </a:pPr>
            <a:r>
              <a:rPr lang="en-US" sz="1150" b="1" dirty="0">
                <a:solidFill>
                  <a:srgbClr val="6A3D9A"/>
                </a:solidFill>
                <a:latin typeface="Calibri" pitchFamily="34" charset="0"/>
                <a:ea typeface="Calibri" pitchFamily="34" charset="-122"/>
                <a:cs typeface="Calibri" pitchFamily="34" charset="-120"/>
              </a:rPr>
              <a:t>Curtosis</a:t>
            </a:r>
            <a:endParaRPr lang="en-US" sz="1150" dirty="0"/>
          </a:p>
        </p:txBody>
      </p:sp>
      <p:sp>
        <p:nvSpPr>
          <p:cNvPr id="55" name="Text 53"/>
          <p:cNvSpPr txBox="1"/>
          <p:nvPr/>
        </p:nvSpPr>
        <p:spPr>
          <a:xfrm>
            <a:off x="8403336" y="3366886"/>
            <a:ext cx="3566160" cy="5029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&gt; 3: colas pesadas (más outliers que una normal). Importante en economía financiera.</a:t>
            </a:r>
            <a:endParaRPr lang="en-US" sz="1000" dirty="0"/>
          </a:p>
        </p:txBody>
      </p:sp>
      <p:sp>
        <p:nvSpPr>
          <p:cNvPr id="56" name="Shape 54"/>
          <p:cNvSpPr/>
          <p:nvPr/>
        </p:nvSpPr>
        <p:spPr>
          <a:xfrm>
            <a:off x="8403336" y="3869806"/>
            <a:ext cx="3566160" cy="365760"/>
          </a:xfrm>
          <a:prstGeom prst="rect">
            <a:avLst/>
          </a:prstGeom>
          <a:solidFill>
            <a:srgbClr val="1E2D40"/>
          </a:solidFill>
          <a:ln w="12700">
            <a:solidFill>
              <a:srgbClr val="2A7ABF"/>
            </a:solidFill>
            <a:prstDash val="solid"/>
          </a:ln>
        </p:spPr>
        <p:txBody>
          <a:bodyPr/>
          <a:lstStyle/>
          <a:p>
            <a:endParaRPr lang="es-MX"/>
          </a:p>
        </p:txBody>
      </p:sp>
      <p:sp>
        <p:nvSpPr>
          <p:cNvPr id="57" name="Text 55"/>
          <p:cNvSpPr txBox="1"/>
          <p:nvPr/>
        </p:nvSpPr>
        <p:spPr>
          <a:xfrm>
            <a:off x="8513064" y="3961246"/>
            <a:ext cx="3346704" cy="182880"/>
          </a:xfrm>
          <a:prstGeom prst="rect">
            <a:avLst/>
          </a:prstGeom>
          <a:noFill/>
          <a:ln/>
        </p:spPr>
        <p:txBody>
          <a:bodyPr wrap="square" rtlCol="0" anchor="t"/>
          <a:lstStyle/>
          <a:p>
            <a:pPr marL="0" indent="0">
              <a:buNone/>
            </a:pPr>
            <a:r>
              <a:rPr lang="en-US" sz="850" dirty="0">
                <a:solidFill>
                  <a:srgbClr val="A8D8F0"/>
                </a:solidFill>
                <a:latin typeface="Courier New" pitchFamily="34" charset="0"/>
                <a:ea typeface="Courier New" pitchFamily="34" charset="-122"/>
                <a:cs typeface="Courier New" pitchFamily="34" charset="-120"/>
              </a:rPr>
              <a:t>df[col].kurtosis()</a:t>
            </a:r>
            <a:endParaRPr lang="en-US" sz="850" dirty="0"/>
          </a:p>
        </p:txBody>
      </p:sp>
      <p:sp>
        <p:nvSpPr>
          <p:cNvPr id="58" name="Shape 56"/>
          <p:cNvSpPr/>
          <p:nvPr/>
        </p:nvSpPr>
        <p:spPr>
          <a:xfrm>
            <a:off x="320040" y="5844609"/>
            <a:ext cx="11521440" cy="491490"/>
          </a:xfrm>
          <a:prstGeom prst="rect">
            <a:avLst/>
          </a:prstGeom>
          <a:solidFill>
            <a:srgbClr val="FEF3C7"/>
          </a:solidFill>
          <a:ln w="12700">
            <a:solidFill>
              <a:srgbClr val="E8A020"/>
            </a:solidFill>
            <a:prstDash val="solid"/>
          </a:ln>
        </p:spPr>
        <p:txBody>
          <a:bodyPr/>
          <a:lstStyle/>
          <a:p>
            <a:endParaRPr lang="es-MX"/>
          </a:p>
        </p:txBody>
      </p:sp>
      <p:sp>
        <p:nvSpPr>
          <p:cNvPr id="59" name="Text 57"/>
          <p:cNvSpPr txBox="1"/>
          <p:nvPr/>
        </p:nvSpPr>
        <p:spPr>
          <a:xfrm>
            <a:off x="457200" y="5903741"/>
            <a:ext cx="11247120" cy="393192"/>
          </a:xfrm>
          <a:prstGeom prst="rect">
            <a:avLst/>
          </a:prstGeom>
          <a:noFill/>
          <a:ln/>
        </p:spPr>
        <p:txBody>
          <a:bodyPr wrap="square" rtlCol="0" anchor="ctr"/>
          <a:lstStyle/>
          <a:p>
            <a:pPr marL="0" indent="0">
              <a:buNone/>
            </a:pPr>
            <a:r>
              <a:rPr lang="en-US" sz="1050" dirty="0">
                <a:solidFill>
                  <a:srgbClr val="92400E"/>
                </a:solidFill>
                <a:latin typeface="Calibri" pitchFamily="34" charset="0"/>
                <a:ea typeface="Calibri" pitchFamily="34" charset="-122"/>
                <a:cs typeface="Calibri" pitchFamily="34" charset="-120"/>
              </a:rPr>
              <a:t>⚠  Ingresos, precios de vivienda y PIB per cápita tienen distribuciones asimétricas (skewness &gt; 1). En esos casos la MEDIANA representa mejor al caso típico que la media. El FMI reporta "PIB per cápita promedio" — pero la mediana es más informativa.</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txBody>
          <a:bodyPr/>
          <a:lstStyle/>
          <a:p>
            <a:endParaRPr lang="es-MX"/>
          </a:p>
        </p:txBody>
      </p:sp>
      <p:sp>
        <p:nvSpPr>
          <p:cNvPr id="3" name="Text 1"/>
          <p:cNvSpPr txBox="1"/>
          <p:nvPr/>
        </p:nvSpPr>
        <p:spPr>
          <a:xfrm>
            <a:off x="228600" y="36576"/>
            <a:ext cx="8229600" cy="27432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marL="0" indent="0" algn="r">
              <a:buNone/>
            </a:pPr>
            <a:r>
              <a:rPr lang="en-US" sz="900" b="1" dirty="0">
                <a:solidFill>
                  <a:srgbClr val="E8A020"/>
                </a:solidFill>
                <a:latin typeface="Calibri" pitchFamily="34" charset="0"/>
                <a:ea typeface="Calibri" pitchFamily="34" charset="-122"/>
                <a:cs typeface="Calibri" pitchFamily="34" charset="-120"/>
              </a:rPr>
              <a:t>Tema 2.1</a:t>
            </a:r>
            <a:endParaRPr lang="en-US" sz="900" dirty="0"/>
          </a:p>
        </p:txBody>
      </p:sp>
      <p:sp>
        <p:nvSpPr>
          <p:cNvPr id="5" name="Shape 3"/>
          <p:cNvSpPr/>
          <p:nvPr/>
        </p:nvSpPr>
        <p:spPr>
          <a:xfrm>
            <a:off x="0" y="6565392"/>
            <a:ext cx="12161520" cy="292608"/>
          </a:xfrm>
          <a:prstGeom prst="rect">
            <a:avLst/>
          </a:prstGeom>
          <a:solidFill>
            <a:srgbClr val="1B3A6B"/>
          </a:solidFill>
          <a:ln/>
        </p:spPr>
        <p:txBody>
          <a:bodyPr/>
          <a:lstStyle/>
          <a:p>
            <a:endParaRPr lang="es-MX"/>
          </a:p>
        </p:txBody>
      </p:sp>
      <p:sp>
        <p:nvSpPr>
          <p:cNvPr id="6" name="Text 4"/>
          <p:cNvSpPr txBox="1"/>
          <p:nvPr/>
        </p:nvSpPr>
        <p:spPr>
          <a:xfrm>
            <a:off x="228600" y="6592824"/>
            <a:ext cx="73152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7" name="Text 5"/>
          <p:cNvSpPr txBox="1"/>
          <p:nvPr/>
        </p:nvSpPr>
        <p:spPr>
          <a:xfrm>
            <a:off x="320040" y="457200"/>
            <a:ext cx="10972800" cy="502920"/>
          </a:xfrm>
          <a:prstGeom prst="rect">
            <a:avLst/>
          </a:prstGeom>
          <a:noFill/>
          <a:ln/>
        </p:spPr>
        <p:txBody>
          <a:bodyPr wrap="square"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¿Media o Mediana? El caso de los ingresos</a:t>
            </a:r>
            <a:endParaRPr lang="en-US" sz="2500" dirty="0"/>
          </a:p>
        </p:txBody>
      </p:sp>
      <p:sp>
        <p:nvSpPr>
          <p:cNvPr id="8" name="Shape 6"/>
          <p:cNvSpPr/>
          <p:nvPr/>
        </p:nvSpPr>
        <p:spPr>
          <a:xfrm>
            <a:off x="365760" y="1097280"/>
            <a:ext cx="2743200" cy="4389120"/>
          </a:xfrm>
          <a:prstGeom prst="rect">
            <a:avLst/>
          </a:prstGeom>
          <a:solidFill>
            <a:srgbClr val="FFFFFF">
              <a:alpha val="12000"/>
            </a:srgbClr>
          </a:solidFill>
          <a:ln w="12700">
            <a:solidFill>
              <a:srgbClr val="1A9641"/>
            </a:solidFill>
            <a:prstDash val="solid"/>
          </a:ln>
        </p:spPr>
        <p:txBody>
          <a:bodyPr/>
          <a:lstStyle/>
          <a:p>
            <a:endParaRPr lang="es-MX"/>
          </a:p>
        </p:txBody>
      </p:sp>
      <p:sp>
        <p:nvSpPr>
          <p:cNvPr id="9" name="Text 7"/>
          <p:cNvSpPr txBox="1"/>
          <p:nvPr/>
        </p:nvSpPr>
        <p:spPr>
          <a:xfrm>
            <a:off x="457200" y="1234440"/>
            <a:ext cx="2560320" cy="411480"/>
          </a:xfrm>
          <a:prstGeom prst="rect">
            <a:avLst/>
          </a:prstGeom>
          <a:noFill/>
          <a:ln/>
        </p:spPr>
        <p:txBody>
          <a:bodyPr wrap="square" rtlCol="0" anchor="ctr"/>
          <a:lstStyle/>
          <a:p>
            <a:pPr marL="0" indent="0" algn="ctr">
              <a:buNone/>
            </a:pPr>
            <a:r>
              <a:rPr lang="en-US" sz="1600" b="1" dirty="0">
                <a:solidFill>
                  <a:srgbClr val="1A9641"/>
                </a:solidFill>
                <a:latin typeface="Calibri" pitchFamily="34" charset="0"/>
                <a:ea typeface="Calibri" pitchFamily="34" charset="-122"/>
                <a:cs typeface="Calibri" pitchFamily="34" charset="-120"/>
              </a:rPr>
              <a:t>Brasil</a:t>
            </a:r>
            <a:endParaRPr lang="en-US" sz="1600" dirty="0"/>
          </a:p>
        </p:txBody>
      </p:sp>
      <p:sp>
        <p:nvSpPr>
          <p:cNvPr id="10" name="Shape 8"/>
          <p:cNvSpPr/>
          <p:nvPr/>
        </p:nvSpPr>
        <p:spPr>
          <a:xfrm>
            <a:off x="548640" y="1691640"/>
            <a:ext cx="2377440" cy="0"/>
          </a:xfrm>
          <a:prstGeom prst="line">
            <a:avLst/>
          </a:prstGeom>
          <a:noFill/>
          <a:ln w="12700">
            <a:solidFill>
              <a:srgbClr val="1A9641"/>
            </a:solidFill>
            <a:prstDash val="solid"/>
          </a:ln>
        </p:spPr>
        <p:txBody>
          <a:bodyPr/>
          <a:lstStyle/>
          <a:p>
            <a:endParaRPr lang="es-MX"/>
          </a:p>
        </p:txBody>
      </p:sp>
      <p:sp>
        <p:nvSpPr>
          <p:cNvPr id="11" name="Text 9"/>
          <p:cNvSpPr txBox="1"/>
          <p:nvPr/>
        </p:nvSpPr>
        <p:spPr>
          <a:xfrm>
            <a:off x="457200" y="1783080"/>
            <a:ext cx="2560320" cy="274320"/>
          </a:xfrm>
          <a:prstGeom prst="rect">
            <a:avLst/>
          </a:prstGeom>
          <a:noFill/>
          <a:ln/>
        </p:spPr>
        <p:txBody>
          <a:bodyPr wrap="square" rtlCol="0" anchor="ctr"/>
          <a:lstStyle/>
          <a:p>
            <a:pPr marL="0" indent="0" algn="ctr">
              <a:buNone/>
            </a:pPr>
            <a:r>
              <a:rPr lang="en-US" sz="900" dirty="0">
                <a:solidFill>
                  <a:srgbClr val="90A8C0"/>
                </a:solidFill>
                <a:latin typeface="Calibri" pitchFamily="34" charset="0"/>
                <a:ea typeface="Calibri" pitchFamily="34" charset="-122"/>
                <a:cs typeface="Calibri" pitchFamily="34" charset="-120"/>
              </a:rPr>
              <a:t>Media (PIB pc PPP)</a:t>
            </a:r>
            <a:endParaRPr lang="en-US" sz="900" dirty="0"/>
          </a:p>
        </p:txBody>
      </p:sp>
      <p:sp>
        <p:nvSpPr>
          <p:cNvPr id="12" name="Text 10"/>
          <p:cNvSpPr txBox="1"/>
          <p:nvPr/>
        </p:nvSpPr>
        <p:spPr>
          <a:xfrm>
            <a:off x="457200" y="2057400"/>
            <a:ext cx="2560320" cy="5029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$11,300</a:t>
            </a:r>
            <a:endParaRPr lang="en-US" sz="2200" dirty="0"/>
          </a:p>
        </p:txBody>
      </p:sp>
      <p:sp>
        <p:nvSpPr>
          <p:cNvPr id="13" name="Text 11"/>
          <p:cNvSpPr txBox="1"/>
          <p:nvPr/>
        </p:nvSpPr>
        <p:spPr>
          <a:xfrm>
            <a:off x="457200" y="2697480"/>
            <a:ext cx="2560320" cy="274320"/>
          </a:xfrm>
          <a:prstGeom prst="rect">
            <a:avLst/>
          </a:prstGeom>
          <a:noFill/>
          <a:ln/>
        </p:spPr>
        <p:txBody>
          <a:bodyPr wrap="square" rtlCol="0" anchor="ctr"/>
          <a:lstStyle/>
          <a:p>
            <a:pPr marL="0" indent="0" algn="ctr">
              <a:buNone/>
            </a:pPr>
            <a:r>
              <a:rPr lang="en-US" sz="900" dirty="0">
                <a:solidFill>
                  <a:srgbClr val="90A8C0"/>
                </a:solidFill>
                <a:latin typeface="Calibri" pitchFamily="34" charset="0"/>
                <a:ea typeface="Calibri" pitchFamily="34" charset="-122"/>
                <a:cs typeface="Calibri" pitchFamily="34" charset="-120"/>
              </a:rPr>
              <a:t>Mediana (estimada)</a:t>
            </a:r>
            <a:endParaRPr lang="en-US" sz="900" dirty="0"/>
          </a:p>
        </p:txBody>
      </p:sp>
      <p:sp>
        <p:nvSpPr>
          <p:cNvPr id="14" name="Text 12"/>
          <p:cNvSpPr txBox="1"/>
          <p:nvPr/>
        </p:nvSpPr>
        <p:spPr>
          <a:xfrm>
            <a:off x="457200" y="2971800"/>
            <a:ext cx="2560320" cy="502920"/>
          </a:xfrm>
          <a:prstGeom prst="rect">
            <a:avLst/>
          </a:prstGeom>
          <a:noFill/>
          <a:ln/>
        </p:spPr>
        <p:txBody>
          <a:bodyPr wrap="square" rtlCol="0" anchor="ctr"/>
          <a:lstStyle/>
          <a:p>
            <a:pPr marL="0" indent="0" algn="ctr">
              <a:buNone/>
            </a:pPr>
            <a:r>
              <a:rPr lang="en-US" sz="2200" b="1" dirty="0">
                <a:solidFill>
                  <a:srgbClr val="1A9641"/>
                </a:solidFill>
                <a:latin typeface="Calibri" pitchFamily="34" charset="0"/>
                <a:ea typeface="Calibri" pitchFamily="34" charset="-122"/>
                <a:cs typeface="Calibri" pitchFamily="34" charset="-120"/>
              </a:rPr>
              <a:t>$6,800</a:t>
            </a:r>
            <a:endParaRPr lang="en-US" sz="2200" dirty="0"/>
          </a:p>
        </p:txBody>
      </p:sp>
      <p:sp>
        <p:nvSpPr>
          <p:cNvPr id="15" name="Text 13"/>
          <p:cNvSpPr txBox="1"/>
          <p:nvPr/>
        </p:nvSpPr>
        <p:spPr>
          <a:xfrm>
            <a:off x="457200" y="3611880"/>
            <a:ext cx="2560320" cy="274320"/>
          </a:xfrm>
          <a:prstGeom prst="rect">
            <a:avLst/>
          </a:prstGeom>
          <a:noFill/>
          <a:ln/>
        </p:spPr>
        <p:txBody>
          <a:bodyPr wrap="square" rtlCol="0" anchor="ctr"/>
          <a:lstStyle/>
          <a:p>
            <a:pPr marL="0" indent="0" algn="ctr">
              <a:buNone/>
            </a:pPr>
            <a:r>
              <a:rPr lang="en-US" sz="1050" dirty="0">
                <a:solidFill>
                  <a:srgbClr val="90A8C0"/>
                </a:solidFill>
                <a:latin typeface="Calibri" pitchFamily="34" charset="0"/>
                <a:ea typeface="Calibri" pitchFamily="34" charset="-122"/>
                <a:cs typeface="Calibri" pitchFamily="34" charset="-120"/>
              </a:rPr>
              <a:t>Asimetría: 2.1</a:t>
            </a:r>
            <a:endParaRPr lang="en-US" sz="1050" dirty="0"/>
          </a:p>
        </p:txBody>
      </p:sp>
      <p:sp>
        <p:nvSpPr>
          <p:cNvPr id="16" name="Shape 14"/>
          <p:cNvSpPr/>
          <p:nvPr/>
        </p:nvSpPr>
        <p:spPr>
          <a:xfrm>
            <a:off x="640080" y="3977640"/>
            <a:ext cx="2194560" cy="685800"/>
          </a:xfrm>
          <a:prstGeom prst="rect">
            <a:avLst/>
          </a:prstGeom>
          <a:solidFill>
            <a:srgbClr val="C0392B">
              <a:alpha val="30000"/>
            </a:srgbClr>
          </a:solidFill>
          <a:ln w="12700">
            <a:solidFill>
              <a:srgbClr val="C0392B"/>
            </a:solidFill>
            <a:prstDash val="solid"/>
          </a:ln>
        </p:spPr>
        <p:txBody>
          <a:bodyPr/>
          <a:lstStyle/>
          <a:p>
            <a:endParaRPr lang="es-MX"/>
          </a:p>
        </p:txBody>
      </p:sp>
      <p:sp>
        <p:nvSpPr>
          <p:cNvPr id="17" name="Text 15"/>
          <p:cNvSpPr txBox="1"/>
          <p:nvPr/>
        </p:nvSpPr>
        <p:spPr>
          <a:xfrm>
            <a:off x="640080" y="4023360"/>
            <a:ext cx="2194560" cy="59436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Media &gt;</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mediana</a:t>
            </a:r>
            <a:endParaRPr lang="en-US" sz="950" dirty="0"/>
          </a:p>
        </p:txBody>
      </p:sp>
      <p:sp>
        <p:nvSpPr>
          <p:cNvPr id="18" name="Shape 16"/>
          <p:cNvSpPr/>
          <p:nvPr/>
        </p:nvSpPr>
        <p:spPr>
          <a:xfrm>
            <a:off x="3246120" y="1097280"/>
            <a:ext cx="2743200" cy="4389120"/>
          </a:xfrm>
          <a:prstGeom prst="rect">
            <a:avLst/>
          </a:prstGeom>
          <a:solidFill>
            <a:srgbClr val="FFFFFF">
              <a:alpha val="12000"/>
            </a:srgbClr>
          </a:solidFill>
          <a:ln w="12700">
            <a:solidFill>
              <a:srgbClr val="2A7ABF"/>
            </a:solidFill>
            <a:prstDash val="solid"/>
          </a:ln>
        </p:spPr>
        <p:txBody>
          <a:bodyPr/>
          <a:lstStyle/>
          <a:p>
            <a:endParaRPr lang="es-MX"/>
          </a:p>
        </p:txBody>
      </p:sp>
      <p:sp>
        <p:nvSpPr>
          <p:cNvPr id="19" name="Text 17"/>
          <p:cNvSpPr txBox="1"/>
          <p:nvPr/>
        </p:nvSpPr>
        <p:spPr>
          <a:xfrm>
            <a:off x="3337560" y="1234440"/>
            <a:ext cx="2560320" cy="411480"/>
          </a:xfrm>
          <a:prstGeom prst="rect">
            <a:avLst/>
          </a:prstGeom>
          <a:noFill/>
          <a:ln/>
        </p:spPr>
        <p:txBody>
          <a:bodyPr wrap="square" rtlCol="0" anchor="ctr"/>
          <a:lstStyle/>
          <a:p>
            <a:pPr marL="0" indent="0" algn="ctr">
              <a:buNone/>
            </a:pPr>
            <a:r>
              <a:rPr lang="en-US" sz="1600" b="1" dirty="0">
                <a:solidFill>
                  <a:srgbClr val="2A7ABF"/>
                </a:solidFill>
                <a:latin typeface="Calibri" pitchFamily="34" charset="0"/>
                <a:ea typeface="Calibri" pitchFamily="34" charset="-122"/>
                <a:cs typeface="Calibri" pitchFamily="34" charset="-120"/>
              </a:rPr>
              <a:t>Chile</a:t>
            </a:r>
            <a:endParaRPr lang="en-US" sz="1600" dirty="0"/>
          </a:p>
        </p:txBody>
      </p:sp>
      <p:sp>
        <p:nvSpPr>
          <p:cNvPr id="20" name="Shape 18"/>
          <p:cNvSpPr/>
          <p:nvPr/>
        </p:nvSpPr>
        <p:spPr>
          <a:xfrm>
            <a:off x="3429000" y="1691640"/>
            <a:ext cx="2377440" cy="0"/>
          </a:xfrm>
          <a:prstGeom prst="line">
            <a:avLst/>
          </a:prstGeom>
          <a:noFill/>
          <a:ln w="12700">
            <a:solidFill>
              <a:srgbClr val="2A7ABF"/>
            </a:solidFill>
            <a:prstDash val="solid"/>
          </a:ln>
        </p:spPr>
        <p:txBody>
          <a:bodyPr/>
          <a:lstStyle/>
          <a:p>
            <a:endParaRPr lang="es-MX"/>
          </a:p>
        </p:txBody>
      </p:sp>
      <p:sp>
        <p:nvSpPr>
          <p:cNvPr id="21" name="Text 19"/>
          <p:cNvSpPr txBox="1"/>
          <p:nvPr/>
        </p:nvSpPr>
        <p:spPr>
          <a:xfrm>
            <a:off x="3337560" y="1783080"/>
            <a:ext cx="2560320" cy="274320"/>
          </a:xfrm>
          <a:prstGeom prst="rect">
            <a:avLst/>
          </a:prstGeom>
          <a:noFill/>
          <a:ln/>
        </p:spPr>
        <p:txBody>
          <a:bodyPr wrap="square" rtlCol="0" anchor="ctr"/>
          <a:lstStyle/>
          <a:p>
            <a:pPr marL="0" indent="0" algn="ctr">
              <a:buNone/>
            </a:pPr>
            <a:r>
              <a:rPr lang="en-US" sz="900" dirty="0">
                <a:solidFill>
                  <a:srgbClr val="90A8C0"/>
                </a:solidFill>
                <a:latin typeface="Calibri" pitchFamily="34" charset="0"/>
                <a:ea typeface="Calibri" pitchFamily="34" charset="-122"/>
                <a:cs typeface="Calibri" pitchFamily="34" charset="-120"/>
              </a:rPr>
              <a:t>Media (PIB pc PPP)</a:t>
            </a:r>
            <a:endParaRPr lang="en-US" sz="900" dirty="0"/>
          </a:p>
        </p:txBody>
      </p:sp>
      <p:sp>
        <p:nvSpPr>
          <p:cNvPr id="22" name="Text 20"/>
          <p:cNvSpPr txBox="1"/>
          <p:nvPr/>
        </p:nvSpPr>
        <p:spPr>
          <a:xfrm>
            <a:off x="3337560" y="2057400"/>
            <a:ext cx="2560320" cy="5029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$25,900</a:t>
            </a:r>
            <a:endParaRPr lang="en-US" sz="2200" dirty="0"/>
          </a:p>
        </p:txBody>
      </p:sp>
      <p:sp>
        <p:nvSpPr>
          <p:cNvPr id="23" name="Text 21"/>
          <p:cNvSpPr txBox="1"/>
          <p:nvPr/>
        </p:nvSpPr>
        <p:spPr>
          <a:xfrm>
            <a:off x="3337560" y="2697480"/>
            <a:ext cx="2560320" cy="274320"/>
          </a:xfrm>
          <a:prstGeom prst="rect">
            <a:avLst/>
          </a:prstGeom>
          <a:noFill/>
          <a:ln/>
        </p:spPr>
        <p:txBody>
          <a:bodyPr wrap="square" rtlCol="0" anchor="ctr"/>
          <a:lstStyle/>
          <a:p>
            <a:pPr marL="0" indent="0" algn="ctr">
              <a:buNone/>
            </a:pPr>
            <a:r>
              <a:rPr lang="en-US" sz="900" dirty="0">
                <a:solidFill>
                  <a:srgbClr val="90A8C0"/>
                </a:solidFill>
                <a:latin typeface="Calibri" pitchFamily="34" charset="0"/>
                <a:ea typeface="Calibri" pitchFamily="34" charset="-122"/>
                <a:cs typeface="Calibri" pitchFamily="34" charset="-120"/>
              </a:rPr>
              <a:t>Mediana (estimada)</a:t>
            </a:r>
            <a:endParaRPr lang="en-US" sz="900" dirty="0"/>
          </a:p>
        </p:txBody>
      </p:sp>
      <p:sp>
        <p:nvSpPr>
          <p:cNvPr id="24" name="Text 22"/>
          <p:cNvSpPr txBox="1"/>
          <p:nvPr/>
        </p:nvSpPr>
        <p:spPr>
          <a:xfrm>
            <a:off x="3337560" y="2971800"/>
            <a:ext cx="2560320" cy="502920"/>
          </a:xfrm>
          <a:prstGeom prst="rect">
            <a:avLst/>
          </a:prstGeom>
          <a:noFill/>
          <a:ln/>
        </p:spPr>
        <p:txBody>
          <a:bodyPr wrap="square" rtlCol="0" anchor="ctr"/>
          <a:lstStyle/>
          <a:p>
            <a:pPr marL="0" indent="0" algn="ctr">
              <a:buNone/>
            </a:pPr>
            <a:r>
              <a:rPr lang="en-US" sz="2200" b="1" dirty="0">
                <a:solidFill>
                  <a:srgbClr val="2A7ABF"/>
                </a:solidFill>
                <a:latin typeface="Calibri" pitchFamily="34" charset="0"/>
                <a:ea typeface="Calibri" pitchFamily="34" charset="-122"/>
                <a:cs typeface="Calibri" pitchFamily="34" charset="-120"/>
              </a:rPr>
              <a:t>$18,200</a:t>
            </a:r>
            <a:endParaRPr lang="en-US" sz="2200" dirty="0"/>
          </a:p>
        </p:txBody>
      </p:sp>
      <p:sp>
        <p:nvSpPr>
          <p:cNvPr id="25" name="Text 23"/>
          <p:cNvSpPr txBox="1"/>
          <p:nvPr/>
        </p:nvSpPr>
        <p:spPr>
          <a:xfrm>
            <a:off x="3337560" y="3611880"/>
            <a:ext cx="2560320" cy="274320"/>
          </a:xfrm>
          <a:prstGeom prst="rect">
            <a:avLst/>
          </a:prstGeom>
          <a:noFill/>
          <a:ln/>
        </p:spPr>
        <p:txBody>
          <a:bodyPr wrap="square" rtlCol="0" anchor="ctr"/>
          <a:lstStyle/>
          <a:p>
            <a:pPr marL="0" indent="0" algn="ctr">
              <a:buNone/>
            </a:pPr>
            <a:r>
              <a:rPr lang="en-US" sz="1050" dirty="0">
                <a:solidFill>
                  <a:srgbClr val="90A8C0"/>
                </a:solidFill>
                <a:latin typeface="Calibri" pitchFamily="34" charset="0"/>
                <a:ea typeface="Calibri" pitchFamily="34" charset="-122"/>
                <a:cs typeface="Calibri" pitchFamily="34" charset="-120"/>
              </a:rPr>
              <a:t>Asimetría: 1.7</a:t>
            </a:r>
            <a:endParaRPr lang="en-US" sz="1050" dirty="0"/>
          </a:p>
        </p:txBody>
      </p:sp>
      <p:sp>
        <p:nvSpPr>
          <p:cNvPr id="26" name="Shape 24"/>
          <p:cNvSpPr/>
          <p:nvPr/>
        </p:nvSpPr>
        <p:spPr>
          <a:xfrm>
            <a:off x="3520440" y="3977640"/>
            <a:ext cx="2194560" cy="685800"/>
          </a:xfrm>
          <a:prstGeom prst="rect">
            <a:avLst/>
          </a:prstGeom>
          <a:solidFill>
            <a:srgbClr val="C0392B">
              <a:alpha val="30000"/>
            </a:srgbClr>
          </a:solidFill>
          <a:ln w="12700">
            <a:solidFill>
              <a:srgbClr val="C0392B"/>
            </a:solidFill>
            <a:prstDash val="solid"/>
          </a:ln>
        </p:spPr>
        <p:txBody>
          <a:bodyPr/>
          <a:lstStyle/>
          <a:p>
            <a:endParaRPr lang="es-MX"/>
          </a:p>
        </p:txBody>
      </p:sp>
      <p:sp>
        <p:nvSpPr>
          <p:cNvPr id="27" name="Text 25"/>
          <p:cNvSpPr txBox="1"/>
          <p:nvPr/>
        </p:nvSpPr>
        <p:spPr>
          <a:xfrm>
            <a:off x="3520440" y="4023360"/>
            <a:ext cx="2194560" cy="59436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Media &gt;</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mediana</a:t>
            </a:r>
            <a:endParaRPr lang="en-US" sz="950" dirty="0"/>
          </a:p>
        </p:txBody>
      </p:sp>
      <p:sp>
        <p:nvSpPr>
          <p:cNvPr id="28" name="Shape 26"/>
          <p:cNvSpPr/>
          <p:nvPr/>
        </p:nvSpPr>
        <p:spPr>
          <a:xfrm>
            <a:off x="6126480" y="1097280"/>
            <a:ext cx="2743200" cy="4389120"/>
          </a:xfrm>
          <a:prstGeom prst="rect">
            <a:avLst/>
          </a:prstGeom>
          <a:solidFill>
            <a:srgbClr val="FFFFFF">
              <a:alpha val="12000"/>
            </a:srgbClr>
          </a:solidFill>
          <a:ln w="12700">
            <a:solidFill>
              <a:schemeClr val="accent1">
                <a:lumMod val="60000"/>
                <a:lumOff val="40000"/>
              </a:schemeClr>
            </a:solidFill>
            <a:prstDash val="solid"/>
          </a:ln>
        </p:spPr>
        <p:txBody>
          <a:bodyPr/>
          <a:lstStyle/>
          <a:p>
            <a:endParaRPr lang="es-MX">
              <a:solidFill>
                <a:schemeClr val="accent1">
                  <a:lumMod val="60000"/>
                  <a:lumOff val="40000"/>
                </a:schemeClr>
              </a:solidFill>
            </a:endParaRPr>
          </a:p>
        </p:txBody>
      </p:sp>
      <p:sp>
        <p:nvSpPr>
          <p:cNvPr id="29" name="Text 27"/>
          <p:cNvSpPr txBox="1"/>
          <p:nvPr/>
        </p:nvSpPr>
        <p:spPr>
          <a:xfrm>
            <a:off x="6217920" y="1234440"/>
            <a:ext cx="2560320" cy="411480"/>
          </a:xfrm>
          <a:prstGeom prst="rect">
            <a:avLst/>
          </a:prstGeom>
          <a:noFill/>
          <a:ln/>
        </p:spPr>
        <p:txBody>
          <a:bodyPr wrap="square" rtlCol="0" anchor="ctr"/>
          <a:lstStyle/>
          <a:p>
            <a:pPr marL="0" indent="0" algn="ctr">
              <a:buNone/>
            </a:pPr>
            <a:r>
              <a:rPr lang="en-US" sz="1600" b="1" dirty="0">
                <a:solidFill>
                  <a:schemeClr val="accent1">
                    <a:lumMod val="60000"/>
                    <a:lumOff val="40000"/>
                  </a:schemeClr>
                </a:solidFill>
                <a:latin typeface="Calibri" pitchFamily="34" charset="0"/>
                <a:ea typeface="Calibri" pitchFamily="34" charset="-122"/>
                <a:cs typeface="Calibri" pitchFamily="34" charset="-120"/>
              </a:rPr>
              <a:t>México</a:t>
            </a:r>
            <a:endParaRPr lang="en-US" sz="1600" dirty="0">
              <a:solidFill>
                <a:schemeClr val="accent1">
                  <a:lumMod val="60000"/>
                  <a:lumOff val="40000"/>
                </a:schemeClr>
              </a:solidFill>
            </a:endParaRPr>
          </a:p>
        </p:txBody>
      </p:sp>
      <p:sp>
        <p:nvSpPr>
          <p:cNvPr id="30" name="Shape 28"/>
          <p:cNvSpPr/>
          <p:nvPr/>
        </p:nvSpPr>
        <p:spPr>
          <a:xfrm>
            <a:off x="6309360" y="1691640"/>
            <a:ext cx="2377440" cy="0"/>
          </a:xfrm>
          <a:prstGeom prst="line">
            <a:avLst/>
          </a:prstGeom>
          <a:noFill/>
          <a:ln w="12700">
            <a:solidFill>
              <a:schemeClr val="accent1">
                <a:lumMod val="60000"/>
                <a:lumOff val="40000"/>
              </a:schemeClr>
            </a:solidFill>
            <a:prstDash val="solid"/>
          </a:ln>
        </p:spPr>
        <p:txBody>
          <a:bodyPr/>
          <a:lstStyle/>
          <a:p>
            <a:endParaRPr lang="es-MX">
              <a:solidFill>
                <a:schemeClr val="accent1">
                  <a:lumMod val="60000"/>
                  <a:lumOff val="40000"/>
                </a:schemeClr>
              </a:solidFill>
            </a:endParaRPr>
          </a:p>
        </p:txBody>
      </p:sp>
      <p:sp>
        <p:nvSpPr>
          <p:cNvPr id="31" name="Text 29"/>
          <p:cNvSpPr txBox="1"/>
          <p:nvPr/>
        </p:nvSpPr>
        <p:spPr>
          <a:xfrm>
            <a:off x="6217920" y="1783080"/>
            <a:ext cx="2560320" cy="274320"/>
          </a:xfrm>
          <a:prstGeom prst="rect">
            <a:avLst/>
          </a:prstGeom>
          <a:noFill/>
          <a:ln/>
        </p:spPr>
        <p:txBody>
          <a:bodyPr wrap="square" rtlCol="0" anchor="ctr"/>
          <a:lstStyle/>
          <a:p>
            <a:pPr marL="0" indent="0" algn="ctr">
              <a:buNone/>
            </a:pPr>
            <a:r>
              <a:rPr lang="en-US" sz="900" dirty="0">
                <a:solidFill>
                  <a:srgbClr val="90A8C0"/>
                </a:solidFill>
                <a:latin typeface="Calibri" pitchFamily="34" charset="0"/>
                <a:ea typeface="Calibri" pitchFamily="34" charset="-122"/>
                <a:cs typeface="Calibri" pitchFamily="34" charset="-120"/>
              </a:rPr>
              <a:t>Media (PIB pc PPP)</a:t>
            </a:r>
            <a:endParaRPr lang="en-US" sz="900" dirty="0"/>
          </a:p>
        </p:txBody>
      </p:sp>
      <p:sp>
        <p:nvSpPr>
          <p:cNvPr id="32" name="Text 30"/>
          <p:cNvSpPr txBox="1"/>
          <p:nvPr/>
        </p:nvSpPr>
        <p:spPr>
          <a:xfrm>
            <a:off x="6217920" y="2057400"/>
            <a:ext cx="2560320" cy="5029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$17,400</a:t>
            </a:r>
            <a:endParaRPr lang="en-US" sz="2200" dirty="0"/>
          </a:p>
        </p:txBody>
      </p:sp>
      <p:sp>
        <p:nvSpPr>
          <p:cNvPr id="33" name="Text 31"/>
          <p:cNvSpPr txBox="1"/>
          <p:nvPr/>
        </p:nvSpPr>
        <p:spPr>
          <a:xfrm>
            <a:off x="6217920" y="2697480"/>
            <a:ext cx="2560320" cy="274320"/>
          </a:xfrm>
          <a:prstGeom prst="rect">
            <a:avLst/>
          </a:prstGeom>
          <a:noFill/>
          <a:ln/>
        </p:spPr>
        <p:txBody>
          <a:bodyPr wrap="square" rtlCol="0" anchor="ctr"/>
          <a:lstStyle/>
          <a:p>
            <a:pPr marL="0" indent="0" algn="ctr">
              <a:buNone/>
            </a:pPr>
            <a:r>
              <a:rPr lang="en-US" sz="900" dirty="0">
                <a:solidFill>
                  <a:srgbClr val="90A8C0"/>
                </a:solidFill>
                <a:latin typeface="Calibri" pitchFamily="34" charset="0"/>
                <a:ea typeface="Calibri" pitchFamily="34" charset="-122"/>
                <a:cs typeface="Calibri" pitchFamily="34" charset="-120"/>
              </a:rPr>
              <a:t>Mediana (estimada)</a:t>
            </a:r>
            <a:endParaRPr lang="en-US" sz="900" dirty="0"/>
          </a:p>
        </p:txBody>
      </p:sp>
      <p:sp>
        <p:nvSpPr>
          <p:cNvPr id="34" name="Text 32"/>
          <p:cNvSpPr txBox="1"/>
          <p:nvPr/>
        </p:nvSpPr>
        <p:spPr>
          <a:xfrm>
            <a:off x="6217920" y="2971800"/>
            <a:ext cx="2560320" cy="502920"/>
          </a:xfrm>
          <a:prstGeom prst="rect">
            <a:avLst/>
          </a:prstGeom>
          <a:noFill/>
          <a:ln/>
        </p:spPr>
        <p:txBody>
          <a:bodyPr wrap="square" rtlCol="0" anchor="ctr"/>
          <a:lstStyle/>
          <a:p>
            <a:pPr marL="0" indent="0" algn="ctr">
              <a:buNone/>
            </a:pPr>
            <a:r>
              <a:rPr lang="en-US" sz="2200" b="1" dirty="0">
                <a:solidFill>
                  <a:schemeClr val="accent1">
                    <a:lumMod val="60000"/>
                    <a:lumOff val="40000"/>
                  </a:schemeClr>
                </a:solidFill>
                <a:latin typeface="Calibri" pitchFamily="34" charset="0"/>
                <a:ea typeface="Calibri" pitchFamily="34" charset="-122"/>
                <a:cs typeface="Calibri" pitchFamily="34" charset="-120"/>
              </a:rPr>
              <a:t>$12,600</a:t>
            </a:r>
            <a:endParaRPr lang="en-US" sz="2200" dirty="0">
              <a:solidFill>
                <a:schemeClr val="accent1">
                  <a:lumMod val="60000"/>
                  <a:lumOff val="40000"/>
                </a:schemeClr>
              </a:solidFill>
            </a:endParaRPr>
          </a:p>
        </p:txBody>
      </p:sp>
      <p:sp>
        <p:nvSpPr>
          <p:cNvPr id="35" name="Text 33"/>
          <p:cNvSpPr txBox="1"/>
          <p:nvPr/>
        </p:nvSpPr>
        <p:spPr>
          <a:xfrm>
            <a:off x="6217920" y="3611880"/>
            <a:ext cx="2560320" cy="274320"/>
          </a:xfrm>
          <a:prstGeom prst="rect">
            <a:avLst/>
          </a:prstGeom>
          <a:noFill/>
          <a:ln/>
        </p:spPr>
        <p:txBody>
          <a:bodyPr wrap="square" rtlCol="0" anchor="ctr"/>
          <a:lstStyle/>
          <a:p>
            <a:pPr marL="0" indent="0" algn="ctr">
              <a:buNone/>
            </a:pPr>
            <a:r>
              <a:rPr lang="en-US" sz="1050" dirty="0">
                <a:solidFill>
                  <a:srgbClr val="90A8C0"/>
                </a:solidFill>
                <a:latin typeface="Calibri" pitchFamily="34" charset="0"/>
                <a:ea typeface="Calibri" pitchFamily="34" charset="-122"/>
                <a:cs typeface="Calibri" pitchFamily="34" charset="-120"/>
              </a:rPr>
              <a:t>Asimetría: 1.9</a:t>
            </a:r>
            <a:endParaRPr lang="en-US" sz="1050" dirty="0"/>
          </a:p>
        </p:txBody>
      </p:sp>
      <p:sp>
        <p:nvSpPr>
          <p:cNvPr id="36" name="Shape 34"/>
          <p:cNvSpPr/>
          <p:nvPr/>
        </p:nvSpPr>
        <p:spPr>
          <a:xfrm>
            <a:off x="6400800" y="3977640"/>
            <a:ext cx="2194560" cy="685800"/>
          </a:xfrm>
          <a:prstGeom prst="rect">
            <a:avLst/>
          </a:prstGeom>
          <a:solidFill>
            <a:srgbClr val="C0392B">
              <a:alpha val="30000"/>
            </a:srgbClr>
          </a:solidFill>
          <a:ln w="12700">
            <a:solidFill>
              <a:srgbClr val="C0392B"/>
            </a:solidFill>
            <a:prstDash val="solid"/>
          </a:ln>
        </p:spPr>
        <p:txBody>
          <a:bodyPr/>
          <a:lstStyle/>
          <a:p>
            <a:endParaRPr lang="es-MX"/>
          </a:p>
        </p:txBody>
      </p:sp>
      <p:sp>
        <p:nvSpPr>
          <p:cNvPr id="37" name="Text 35"/>
          <p:cNvSpPr txBox="1"/>
          <p:nvPr/>
        </p:nvSpPr>
        <p:spPr>
          <a:xfrm>
            <a:off x="6400800" y="4023360"/>
            <a:ext cx="2194560" cy="59436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Media &gt;</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mediana</a:t>
            </a:r>
            <a:endParaRPr lang="en-US" sz="950" dirty="0"/>
          </a:p>
        </p:txBody>
      </p:sp>
      <p:sp>
        <p:nvSpPr>
          <p:cNvPr id="38" name="Shape 36"/>
          <p:cNvSpPr/>
          <p:nvPr/>
        </p:nvSpPr>
        <p:spPr>
          <a:xfrm>
            <a:off x="9006840" y="1097280"/>
            <a:ext cx="2743200" cy="4389120"/>
          </a:xfrm>
          <a:prstGeom prst="rect">
            <a:avLst/>
          </a:prstGeom>
          <a:solidFill>
            <a:srgbClr val="FFFFFF">
              <a:alpha val="12000"/>
            </a:srgbClr>
          </a:solidFill>
          <a:ln w="12700">
            <a:solidFill>
              <a:srgbClr val="C0392B"/>
            </a:solidFill>
            <a:prstDash val="solid"/>
          </a:ln>
        </p:spPr>
        <p:txBody>
          <a:bodyPr/>
          <a:lstStyle/>
          <a:p>
            <a:endParaRPr lang="es-MX"/>
          </a:p>
        </p:txBody>
      </p:sp>
      <p:sp>
        <p:nvSpPr>
          <p:cNvPr id="39" name="Text 37"/>
          <p:cNvSpPr txBox="1"/>
          <p:nvPr/>
        </p:nvSpPr>
        <p:spPr>
          <a:xfrm>
            <a:off x="9098280" y="1234440"/>
            <a:ext cx="2560320" cy="411480"/>
          </a:xfrm>
          <a:prstGeom prst="rect">
            <a:avLst/>
          </a:prstGeom>
          <a:noFill/>
          <a:ln/>
        </p:spPr>
        <p:txBody>
          <a:bodyPr wrap="square" rtlCol="0" anchor="ctr"/>
          <a:lstStyle/>
          <a:p>
            <a:pPr marL="0" indent="0" algn="ctr">
              <a:buNone/>
            </a:pPr>
            <a:r>
              <a:rPr lang="en-US" sz="1600" b="1" dirty="0">
                <a:solidFill>
                  <a:srgbClr val="C0392B"/>
                </a:solidFill>
                <a:latin typeface="Calibri" pitchFamily="34" charset="0"/>
                <a:ea typeface="Calibri" pitchFamily="34" charset="-122"/>
                <a:cs typeface="Calibri" pitchFamily="34" charset="-120"/>
              </a:rPr>
              <a:t>Noruega</a:t>
            </a:r>
            <a:endParaRPr lang="en-US" sz="1600" dirty="0"/>
          </a:p>
        </p:txBody>
      </p:sp>
      <p:sp>
        <p:nvSpPr>
          <p:cNvPr id="40" name="Shape 38"/>
          <p:cNvSpPr/>
          <p:nvPr/>
        </p:nvSpPr>
        <p:spPr>
          <a:xfrm>
            <a:off x="9189720" y="1691640"/>
            <a:ext cx="2377440" cy="0"/>
          </a:xfrm>
          <a:prstGeom prst="line">
            <a:avLst/>
          </a:prstGeom>
          <a:noFill/>
          <a:ln w="12700">
            <a:solidFill>
              <a:srgbClr val="C0392B"/>
            </a:solidFill>
            <a:prstDash val="solid"/>
          </a:ln>
        </p:spPr>
        <p:txBody>
          <a:bodyPr/>
          <a:lstStyle/>
          <a:p>
            <a:endParaRPr lang="es-MX"/>
          </a:p>
        </p:txBody>
      </p:sp>
      <p:sp>
        <p:nvSpPr>
          <p:cNvPr id="41" name="Text 39"/>
          <p:cNvSpPr txBox="1"/>
          <p:nvPr/>
        </p:nvSpPr>
        <p:spPr>
          <a:xfrm>
            <a:off x="9098280" y="1783080"/>
            <a:ext cx="2560320" cy="274320"/>
          </a:xfrm>
          <a:prstGeom prst="rect">
            <a:avLst/>
          </a:prstGeom>
          <a:noFill/>
          <a:ln/>
        </p:spPr>
        <p:txBody>
          <a:bodyPr wrap="square" rtlCol="0" anchor="ctr"/>
          <a:lstStyle/>
          <a:p>
            <a:pPr marL="0" indent="0" algn="ctr">
              <a:buNone/>
            </a:pPr>
            <a:r>
              <a:rPr lang="en-US" sz="900" dirty="0">
                <a:solidFill>
                  <a:srgbClr val="90A8C0"/>
                </a:solidFill>
                <a:latin typeface="Calibri" pitchFamily="34" charset="0"/>
                <a:ea typeface="Calibri" pitchFamily="34" charset="-122"/>
                <a:cs typeface="Calibri" pitchFamily="34" charset="-120"/>
              </a:rPr>
              <a:t>Media (PIB pc PPP)</a:t>
            </a:r>
            <a:endParaRPr lang="en-US" sz="900" dirty="0"/>
          </a:p>
        </p:txBody>
      </p:sp>
      <p:sp>
        <p:nvSpPr>
          <p:cNvPr id="42" name="Text 40"/>
          <p:cNvSpPr txBox="1"/>
          <p:nvPr/>
        </p:nvSpPr>
        <p:spPr>
          <a:xfrm>
            <a:off x="9098280" y="2057400"/>
            <a:ext cx="2560320" cy="50292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$61,200</a:t>
            </a:r>
            <a:endParaRPr lang="en-US" sz="2200" dirty="0"/>
          </a:p>
        </p:txBody>
      </p:sp>
      <p:sp>
        <p:nvSpPr>
          <p:cNvPr id="43" name="Text 41"/>
          <p:cNvSpPr txBox="1"/>
          <p:nvPr/>
        </p:nvSpPr>
        <p:spPr>
          <a:xfrm>
            <a:off x="9098280" y="2697480"/>
            <a:ext cx="2560320" cy="274320"/>
          </a:xfrm>
          <a:prstGeom prst="rect">
            <a:avLst/>
          </a:prstGeom>
          <a:noFill/>
          <a:ln/>
        </p:spPr>
        <p:txBody>
          <a:bodyPr wrap="square" rtlCol="0" anchor="ctr"/>
          <a:lstStyle/>
          <a:p>
            <a:pPr marL="0" indent="0" algn="ctr">
              <a:buNone/>
            </a:pPr>
            <a:r>
              <a:rPr lang="en-US" sz="900" dirty="0">
                <a:solidFill>
                  <a:srgbClr val="90A8C0"/>
                </a:solidFill>
                <a:latin typeface="Calibri" pitchFamily="34" charset="0"/>
                <a:ea typeface="Calibri" pitchFamily="34" charset="-122"/>
                <a:cs typeface="Calibri" pitchFamily="34" charset="-120"/>
              </a:rPr>
              <a:t>Mediana (estimada)</a:t>
            </a:r>
            <a:endParaRPr lang="en-US" sz="900" dirty="0"/>
          </a:p>
        </p:txBody>
      </p:sp>
      <p:sp>
        <p:nvSpPr>
          <p:cNvPr id="44" name="Text 42"/>
          <p:cNvSpPr txBox="1"/>
          <p:nvPr/>
        </p:nvSpPr>
        <p:spPr>
          <a:xfrm>
            <a:off x="9098280" y="2971800"/>
            <a:ext cx="2560320" cy="502920"/>
          </a:xfrm>
          <a:prstGeom prst="rect">
            <a:avLst/>
          </a:prstGeom>
          <a:noFill/>
          <a:ln/>
        </p:spPr>
        <p:txBody>
          <a:bodyPr wrap="square" rtlCol="0" anchor="ctr"/>
          <a:lstStyle/>
          <a:p>
            <a:pPr marL="0" indent="0" algn="ctr">
              <a:buNone/>
            </a:pPr>
            <a:r>
              <a:rPr lang="en-US" sz="2200" b="1" dirty="0">
                <a:solidFill>
                  <a:srgbClr val="C0392B"/>
                </a:solidFill>
                <a:latin typeface="Calibri" pitchFamily="34" charset="0"/>
                <a:ea typeface="Calibri" pitchFamily="34" charset="-122"/>
                <a:cs typeface="Calibri" pitchFamily="34" charset="-120"/>
              </a:rPr>
              <a:t>$58,400</a:t>
            </a:r>
            <a:endParaRPr lang="en-US" sz="2200" dirty="0"/>
          </a:p>
        </p:txBody>
      </p:sp>
      <p:sp>
        <p:nvSpPr>
          <p:cNvPr id="45" name="Text 43"/>
          <p:cNvSpPr txBox="1"/>
          <p:nvPr/>
        </p:nvSpPr>
        <p:spPr>
          <a:xfrm>
            <a:off x="9098280" y="3611880"/>
            <a:ext cx="2560320" cy="274320"/>
          </a:xfrm>
          <a:prstGeom prst="rect">
            <a:avLst/>
          </a:prstGeom>
          <a:noFill/>
          <a:ln/>
        </p:spPr>
        <p:txBody>
          <a:bodyPr wrap="square" rtlCol="0" anchor="ctr"/>
          <a:lstStyle/>
          <a:p>
            <a:pPr marL="0" indent="0" algn="ctr">
              <a:buNone/>
            </a:pPr>
            <a:r>
              <a:rPr lang="en-US" sz="1050" dirty="0">
                <a:solidFill>
                  <a:srgbClr val="90A8C0"/>
                </a:solidFill>
                <a:latin typeface="Calibri" pitchFamily="34" charset="0"/>
                <a:ea typeface="Calibri" pitchFamily="34" charset="-122"/>
                <a:cs typeface="Calibri" pitchFamily="34" charset="-120"/>
              </a:rPr>
              <a:t>Asimetría: 0.4</a:t>
            </a:r>
            <a:endParaRPr lang="en-US" sz="1050" dirty="0"/>
          </a:p>
        </p:txBody>
      </p:sp>
      <p:sp>
        <p:nvSpPr>
          <p:cNvPr id="46" name="Shape 44"/>
          <p:cNvSpPr/>
          <p:nvPr/>
        </p:nvSpPr>
        <p:spPr>
          <a:xfrm>
            <a:off x="9281160" y="3977640"/>
            <a:ext cx="2194560" cy="685800"/>
          </a:xfrm>
          <a:prstGeom prst="rect">
            <a:avLst/>
          </a:prstGeom>
          <a:solidFill>
            <a:srgbClr val="1A9641">
              <a:alpha val="30000"/>
            </a:srgbClr>
          </a:solidFill>
          <a:ln w="12700">
            <a:solidFill>
              <a:srgbClr val="1A9641"/>
            </a:solidFill>
            <a:prstDash val="solid"/>
          </a:ln>
        </p:spPr>
        <p:txBody>
          <a:bodyPr/>
          <a:lstStyle/>
          <a:p>
            <a:endParaRPr lang="es-MX"/>
          </a:p>
        </p:txBody>
      </p:sp>
      <p:sp>
        <p:nvSpPr>
          <p:cNvPr id="47" name="Text 45"/>
          <p:cNvSpPr txBox="1"/>
          <p:nvPr/>
        </p:nvSpPr>
        <p:spPr>
          <a:xfrm>
            <a:off x="9281160" y="4023360"/>
            <a:ext cx="2194560" cy="59436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Distribución</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casi simétrica</a:t>
            </a:r>
            <a:endParaRPr lang="en-US" sz="950" dirty="0"/>
          </a:p>
        </p:txBody>
      </p:sp>
      <p:sp>
        <p:nvSpPr>
          <p:cNvPr id="48" name="Text 46"/>
          <p:cNvSpPr txBox="1"/>
          <p:nvPr/>
        </p:nvSpPr>
        <p:spPr>
          <a:xfrm>
            <a:off x="365760" y="5623560"/>
            <a:ext cx="11430000" cy="502920"/>
          </a:xfrm>
          <a:prstGeom prst="rect">
            <a:avLst/>
          </a:prstGeom>
          <a:noFill/>
          <a:ln/>
        </p:spPr>
        <p:txBody>
          <a:bodyPr wrap="square" rtlCol="0" anchor="ctr"/>
          <a:lstStyle/>
          <a:p>
            <a:pPr marL="0" indent="0">
              <a:buNone/>
            </a:pPr>
            <a:r>
              <a:rPr lang="en-US" sz="1050" i="1" dirty="0">
                <a:solidFill>
                  <a:srgbClr val="90A8C0"/>
                </a:solidFill>
                <a:latin typeface="Calibri" pitchFamily="34" charset="0"/>
                <a:ea typeface="Calibri" pitchFamily="34" charset="-122"/>
                <a:cs typeface="Calibri" pitchFamily="34" charset="-120"/>
              </a:rPr>
              <a:t>En distribuciones asimétricas como el ingreso, la mediana describe mejor al hogar "típico".</a:t>
            </a:r>
            <a:endParaRPr lang="en-US" sz="1050" dirty="0"/>
          </a:p>
          <a:p>
            <a:pPr marL="0" indent="0">
              <a:buNone/>
            </a:pPr>
            <a:r>
              <a:rPr lang="en-US" sz="1050" i="1" dirty="0">
                <a:solidFill>
                  <a:srgbClr val="90A8C0"/>
                </a:solidFill>
                <a:latin typeface="Calibri" pitchFamily="34" charset="0"/>
                <a:ea typeface="Calibri" pitchFamily="34" charset="-122"/>
                <a:cs typeface="Calibri" pitchFamily="34" charset="-120"/>
              </a:rPr>
              <a:t>Noruega es la excepción: su distribución es casi simétrica porque tiene menor desigualdad (Gini ≈ 0.26 vs. Brasil ≈ 0.53).</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txBody>
          <a:bodyPr/>
          <a:lstStyle/>
          <a:p>
            <a:endParaRPr lang="es-MX"/>
          </a:p>
        </p:txBody>
      </p:sp>
      <p:sp>
        <p:nvSpPr>
          <p:cNvPr id="3" name="Text 1"/>
          <p:cNvSpPr txBox="1"/>
          <p:nvPr/>
        </p:nvSpPr>
        <p:spPr>
          <a:xfrm>
            <a:off x="228600" y="36576"/>
            <a:ext cx="8229600" cy="27432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marL="0" indent="0" algn="r">
              <a:buNone/>
            </a:pPr>
            <a:r>
              <a:rPr lang="en-US" sz="900" b="1" dirty="0">
                <a:solidFill>
                  <a:srgbClr val="E8A020"/>
                </a:solidFill>
                <a:latin typeface="Calibri" pitchFamily="34" charset="0"/>
                <a:ea typeface="Calibri" pitchFamily="34" charset="-122"/>
                <a:cs typeface="Calibri" pitchFamily="34" charset="-120"/>
              </a:rPr>
              <a:t>Tema 2.1</a:t>
            </a:r>
            <a:endParaRPr lang="en-US" sz="900" dirty="0"/>
          </a:p>
        </p:txBody>
      </p:sp>
      <p:sp>
        <p:nvSpPr>
          <p:cNvPr id="5" name="Shape 3"/>
          <p:cNvSpPr/>
          <p:nvPr/>
        </p:nvSpPr>
        <p:spPr>
          <a:xfrm>
            <a:off x="0" y="6565392"/>
            <a:ext cx="12161520" cy="292608"/>
          </a:xfrm>
          <a:prstGeom prst="rect">
            <a:avLst/>
          </a:prstGeom>
          <a:solidFill>
            <a:srgbClr val="1B3A6B"/>
          </a:solidFill>
          <a:ln/>
        </p:spPr>
        <p:txBody>
          <a:bodyPr/>
          <a:lstStyle/>
          <a:p>
            <a:endParaRPr lang="es-MX"/>
          </a:p>
        </p:txBody>
      </p:sp>
      <p:sp>
        <p:nvSpPr>
          <p:cNvPr id="6" name="Text 4"/>
          <p:cNvSpPr txBox="1"/>
          <p:nvPr/>
        </p:nvSpPr>
        <p:spPr>
          <a:xfrm>
            <a:off x="228600" y="6592824"/>
            <a:ext cx="73152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7" name="Shape 5"/>
          <p:cNvSpPr/>
          <p:nvPr/>
        </p:nvSpPr>
        <p:spPr>
          <a:xfrm>
            <a:off x="320040" y="364724"/>
            <a:ext cx="4434840" cy="256032"/>
          </a:xfrm>
          <a:prstGeom prst="roundRect">
            <a:avLst>
              <a:gd name="adj" fmla="val 17857"/>
            </a:avLst>
          </a:prstGeom>
          <a:solidFill>
            <a:srgbClr val="2A7ABF"/>
          </a:solidFill>
          <a:ln/>
        </p:spPr>
        <p:txBody>
          <a:bodyPr/>
          <a:lstStyle/>
          <a:p>
            <a:endParaRPr lang="es-MX"/>
          </a:p>
        </p:txBody>
      </p:sp>
      <p:sp>
        <p:nvSpPr>
          <p:cNvPr id="8" name="Text 6"/>
          <p:cNvSpPr txBox="1"/>
          <p:nvPr/>
        </p:nvSpPr>
        <p:spPr>
          <a:xfrm>
            <a:off x="365760" y="383012"/>
            <a:ext cx="3749040" cy="21945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Variables continuas — visualización</a:t>
            </a:r>
            <a:endParaRPr lang="en-US" sz="850" dirty="0"/>
          </a:p>
        </p:txBody>
      </p:sp>
      <p:sp>
        <p:nvSpPr>
          <p:cNvPr id="9" name="Text 7"/>
          <p:cNvSpPr txBox="1"/>
          <p:nvPr/>
        </p:nvSpPr>
        <p:spPr>
          <a:xfrm>
            <a:off x="320040" y="701498"/>
            <a:ext cx="10972800" cy="502920"/>
          </a:xfrm>
          <a:prstGeom prst="rect">
            <a:avLst/>
          </a:prstGeom>
          <a:noFill/>
          <a:ln/>
        </p:spPr>
        <p:txBody>
          <a:bodyPr wrap="square" rtlCol="0" anchor="ctr"/>
          <a:lstStyle/>
          <a:p>
            <a:pPr marL="0" indent="0">
              <a:buNone/>
            </a:pPr>
            <a:r>
              <a:rPr lang="en-US" sz="2500" b="1" dirty="0">
                <a:solidFill>
                  <a:srgbClr val="1B3A6B"/>
                </a:solidFill>
                <a:latin typeface="Calibri" pitchFamily="34" charset="0"/>
                <a:ea typeface="Calibri" pitchFamily="34" charset="-122"/>
                <a:cs typeface="Calibri" pitchFamily="34" charset="-120"/>
              </a:rPr>
              <a:t>Tres gráficas para una variable continua</a:t>
            </a:r>
            <a:endParaRPr lang="en-US" sz="2500" dirty="0"/>
          </a:p>
        </p:txBody>
      </p:sp>
      <p:sp>
        <p:nvSpPr>
          <p:cNvPr id="10" name="Shape 8"/>
          <p:cNvSpPr/>
          <p:nvPr/>
        </p:nvSpPr>
        <p:spPr>
          <a:xfrm>
            <a:off x="320040" y="1526010"/>
            <a:ext cx="3794760" cy="384048"/>
          </a:xfrm>
          <a:prstGeom prst="rect">
            <a:avLst/>
          </a:prstGeom>
          <a:solidFill>
            <a:srgbClr val="2A7ABF"/>
          </a:solidFill>
          <a:ln/>
        </p:spPr>
        <p:txBody>
          <a:bodyPr/>
          <a:lstStyle/>
          <a:p>
            <a:endParaRPr lang="es-MX"/>
          </a:p>
        </p:txBody>
      </p:sp>
      <p:sp>
        <p:nvSpPr>
          <p:cNvPr id="11" name="Text 9"/>
          <p:cNvSpPr txBox="1"/>
          <p:nvPr/>
        </p:nvSpPr>
        <p:spPr>
          <a:xfrm>
            <a:off x="411480" y="1544298"/>
            <a:ext cx="3611880" cy="34747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Histograma</a:t>
            </a:r>
            <a:endParaRPr lang="en-US" sz="1400" dirty="0"/>
          </a:p>
        </p:txBody>
      </p:sp>
      <p:sp>
        <p:nvSpPr>
          <p:cNvPr id="12" name="Shape 10"/>
          <p:cNvSpPr/>
          <p:nvPr/>
        </p:nvSpPr>
        <p:spPr>
          <a:xfrm>
            <a:off x="320040" y="1910058"/>
            <a:ext cx="3794760" cy="3246120"/>
          </a:xfrm>
          <a:prstGeom prst="rect">
            <a:avLst/>
          </a:prstGeom>
          <a:solidFill>
            <a:srgbClr val="FFFFFF"/>
          </a:solidFill>
          <a:ln w="12700">
            <a:solidFill>
              <a:srgbClr val="D1D5DB"/>
            </a:solidFill>
            <a:prstDash val="solid"/>
          </a:ln>
        </p:spPr>
        <p:txBody>
          <a:bodyPr/>
          <a:lstStyle/>
          <a:p>
            <a:endParaRPr lang="es-MX"/>
          </a:p>
        </p:txBody>
      </p:sp>
      <p:sp>
        <p:nvSpPr>
          <p:cNvPr id="13" name="Text 11"/>
          <p:cNvSpPr txBox="1"/>
          <p:nvPr/>
        </p:nvSpPr>
        <p:spPr>
          <a:xfrm>
            <a:off x="411480" y="1983210"/>
            <a:ext cx="3611880" cy="86868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Agrupa valores en "bins". Muestra la forma general de la distribución. Sensible al número de bins — probar varios.</a:t>
            </a:r>
            <a:endParaRPr lang="en-US" sz="1050" dirty="0"/>
          </a:p>
        </p:txBody>
      </p:sp>
      <p:sp>
        <p:nvSpPr>
          <p:cNvPr id="14" name="Shape 12"/>
          <p:cNvSpPr/>
          <p:nvPr/>
        </p:nvSpPr>
        <p:spPr>
          <a:xfrm>
            <a:off x="411480" y="2897610"/>
            <a:ext cx="3611880" cy="256032"/>
          </a:xfrm>
          <a:prstGeom prst="rect">
            <a:avLst/>
          </a:prstGeom>
          <a:solidFill>
            <a:srgbClr val="2A7ABF">
              <a:alpha val="20000"/>
            </a:srgbClr>
          </a:solidFill>
          <a:ln/>
        </p:spPr>
        <p:txBody>
          <a:bodyPr/>
          <a:lstStyle/>
          <a:p>
            <a:endParaRPr lang="es-MX"/>
          </a:p>
        </p:txBody>
      </p:sp>
      <p:sp>
        <p:nvSpPr>
          <p:cNvPr id="15" name="Text 13"/>
          <p:cNvSpPr txBox="1"/>
          <p:nvPr/>
        </p:nvSpPr>
        <p:spPr>
          <a:xfrm>
            <a:off x="411480" y="2906754"/>
            <a:ext cx="3611880" cy="228600"/>
          </a:xfrm>
          <a:prstGeom prst="rect">
            <a:avLst/>
          </a:prstGeom>
          <a:noFill/>
          <a:ln/>
        </p:spPr>
        <p:txBody>
          <a:bodyPr wrap="square" rtlCol="0" anchor="ctr"/>
          <a:lstStyle/>
          <a:p>
            <a:pPr marL="0" indent="0">
              <a:buNone/>
            </a:pPr>
            <a:r>
              <a:rPr lang="en-US" sz="900" b="1" dirty="0">
                <a:solidFill>
                  <a:srgbClr val="2A7ABF"/>
                </a:solidFill>
                <a:latin typeface="Calibri" pitchFamily="34" charset="0"/>
                <a:ea typeface="Calibri" pitchFamily="34" charset="-122"/>
                <a:cs typeface="Calibri" pitchFamily="34" charset="-120"/>
              </a:rPr>
              <a:t>¿Cuándo usarla?</a:t>
            </a:r>
            <a:endParaRPr lang="en-US" sz="900" dirty="0"/>
          </a:p>
        </p:txBody>
      </p:sp>
      <p:sp>
        <p:nvSpPr>
          <p:cNvPr id="16" name="Text 14"/>
          <p:cNvSpPr txBox="1"/>
          <p:nvPr/>
        </p:nvSpPr>
        <p:spPr>
          <a:xfrm>
            <a:off x="411480" y="3153642"/>
            <a:ext cx="3611880" cy="5029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Primera exploración. Detectar bimodalidad, outliers, asimetría.</a:t>
            </a:r>
            <a:endParaRPr lang="en-US" sz="1000" dirty="0"/>
          </a:p>
        </p:txBody>
      </p:sp>
      <p:sp>
        <p:nvSpPr>
          <p:cNvPr id="17" name="Shape 15"/>
          <p:cNvSpPr/>
          <p:nvPr/>
        </p:nvSpPr>
        <p:spPr>
          <a:xfrm>
            <a:off x="411480" y="3693138"/>
            <a:ext cx="3611880" cy="1325880"/>
          </a:xfrm>
          <a:prstGeom prst="rect">
            <a:avLst/>
          </a:prstGeom>
          <a:solidFill>
            <a:srgbClr val="1E2D40"/>
          </a:solidFill>
          <a:ln w="12700">
            <a:solidFill>
              <a:srgbClr val="2A7ABF"/>
            </a:solidFill>
            <a:prstDash val="solid"/>
          </a:ln>
        </p:spPr>
        <p:txBody>
          <a:bodyPr/>
          <a:lstStyle/>
          <a:p>
            <a:endParaRPr lang="es-MX"/>
          </a:p>
        </p:txBody>
      </p:sp>
      <p:sp>
        <p:nvSpPr>
          <p:cNvPr id="18" name="Text 16"/>
          <p:cNvSpPr txBox="1"/>
          <p:nvPr/>
        </p:nvSpPr>
        <p:spPr>
          <a:xfrm>
            <a:off x="521208" y="3784578"/>
            <a:ext cx="3392424" cy="1143000"/>
          </a:xfrm>
          <a:prstGeom prst="rect">
            <a:avLst/>
          </a:prstGeom>
          <a:noFill/>
          <a:ln/>
        </p:spPr>
        <p:txBody>
          <a:bodyPr wrap="square" rtlCol="0" anchor="t"/>
          <a:lstStyle/>
          <a:p>
            <a:pPr marL="0" indent="0">
              <a:buNone/>
            </a:pPr>
            <a:r>
              <a:rPr lang="en-US" sz="850" dirty="0">
                <a:solidFill>
                  <a:srgbClr val="A8D8F0"/>
                </a:solidFill>
                <a:latin typeface="Courier New" pitchFamily="34" charset="0"/>
                <a:ea typeface="Courier New" pitchFamily="34" charset="-122"/>
                <a:cs typeface="Courier New" pitchFamily="34" charset="-120"/>
              </a:rPr>
              <a:t>ax.hist(df[col], bins=25)</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ax.axvline(df[col].mean(),   color="red",   label="Media")</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ax.axvline(df[col].median(), color="green", label="Mediana")</a:t>
            </a:r>
            <a:endParaRPr lang="en-US" sz="850" dirty="0"/>
          </a:p>
        </p:txBody>
      </p:sp>
      <p:sp>
        <p:nvSpPr>
          <p:cNvPr id="19" name="Shape 17"/>
          <p:cNvSpPr/>
          <p:nvPr/>
        </p:nvSpPr>
        <p:spPr>
          <a:xfrm>
            <a:off x="4251960" y="1526010"/>
            <a:ext cx="3794760" cy="384048"/>
          </a:xfrm>
          <a:prstGeom prst="rect">
            <a:avLst/>
          </a:prstGeom>
          <a:solidFill>
            <a:srgbClr val="1A9641"/>
          </a:solidFill>
          <a:ln/>
        </p:spPr>
        <p:txBody>
          <a:bodyPr/>
          <a:lstStyle/>
          <a:p>
            <a:endParaRPr lang="es-MX"/>
          </a:p>
        </p:txBody>
      </p:sp>
      <p:sp>
        <p:nvSpPr>
          <p:cNvPr id="20" name="Text 18"/>
          <p:cNvSpPr txBox="1"/>
          <p:nvPr/>
        </p:nvSpPr>
        <p:spPr>
          <a:xfrm>
            <a:off x="4343400" y="1544298"/>
            <a:ext cx="3611880" cy="34747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Box plot</a:t>
            </a:r>
            <a:endParaRPr lang="en-US" sz="1400" dirty="0"/>
          </a:p>
        </p:txBody>
      </p:sp>
      <p:sp>
        <p:nvSpPr>
          <p:cNvPr id="21" name="Shape 19"/>
          <p:cNvSpPr/>
          <p:nvPr/>
        </p:nvSpPr>
        <p:spPr>
          <a:xfrm>
            <a:off x="4251960" y="1910058"/>
            <a:ext cx="3794760" cy="3246120"/>
          </a:xfrm>
          <a:prstGeom prst="rect">
            <a:avLst/>
          </a:prstGeom>
          <a:solidFill>
            <a:srgbClr val="FFFFFF"/>
          </a:solidFill>
          <a:ln w="12700">
            <a:solidFill>
              <a:srgbClr val="D1D5DB"/>
            </a:solidFill>
            <a:prstDash val="solid"/>
          </a:ln>
        </p:spPr>
        <p:txBody>
          <a:bodyPr/>
          <a:lstStyle/>
          <a:p>
            <a:endParaRPr lang="es-MX"/>
          </a:p>
        </p:txBody>
      </p:sp>
      <p:sp>
        <p:nvSpPr>
          <p:cNvPr id="22" name="Text 20"/>
          <p:cNvSpPr txBox="1"/>
          <p:nvPr/>
        </p:nvSpPr>
        <p:spPr>
          <a:xfrm>
            <a:off x="4343400" y="1983210"/>
            <a:ext cx="3611880" cy="86868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Muestra mediana (línea central), Q1–Q3 (caja), rango intercuartílico (bigotes), y outliers (puntos individuales).</a:t>
            </a:r>
            <a:endParaRPr lang="en-US" sz="1050" dirty="0"/>
          </a:p>
        </p:txBody>
      </p:sp>
      <p:sp>
        <p:nvSpPr>
          <p:cNvPr id="23" name="Shape 21"/>
          <p:cNvSpPr/>
          <p:nvPr/>
        </p:nvSpPr>
        <p:spPr>
          <a:xfrm>
            <a:off x="4343400" y="2897610"/>
            <a:ext cx="3611880" cy="256032"/>
          </a:xfrm>
          <a:prstGeom prst="rect">
            <a:avLst/>
          </a:prstGeom>
          <a:solidFill>
            <a:srgbClr val="1A9641">
              <a:alpha val="20000"/>
            </a:srgbClr>
          </a:solidFill>
          <a:ln/>
        </p:spPr>
        <p:txBody>
          <a:bodyPr/>
          <a:lstStyle/>
          <a:p>
            <a:endParaRPr lang="es-MX"/>
          </a:p>
        </p:txBody>
      </p:sp>
      <p:sp>
        <p:nvSpPr>
          <p:cNvPr id="24" name="Text 22"/>
          <p:cNvSpPr txBox="1"/>
          <p:nvPr/>
        </p:nvSpPr>
        <p:spPr>
          <a:xfrm>
            <a:off x="4343400" y="2906754"/>
            <a:ext cx="3611880" cy="228600"/>
          </a:xfrm>
          <a:prstGeom prst="rect">
            <a:avLst/>
          </a:prstGeom>
          <a:noFill/>
          <a:ln/>
        </p:spPr>
        <p:txBody>
          <a:bodyPr wrap="square" rtlCol="0" anchor="ctr"/>
          <a:lstStyle/>
          <a:p>
            <a:pPr marL="0" indent="0">
              <a:buNone/>
            </a:pPr>
            <a:r>
              <a:rPr lang="en-US" sz="900" b="1" dirty="0">
                <a:solidFill>
                  <a:srgbClr val="1A9641"/>
                </a:solidFill>
                <a:latin typeface="Calibri" pitchFamily="34" charset="0"/>
                <a:ea typeface="Calibri" pitchFamily="34" charset="-122"/>
                <a:cs typeface="Calibri" pitchFamily="34" charset="-120"/>
              </a:rPr>
              <a:t>¿Cuándo usarla?</a:t>
            </a:r>
            <a:endParaRPr lang="en-US" sz="900" dirty="0"/>
          </a:p>
        </p:txBody>
      </p:sp>
      <p:sp>
        <p:nvSpPr>
          <p:cNvPr id="25" name="Text 23"/>
          <p:cNvSpPr txBox="1"/>
          <p:nvPr/>
        </p:nvSpPr>
        <p:spPr>
          <a:xfrm>
            <a:off x="4343400" y="3153642"/>
            <a:ext cx="3611880" cy="5029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Comparar distribuciones. Detectar outliers. Muy eficiente en espacio.</a:t>
            </a:r>
            <a:endParaRPr lang="en-US" sz="1000" dirty="0"/>
          </a:p>
        </p:txBody>
      </p:sp>
      <p:sp>
        <p:nvSpPr>
          <p:cNvPr id="26" name="Shape 24"/>
          <p:cNvSpPr/>
          <p:nvPr/>
        </p:nvSpPr>
        <p:spPr>
          <a:xfrm>
            <a:off x="4343400" y="3693138"/>
            <a:ext cx="3611880" cy="1325880"/>
          </a:xfrm>
          <a:prstGeom prst="rect">
            <a:avLst/>
          </a:prstGeom>
          <a:solidFill>
            <a:srgbClr val="1E2D40"/>
          </a:solidFill>
          <a:ln w="12700">
            <a:solidFill>
              <a:srgbClr val="2A7ABF"/>
            </a:solidFill>
            <a:prstDash val="solid"/>
          </a:ln>
        </p:spPr>
        <p:txBody>
          <a:bodyPr/>
          <a:lstStyle/>
          <a:p>
            <a:endParaRPr lang="es-MX"/>
          </a:p>
        </p:txBody>
      </p:sp>
      <p:sp>
        <p:nvSpPr>
          <p:cNvPr id="27" name="Text 25"/>
          <p:cNvSpPr txBox="1"/>
          <p:nvPr/>
        </p:nvSpPr>
        <p:spPr>
          <a:xfrm>
            <a:off x="4453128" y="3784578"/>
            <a:ext cx="3392424" cy="1143000"/>
          </a:xfrm>
          <a:prstGeom prst="rect">
            <a:avLst/>
          </a:prstGeom>
          <a:noFill/>
          <a:ln/>
        </p:spPr>
        <p:txBody>
          <a:bodyPr wrap="square" rtlCol="0" anchor="t"/>
          <a:lstStyle/>
          <a:p>
            <a:pPr marL="0" indent="0">
              <a:buNone/>
            </a:pPr>
            <a:r>
              <a:rPr lang="en-US" sz="850" dirty="0">
                <a:solidFill>
                  <a:srgbClr val="A8D8F0"/>
                </a:solidFill>
                <a:latin typeface="Courier New" pitchFamily="34" charset="0"/>
                <a:ea typeface="Courier New" pitchFamily="34" charset="-122"/>
                <a:cs typeface="Courier New" pitchFamily="34" charset="-120"/>
              </a:rPr>
              <a:t>ax.boxplot(df[col])</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 Los "fliers" (puntos) son outliers</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 La línea = mediana, no la media</a:t>
            </a:r>
            <a:endParaRPr lang="en-US" sz="850" dirty="0"/>
          </a:p>
        </p:txBody>
      </p:sp>
      <p:sp>
        <p:nvSpPr>
          <p:cNvPr id="28" name="Shape 26"/>
          <p:cNvSpPr/>
          <p:nvPr/>
        </p:nvSpPr>
        <p:spPr>
          <a:xfrm>
            <a:off x="8183880" y="1526010"/>
            <a:ext cx="3794760" cy="384048"/>
          </a:xfrm>
          <a:prstGeom prst="rect">
            <a:avLst/>
          </a:prstGeom>
          <a:solidFill>
            <a:srgbClr val="6A3D9A"/>
          </a:solidFill>
          <a:ln/>
        </p:spPr>
        <p:txBody>
          <a:bodyPr/>
          <a:lstStyle/>
          <a:p>
            <a:endParaRPr lang="es-MX"/>
          </a:p>
        </p:txBody>
      </p:sp>
      <p:sp>
        <p:nvSpPr>
          <p:cNvPr id="29" name="Text 27"/>
          <p:cNvSpPr txBox="1"/>
          <p:nvPr/>
        </p:nvSpPr>
        <p:spPr>
          <a:xfrm>
            <a:off x="8275320" y="1544298"/>
            <a:ext cx="3611880" cy="34747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KDE (densidad suavizada)</a:t>
            </a:r>
            <a:endParaRPr lang="en-US" sz="1400" dirty="0"/>
          </a:p>
        </p:txBody>
      </p:sp>
      <p:sp>
        <p:nvSpPr>
          <p:cNvPr id="30" name="Shape 28"/>
          <p:cNvSpPr/>
          <p:nvPr/>
        </p:nvSpPr>
        <p:spPr>
          <a:xfrm>
            <a:off x="8183880" y="1910058"/>
            <a:ext cx="3794760" cy="3246120"/>
          </a:xfrm>
          <a:prstGeom prst="rect">
            <a:avLst/>
          </a:prstGeom>
          <a:solidFill>
            <a:srgbClr val="FFFFFF"/>
          </a:solidFill>
          <a:ln w="12700">
            <a:solidFill>
              <a:srgbClr val="D1D5DB"/>
            </a:solidFill>
            <a:prstDash val="solid"/>
          </a:ln>
        </p:spPr>
        <p:txBody>
          <a:bodyPr/>
          <a:lstStyle/>
          <a:p>
            <a:endParaRPr lang="es-MX"/>
          </a:p>
        </p:txBody>
      </p:sp>
      <p:sp>
        <p:nvSpPr>
          <p:cNvPr id="31" name="Text 29"/>
          <p:cNvSpPr txBox="1"/>
          <p:nvPr/>
        </p:nvSpPr>
        <p:spPr>
          <a:xfrm>
            <a:off x="8275320" y="1983210"/>
            <a:ext cx="3611880" cy="86868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Estimación de la función de densidad. No depende del número de bins. Más suave que el histograma.</a:t>
            </a:r>
            <a:endParaRPr lang="en-US" sz="1050" dirty="0"/>
          </a:p>
        </p:txBody>
      </p:sp>
      <p:sp>
        <p:nvSpPr>
          <p:cNvPr id="32" name="Shape 30"/>
          <p:cNvSpPr/>
          <p:nvPr/>
        </p:nvSpPr>
        <p:spPr>
          <a:xfrm>
            <a:off x="8275320" y="2897610"/>
            <a:ext cx="3611880" cy="256032"/>
          </a:xfrm>
          <a:prstGeom prst="rect">
            <a:avLst/>
          </a:prstGeom>
          <a:solidFill>
            <a:srgbClr val="6A3D9A">
              <a:alpha val="20000"/>
            </a:srgbClr>
          </a:solidFill>
          <a:ln/>
        </p:spPr>
        <p:txBody>
          <a:bodyPr/>
          <a:lstStyle/>
          <a:p>
            <a:endParaRPr lang="es-MX"/>
          </a:p>
        </p:txBody>
      </p:sp>
      <p:sp>
        <p:nvSpPr>
          <p:cNvPr id="33" name="Text 31"/>
          <p:cNvSpPr txBox="1"/>
          <p:nvPr/>
        </p:nvSpPr>
        <p:spPr>
          <a:xfrm>
            <a:off x="8275320" y="2906754"/>
            <a:ext cx="3611880" cy="228600"/>
          </a:xfrm>
          <a:prstGeom prst="rect">
            <a:avLst/>
          </a:prstGeom>
          <a:noFill/>
          <a:ln/>
        </p:spPr>
        <p:txBody>
          <a:bodyPr wrap="square" rtlCol="0" anchor="ctr"/>
          <a:lstStyle/>
          <a:p>
            <a:pPr marL="0" indent="0">
              <a:buNone/>
            </a:pPr>
            <a:r>
              <a:rPr lang="en-US" sz="900" b="1" dirty="0">
                <a:solidFill>
                  <a:srgbClr val="6A3D9A"/>
                </a:solidFill>
                <a:latin typeface="Calibri" pitchFamily="34" charset="0"/>
                <a:ea typeface="Calibri" pitchFamily="34" charset="-122"/>
                <a:cs typeface="Calibri" pitchFamily="34" charset="-120"/>
              </a:rPr>
              <a:t>¿Cuándo usarla?</a:t>
            </a:r>
            <a:endParaRPr lang="en-US" sz="900" dirty="0"/>
          </a:p>
        </p:txBody>
      </p:sp>
      <p:sp>
        <p:nvSpPr>
          <p:cNvPr id="34" name="Text 32"/>
          <p:cNvSpPr txBox="1"/>
          <p:nvPr/>
        </p:nvSpPr>
        <p:spPr>
          <a:xfrm>
            <a:off x="8275320" y="3153642"/>
            <a:ext cx="3611880" cy="5029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Mostrar la forma "real" de la distribución. Comparar dos grupos en la misma gráfica.</a:t>
            </a:r>
            <a:endParaRPr lang="en-US" sz="1000" dirty="0"/>
          </a:p>
        </p:txBody>
      </p:sp>
      <p:sp>
        <p:nvSpPr>
          <p:cNvPr id="35" name="Shape 33"/>
          <p:cNvSpPr/>
          <p:nvPr/>
        </p:nvSpPr>
        <p:spPr>
          <a:xfrm>
            <a:off x="8275320" y="3693138"/>
            <a:ext cx="3611880" cy="1325880"/>
          </a:xfrm>
          <a:prstGeom prst="rect">
            <a:avLst/>
          </a:prstGeom>
          <a:solidFill>
            <a:srgbClr val="1E2D40"/>
          </a:solidFill>
          <a:ln w="12700">
            <a:solidFill>
              <a:srgbClr val="2A7ABF"/>
            </a:solidFill>
            <a:prstDash val="solid"/>
          </a:ln>
        </p:spPr>
        <p:txBody>
          <a:bodyPr/>
          <a:lstStyle/>
          <a:p>
            <a:endParaRPr lang="es-MX"/>
          </a:p>
        </p:txBody>
      </p:sp>
      <p:sp>
        <p:nvSpPr>
          <p:cNvPr id="36" name="Text 34"/>
          <p:cNvSpPr txBox="1"/>
          <p:nvPr/>
        </p:nvSpPr>
        <p:spPr>
          <a:xfrm>
            <a:off x="8385048" y="3784578"/>
            <a:ext cx="3392424" cy="1143000"/>
          </a:xfrm>
          <a:prstGeom prst="rect">
            <a:avLst/>
          </a:prstGeom>
          <a:noFill/>
          <a:ln/>
        </p:spPr>
        <p:txBody>
          <a:bodyPr wrap="square" rtlCol="0" anchor="t"/>
          <a:lstStyle/>
          <a:p>
            <a:pPr marL="0" indent="0">
              <a:buNone/>
            </a:pPr>
            <a:r>
              <a:rPr lang="en-US" sz="850" dirty="0">
                <a:solidFill>
                  <a:srgbClr val="A8D8F0"/>
                </a:solidFill>
                <a:latin typeface="Courier New" pitchFamily="34" charset="0"/>
                <a:ea typeface="Courier New" pitchFamily="34" charset="-122"/>
                <a:cs typeface="Courier New" pitchFamily="34" charset="-120"/>
              </a:rPr>
              <a:t>df[col].plot.kde(ax=ax)</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 O con seaborn:</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sns.kdeplot(data=df, x=col, ax=ax)</a:t>
            </a:r>
            <a:endParaRPr lang="en-US" sz="850" dirty="0"/>
          </a:p>
        </p:txBody>
      </p:sp>
      <p:sp>
        <p:nvSpPr>
          <p:cNvPr id="37" name="Shape 35"/>
          <p:cNvSpPr/>
          <p:nvPr/>
        </p:nvSpPr>
        <p:spPr>
          <a:xfrm>
            <a:off x="320040" y="5721898"/>
            <a:ext cx="11521440" cy="365760"/>
          </a:xfrm>
          <a:prstGeom prst="rect">
            <a:avLst/>
          </a:prstGeom>
          <a:solidFill>
            <a:srgbClr val="1B3A6B"/>
          </a:solidFill>
          <a:ln w="12700">
            <a:solidFill>
              <a:srgbClr val="1B3A6B"/>
            </a:solidFill>
            <a:prstDash val="solid"/>
          </a:ln>
        </p:spPr>
        <p:txBody>
          <a:bodyPr/>
          <a:lstStyle/>
          <a:p>
            <a:endParaRPr lang="es-MX"/>
          </a:p>
        </p:txBody>
      </p:sp>
      <p:sp>
        <p:nvSpPr>
          <p:cNvPr id="38" name="Text 36"/>
          <p:cNvSpPr txBox="1"/>
          <p:nvPr/>
        </p:nvSpPr>
        <p:spPr>
          <a:xfrm>
            <a:off x="457200" y="5749330"/>
            <a:ext cx="11247120" cy="32004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Mejor práctica: genera las tres gráficas juntas en tu primer EDA. Se complementan — el histograma da forma general, el box plot detecta outliers, el KDE suaviza el ruido.</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txBody>
          <a:bodyPr/>
          <a:lstStyle/>
          <a:p>
            <a:endParaRPr lang="es-MX"/>
          </a:p>
        </p:txBody>
      </p:sp>
      <p:sp>
        <p:nvSpPr>
          <p:cNvPr id="3" name="Text 1"/>
          <p:cNvSpPr txBox="1"/>
          <p:nvPr/>
        </p:nvSpPr>
        <p:spPr>
          <a:xfrm>
            <a:off x="228600" y="36576"/>
            <a:ext cx="8229600" cy="27432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marL="0" indent="0" algn="r">
              <a:buNone/>
            </a:pPr>
            <a:r>
              <a:rPr lang="en-US" sz="900" b="1" dirty="0">
                <a:solidFill>
                  <a:srgbClr val="E8A020"/>
                </a:solidFill>
                <a:latin typeface="Calibri" pitchFamily="34" charset="0"/>
                <a:ea typeface="Calibri" pitchFamily="34" charset="-122"/>
                <a:cs typeface="Calibri" pitchFamily="34" charset="-120"/>
              </a:rPr>
              <a:t>Tema 2.2</a:t>
            </a:r>
            <a:endParaRPr lang="en-US" sz="900" dirty="0"/>
          </a:p>
        </p:txBody>
      </p:sp>
      <p:sp>
        <p:nvSpPr>
          <p:cNvPr id="5" name="Shape 3"/>
          <p:cNvSpPr/>
          <p:nvPr/>
        </p:nvSpPr>
        <p:spPr>
          <a:xfrm>
            <a:off x="0" y="6565392"/>
            <a:ext cx="12161520" cy="292608"/>
          </a:xfrm>
          <a:prstGeom prst="rect">
            <a:avLst/>
          </a:prstGeom>
          <a:solidFill>
            <a:srgbClr val="1B3A6B"/>
          </a:solidFill>
          <a:ln/>
        </p:spPr>
        <p:txBody>
          <a:bodyPr/>
          <a:lstStyle/>
          <a:p>
            <a:endParaRPr lang="es-MX"/>
          </a:p>
        </p:txBody>
      </p:sp>
      <p:sp>
        <p:nvSpPr>
          <p:cNvPr id="6" name="Text 4"/>
          <p:cNvSpPr txBox="1"/>
          <p:nvPr/>
        </p:nvSpPr>
        <p:spPr>
          <a:xfrm>
            <a:off x="228600" y="6592824"/>
            <a:ext cx="73152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7" name="Text 5"/>
          <p:cNvSpPr txBox="1"/>
          <p:nvPr/>
        </p:nvSpPr>
        <p:spPr>
          <a:xfrm>
            <a:off x="320040" y="457200"/>
            <a:ext cx="1097280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Análisis de dos variables</a:t>
            </a:r>
            <a:endParaRPr lang="en-US" sz="2600" dirty="0"/>
          </a:p>
        </p:txBody>
      </p:sp>
      <p:sp>
        <p:nvSpPr>
          <p:cNvPr id="8" name="Text 6"/>
          <p:cNvSpPr txBox="1"/>
          <p:nvPr/>
        </p:nvSpPr>
        <p:spPr>
          <a:xfrm>
            <a:off x="320040" y="960120"/>
            <a:ext cx="10972800" cy="320040"/>
          </a:xfrm>
          <a:prstGeom prst="rect">
            <a:avLst/>
          </a:prstGeom>
          <a:noFill/>
          <a:ln/>
        </p:spPr>
        <p:txBody>
          <a:bodyPr wrap="square" rtlCol="0" anchor="ctr"/>
          <a:lstStyle/>
          <a:p>
            <a:pPr marL="0" indent="0">
              <a:buNone/>
            </a:pPr>
            <a:r>
              <a:rPr lang="en-US" sz="1300" i="1" dirty="0">
                <a:solidFill>
                  <a:srgbClr val="90A8C0"/>
                </a:solidFill>
                <a:latin typeface="Calibri" pitchFamily="34" charset="0"/>
                <a:ea typeface="Calibri" pitchFamily="34" charset="-122"/>
                <a:cs typeface="Calibri" pitchFamily="34" charset="-120"/>
              </a:rPr>
              <a:t>Tres combinaciones posibles — cada una exige herramientas distintas</a:t>
            </a:r>
            <a:endParaRPr lang="en-US" sz="1300" dirty="0"/>
          </a:p>
        </p:txBody>
      </p:sp>
      <p:sp>
        <p:nvSpPr>
          <p:cNvPr id="9" name="Shape 7"/>
          <p:cNvSpPr/>
          <p:nvPr/>
        </p:nvSpPr>
        <p:spPr>
          <a:xfrm>
            <a:off x="320040" y="1463040"/>
            <a:ext cx="739284" cy="1463040"/>
          </a:xfrm>
          <a:prstGeom prst="rect">
            <a:avLst/>
          </a:prstGeom>
          <a:solidFill>
            <a:srgbClr val="2A7ABF"/>
          </a:solidFill>
          <a:ln/>
        </p:spPr>
        <p:txBody>
          <a:bodyPr/>
          <a:lstStyle/>
          <a:p>
            <a:endParaRPr lang="es-MX"/>
          </a:p>
        </p:txBody>
      </p:sp>
      <p:sp>
        <p:nvSpPr>
          <p:cNvPr id="10" name="Text 8"/>
          <p:cNvSpPr txBox="1"/>
          <p:nvPr/>
        </p:nvSpPr>
        <p:spPr>
          <a:xfrm>
            <a:off x="347472" y="1965960"/>
            <a:ext cx="672076"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N×N</a:t>
            </a:r>
            <a:endParaRPr lang="en-US" sz="1800" dirty="0"/>
          </a:p>
        </p:txBody>
      </p:sp>
      <p:sp>
        <p:nvSpPr>
          <p:cNvPr id="11" name="Shape 9"/>
          <p:cNvSpPr/>
          <p:nvPr/>
        </p:nvSpPr>
        <p:spPr>
          <a:xfrm>
            <a:off x="1059324" y="1463040"/>
            <a:ext cx="10782156" cy="1463040"/>
          </a:xfrm>
          <a:prstGeom prst="rect">
            <a:avLst/>
          </a:prstGeom>
          <a:solidFill>
            <a:srgbClr val="FFFFFF">
              <a:alpha val="10000"/>
            </a:srgbClr>
          </a:solidFill>
          <a:ln w="12700">
            <a:solidFill>
              <a:srgbClr val="2A7ABF"/>
            </a:solidFill>
            <a:prstDash val="solid"/>
          </a:ln>
        </p:spPr>
        <p:txBody>
          <a:bodyPr/>
          <a:lstStyle/>
          <a:p>
            <a:endParaRPr lang="es-MX"/>
          </a:p>
        </p:txBody>
      </p:sp>
      <p:sp>
        <p:nvSpPr>
          <p:cNvPr id="12" name="Text 10"/>
          <p:cNvSpPr txBox="1"/>
          <p:nvPr/>
        </p:nvSpPr>
        <p:spPr>
          <a:xfrm>
            <a:off x="1279296" y="1536192"/>
            <a:ext cx="10698480" cy="384048"/>
          </a:xfrm>
          <a:prstGeom prst="rect">
            <a:avLst/>
          </a:prstGeom>
          <a:noFill/>
          <a:ln/>
        </p:spPr>
        <p:txBody>
          <a:bodyPr wrap="square" rtlCol="0" anchor="ctr"/>
          <a:lstStyle/>
          <a:p>
            <a:pPr marL="0" indent="0">
              <a:buNone/>
            </a:pPr>
            <a:r>
              <a:rPr lang="en-US" sz="1700" b="1" dirty="0">
                <a:solidFill>
                  <a:srgbClr val="2A7ABF"/>
                </a:solidFill>
                <a:latin typeface="Calibri" pitchFamily="34" charset="0"/>
                <a:ea typeface="Calibri" pitchFamily="34" charset="-122"/>
                <a:cs typeface="Calibri" pitchFamily="34" charset="-120"/>
              </a:rPr>
              <a:t>Numérica × Numérica</a:t>
            </a:r>
            <a:endParaRPr lang="en-US" sz="1700" dirty="0"/>
          </a:p>
        </p:txBody>
      </p:sp>
      <p:sp>
        <p:nvSpPr>
          <p:cNvPr id="13" name="Text 11"/>
          <p:cNvSpPr txBox="1"/>
          <p:nvPr/>
        </p:nvSpPr>
        <p:spPr>
          <a:xfrm>
            <a:off x="1279296" y="1920240"/>
            <a:ext cx="1280160" cy="274320"/>
          </a:xfrm>
          <a:prstGeom prst="rect">
            <a:avLst/>
          </a:prstGeom>
          <a:noFill/>
          <a:ln/>
        </p:spPr>
        <p:txBody>
          <a:bodyPr wrap="square" rtlCol="0" anchor="ctr"/>
          <a:lstStyle/>
          <a:p>
            <a:pPr marL="0" indent="0">
              <a:buNone/>
            </a:pPr>
            <a:r>
              <a:rPr lang="en-US" sz="950" b="1" dirty="0">
                <a:solidFill>
                  <a:srgbClr val="90A8C0"/>
                </a:solidFill>
                <a:latin typeface="Calibri" pitchFamily="34" charset="0"/>
                <a:ea typeface="Calibri" pitchFamily="34" charset="-122"/>
                <a:cs typeface="Calibri" pitchFamily="34" charset="-120"/>
              </a:rPr>
              <a:t>Estadístico:</a:t>
            </a:r>
            <a:endParaRPr lang="en-US" sz="950" dirty="0"/>
          </a:p>
        </p:txBody>
      </p:sp>
      <p:sp>
        <p:nvSpPr>
          <p:cNvPr id="14" name="Text 12"/>
          <p:cNvSpPr txBox="1"/>
          <p:nvPr/>
        </p:nvSpPr>
        <p:spPr>
          <a:xfrm>
            <a:off x="2559456" y="1920240"/>
            <a:ext cx="3953487"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Covarianza · Correlación de Pearson · Correlación de Spearman</a:t>
            </a:r>
            <a:endParaRPr lang="en-US" sz="1000" dirty="0"/>
          </a:p>
        </p:txBody>
      </p:sp>
      <p:sp>
        <p:nvSpPr>
          <p:cNvPr id="15" name="Text 13"/>
          <p:cNvSpPr txBox="1"/>
          <p:nvPr/>
        </p:nvSpPr>
        <p:spPr>
          <a:xfrm>
            <a:off x="1279296" y="2240280"/>
            <a:ext cx="1280160" cy="274320"/>
          </a:xfrm>
          <a:prstGeom prst="rect">
            <a:avLst/>
          </a:prstGeom>
          <a:noFill/>
          <a:ln/>
        </p:spPr>
        <p:txBody>
          <a:bodyPr wrap="square" rtlCol="0" anchor="ctr"/>
          <a:lstStyle/>
          <a:p>
            <a:pPr marL="0" indent="0">
              <a:buNone/>
            </a:pPr>
            <a:r>
              <a:rPr lang="en-US" sz="950" b="1" dirty="0">
                <a:solidFill>
                  <a:srgbClr val="90A8C0"/>
                </a:solidFill>
                <a:latin typeface="Calibri" pitchFamily="34" charset="0"/>
                <a:ea typeface="Calibri" pitchFamily="34" charset="-122"/>
                <a:cs typeface="Calibri" pitchFamily="34" charset="-120"/>
              </a:rPr>
              <a:t>Gráfica:</a:t>
            </a:r>
            <a:endParaRPr lang="en-US" sz="950" dirty="0"/>
          </a:p>
        </p:txBody>
      </p:sp>
      <p:sp>
        <p:nvSpPr>
          <p:cNvPr id="16" name="Text 14"/>
          <p:cNvSpPr txBox="1"/>
          <p:nvPr/>
        </p:nvSpPr>
        <p:spPr>
          <a:xfrm>
            <a:off x="2559456" y="2240280"/>
            <a:ext cx="3953487"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Scatter plot · Heatmap de correlación</a:t>
            </a:r>
            <a:endParaRPr lang="en-US" sz="1000" dirty="0"/>
          </a:p>
        </p:txBody>
      </p:sp>
      <p:sp>
        <p:nvSpPr>
          <p:cNvPr id="17" name="Text 15"/>
          <p:cNvSpPr txBox="1"/>
          <p:nvPr/>
        </p:nvSpPr>
        <p:spPr>
          <a:xfrm>
            <a:off x="7223760" y="1920240"/>
            <a:ext cx="1097280" cy="594360"/>
          </a:xfrm>
          <a:prstGeom prst="rect">
            <a:avLst/>
          </a:prstGeom>
          <a:noFill/>
          <a:ln/>
        </p:spPr>
        <p:txBody>
          <a:bodyPr wrap="square" rtlCol="0" anchor="ctr"/>
          <a:lstStyle/>
          <a:p>
            <a:pPr marL="0" indent="0">
              <a:buNone/>
            </a:pPr>
            <a:r>
              <a:rPr lang="en-US" sz="950" b="1" dirty="0">
                <a:solidFill>
                  <a:srgbClr val="90A8C0"/>
                </a:solidFill>
                <a:latin typeface="Calibri" pitchFamily="34" charset="0"/>
                <a:ea typeface="Calibri" pitchFamily="34" charset="-122"/>
                <a:cs typeface="Calibri" pitchFamily="34" charset="-120"/>
              </a:rPr>
              <a:t>Ejemplo:</a:t>
            </a:r>
            <a:endParaRPr lang="en-US" sz="950" dirty="0"/>
          </a:p>
        </p:txBody>
      </p:sp>
      <p:sp>
        <p:nvSpPr>
          <p:cNvPr id="18" name="Text 16"/>
          <p:cNvSpPr txBox="1"/>
          <p:nvPr/>
        </p:nvSpPr>
        <p:spPr>
          <a:xfrm>
            <a:off x="8321040" y="1920240"/>
            <a:ext cx="3383280" cy="594360"/>
          </a:xfrm>
          <a:prstGeom prst="rect">
            <a:avLst/>
          </a:prstGeom>
          <a:noFill/>
          <a:ln/>
        </p:spPr>
        <p:txBody>
          <a:bodyPr wrap="square" rtlCol="0" anchor="ctr"/>
          <a:lstStyle/>
          <a:p>
            <a:pPr marL="0" indent="0">
              <a:buNone/>
            </a:pPr>
            <a:r>
              <a:rPr lang="en-US" sz="950" i="1" dirty="0">
                <a:solidFill>
                  <a:srgbClr val="E8A020"/>
                </a:solidFill>
                <a:latin typeface="Calibri" pitchFamily="34" charset="0"/>
                <a:ea typeface="Calibri" pitchFamily="34" charset="-122"/>
                <a:cs typeface="Calibri" pitchFamily="34" charset="-120"/>
              </a:rPr>
              <a:t>PIB per cápita vs. Índice Gini</a:t>
            </a:r>
            <a:endParaRPr lang="en-US" sz="950" dirty="0"/>
          </a:p>
          <a:p>
            <a:pPr marL="0" indent="0">
              <a:buNone/>
            </a:pPr>
            <a:r>
              <a:rPr lang="en-US" sz="950" i="1" dirty="0">
                <a:solidFill>
                  <a:srgbClr val="E8A020"/>
                </a:solidFill>
                <a:latin typeface="Calibri" pitchFamily="34" charset="0"/>
                <a:ea typeface="Calibri" pitchFamily="34" charset="-122"/>
                <a:cs typeface="Calibri" pitchFamily="34" charset="-120"/>
              </a:rPr>
              <a:t>Crecimiento del PIB vs. Desempleo (Curva de Okun)</a:t>
            </a:r>
            <a:endParaRPr lang="en-US" sz="950" dirty="0"/>
          </a:p>
        </p:txBody>
      </p:sp>
      <p:sp>
        <p:nvSpPr>
          <p:cNvPr id="19" name="Shape 17"/>
          <p:cNvSpPr/>
          <p:nvPr/>
        </p:nvSpPr>
        <p:spPr>
          <a:xfrm>
            <a:off x="320040" y="3108960"/>
            <a:ext cx="739284" cy="1463040"/>
          </a:xfrm>
          <a:prstGeom prst="rect">
            <a:avLst/>
          </a:prstGeom>
          <a:solidFill>
            <a:srgbClr val="1A9641"/>
          </a:solidFill>
          <a:ln/>
        </p:spPr>
        <p:txBody>
          <a:bodyPr/>
          <a:lstStyle/>
          <a:p>
            <a:endParaRPr lang="es-MX"/>
          </a:p>
        </p:txBody>
      </p:sp>
      <p:sp>
        <p:nvSpPr>
          <p:cNvPr id="20" name="Text 18"/>
          <p:cNvSpPr txBox="1"/>
          <p:nvPr/>
        </p:nvSpPr>
        <p:spPr>
          <a:xfrm>
            <a:off x="347472" y="3611880"/>
            <a:ext cx="672076"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N×C</a:t>
            </a:r>
            <a:endParaRPr lang="en-US" sz="1800" dirty="0"/>
          </a:p>
        </p:txBody>
      </p:sp>
      <p:sp>
        <p:nvSpPr>
          <p:cNvPr id="21" name="Shape 19"/>
          <p:cNvSpPr/>
          <p:nvPr/>
        </p:nvSpPr>
        <p:spPr>
          <a:xfrm>
            <a:off x="1059324" y="3108960"/>
            <a:ext cx="10782156" cy="1463040"/>
          </a:xfrm>
          <a:prstGeom prst="rect">
            <a:avLst/>
          </a:prstGeom>
          <a:solidFill>
            <a:srgbClr val="FFFFFF">
              <a:alpha val="10000"/>
            </a:srgbClr>
          </a:solidFill>
          <a:ln w="12700">
            <a:solidFill>
              <a:srgbClr val="1A9641"/>
            </a:solidFill>
            <a:prstDash val="solid"/>
          </a:ln>
        </p:spPr>
        <p:txBody>
          <a:bodyPr/>
          <a:lstStyle/>
          <a:p>
            <a:endParaRPr lang="es-MX"/>
          </a:p>
        </p:txBody>
      </p:sp>
      <p:sp>
        <p:nvSpPr>
          <p:cNvPr id="22" name="Text 20"/>
          <p:cNvSpPr txBox="1"/>
          <p:nvPr/>
        </p:nvSpPr>
        <p:spPr>
          <a:xfrm>
            <a:off x="1279296" y="3255264"/>
            <a:ext cx="7899210" cy="384048"/>
          </a:xfrm>
          <a:prstGeom prst="rect">
            <a:avLst/>
          </a:prstGeom>
          <a:noFill/>
          <a:ln/>
        </p:spPr>
        <p:txBody>
          <a:bodyPr wrap="square" rtlCol="0" anchor="ctr"/>
          <a:lstStyle/>
          <a:p>
            <a:pPr marL="0" indent="0">
              <a:buNone/>
            </a:pPr>
            <a:r>
              <a:rPr lang="en-US" sz="1700" b="1" dirty="0">
                <a:solidFill>
                  <a:srgbClr val="1A9641"/>
                </a:solidFill>
                <a:latin typeface="Calibri" pitchFamily="34" charset="0"/>
                <a:ea typeface="Calibri" pitchFamily="34" charset="-122"/>
                <a:cs typeface="Calibri" pitchFamily="34" charset="-120"/>
              </a:rPr>
              <a:t>Numérica × Categórica</a:t>
            </a:r>
            <a:endParaRPr lang="en-US" sz="1700" dirty="0"/>
          </a:p>
        </p:txBody>
      </p:sp>
      <p:sp>
        <p:nvSpPr>
          <p:cNvPr id="23" name="Text 21"/>
          <p:cNvSpPr txBox="1"/>
          <p:nvPr/>
        </p:nvSpPr>
        <p:spPr>
          <a:xfrm>
            <a:off x="1279296" y="3639312"/>
            <a:ext cx="945205" cy="274320"/>
          </a:xfrm>
          <a:prstGeom prst="rect">
            <a:avLst/>
          </a:prstGeom>
          <a:noFill/>
          <a:ln/>
        </p:spPr>
        <p:txBody>
          <a:bodyPr wrap="square" rtlCol="0" anchor="ctr"/>
          <a:lstStyle/>
          <a:p>
            <a:pPr marL="0" indent="0">
              <a:buNone/>
            </a:pPr>
            <a:r>
              <a:rPr lang="en-US" sz="950" b="1" dirty="0">
                <a:solidFill>
                  <a:srgbClr val="90A8C0"/>
                </a:solidFill>
                <a:latin typeface="Calibri" pitchFamily="34" charset="0"/>
                <a:ea typeface="Calibri" pitchFamily="34" charset="-122"/>
                <a:cs typeface="Calibri" pitchFamily="34" charset="-120"/>
              </a:rPr>
              <a:t>Estadístico:</a:t>
            </a:r>
            <a:endParaRPr lang="en-US" sz="950" dirty="0"/>
          </a:p>
        </p:txBody>
      </p:sp>
      <p:sp>
        <p:nvSpPr>
          <p:cNvPr id="24" name="Text 22"/>
          <p:cNvSpPr txBox="1"/>
          <p:nvPr/>
        </p:nvSpPr>
        <p:spPr>
          <a:xfrm>
            <a:off x="2559456" y="3639312"/>
            <a:ext cx="3645789"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Media / mediana por grupo · Prueba de diferencia de medias</a:t>
            </a:r>
            <a:endParaRPr lang="en-US" sz="1000" dirty="0"/>
          </a:p>
        </p:txBody>
      </p:sp>
      <p:sp>
        <p:nvSpPr>
          <p:cNvPr id="25" name="Text 23"/>
          <p:cNvSpPr txBox="1"/>
          <p:nvPr/>
        </p:nvSpPr>
        <p:spPr>
          <a:xfrm>
            <a:off x="1279296" y="3959352"/>
            <a:ext cx="945205" cy="274320"/>
          </a:xfrm>
          <a:prstGeom prst="rect">
            <a:avLst/>
          </a:prstGeom>
          <a:noFill/>
          <a:ln/>
        </p:spPr>
        <p:txBody>
          <a:bodyPr wrap="square" rtlCol="0" anchor="ctr"/>
          <a:lstStyle/>
          <a:p>
            <a:pPr marL="0" indent="0">
              <a:buNone/>
            </a:pPr>
            <a:r>
              <a:rPr lang="en-US" sz="950" b="1" dirty="0">
                <a:solidFill>
                  <a:srgbClr val="90A8C0"/>
                </a:solidFill>
                <a:latin typeface="Calibri" pitchFamily="34" charset="0"/>
                <a:ea typeface="Calibri" pitchFamily="34" charset="-122"/>
                <a:cs typeface="Calibri" pitchFamily="34" charset="-120"/>
              </a:rPr>
              <a:t>Gráfica:</a:t>
            </a:r>
            <a:endParaRPr lang="en-US" sz="950" dirty="0"/>
          </a:p>
        </p:txBody>
      </p:sp>
      <p:sp>
        <p:nvSpPr>
          <p:cNvPr id="26" name="Text 24"/>
          <p:cNvSpPr txBox="1"/>
          <p:nvPr/>
        </p:nvSpPr>
        <p:spPr>
          <a:xfrm>
            <a:off x="2559456" y="3959352"/>
            <a:ext cx="3645789"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Box plot agrupado · Violin plot</a:t>
            </a:r>
            <a:endParaRPr lang="en-US" sz="1000" dirty="0"/>
          </a:p>
        </p:txBody>
      </p:sp>
      <p:sp>
        <p:nvSpPr>
          <p:cNvPr id="27" name="Text 25"/>
          <p:cNvSpPr txBox="1"/>
          <p:nvPr/>
        </p:nvSpPr>
        <p:spPr>
          <a:xfrm>
            <a:off x="7223760" y="3566160"/>
            <a:ext cx="1097280" cy="594360"/>
          </a:xfrm>
          <a:prstGeom prst="rect">
            <a:avLst/>
          </a:prstGeom>
          <a:noFill/>
          <a:ln/>
        </p:spPr>
        <p:txBody>
          <a:bodyPr wrap="square" rtlCol="0" anchor="ctr"/>
          <a:lstStyle/>
          <a:p>
            <a:pPr marL="0" indent="0">
              <a:buNone/>
            </a:pPr>
            <a:r>
              <a:rPr lang="en-US" sz="950" b="1" dirty="0">
                <a:solidFill>
                  <a:srgbClr val="90A8C0"/>
                </a:solidFill>
                <a:latin typeface="Calibri" pitchFamily="34" charset="0"/>
                <a:ea typeface="Calibri" pitchFamily="34" charset="-122"/>
                <a:cs typeface="Calibri" pitchFamily="34" charset="-120"/>
              </a:rPr>
              <a:t>Ejemplo:</a:t>
            </a:r>
            <a:endParaRPr lang="en-US" sz="950" dirty="0"/>
          </a:p>
        </p:txBody>
      </p:sp>
      <p:sp>
        <p:nvSpPr>
          <p:cNvPr id="28" name="Text 26"/>
          <p:cNvSpPr txBox="1"/>
          <p:nvPr/>
        </p:nvSpPr>
        <p:spPr>
          <a:xfrm>
            <a:off x="8321040" y="3566160"/>
            <a:ext cx="3383280" cy="594360"/>
          </a:xfrm>
          <a:prstGeom prst="rect">
            <a:avLst/>
          </a:prstGeom>
          <a:noFill/>
          <a:ln/>
        </p:spPr>
        <p:txBody>
          <a:bodyPr wrap="square" rtlCol="0" anchor="ctr"/>
          <a:lstStyle/>
          <a:p>
            <a:pPr marL="0" indent="0">
              <a:buNone/>
            </a:pPr>
            <a:r>
              <a:rPr lang="en-US" sz="950" i="1" dirty="0">
                <a:solidFill>
                  <a:srgbClr val="E8A020"/>
                </a:solidFill>
                <a:latin typeface="Calibri" pitchFamily="34" charset="0"/>
                <a:ea typeface="Calibri" pitchFamily="34" charset="-122"/>
                <a:cs typeface="Calibri" pitchFamily="34" charset="-120"/>
              </a:rPr>
              <a:t>Ingreso mensual por nivel de escolaridad (ENIGH)</a:t>
            </a:r>
            <a:endParaRPr lang="en-US" sz="950" dirty="0"/>
          </a:p>
          <a:p>
            <a:pPr marL="0" indent="0">
              <a:buNone/>
            </a:pPr>
            <a:r>
              <a:rPr lang="en-US" sz="950" i="1" dirty="0">
                <a:solidFill>
                  <a:srgbClr val="E8A020"/>
                </a:solidFill>
                <a:latin typeface="Calibri" pitchFamily="34" charset="0"/>
                <a:ea typeface="Calibri" pitchFamily="34" charset="-122"/>
                <a:cs typeface="Calibri" pitchFamily="34" charset="-120"/>
              </a:rPr>
              <a:t>Tasa de desempleo por región (Banco Mundial)</a:t>
            </a:r>
            <a:endParaRPr lang="en-US" sz="950" dirty="0"/>
          </a:p>
        </p:txBody>
      </p:sp>
      <p:sp>
        <p:nvSpPr>
          <p:cNvPr id="29" name="Shape 27"/>
          <p:cNvSpPr/>
          <p:nvPr/>
        </p:nvSpPr>
        <p:spPr>
          <a:xfrm>
            <a:off x="320040" y="4754880"/>
            <a:ext cx="739284" cy="1463040"/>
          </a:xfrm>
          <a:prstGeom prst="rect">
            <a:avLst/>
          </a:prstGeom>
          <a:solidFill>
            <a:srgbClr val="6A3D9A"/>
          </a:solidFill>
          <a:ln/>
        </p:spPr>
        <p:txBody>
          <a:bodyPr/>
          <a:lstStyle/>
          <a:p>
            <a:endParaRPr lang="es-MX"/>
          </a:p>
        </p:txBody>
      </p:sp>
      <p:sp>
        <p:nvSpPr>
          <p:cNvPr id="30" name="Text 28"/>
          <p:cNvSpPr txBox="1"/>
          <p:nvPr/>
        </p:nvSpPr>
        <p:spPr>
          <a:xfrm>
            <a:off x="347472" y="5257800"/>
            <a:ext cx="672076"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C×C</a:t>
            </a:r>
            <a:endParaRPr lang="en-US" sz="1800" dirty="0"/>
          </a:p>
        </p:txBody>
      </p:sp>
      <p:sp>
        <p:nvSpPr>
          <p:cNvPr id="31" name="Shape 29"/>
          <p:cNvSpPr/>
          <p:nvPr/>
        </p:nvSpPr>
        <p:spPr>
          <a:xfrm>
            <a:off x="1059324" y="4754880"/>
            <a:ext cx="10782156" cy="1463040"/>
          </a:xfrm>
          <a:prstGeom prst="rect">
            <a:avLst/>
          </a:prstGeom>
          <a:solidFill>
            <a:srgbClr val="FFFFFF">
              <a:alpha val="10000"/>
            </a:srgbClr>
          </a:solidFill>
          <a:ln w="12700">
            <a:solidFill>
              <a:srgbClr val="6A3D9A"/>
            </a:solidFill>
            <a:prstDash val="solid"/>
          </a:ln>
        </p:spPr>
        <p:txBody>
          <a:bodyPr/>
          <a:lstStyle/>
          <a:p>
            <a:endParaRPr lang="es-MX"/>
          </a:p>
        </p:txBody>
      </p:sp>
      <p:sp>
        <p:nvSpPr>
          <p:cNvPr id="32" name="Text 30"/>
          <p:cNvSpPr txBox="1"/>
          <p:nvPr/>
        </p:nvSpPr>
        <p:spPr>
          <a:xfrm>
            <a:off x="1279296" y="4901184"/>
            <a:ext cx="7899210" cy="384048"/>
          </a:xfrm>
          <a:prstGeom prst="rect">
            <a:avLst/>
          </a:prstGeom>
          <a:noFill/>
          <a:ln/>
        </p:spPr>
        <p:txBody>
          <a:bodyPr wrap="square" rtlCol="0" anchor="ctr"/>
          <a:lstStyle/>
          <a:p>
            <a:pPr marL="0" indent="0">
              <a:buNone/>
            </a:pPr>
            <a:r>
              <a:rPr lang="en-US" sz="1700" b="1" dirty="0">
                <a:solidFill>
                  <a:srgbClr val="6A3D9A"/>
                </a:solidFill>
                <a:latin typeface="Calibri" pitchFamily="34" charset="0"/>
                <a:ea typeface="Calibri" pitchFamily="34" charset="-122"/>
                <a:cs typeface="Calibri" pitchFamily="34" charset="-120"/>
              </a:rPr>
              <a:t>Categórica × Categórica</a:t>
            </a:r>
            <a:endParaRPr lang="en-US" sz="1700" dirty="0"/>
          </a:p>
        </p:txBody>
      </p:sp>
      <p:sp>
        <p:nvSpPr>
          <p:cNvPr id="33" name="Text 31"/>
          <p:cNvSpPr txBox="1"/>
          <p:nvPr/>
        </p:nvSpPr>
        <p:spPr>
          <a:xfrm>
            <a:off x="1279296" y="5285232"/>
            <a:ext cx="945205" cy="274320"/>
          </a:xfrm>
          <a:prstGeom prst="rect">
            <a:avLst/>
          </a:prstGeom>
          <a:noFill/>
          <a:ln/>
        </p:spPr>
        <p:txBody>
          <a:bodyPr wrap="square" rtlCol="0" anchor="ctr"/>
          <a:lstStyle/>
          <a:p>
            <a:pPr marL="0" indent="0">
              <a:buNone/>
            </a:pPr>
            <a:r>
              <a:rPr lang="en-US" sz="950" b="1" dirty="0">
                <a:solidFill>
                  <a:srgbClr val="90A8C0"/>
                </a:solidFill>
                <a:latin typeface="Calibri" pitchFamily="34" charset="0"/>
                <a:ea typeface="Calibri" pitchFamily="34" charset="-122"/>
                <a:cs typeface="Calibri" pitchFamily="34" charset="-120"/>
              </a:rPr>
              <a:t>Estadístico:</a:t>
            </a:r>
            <a:endParaRPr lang="en-US" sz="950" dirty="0"/>
          </a:p>
        </p:txBody>
      </p:sp>
      <p:sp>
        <p:nvSpPr>
          <p:cNvPr id="34" name="Text 32"/>
          <p:cNvSpPr txBox="1"/>
          <p:nvPr/>
        </p:nvSpPr>
        <p:spPr>
          <a:xfrm>
            <a:off x="2559456" y="5285232"/>
            <a:ext cx="3645789"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Tabla de contingencia · Proporciones · Chi-cuadrado (χ²)</a:t>
            </a:r>
            <a:endParaRPr lang="en-US" sz="1000" dirty="0"/>
          </a:p>
        </p:txBody>
      </p:sp>
      <p:sp>
        <p:nvSpPr>
          <p:cNvPr id="35" name="Text 33"/>
          <p:cNvSpPr txBox="1"/>
          <p:nvPr/>
        </p:nvSpPr>
        <p:spPr>
          <a:xfrm>
            <a:off x="1279296" y="5605272"/>
            <a:ext cx="945205" cy="274320"/>
          </a:xfrm>
          <a:prstGeom prst="rect">
            <a:avLst/>
          </a:prstGeom>
          <a:noFill/>
          <a:ln/>
        </p:spPr>
        <p:txBody>
          <a:bodyPr wrap="square" rtlCol="0" anchor="ctr"/>
          <a:lstStyle/>
          <a:p>
            <a:pPr marL="0" indent="0">
              <a:buNone/>
            </a:pPr>
            <a:r>
              <a:rPr lang="en-US" sz="950" b="1" dirty="0">
                <a:solidFill>
                  <a:srgbClr val="90A8C0"/>
                </a:solidFill>
                <a:latin typeface="Calibri" pitchFamily="34" charset="0"/>
                <a:ea typeface="Calibri" pitchFamily="34" charset="-122"/>
                <a:cs typeface="Calibri" pitchFamily="34" charset="-120"/>
              </a:rPr>
              <a:t>Gráfica:</a:t>
            </a:r>
            <a:endParaRPr lang="en-US" sz="950" dirty="0"/>
          </a:p>
        </p:txBody>
      </p:sp>
      <p:sp>
        <p:nvSpPr>
          <p:cNvPr id="36" name="Text 34"/>
          <p:cNvSpPr txBox="1"/>
          <p:nvPr/>
        </p:nvSpPr>
        <p:spPr>
          <a:xfrm>
            <a:off x="2559456" y="5605272"/>
            <a:ext cx="3645789"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Heatmap de frecuencias · Barras agrupadas</a:t>
            </a:r>
            <a:endParaRPr lang="en-US" sz="1000" dirty="0"/>
          </a:p>
        </p:txBody>
      </p:sp>
      <p:sp>
        <p:nvSpPr>
          <p:cNvPr id="37" name="Text 35"/>
          <p:cNvSpPr txBox="1"/>
          <p:nvPr/>
        </p:nvSpPr>
        <p:spPr>
          <a:xfrm>
            <a:off x="7223760" y="5212080"/>
            <a:ext cx="1097280" cy="594360"/>
          </a:xfrm>
          <a:prstGeom prst="rect">
            <a:avLst/>
          </a:prstGeom>
          <a:noFill/>
          <a:ln/>
        </p:spPr>
        <p:txBody>
          <a:bodyPr wrap="square" rtlCol="0" anchor="ctr"/>
          <a:lstStyle/>
          <a:p>
            <a:pPr marL="0" indent="0">
              <a:buNone/>
            </a:pPr>
            <a:r>
              <a:rPr lang="en-US" sz="950" b="1" dirty="0">
                <a:solidFill>
                  <a:srgbClr val="90A8C0"/>
                </a:solidFill>
                <a:latin typeface="Calibri" pitchFamily="34" charset="0"/>
                <a:ea typeface="Calibri" pitchFamily="34" charset="-122"/>
                <a:cs typeface="Calibri" pitchFamily="34" charset="-120"/>
              </a:rPr>
              <a:t>Ejemplo:</a:t>
            </a:r>
            <a:endParaRPr lang="en-US" sz="950" dirty="0"/>
          </a:p>
        </p:txBody>
      </p:sp>
      <p:sp>
        <p:nvSpPr>
          <p:cNvPr id="38" name="Text 36"/>
          <p:cNvSpPr txBox="1"/>
          <p:nvPr/>
        </p:nvSpPr>
        <p:spPr>
          <a:xfrm>
            <a:off x="8321040" y="5212080"/>
            <a:ext cx="3383280" cy="594360"/>
          </a:xfrm>
          <a:prstGeom prst="rect">
            <a:avLst/>
          </a:prstGeom>
          <a:noFill/>
          <a:ln/>
        </p:spPr>
        <p:txBody>
          <a:bodyPr wrap="square" rtlCol="0" anchor="ctr"/>
          <a:lstStyle/>
          <a:p>
            <a:pPr marL="0" indent="0">
              <a:buNone/>
            </a:pPr>
            <a:r>
              <a:rPr lang="en-US" sz="950" i="1" dirty="0">
                <a:solidFill>
                  <a:srgbClr val="E8A020"/>
                </a:solidFill>
                <a:latin typeface="Calibri" pitchFamily="34" charset="0"/>
                <a:ea typeface="Calibri" pitchFamily="34" charset="-122"/>
                <a:cs typeface="Calibri" pitchFamily="34" charset="-120"/>
              </a:rPr>
              <a:t>Acceso a internet × tipo de vivienda (ENIGH)</a:t>
            </a:r>
            <a:endParaRPr lang="en-US" sz="950" dirty="0"/>
          </a:p>
          <a:p>
            <a:pPr marL="0" indent="0">
              <a:buNone/>
            </a:pPr>
            <a:r>
              <a:rPr lang="en-US" sz="950" i="1" dirty="0">
                <a:solidFill>
                  <a:srgbClr val="E8A020"/>
                </a:solidFill>
                <a:latin typeface="Calibri" pitchFamily="34" charset="0"/>
                <a:ea typeface="Calibri" pitchFamily="34" charset="-122"/>
                <a:cs typeface="Calibri" pitchFamily="34" charset="-120"/>
              </a:rPr>
              <a:t>Nivel educativo × tipo de empleo (OIT/CEPAL)</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txBody>
          <a:bodyPr/>
          <a:lstStyle/>
          <a:p>
            <a:endParaRPr lang="es-MX"/>
          </a:p>
        </p:txBody>
      </p:sp>
      <p:sp>
        <p:nvSpPr>
          <p:cNvPr id="3" name="Text 1"/>
          <p:cNvSpPr txBox="1"/>
          <p:nvPr/>
        </p:nvSpPr>
        <p:spPr>
          <a:xfrm>
            <a:off x="228600" y="36576"/>
            <a:ext cx="8229600" cy="27432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marL="0" indent="0" algn="r">
              <a:buNone/>
            </a:pPr>
            <a:r>
              <a:rPr lang="en-US" sz="900" b="1" dirty="0">
                <a:solidFill>
                  <a:srgbClr val="E8A020"/>
                </a:solidFill>
                <a:latin typeface="Calibri" pitchFamily="34" charset="0"/>
                <a:ea typeface="Calibri" pitchFamily="34" charset="-122"/>
                <a:cs typeface="Calibri" pitchFamily="34" charset="-120"/>
              </a:rPr>
              <a:t>Tema 2.2</a:t>
            </a:r>
            <a:endParaRPr lang="en-US" sz="900" dirty="0"/>
          </a:p>
        </p:txBody>
      </p:sp>
      <p:sp>
        <p:nvSpPr>
          <p:cNvPr id="5" name="Shape 3"/>
          <p:cNvSpPr/>
          <p:nvPr/>
        </p:nvSpPr>
        <p:spPr>
          <a:xfrm>
            <a:off x="0" y="6565392"/>
            <a:ext cx="12161520" cy="292608"/>
          </a:xfrm>
          <a:prstGeom prst="rect">
            <a:avLst/>
          </a:prstGeom>
          <a:solidFill>
            <a:srgbClr val="1B3A6B"/>
          </a:solidFill>
          <a:ln/>
        </p:spPr>
        <p:txBody>
          <a:bodyPr/>
          <a:lstStyle/>
          <a:p>
            <a:endParaRPr lang="es-MX"/>
          </a:p>
        </p:txBody>
      </p:sp>
      <p:sp>
        <p:nvSpPr>
          <p:cNvPr id="6" name="Text 4"/>
          <p:cNvSpPr txBox="1"/>
          <p:nvPr/>
        </p:nvSpPr>
        <p:spPr>
          <a:xfrm>
            <a:off x="228600" y="6592824"/>
            <a:ext cx="73152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7" name="Shape 5"/>
          <p:cNvSpPr/>
          <p:nvPr/>
        </p:nvSpPr>
        <p:spPr>
          <a:xfrm>
            <a:off x="320040" y="364724"/>
            <a:ext cx="2532888" cy="256032"/>
          </a:xfrm>
          <a:prstGeom prst="roundRect">
            <a:avLst>
              <a:gd name="adj" fmla="val 17857"/>
            </a:avLst>
          </a:prstGeom>
          <a:solidFill>
            <a:srgbClr val="2A7ABF"/>
          </a:solidFill>
          <a:ln/>
        </p:spPr>
        <p:txBody>
          <a:bodyPr/>
          <a:lstStyle/>
          <a:p>
            <a:endParaRPr lang="es-MX"/>
          </a:p>
        </p:txBody>
      </p:sp>
      <p:sp>
        <p:nvSpPr>
          <p:cNvPr id="8" name="Text 6"/>
          <p:cNvSpPr txBox="1"/>
          <p:nvPr/>
        </p:nvSpPr>
        <p:spPr>
          <a:xfrm>
            <a:off x="365760" y="383012"/>
            <a:ext cx="2441448" cy="21945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Numérica × Numérica</a:t>
            </a:r>
            <a:endParaRPr lang="en-US" sz="850" dirty="0"/>
          </a:p>
        </p:txBody>
      </p:sp>
      <p:sp>
        <p:nvSpPr>
          <p:cNvPr id="9" name="Text 7"/>
          <p:cNvSpPr txBox="1"/>
          <p:nvPr/>
        </p:nvSpPr>
        <p:spPr>
          <a:xfrm>
            <a:off x="320040" y="658368"/>
            <a:ext cx="10972800" cy="502920"/>
          </a:xfrm>
          <a:prstGeom prst="rect">
            <a:avLst/>
          </a:prstGeom>
          <a:noFill/>
          <a:ln/>
        </p:spPr>
        <p:txBody>
          <a:bodyPr wrap="square" rtlCol="0" anchor="ctr"/>
          <a:lstStyle/>
          <a:p>
            <a:pPr marL="0" indent="0">
              <a:buNone/>
            </a:pPr>
            <a:r>
              <a:rPr lang="en-US" sz="2500" b="1" dirty="0">
                <a:solidFill>
                  <a:srgbClr val="1B3A6B"/>
                </a:solidFill>
                <a:latin typeface="Calibri" pitchFamily="34" charset="0"/>
                <a:ea typeface="Calibri" pitchFamily="34" charset="-122"/>
                <a:cs typeface="Calibri" pitchFamily="34" charset="-120"/>
              </a:rPr>
              <a:t>Covarianza y Correlación de Pearson</a:t>
            </a:r>
            <a:endParaRPr lang="en-US" sz="2500" dirty="0"/>
          </a:p>
        </p:txBody>
      </p:sp>
      <p:sp>
        <p:nvSpPr>
          <p:cNvPr id="10" name="Shape 8"/>
          <p:cNvSpPr/>
          <p:nvPr/>
        </p:nvSpPr>
        <p:spPr>
          <a:xfrm>
            <a:off x="320040" y="1396616"/>
            <a:ext cx="5394960" cy="1965960"/>
          </a:xfrm>
          <a:prstGeom prst="rect">
            <a:avLst/>
          </a:prstGeom>
          <a:solidFill>
            <a:srgbClr val="FFFFFF"/>
          </a:solidFill>
          <a:ln w="12700">
            <a:solidFill>
              <a:srgbClr val="D1D5DB"/>
            </a:solidFill>
            <a:prstDash val="solid"/>
          </a:ln>
        </p:spPr>
        <p:txBody>
          <a:bodyPr/>
          <a:lstStyle/>
          <a:p>
            <a:endParaRPr lang="es-MX"/>
          </a:p>
        </p:txBody>
      </p:sp>
      <p:sp>
        <p:nvSpPr>
          <p:cNvPr id="11" name="Shape 9"/>
          <p:cNvSpPr/>
          <p:nvPr/>
        </p:nvSpPr>
        <p:spPr>
          <a:xfrm>
            <a:off x="320040" y="1396616"/>
            <a:ext cx="73152" cy="1965960"/>
          </a:xfrm>
          <a:prstGeom prst="rect">
            <a:avLst/>
          </a:prstGeom>
          <a:solidFill>
            <a:srgbClr val="2A7ABF"/>
          </a:solidFill>
          <a:ln/>
        </p:spPr>
        <p:txBody>
          <a:bodyPr/>
          <a:lstStyle/>
          <a:p>
            <a:endParaRPr lang="es-MX"/>
          </a:p>
        </p:txBody>
      </p:sp>
      <p:sp>
        <p:nvSpPr>
          <p:cNvPr id="12" name="Text 10"/>
          <p:cNvSpPr txBox="1"/>
          <p:nvPr/>
        </p:nvSpPr>
        <p:spPr>
          <a:xfrm>
            <a:off x="457200" y="1460624"/>
            <a:ext cx="5120640" cy="365760"/>
          </a:xfrm>
          <a:prstGeom prst="rect">
            <a:avLst/>
          </a:prstGeom>
          <a:noFill/>
          <a:ln/>
        </p:spPr>
        <p:txBody>
          <a:bodyPr wrap="square" rtlCol="0" anchor="ctr"/>
          <a:lstStyle/>
          <a:p>
            <a:pPr marL="0" indent="0">
              <a:buNone/>
            </a:pPr>
            <a:r>
              <a:rPr lang="en-US" sz="1300" b="1" dirty="0">
                <a:solidFill>
                  <a:srgbClr val="2A7ABF"/>
                </a:solidFill>
                <a:latin typeface="Calibri" pitchFamily="34" charset="0"/>
                <a:ea typeface="Calibri" pitchFamily="34" charset="-122"/>
                <a:cs typeface="Calibri" pitchFamily="34" charset="-120"/>
              </a:rPr>
              <a:t>Covarianza</a:t>
            </a:r>
            <a:endParaRPr lang="en-US" sz="1300" dirty="0"/>
          </a:p>
        </p:txBody>
      </p:sp>
      <p:sp>
        <p:nvSpPr>
          <p:cNvPr id="13" name="Text 11"/>
          <p:cNvSpPr txBox="1"/>
          <p:nvPr/>
        </p:nvSpPr>
        <p:spPr>
          <a:xfrm>
            <a:off x="457200" y="1826384"/>
            <a:ext cx="5120640" cy="4572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Mide si X e Y se mueven juntas. Positiva → crecen juntas. Negativa → una sube cuando la otra baja.</a:t>
            </a:r>
            <a:endParaRPr lang="en-US" sz="1050" dirty="0"/>
          </a:p>
        </p:txBody>
      </p:sp>
      <p:sp>
        <p:nvSpPr>
          <p:cNvPr id="14" name="Shape 12"/>
          <p:cNvSpPr/>
          <p:nvPr/>
        </p:nvSpPr>
        <p:spPr>
          <a:xfrm>
            <a:off x="457200" y="2311016"/>
            <a:ext cx="5120640" cy="502920"/>
          </a:xfrm>
          <a:prstGeom prst="rect">
            <a:avLst/>
          </a:prstGeom>
          <a:solidFill>
            <a:srgbClr val="1B3A6B"/>
          </a:solidFill>
          <a:ln w="12700">
            <a:solidFill>
              <a:srgbClr val="1B3A6B"/>
            </a:solidFill>
            <a:prstDash val="solid"/>
          </a:ln>
        </p:spPr>
        <p:txBody>
          <a:bodyPr/>
          <a:lstStyle/>
          <a:p>
            <a:endParaRPr lang="es-MX"/>
          </a:p>
        </p:txBody>
      </p:sp>
      <p:sp>
        <p:nvSpPr>
          <p:cNvPr id="15" name="Text 13"/>
          <p:cNvSpPr txBox="1"/>
          <p:nvPr/>
        </p:nvSpPr>
        <p:spPr>
          <a:xfrm>
            <a:off x="548640" y="2338448"/>
            <a:ext cx="4937760" cy="457200"/>
          </a:xfrm>
          <a:prstGeom prst="rect">
            <a:avLst/>
          </a:prstGeom>
          <a:noFill/>
          <a:ln/>
        </p:spPr>
        <p:txBody>
          <a:bodyPr wrap="square" rtlCol="0" anchor="ctr"/>
          <a:lstStyle/>
          <a:p>
            <a:pPr marL="0" indent="0">
              <a:buNone/>
            </a:pPr>
            <a:r>
              <a:rPr lang="en-US" sz="900" dirty="0">
                <a:solidFill>
                  <a:srgbClr val="E8A020"/>
                </a:solidFill>
                <a:latin typeface="Calibri" pitchFamily="34" charset="0"/>
                <a:ea typeface="Calibri" pitchFamily="34" charset="-122"/>
                <a:cs typeface="Calibri" pitchFamily="34" charset="-120"/>
              </a:rPr>
              <a:t>⚠  El problema: su valor depende de las unidades de X e Y.</a:t>
            </a:r>
            <a:endParaRPr lang="en-US" sz="900" dirty="0"/>
          </a:p>
          <a:p>
            <a:pPr marL="0" indent="0">
              <a:buNone/>
            </a:pPr>
            <a:r>
              <a:rPr lang="en-US" sz="900" dirty="0">
                <a:solidFill>
                  <a:srgbClr val="E8A020"/>
                </a:solidFill>
                <a:latin typeface="Calibri" pitchFamily="34" charset="0"/>
                <a:ea typeface="Calibri" pitchFamily="34" charset="-122"/>
                <a:cs typeface="Calibri" pitchFamily="34" charset="-120"/>
              </a:rPr>
              <a:t>   Cov(ingreso, PIB) ≠ Cov(ingreso_log, PIB_log) aunque la relación sea la misma.</a:t>
            </a:r>
            <a:endParaRPr lang="en-US" sz="900" dirty="0"/>
          </a:p>
        </p:txBody>
      </p:sp>
      <p:sp>
        <p:nvSpPr>
          <p:cNvPr id="16" name="Shape 14"/>
          <p:cNvSpPr/>
          <p:nvPr/>
        </p:nvSpPr>
        <p:spPr>
          <a:xfrm>
            <a:off x="320040" y="3454016"/>
            <a:ext cx="5394960" cy="1965960"/>
          </a:xfrm>
          <a:prstGeom prst="rect">
            <a:avLst/>
          </a:prstGeom>
          <a:solidFill>
            <a:srgbClr val="FFFFFF"/>
          </a:solidFill>
          <a:ln w="12700">
            <a:solidFill>
              <a:srgbClr val="D1D5DB"/>
            </a:solidFill>
            <a:prstDash val="solid"/>
          </a:ln>
        </p:spPr>
        <p:txBody>
          <a:bodyPr/>
          <a:lstStyle/>
          <a:p>
            <a:endParaRPr lang="es-MX"/>
          </a:p>
        </p:txBody>
      </p:sp>
      <p:sp>
        <p:nvSpPr>
          <p:cNvPr id="17" name="Shape 15"/>
          <p:cNvSpPr/>
          <p:nvPr/>
        </p:nvSpPr>
        <p:spPr>
          <a:xfrm>
            <a:off x="320040" y="3454016"/>
            <a:ext cx="73152" cy="1965960"/>
          </a:xfrm>
          <a:prstGeom prst="rect">
            <a:avLst/>
          </a:prstGeom>
          <a:solidFill>
            <a:srgbClr val="1A9641"/>
          </a:solidFill>
          <a:ln/>
        </p:spPr>
        <p:txBody>
          <a:bodyPr/>
          <a:lstStyle/>
          <a:p>
            <a:endParaRPr lang="es-MX"/>
          </a:p>
        </p:txBody>
      </p:sp>
      <p:sp>
        <p:nvSpPr>
          <p:cNvPr id="18" name="Text 16"/>
          <p:cNvSpPr txBox="1"/>
          <p:nvPr/>
        </p:nvSpPr>
        <p:spPr>
          <a:xfrm>
            <a:off x="457200" y="3518024"/>
            <a:ext cx="5120640" cy="365760"/>
          </a:xfrm>
          <a:prstGeom prst="rect">
            <a:avLst/>
          </a:prstGeom>
          <a:noFill/>
          <a:ln/>
        </p:spPr>
        <p:txBody>
          <a:bodyPr wrap="square" rtlCol="0" anchor="ctr"/>
          <a:lstStyle/>
          <a:p>
            <a:pPr marL="0" indent="0">
              <a:buNone/>
            </a:pPr>
            <a:r>
              <a:rPr lang="en-US" sz="1300" b="1" dirty="0">
                <a:solidFill>
                  <a:srgbClr val="1A9641"/>
                </a:solidFill>
                <a:latin typeface="Calibri" pitchFamily="34" charset="0"/>
                <a:ea typeface="Calibri" pitchFamily="34" charset="-122"/>
                <a:cs typeface="Calibri" pitchFamily="34" charset="-120"/>
              </a:rPr>
              <a:t>Correlación de Pearson (r)</a:t>
            </a:r>
            <a:endParaRPr lang="en-US" sz="1300" dirty="0"/>
          </a:p>
        </p:txBody>
      </p:sp>
      <p:sp>
        <p:nvSpPr>
          <p:cNvPr id="19" name="Text 17"/>
          <p:cNvSpPr txBox="1"/>
          <p:nvPr/>
        </p:nvSpPr>
        <p:spPr>
          <a:xfrm>
            <a:off x="457200" y="3883784"/>
            <a:ext cx="5120640" cy="41148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Covarianza estandarizada. Siempre entre −1 y +1. Sin unidades → comparable entre pares.</a:t>
            </a:r>
            <a:endParaRPr lang="en-US" sz="1050" dirty="0"/>
          </a:p>
        </p:txBody>
      </p:sp>
      <p:sp>
        <p:nvSpPr>
          <p:cNvPr id="20" name="Shape 18"/>
          <p:cNvSpPr/>
          <p:nvPr/>
        </p:nvSpPr>
        <p:spPr>
          <a:xfrm>
            <a:off x="457200" y="4322696"/>
            <a:ext cx="5120640" cy="594360"/>
          </a:xfrm>
          <a:prstGeom prst="rect">
            <a:avLst/>
          </a:prstGeom>
          <a:solidFill>
            <a:srgbClr val="1E2D40"/>
          </a:solidFill>
          <a:ln w="12700">
            <a:solidFill>
              <a:srgbClr val="2A7ABF"/>
            </a:solidFill>
            <a:prstDash val="solid"/>
          </a:ln>
        </p:spPr>
        <p:txBody>
          <a:bodyPr/>
          <a:lstStyle/>
          <a:p>
            <a:endParaRPr lang="es-MX"/>
          </a:p>
        </p:txBody>
      </p:sp>
      <p:sp>
        <p:nvSpPr>
          <p:cNvPr id="21" name="Text 19"/>
          <p:cNvSpPr txBox="1"/>
          <p:nvPr/>
        </p:nvSpPr>
        <p:spPr>
          <a:xfrm>
            <a:off x="566928" y="4414136"/>
            <a:ext cx="4901184" cy="411480"/>
          </a:xfrm>
          <a:prstGeom prst="rect">
            <a:avLst/>
          </a:prstGeom>
          <a:noFill/>
          <a:ln/>
        </p:spPr>
        <p:txBody>
          <a:bodyPr wrap="square" rtlCol="0" anchor="t"/>
          <a:lstStyle/>
          <a:p>
            <a:pPr marL="0" indent="0">
              <a:buNone/>
            </a:pPr>
            <a:r>
              <a:rPr lang="en-US" sz="850" dirty="0">
                <a:solidFill>
                  <a:srgbClr val="A8D8F0"/>
                </a:solidFill>
                <a:latin typeface="Courier New" pitchFamily="34" charset="0"/>
                <a:ea typeface="Courier New" pitchFamily="34" charset="-122"/>
                <a:cs typeface="Courier New" pitchFamily="34" charset="-120"/>
              </a:rPr>
              <a:t>r = df[["pib_pc","gini"]].corr()          # matriz completa</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r = df["pib_pc"].corr(df["desempleo"])  # un par</a:t>
            </a:r>
            <a:endParaRPr lang="en-US" sz="850" dirty="0"/>
          </a:p>
        </p:txBody>
      </p:sp>
      <p:sp>
        <p:nvSpPr>
          <p:cNvPr id="22" name="Text 20"/>
          <p:cNvSpPr txBox="1"/>
          <p:nvPr/>
        </p:nvSpPr>
        <p:spPr>
          <a:xfrm>
            <a:off x="457200" y="4962776"/>
            <a:ext cx="5120640" cy="365760"/>
          </a:xfrm>
          <a:prstGeom prst="rect">
            <a:avLst/>
          </a:prstGeom>
          <a:noFill/>
          <a:ln/>
        </p:spPr>
        <p:txBody>
          <a:bodyPr wrap="square" rtlCol="0" anchor="ctr"/>
          <a:lstStyle/>
          <a:p>
            <a:pPr marL="0" indent="0">
              <a:buNone/>
            </a:pPr>
            <a:r>
              <a:rPr lang="en-US" sz="950" i="1" dirty="0">
                <a:solidFill>
                  <a:srgbClr val="1A9641"/>
                </a:solidFill>
                <a:latin typeface="Calibri" pitchFamily="34" charset="0"/>
                <a:ea typeface="Calibri" pitchFamily="34" charset="-122"/>
                <a:cs typeface="Calibri" pitchFamily="34" charset="-120"/>
              </a:rPr>
              <a:t>r ≈ +1: relación lineal positiva fuerte  |  r ≈ 0: sin relación lineal  |  r ≈ −1: relación lineal negativa fuerte</a:t>
            </a:r>
            <a:endParaRPr lang="en-US" sz="950" dirty="0"/>
          </a:p>
        </p:txBody>
      </p:sp>
      <p:sp>
        <p:nvSpPr>
          <p:cNvPr id="23" name="Text 21"/>
          <p:cNvSpPr txBox="1"/>
          <p:nvPr/>
        </p:nvSpPr>
        <p:spPr>
          <a:xfrm>
            <a:off x="6035040" y="1115568"/>
            <a:ext cx="5669280" cy="365760"/>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Escala de interpretación</a:t>
            </a:r>
            <a:endParaRPr lang="en-US" sz="1300" dirty="0"/>
          </a:p>
        </p:txBody>
      </p:sp>
      <p:sp>
        <p:nvSpPr>
          <p:cNvPr id="24" name="Shape 22"/>
          <p:cNvSpPr/>
          <p:nvPr/>
        </p:nvSpPr>
        <p:spPr>
          <a:xfrm>
            <a:off x="6035040" y="1554480"/>
            <a:ext cx="502920" cy="384048"/>
          </a:xfrm>
          <a:prstGeom prst="rect">
            <a:avLst/>
          </a:prstGeom>
          <a:solidFill>
            <a:srgbClr val="2A7ABF"/>
          </a:solidFill>
          <a:ln/>
        </p:spPr>
        <p:txBody>
          <a:bodyPr/>
          <a:lstStyle/>
          <a:p>
            <a:endParaRPr lang="es-MX"/>
          </a:p>
        </p:txBody>
      </p:sp>
      <p:sp>
        <p:nvSpPr>
          <p:cNvPr id="25" name="Text 23"/>
          <p:cNvSpPr txBox="1"/>
          <p:nvPr/>
        </p:nvSpPr>
        <p:spPr>
          <a:xfrm>
            <a:off x="6629400" y="1600200"/>
            <a:ext cx="219456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 &gt; 0.8</a:t>
            </a:r>
            <a:endParaRPr lang="en-US" sz="1100" dirty="0"/>
          </a:p>
        </p:txBody>
      </p:sp>
      <p:sp>
        <p:nvSpPr>
          <p:cNvPr id="26" name="Text 24"/>
          <p:cNvSpPr txBox="1"/>
          <p:nvPr/>
        </p:nvSpPr>
        <p:spPr>
          <a:xfrm>
            <a:off x="8823960" y="1600200"/>
            <a:ext cx="2926080" cy="320040"/>
          </a:xfrm>
          <a:prstGeom prst="rect">
            <a:avLst/>
          </a:prstGeom>
          <a:noFill/>
          <a:ln/>
        </p:spPr>
        <p:txBody>
          <a:bodyPr wrap="square" rtlCol="0" anchor="ctr"/>
          <a:lstStyle/>
          <a:p>
            <a:pPr marL="0" indent="0">
              <a:buNone/>
            </a:pPr>
            <a:r>
              <a:rPr lang="en-US" sz="1100" b="1" dirty="0">
                <a:solidFill>
                  <a:srgbClr val="2A7ABF"/>
                </a:solidFill>
                <a:latin typeface="Calibri" pitchFamily="34" charset="0"/>
                <a:ea typeface="Calibri" pitchFamily="34" charset="-122"/>
                <a:cs typeface="Calibri" pitchFamily="34" charset="-120"/>
              </a:rPr>
              <a:t>Muy fuerte</a:t>
            </a:r>
            <a:endParaRPr lang="en-US" sz="1100" dirty="0"/>
          </a:p>
        </p:txBody>
      </p:sp>
      <p:sp>
        <p:nvSpPr>
          <p:cNvPr id="27" name="Shape 25"/>
          <p:cNvSpPr/>
          <p:nvPr/>
        </p:nvSpPr>
        <p:spPr>
          <a:xfrm>
            <a:off x="6035040" y="2029968"/>
            <a:ext cx="502920" cy="384048"/>
          </a:xfrm>
          <a:prstGeom prst="rect">
            <a:avLst/>
          </a:prstGeom>
          <a:solidFill>
            <a:srgbClr val="1A9641"/>
          </a:solidFill>
          <a:ln/>
        </p:spPr>
        <p:txBody>
          <a:bodyPr/>
          <a:lstStyle/>
          <a:p>
            <a:endParaRPr lang="es-MX"/>
          </a:p>
        </p:txBody>
      </p:sp>
      <p:sp>
        <p:nvSpPr>
          <p:cNvPr id="28" name="Text 26"/>
          <p:cNvSpPr txBox="1"/>
          <p:nvPr/>
        </p:nvSpPr>
        <p:spPr>
          <a:xfrm>
            <a:off x="6629400" y="2075688"/>
            <a:ext cx="219456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0.6–0.8</a:t>
            </a:r>
            <a:endParaRPr lang="en-US" sz="1100" dirty="0"/>
          </a:p>
        </p:txBody>
      </p:sp>
      <p:sp>
        <p:nvSpPr>
          <p:cNvPr id="29" name="Text 27"/>
          <p:cNvSpPr txBox="1"/>
          <p:nvPr/>
        </p:nvSpPr>
        <p:spPr>
          <a:xfrm>
            <a:off x="8823960" y="2075688"/>
            <a:ext cx="2926080" cy="320040"/>
          </a:xfrm>
          <a:prstGeom prst="rect">
            <a:avLst/>
          </a:prstGeom>
          <a:noFill/>
          <a:ln/>
        </p:spPr>
        <p:txBody>
          <a:bodyPr wrap="square" rtlCol="0" anchor="ctr"/>
          <a:lstStyle/>
          <a:p>
            <a:pPr marL="0" indent="0">
              <a:buNone/>
            </a:pPr>
            <a:r>
              <a:rPr lang="en-US" sz="1100" b="1" dirty="0">
                <a:solidFill>
                  <a:srgbClr val="1A9641"/>
                </a:solidFill>
                <a:latin typeface="Calibri" pitchFamily="34" charset="0"/>
                <a:ea typeface="Calibri" pitchFamily="34" charset="-122"/>
                <a:cs typeface="Calibri" pitchFamily="34" charset="-120"/>
              </a:rPr>
              <a:t>Fuerte</a:t>
            </a:r>
            <a:endParaRPr lang="en-US" sz="1100" dirty="0"/>
          </a:p>
        </p:txBody>
      </p:sp>
      <p:sp>
        <p:nvSpPr>
          <p:cNvPr id="30" name="Shape 28"/>
          <p:cNvSpPr/>
          <p:nvPr/>
        </p:nvSpPr>
        <p:spPr>
          <a:xfrm>
            <a:off x="6035040" y="2505456"/>
            <a:ext cx="502920" cy="384048"/>
          </a:xfrm>
          <a:prstGeom prst="rect">
            <a:avLst/>
          </a:prstGeom>
          <a:solidFill>
            <a:srgbClr val="E8A020"/>
          </a:solidFill>
          <a:ln/>
        </p:spPr>
        <p:txBody>
          <a:bodyPr/>
          <a:lstStyle/>
          <a:p>
            <a:endParaRPr lang="es-MX"/>
          </a:p>
        </p:txBody>
      </p:sp>
      <p:sp>
        <p:nvSpPr>
          <p:cNvPr id="31" name="Text 29"/>
          <p:cNvSpPr txBox="1"/>
          <p:nvPr/>
        </p:nvSpPr>
        <p:spPr>
          <a:xfrm>
            <a:off x="6629400" y="2551176"/>
            <a:ext cx="219456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0.4–0.6</a:t>
            </a:r>
            <a:endParaRPr lang="en-US" sz="1100" dirty="0"/>
          </a:p>
        </p:txBody>
      </p:sp>
      <p:sp>
        <p:nvSpPr>
          <p:cNvPr id="32" name="Text 30"/>
          <p:cNvSpPr txBox="1"/>
          <p:nvPr/>
        </p:nvSpPr>
        <p:spPr>
          <a:xfrm>
            <a:off x="8823960" y="2551176"/>
            <a:ext cx="2926080" cy="320040"/>
          </a:xfrm>
          <a:prstGeom prst="rect">
            <a:avLst/>
          </a:prstGeom>
          <a:noFill/>
          <a:ln/>
        </p:spPr>
        <p:txBody>
          <a:bodyPr wrap="square" rtlCol="0" anchor="ctr"/>
          <a:lstStyle/>
          <a:p>
            <a:pPr marL="0" indent="0">
              <a:buNone/>
            </a:pPr>
            <a:r>
              <a:rPr lang="en-US" sz="1100" b="1" dirty="0">
                <a:solidFill>
                  <a:srgbClr val="E8A020"/>
                </a:solidFill>
                <a:latin typeface="Calibri" pitchFamily="34" charset="0"/>
                <a:ea typeface="Calibri" pitchFamily="34" charset="-122"/>
                <a:cs typeface="Calibri" pitchFamily="34" charset="-120"/>
              </a:rPr>
              <a:t>Moderada</a:t>
            </a:r>
            <a:endParaRPr lang="en-US" sz="1100" dirty="0"/>
          </a:p>
        </p:txBody>
      </p:sp>
      <p:sp>
        <p:nvSpPr>
          <p:cNvPr id="33" name="Shape 31"/>
          <p:cNvSpPr/>
          <p:nvPr/>
        </p:nvSpPr>
        <p:spPr>
          <a:xfrm>
            <a:off x="6035040" y="2980944"/>
            <a:ext cx="502920" cy="384048"/>
          </a:xfrm>
          <a:prstGeom prst="rect">
            <a:avLst/>
          </a:prstGeom>
          <a:solidFill>
            <a:srgbClr val="E67E22"/>
          </a:solidFill>
          <a:ln/>
        </p:spPr>
        <p:txBody>
          <a:bodyPr/>
          <a:lstStyle/>
          <a:p>
            <a:endParaRPr lang="es-MX"/>
          </a:p>
        </p:txBody>
      </p:sp>
      <p:sp>
        <p:nvSpPr>
          <p:cNvPr id="34" name="Text 32"/>
          <p:cNvSpPr txBox="1"/>
          <p:nvPr/>
        </p:nvSpPr>
        <p:spPr>
          <a:xfrm>
            <a:off x="6629400" y="3026664"/>
            <a:ext cx="219456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0.2–0.4</a:t>
            </a:r>
            <a:endParaRPr lang="en-US" sz="1100" dirty="0"/>
          </a:p>
        </p:txBody>
      </p:sp>
      <p:sp>
        <p:nvSpPr>
          <p:cNvPr id="35" name="Text 33"/>
          <p:cNvSpPr txBox="1"/>
          <p:nvPr/>
        </p:nvSpPr>
        <p:spPr>
          <a:xfrm>
            <a:off x="8823960" y="3026664"/>
            <a:ext cx="2926080" cy="320040"/>
          </a:xfrm>
          <a:prstGeom prst="rect">
            <a:avLst/>
          </a:prstGeom>
          <a:noFill/>
          <a:ln/>
        </p:spPr>
        <p:txBody>
          <a:bodyPr wrap="square" rtlCol="0" anchor="ctr"/>
          <a:lstStyle/>
          <a:p>
            <a:pPr marL="0" indent="0">
              <a:buNone/>
            </a:pPr>
            <a:r>
              <a:rPr lang="en-US" sz="1100" b="1" dirty="0">
                <a:solidFill>
                  <a:srgbClr val="E67E22"/>
                </a:solidFill>
                <a:latin typeface="Calibri" pitchFamily="34" charset="0"/>
                <a:ea typeface="Calibri" pitchFamily="34" charset="-122"/>
                <a:cs typeface="Calibri" pitchFamily="34" charset="-120"/>
              </a:rPr>
              <a:t>Débil</a:t>
            </a:r>
            <a:endParaRPr lang="en-US" sz="1100" dirty="0"/>
          </a:p>
        </p:txBody>
      </p:sp>
      <p:sp>
        <p:nvSpPr>
          <p:cNvPr id="36" name="Shape 34"/>
          <p:cNvSpPr/>
          <p:nvPr/>
        </p:nvSpPr>
        <p:spPr>
          <a:xfrm>
            <a:off x="6035040" y="3456432"/>
            <a:ext cx="502920" cy="384048"/>
          </a:xfrm>
          <a:prstGeom prst="rect">
            <a:avLst/>
          </a:prstGeom>
          <a:solidFill>
            <a:srgbClr val="C0392B"/>
          </a:solidFill>
          <a:ln/>
        </p:spPr>
        <p:txBody>
          <a:bodyPr/>
          <a:lstStyle/>
          <a:p>
            <a:endParaRPr lang="es-MX"/>
          </a:p>
        </p:txBody>
      </p:sp>
      <p:sp>
        <p:nvSpPr>
          <p:cNvPr id="37" name="Text 35"/>
          <p:cNvSpPr txBox="1"/>
          <p:nvPr/>
        </p:nvSpPr>
        <p:spPr>
          <a:xfrm>
            <a:off x="6629400" y="3502152"/>
            <a:ext cx="219456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 &lt; 0.2</a:t>
            </a:r>
            <a:endParaRPr lang="en-US" sz="1100" dirty="0"/>
          </a:p>
        </p:txBody>
      </p:sp>
      <p:sp>
        <p:nvSpPr>
          <p:cNvPr id="38" name="Text 36"/>
          <p:cNvSpPr txBox="1"/>
          <p:nvPr/>
        </p:nvSpPr>
        <p:spPr>
          <a:xfrm>
            <a:off x="8823960" y="3502152"/>
            <a:ext cx="2926080" cy="320040"/>
          </a:xfrm>
          <a:prstGeom prst="rect">
            <a:avLst/>
          </a:prstGeom>
          <a:noFill/>
          <a:ln/>
        </p:spPr>
        <p:txBody>
          <a:bodyPr wrap="square"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Muy débil</a:t>
            </a:r>
            <a:endParaRPr lang="en-US" sz="1100" dirty="0"/>
          </a:p>
        </p:txBody>
      </p:sp>
      <p:sp>
        <p:nvSpPr>
          <p:cNvPr id="39" name="Shape 37"/>
          <p:cNvSpPr/>
          <p:nvPr/>
        </p:nvSpPr>
        <p:spPr>
          <a:xfrm>
            <a:off x="6035040" y="4160520"/>
            <a:ext cx="5806440" cy="320040"/>
          </a:xfrm>
          <a:prstGeom prst="rect">
            <a:avLst/>
          </a:prstGeom>
          <a:solidFill>
            <a:srgbClr val="1B3A6B"/>
          </a:solidFill>
          <a:ln/>
        </p:spPr>
        <p:txBody>
          <a:bodyPr/>
          <a:lstStyle/>
          <a:p>
            <a:endParaRPr lang="es-MX"/>
          </a:p>
        </p:txBody>
      </p:sp>
      <p:sp>
        <p:nvSpPr>
          <p:cNvPr id="40" name="Text 38"/>
          <p:cNvSpPr txBox="1"/>
          <p:nvPr/>
        </p:nvSpPr>
        <p:spPr>
          <a:xfrm>
            <a:off x="6126480" y="4178808"/>
            <a:ext cx="566928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¿Pearson o Spearman?</a:t>
            </a:r>
            <a:endParaRPr lang="en-US" sz="1100" dirty="0"/>
          </a:p>
        </p:txBody>
      </p:sp>
      <p:sp>
        <p:nvSpPr>
          <p:cNvPr id="41" name="Text 39"/>
          <p:cNvSpPr txBox="1"/>
          <p:nvPr/>
        </p:nvSpPr>
        <p:spPr>
          <a:xfrm>
            <a:off x="6126480" y="4572000"/>
            <a:ext cx="274320" cy="320040"/>
          </a:xfrm>
          <a:prstGeom prst="rect">
            <a:avLst/>
          </a:prstGeom>
          <a:noFill/>
          <a:ln/>
        </p:spPr>
        <p:txBody>
          <a:bodyPr wrap="square" rtlCol="0" anchor="ctr"/>
          <a:lstStyle/>
          <a:p>
            <a:pPr marL="0" indent="0">
              <a:buNone/>
            </a:pPr>
            <a:r>
              <a:rPr lang="en-US" sz="1100" b="1" dirty="0">
                <a:solidFill>
                  <a:srgbClr val="2A7ABF"/>
                </a:solidFill>
                <a:latin typeface="Calibri" pitchFamily="34" charset="0"/>
                <a:ea typeface="Calibri" pitchFamily="34" charset="-122"/>
                <a:cs typeface="Calibri" pitchFamily="34" charset="-120"/>
              </a:rPr>
              <a:t>•</a:t>
            </a:r>
            <a:endParaRPr lang="en-US" sz="1100" dirty="0"/>
          </a:p>
        </p:txBody>
      </p:sp>
      <p:sp>
        <p:nvSpPr>
          <p:cNvPr id="42" name="Text 40"/>
          <p:cNvSpPr txBox="1"/>
          <p:nvPr/>
        </p:nvSpPr>
        <p:spPr>
          <a:xfrm>
            <a:off x="6355080" y="4572000"/>
            <a:ext cx="4572000" cy="32004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Relación lineal, sin outliers extremos</a:t>
            </a:r>
            <a:endParaRPr lang="en-US" sz="1000" dirty="0"/>
          </a:p>
        </p:txBody>
      </p:sp>
      <p:sp>
        <p:nvSpPr>
          <p:cNvPr id="43" name="Shape 41"/>
          <p:cNvSpPr/>
          <p:nvPr/>
        </p:nvSpPr>
        <p:spPr>
          <a:xfrm>
            <a:off x="10954512" y="4562856"/>
            <a:ext cx="822960" cy="320040"/>
          </a:xfrm>
          <a:prstGeom prst="rect">
            <a:avLst/>
          </a:prstGeom>
          <a:solidFill>
            <a:srgbClr val="2A7ABF">
              <a:alpha val="20000"/>
            </a:srgbClr>
          </a:solidFill>
          <a:ln w="12700">
            <a:solidFill>
              <a:srgbClr val="2A7ABF"/>
            </a:solidFill>
            <a:prstDash val="solid"/>
          </a:ln>
        </p:spPr>
        <p:txBody>
          <a:bodyPr/>
          <a:lstStyle/>
          <a:p>
            <a:endParaRPr lang="es-MX"/>
          </a:p>
        </p:txBody>
      </p:sp>
      <p:sp>
        <p:nvSpPr>
          <p:cNvPr id="44" name="Text 42"/>
          <p:cNvSpPr txBox="1"/>
          <p:nvPr/>
        </p:nvSpPr>
        <p:spPr>
          <a:xfrm>
            <a:off x="10954512" y="4581144"/>
            <a:ext cx="822960" cy="274320"/>
          </a:xfrm>
          <a:prstGeom prst="rect">
            <a:avLst/>
          </a:prstGeom>
          <a:noFill/>
          <a:ln/>
        </p:spPr>
        <p:txBody>
          <a:bodyPr wrap="square" rtlCol="0" anchor="ctr"/>
          <a:lstStyle/>
          <a:p>
            <a:pPr marL="0" indent="0" algn="ctr">
              <a:buNone/>
            </a:pPr>
            <a:r>
              <a:rPr lang="en-US" sz="850" b="1" dirty="0">
                <a:solidFill>
                  <a:srgbClr val="2A7ABF"/>
                </a:solidFill>
                <a:latin typeface="Calibri" pitchFamily="34" charset="0"/>
                <a:ea typeface="Calibri" pitchFamily="34" charset="-122"/>
                <a:cs typeface="Calibri" pitchFamily="34" charset="-120"/>
              </a:rPr>
              <a:t>Pearson</a:t>
            </a:r>
            <a:endParaRPr lang="en-US" sz="850" dirty="0"/>
          </a:p>
        </p:txBody>
      </p:sp>
      <p:sp>
        <p:nvSpPr>
          <p:cNvPr id="45" name="Text 43"/>
          <p:cNvSpPr txBox="1"/>
          <p:nvPr/>
        </p:nvSpPr>
        <p:spPr>
          <a:xfrm>
            <a:off x="6126480" y="5010912"/>
            <a:ext cx="274320" cy="320040"/>
          </a:xfrm>
          <a:prstGeom prst="rect">
            <a:avLst/>
          </a:prstGeom>
          <a:noFill/>
          <a:ln/>
        </p:spPr>
        <p:txBody>
          <a:bodyPr wrap="square" rtlCol="0" anchor="ctr"/>
          <a:lstStyle/>
          <a:p>
            <a:pPr marL="0" indent="0">
              <a:buNone/>
            </a:pPr>
            <a:r>
              <a:rPr lang="en-US" sz="1100" b="1" dirty="0">
                <a:solidFill>
                  <a:srgbClr val="2A7ABF"/>
                </a:solidFill>
                <a:latin typeface="Calibri" pitchFamily="34" charset="0"/>
                <a:ea typeface="Calibri" pitchFamily="34" charset="-122"/>
                <a:cs typeface="Calibri" pitchFamily="34" charset="-120"/>
              </a:rPr>
              <a:t>•</a:t>
            </a:r>
            <a:endParaRPr lang="en-US" sz="1100" dirty="0"/>
          </a:p>
        </p:txBody>
      </p:sp>
      <p:sp>
        <p:nvSpPr>
          <p:cNvPr id="46" name="Text 44"/>
          <p:cNvSpPr txBox="1"/>
          <p:nvPr/>
        </p:nvSpPr>
        <p:spPr>
          <a:xfrm>
            <a:off x="6355080" y="5010912"/>
            <a:ext cx="4572000" cy="32004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Relación monótona no lineal (p. ej. PIB log vs. GINI)</a:t>
            </a:r>
            <a:endParaRPr lang="en-US" sz="1000" dirty="0"/>
          </a:p>
        </p:txBody>
      </p:sp>
      <p:sp>
        <p:nvSpPr>
          <p:cNvPr id="47" name="Shape 45"/>
          <p:cNvSpPr/>
          <p:nvPr/>
        </p:nvSpPr>
        <p:spPr>
          <a:xfrm>
            <a:off x="10954512" y="5001768"/>
            <a:ext cx="822960" cy="320040"/>
          </a:xfrm>
          <a:prstGeom prst="rect">
            <a:avLst/>
          </a:prstGeom>
          <a:solidFill>
            <a:srgbClr val="6A3D9A">
              <a:alpha val="20000"/>
            </a:srgbClr>
          </a:solidFill>
          <a:ln w="12700">
            <a:solidFill>
              <a:srgbClr val="6A3D9A"/>
            </a:solidFill>
            <a:prstDash val="solid"/>
          </a:ln>
        </p:spPr>
        <p:txBody>
          <a:bodyPr/>
          <a:lstStyle/>
          <a:p>
            <a:endParaRPr lang="es-MX"/>
          </a:p>
        </p:txBody>
      </p:sp>
      <p:sp>
        <p:nvSpPr>
          <p:cNvPr id="48" name="Text 46"/>
          <p:cNvSpPr txBox="1"/>
          <p:nvPr/>
        </p:nvSpPr>
        <p:spPr>
          <a:xfrm>
            <a:off x="10954512" y="5020056"/>
            <a:ext cx="822960" cy="274320"/>
          </a:xfrm>
          <a:prstGeom prst="rect">
            <a:avLst/>
          </a:prstGeom>
          <a:noFill/>
          <a:ln/>
        </p:spPr>
        <p:txBody>
          <a:bodyPr wrap="square" rtlCol="0" anchor="ctr"/>
          <a:lstStyle/>
          <a:p>
            <a:pPr marL="0" indent="0" algn="ctr">
              <a:buNone/>
            </a:pPr>
            <a:r>
              <a:rPr lang="en-US" sz="850" b="1" dirty="0">
                <a:solidFill>
                  <a:srgbClr val="6A3D9A"/>
                </a:solidFill>
                <a:latin typeface="Calibri" pitchFamily="34" charset="0"/>
                <a:ea typeface="Calibri" pitchFamily="34" charset="-122"/>
                <a:cs typeface="Calibri" pitchFamily="34" charset="-120"/>
              </a:rPr>
              <a:t>Spearman</a:t>
            </a:r>
            <a:endParaRPr lang="en-US" sz="850" dirty="0"/>
          </a:p>
        </p:txBody>
      </p:sp>
      <p:sp>
        <p:nvSpPr>
          <p:cNvPr id="49" name="Text 47"/>
          <p:cNvSpPr txBox="1"/>
          <p:nvPr/>
        </p:nvSpPr>
        <p:spPr>
          <a:xfrm>
            <a:off x="6126480" y="5449824"/>
            <a:ext cx="274320" cy="320040"/>
          </a:xfrm>
          <a:prstGeom prst="rect">
            <a:avLst/>
          </a:prstGeom>
          <a:noFill/>
          <a:ln/>
        </p:spPr>
        <p:txBody>
          <a:bodyPr wrap="square" rtlCol="0" anchor="ctr"/>
          <a:lstStyle/>
          <a:p>
            <a:pPr marL="0" indent="0">
              <a:buNone/>
            </a:pPr>
            <a:r>
              <a:rPr lang="en-US" sz="1100" b="1" dirty="0">
                <a:solidFill>
                  <a:srgbClr val="2A7ABF"/>
                </a:solidFill>
                <a:latin typeface="Calibri" pitchFamily="34" charset="0"/>
                <a:ea typeface="Calibri" pitchFamily="34" charset="-122"/>
                <a:cs typeface="Calibri" pitchFamily="34" charset="-120"/>
              </a:rPr>
              <a:t>•</a:t>
            </a:r>
            <a:endParaRPr lang="en-US" sz="1100" dirty="0"/>
          </a:p>
        </p:txBody>
      </p:sp>
      <p:sp>
        <p:nvSpPr>
          <p:cNvPr id="50" name="Text 48"/>
          <p:cNvSpPr txBox="1"/>
          <p:nvPr/>
        </p:nvSpPr>
        <p:spPr>
          <a:xfrm>
            <a:off x="6355080" y="5449824"/>
            <a:ext cx="4572000" cy="32004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Datos con outliers que distorsionan Pearson</a:t>
            </a:r>
            <a:endParaRPr lang="en-US" sz="1000" dirty="0"/>
          </a:p>
        </p:txBody>
      </p:sp>
      <p:sp>
        <p:nvSpPr>
          <p:cNvPr id="51" name="Shape 49"/>
          <p:cNvSpPr/>
          <p:nvPr/>
        </p:nvSpPr>
        <p:spPr>
          <a:xfrm>
            <a:off x="10954512" y="5440680"/>
            <a:ext cx="822960" cy="320040"/>
          </a:xfrm>
          <a:prstGeom prst="rect">
            <a:avLst/>
          </a:prstGeom>
          <a:solidFill>
            <a:srgbClr val="6A3D9A">
              <a:alpha val="20000"/>
            </a:srgbClr>
          </a:solidFill>
          <a:ln w="12700">
            <a:solidFill>
              <a:srgbClr val="6A3D9A"/>
            </a:solidFill>
            <a:prstDash val="solid"/>
          </a:ln>
        </p:spPr>
        <p:txBody>
          <a:bodyPr/>
          <a:lstStyle/>
          <a:p>
            <a:endParaRPr lang="es-MX"/>
          </a:p>
        </p:txBody>
      </p:sp>
      <p:sp>
        <p:nvSpPr>
          <p:cNvPr id="52" name="Text 50"/>
          <p:cNvSpPr txBox="1"/>
          <p:nvPr/>
        </p:nvSpPr>
        <p:spPr>
          <a:xfrm>
            <a:off x="10954512" y="5458968"/>
            <a:ext cx="822960" cy="274320"/>
          </a:xfrm>
          <a:prstGeom prst="rect">
            <a:avLst/>
          </a:prstGeom>
          <a:noFill/>
          <a:ln/>
        </p:spPr>
        <p:txBody>
          <a:bodyPr wrap="square" rtlCol="0" anchor="ctr"/>
          <a:lstStyle/>
          <a:p>
            <a:pPr marL="0" indent="0" algn="ctr">
              <a:buNone/>
            </a:pPr>
            <a:r>
              <a:rPr lang="en-US" sz="850" b="1" dirty="0">
                <a:solidFill>
                  <a:srgbClr val="6A3D9A"/>
                </a:solidFill>
                <a:latin typeface="Calibri" pitchFamily="34" charset="0"/>
                <a:ea typeface="Calibri" pitchFamily="34" charset="-122"/>
                <a:cs typeface="Calibri" pitchFamily="34" charset="-120"/>
              </a:rPr>
              <a:t>Spearman</a:t>
            </a:r>
            <a:endParaRPr lang="en-US" sz="850" dirty="0"/>
          </a:p>
        </p:txBody>
      </p:sp>
      <p:sp>
        <p:nvSpPr>
          <p:cNvPr id="53" name="Text 51"/>
          <p:cNvSpPr txBox="1"/>
          <p:nvPr/>
        </p:nvSpPr>
        <p:spPr>
          <a:xfrm>
            <a:off x="6126480" y="5888736"/>
            <a:ext cx="274320" cy="320040"/>
          </a:xfrm>
          <a:prstGeom prst="rect">
            <a:avLst/>
          </a:prstGeom>
          <a:noFill/>
          <a:ln/>
        </p:spPr>
        <p:txBody>
          <a:bodyPr wrap="square" rtlCol="0" anchor="ctr"/>
          <a:lstStyle/>
          <a:p>
            <a:pPr marL="0" indent="0">
              <a:buNone/>
            </a:pPr>
            <a:r>
              <a:rPr lang="en-US" sz="1100" b="1" dirty="0">
                <a:solidFill>
                  <a:srgbClr val="2A7ABF"/>
                </a:solidFill>
                <a:latin typeface="Calibri" pitchFamily="34" charset="0"/>
                <a:ea typeface="Calibri" pitchFamily="34" charset="-122"/>
                <a:cs typeface="Calibri" pitchFamily="34" charset="-120"/>
              </a:rPr>
              <a:t>•</a:t>
            </a:r>
            <a:endParaRPr lang="en-US" sz="1100" dirty="0"/>
          </a:p>
        </p:txBody>
      </p:sp>
      <p:sp>
        <p:nvSpPr>
          <p:cNvPr id="54" name="Text 52"/>
          <p:cNvSpPr txBox="1"/>
          <p:nvPr/>
        </p:nvSpPr>
        <p:spPr>
          <a:xfrm>
            <a:off x="6355080" y="5888736"/>
            <a:ext cx="4572000" cy="32004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Variables ordinales (rankings, encuestas tipo Likert)</a:t>
            </a:r>
            <a:endParaRPr lang="en-US" sz="1000" dirty="0"/>
          </a:p>
        </p:txBody>
      </p:sp>
      <p:sp>
        <p:nvSpPr>
          <p:cNvPr id="55" name="Shape 53"/>
          <p:cNvSpPr/>
          <p:nvPr/>
        </p:nvSpPr>
        <p:spPr>
          <a:xfrm>
            <a:off x="10954512" y="5879592"/>
            <a:ext cx="822960" cy="320040"/>
          </a:xfrm>
          <a:prstGeom prst="rect">
            <a:avLst/>
          </a:prstGeom>
          <a:solidFill>
            <a:srgbClr val="6A3D9A">
              <a:alpha val="20000"/>
            </a:srgbClr>
          </a:solidFill>
          <a:ln w="12700">
            <a:solidFill>
              <a:srgbClr val="6A3D9A"/>
            </a:solidFill>
            <a:prstDash val="solid"/>
          </a:ln>
        </p:spPr>
        <p:txBody>
          <a:bodyPr/>
          <a:lstStyle/>
          <a:p>
            <a:endParaRPr lang="es-MX"/>
          </a:p>
        </p:txBody>
      </p:sp>
      <p:sp>
        <p:nvSpPr>
          <p:cNvPr id="56" name="Text 54"/>
          <p:cNvSpPr txBox="1"/>
          <p:nvPr/>
        </p:nvSpPr>
        <p:spPr>
          <a:xfrm>
            <a:off x="10954512" y="5897880"/>
            <a:ext cx="822960" cy="274320"/>
          </a:xfrm>
          <a:prstGeom prst="rect">
            <a:avLst/>
          </a:prstGeom>
          <a:noFill/>
          <a:ln/>
        </p:spPr>
        <p:txBody>
          <a:bodyPr wrap="square" rtlCol="0" anchor="ctr"/>
          <a:lstStyle/>
          <a:p>
            <a:pPr marL="0" indent="0" algn="ctr">
              <a:buNone/>
            </a:pPr>
            <a:r>
              <a:rPr lang="en-US" sz="850" b="1" dirty="0">
                <a:solidFill>
                  <a:srgbClr val="6A3D9A"/>
                </a:solidFill>
                <a:latin typeface="Calibri" pitchFamily="34" charset="0"/>
                <a:ea typeface="Calibri" pitchFamily="34" charset="-122"/>
                <a:cs typeface="Calibri" pitchFamily="34" charset="-120"/>
              </a:rPr>
              <a:t>Spearman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txBody>
          <a:bodyPr/>
          <a:lstStyle/>
          <a:p>
            <a:endParaRPr lang="es-MX"/>
          </a:p>
        </p:txBody>
      </p:sp>
      <p:sp>
        <p:nvSpPr>
          <p:cNvPr id="3" name="Text 1"/>
          <p:cNvSpPr txBox="1"/>
          <p:nvPr/>
        </p:nvSpPr>
        <p:spPr>
          <a:xfrm>
            <a:off x="228600" y="36576"/>
            <a:ext cx="8229600" cy="27432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marL="0" indent="0" algn="r">
              <a:buNone/>
            </a:pPr>
            <a:r>
              <a:rPr lang="en-US" sz="900" b="1" dirty="0">
                <a:solidFill>
                  <a:srgbClr val="E8A020"/>
                </a:solidFill>
                <a:latin typeface="Calibri" pitchFamily="34" charset="0"/>
                <a:ea typeface="Calibri" pitchFamily="34" charset="-122"/>
                <a:cs typeface="Calibri" pitchFamily="34" charset="-120"/>
              </a:rPr>
              <a:t>Tema 2.2</a:t>
            </a:r>
            <a:endParaRPr lang="en-US" sz="900" dirty="0"/>
          </a:p>
        </p:txBody>
      </p:sp>
      <p:sp>
        <p:nvSpPr>
          <p:cNvPr id="5" name="Shape 3"/>
          <p:cNvSpPr/>
          <p:nvPr/>
        </p:nvSpPr>
        <p:spPr>
          <a:xfrm>
            <a:off x="0" y="6565392"/>
            <a:ext cx="12161520" cy="292608"/>
          </a:xfrm>
          <a:prstGeom prst="rect">
            <a:avLst/>
          </a:prstGeom>
          <a:solidFill>
            <a:srgbClr val="1B3A6B"/>
          </a:solidFill>
          <a:ln/>
        </p:spPr>
        <p:txBody>
          <a:bodyPr/>
          <a:lstStyle/>
          <a:p>
            <a:endParaRPr lang="es-MX"/>
          </a:p>
        </p:txBody>
      </p:sp>
      <p:sp>
        <p:nvSpPr>
          <p:cNvPr id="6" name="Text 4"/>
          <p:cNvSpPr txBox="1"/>
          <p:nvPr/>
        </p:nvSpPr>
        <p:spPr>
          <a:xfrm>
            <a:off x="228600" y="6592824"/>
            <a:ext cx="73152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7" name="Text 5"/>
          <p:cNvSpPr txBox="1"/>
          <p:nvPr/>
        </p:nvSpPr>
        <p:spPr>
          <a:xfrm>
            <a:off x="8686800" y="6592824"/>
            <a:ext cx="3291840" cy="228600"/>
          </a:xfrm>
          <a:prstGeom prst="rect">
            <a:avLst/>
          </a:prstGeom>
          <a:noFill/>
          <a:ln/>
        </p:spPr>
        <p:txBody>
          <a:bodyPr wrap="square" rtlCol="0" anchor="ctr"/>
          <a:lstStyle/>
          <a:p>
            <a:pPr marL="0" indent="0" algn="r">
              <a:buNone/>
            </a:pPr>
            <a:r>
              <a:rPr lang="en-US" sz="800" dirty="0">
                <a:solidFill>
                  <a:srgbClr val="E8A020"/>
                </a:solidFill>
                <a:latin typeface="Calibri" pitchFamily="34" charset="0"/>
                <a:ea typeface="Calibri" pitchFamily="34" charset="-122"/>
                <a:cs typeface="Calibri" pitchFamily="34" charset="-120"/>
              </a:rPr>
              <a:t>Banco Mundial WDI</a:t>
            </a:r>
            <a:endParaRPr lang="en-US" sz="800" dirty="0"/>
          </a:p>
        </p:txBody>
      </p:sp>
      <p:sp>
        <p:nvSpPr>
          <p:cNvPr id="8" name="Shape 6"/>
          <p:cNvSpPr/>
          <p:nvPr/>
        </p:nvSpPr>
        <p:spPr>
          <a:xfrm>
            <a:off x="320040" y="364724"/>
            <a:ext cx="4315968" cy="256032"/>
          </a:xfrm>
          <a:prstGeom prst="roundRect">
            <a:avLst>
              <a:gd name="adj" fmla="val 17857"/>
            </a:avLst>
          </a:prstGeom>
          <a:solidFill>
            <a:srgbClr val="2A7ABF"/>
          </a:solidFill>
          <a:ln/>
        </p:spPr>
        <p:txBody>
          <a:bodyPr/>
          <a:lstStyle/>
          <a:p>
            <a:endParaRPr lang="es-MX"/>
          </a:p>
        </p:txBody>
      </p:sp>
      <p:sp>
        <p:nvSpPr>
          <p:cNvPr id="9" name="Text 7"/>
          <p:cNvSpPr txBox="1"/>
          <p:nvPr/>
        </p:nvSpPr>
        <p:spPr>
          <a:xfrm>
            <a:off x="365760" y="383012"/>
            <a:ext cx="3378104" cy="21945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Numérica × Numérica — ejemplo real</a:t>
            </a:r>
            <a:endParaRPr lang="en-US" sz="850" dirty="0"/>
          </a:p>
        </p:txBody>
      </p:sp>
      <p:sp>
        <p:nvSpPr>
          <p:cNvPr id="10" name="Text 8"/>
          <p:cNvSpPr txBox="1"/>
          <p:nvPr/>
        </p:nvSpPr>
        <p:spPr>
          <a:xfrm>
            <a:off x="320040" y="727376"/>
            <a:ext cx="8660058" cy="347472"/>
          </a:xfrm>
          <a:prstGeom prst="rect">
            <a:avLst/>
          </a:prstGeom>
          <a:noFill/>
          <a:ln/>
        </p:spPr>
        <p:txBody>
          <a:bodyPr wrap="square" rtlCol="0" anchor="ctr"/>
          <a:lstStyle/>
          <a:p>
            <a:pPr marL="0" indent="0">
              <a:buNone/>
            </a:pPr>
            <a:r>
              <a:rPr lang="en-US" sz="2500" b="1" dirty="0">
                <a:solidFill>
                  <a:srgbClr val="1B3A6B"/>
                </a:solidFill>
                <a:latin typeface="Calibri" pitchFamily="34" charset="0"/>
                <a:ea typeface="Calibri" pitchFamily="34" charset="-122"/>
                <a:cs typeface="Calibri" pitchFamily="34" charset="-120"/>
              </a:rPr>
              <a:t>Curva de Okun: PIB vs. Desempleo</a:t>
            </a:r>
            <a:endParaRPr lang="en-US" sz="2500" dirty="0"/>
          </a:p>
        </p:txBody>
      </p:sp>
      <p:sp>
        <p:nvSpPr>
          <p:cNvPr id="11" name="Text 9"/>
          <p:cNvSpPr txBox="1"/>
          <p:nvPr/>
        </p:nvSpPr>
        <p:spPr>
          <a:xfrm>
            <a:off x="320040" y="1149896"/>
            <a:ext cx="7315200" cy="27432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Banco Mundial — 27 países, año más reciente disponible</a:t>
            </a:r>
            <a:endParaRPr lang="en-US" sz="1100" dirty="0"/>
          </a:p>
        </p:txBody>
      </p:sp>
      <p:sp>
        <p:nvSpPr>
          <p:cNvPr id="12" name="Shape 10"/>
          <p:cNvSpPr/>
          <p:nvPr/>
        </p:nvSpPr>
        <p:spPr>
          <a:xfrm>
            <a:off x="320040" y="1558790"/>
            <a:ext cx="4754880" cy="4050099"/>
          </a:xfrm>
          <a:prstGeom prst="rect">
            <a:avLst/>
          </a:prstGeom>
          <a:solidFill>
            <a:srgbClr val="FFFFFF"/>
          </a:solidFill>
          <a:ln w="12700">
            <a:solidFill>
              <a:srgbClr val="D1D5DB"/>
            </a:solidFill>
            <a:prstDash val="solid"/>
          </a:ln>
        </p:spPr>
        <p:txBody>
          <a:bodyPr/>
          <a:lstStyle/>
          <a:p>
            <a:endParaRPr lang="es-MX"/>
          </a:p>
        </p:txBody>
      </p:sp>
      <p:sp>
        <p:nvSpPr>
          <p:cNvPr id="13" name="Text 11"/>
          <p:cNvSpPr txBox="1"/>
          <p:nvPr/>
        </p:nvSpPr>
        <p:spPr>
          <a:xfrm>
            <a:off x="457200" y="1650231"/>
            <a:ext cx="4480560" cy="384048"/>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Ley de Okun (Arthur Okun, 1962)</a:t>
            </a:r>
            <a:endParaRPr lang="en-US" sz="1300" dirty="0"/>
          </a:p>
        </p:txBody>
      </p:sp>
      <p:sp>
        <p:nvSpPr>
          <p:cNvPr id="14" name="Text 12"/>
          <p:cNvSpPr txBox="1"/>
          <p:nvPr/>
        </p:nvSpPr>
        <p:spPr>
          <a:xfrm>
            <a:off x="457200" y="2043423"/>
            <a:ext cx="4480560" cy="41148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Relación empírica entre el crecimiento del PIB y el cambio en la tasa de desempleo:</a:t>
            </a:r>
            <a:endParaRPr lang="en-US" sz="1050" dirty="0"/>
          </a:p>
        </p:txBody>
      </p:sp>
      <p:sp>
        <p:nvSpPr>
          <p:cNvPr id="15" name="Shape 13"/>
          <p:cNvSpPr/>
          <p:nvPr/>
        </p:nvSpPr>
        <p:spPr>
          <a:xfrm>
            <a:off x="548640" y="2518911"/>
            <a:ext cx="4389120" cy="594360"/>
          </a:xfrm>
          <a:prstGeom prst="rect">
            <a:avLst/>
          </a:prstGeom>
          <a:solidFill>
            <a:srgbClr val="1B3A6B"/>
          </a:solidFill>
          <a:ln w="12700">
            <a:solidFill>
              <a:srgbClr val="1B3A6B"/>
            </a:solidFill>
            <a:prstDash val="solid"/>
          </a:ln>
        </p:spPr>
        <p:txBody>
          <a:bodyPr/>
          <a:lstStyle/>
          <a:p>
            <a:endParaRPr lang="es-MX"/>
          </a:p>
        </p:txBody>
      </p:sp>
      <p:sp>
        <p:nvSpPr>
          <p:cNvPr id="16" name="Text 14"/>
          <p:cNvSpPr txBox="1"/>
          <p:nvPr/>
        </p:nvSpPr>
        <p:spPr>
          <a:xfrm>
            <a:off x="640080" y="2573775"/>
            <a:ext cx="4206240" cy="475488"/>
          </a:xfrm>
          <a:prstGeom prst="rect">
            <a:avLst/>
          </a:prstGeom>
          <a:noFill/>
          <a:ln/>
        </p:spPr>
        <p:txBody>
          <a:bodyPr wrap="square" rtlCol="0" anchor="ctr"/>
          <a:lstStyle/>
          <a:p>
            <a:pPr marL="0" indent="0">
              <a:buNone/>
            </a:pPr>
            <a:r>
              <a:rPr lang="en-US" sz="1100" b="1" dirty="0">
                <a:solidFill>
                  <a:srgbClr val="E8A020"/>
                </a:solidFill>
                <a:latin typeface="Calibri" pitchFamily="34" charset="0"/>
                <a:ea typeface="Calibri" pitchFamily="34" charset="-122"/>
                <a:cs typeface="Calibri" pitchFamily="34" charset="-120"/>
              </a:rPr>
              <a:t>Si el PIB crece → el desempleo baja</a:t>
            </a:r>
            <a:endParaRPr lang="en-US" sz="1100" dirty="0"/>
          </a:p>
          <a:p>
            <a:pPr marL="0" indent="0">
              <a:buNone/>
            </a:pPr>
            <a:r>
              <a:rPr lang="en-US" sz="1100" b="1" dirty="0">
                <a:solidFill>
                  <a:srgbClr val="E8A020"/>
                </a:solidFill>
                <a:latin typeface="Calibri" pitchFamily="34" charset="0"/>
                <a:ea typeface="Calibri" pitchFamily="34" charset="-122"/>
                <a:cs typeface="Calibri" pitchFamily="34" charset="-120"/>
              </a:rPr>
              <a:t>Correlación esperada: NEGATIVA</a:t>
            </a:r>
            <a:endParaRPr lang="en-US" sz="1100" dirty="0"/>
          </a:p>
        </p:txBody>
      </p:sp>
      <p:sp>
        <p:nvSpPr>
          <p:cNvPr id="17" name="Shape 15"/>
          <p:cNvSpPr/>
          <p:nvPr/>
        </p:nvSpPr>
        <p:spPr>
          <a:xfrm>
            <a:off x="548640" y="3250431"/>
            <a:ext cx="4297680" cy="621792"/>
          </a:xfrm>
          <a:prstGeom prst="rect">
            <a:avLst/>
          </a:prstGeom>
          <a:solidFill>
            <a:srgbClr val="2A7ABF">
              <a:alpha val="12000"/>
            </a:srgbClr>
          </a:solidFill>
          <a:ln w="12700">
            <a:solidFill>
              <a:srgbClr val="2A7ABF"/>
            </a:solidFill>
            <a:prstDash val="solid"/>
          </a:ln>
        </p:spPr>
        <p:txBody>
          <a:bodyPr/>
          <a:lstStyle/>
          <a:p>
            <a:endParaRPr lang="es-MX"/>
          </a:p>
        </p:txBody>
      </p:sp>
      <p:sp>
        <p:nvSpPr>
          <p:cNvPr id="18" name="Text 16"/>
          <p:cNvSpPr txBox="1"/>
          <p:nvPr/>
        </p:nvSpPr>
        <p:spPr>
          <a:xfrm>
            <a:off x="640080" y="3287007"/>
            <a:ext cx="1463040" cy="548640"/>
          </a:xfrm>
          <a:prstGeom prst="rect">
            <a:avLst/>
          </a:prstGeom>
          <a:noFill/>
          <a:ln/>
        </p:spPr>
        <p:txBody>
          <a:bodyPr wrap="square" rtlCol="0" anchor="ctr"/>
          <a:lstStyle/>
          <a:p>
            <a:pPr marL="0" indent="0">
              <a:buNone/>
            </a:pPr>
            <a:r>
              <a:rPr lang="en-US" sz="1400" b="1" dirty="0">
                <a:solidFill>
                  <a:srgbClr val="2A7ABF"/>
                </a:solidFill>
                <a:latin typeface="Calibri" pitchFamily="34" charset="0"/>
                <a:ea typeface="Calibri" pitchFamily="34" charset="-122"/>
                <a:cs typeface="Calibri" pitchFamily="34" charset="-120"/>
              </a:rPr>
              <a:t>r ≈ −0.45</a:t>
            </a:r>
            <a:endParaRPr lang="en-US" sz="1400" dirty="0"/>
          </a:p>
        </p:txBody>
      </p:sp>
      <p:sp>
        <p:nvSpPr>
          <p:cNvPr id="19" name="Text 17"/>
          <p:cNvSpPr txBox="1"/>
          <p:nvPr/>
        </p:nvSpPr>
        <p:spPr>
          <a:xfrm>
            <a:off x="2103120" y="3360159"/>
            <a:ext cx="2651760" cy="41148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Correlación esperada</a:t>
            </a:r>
            <a:endParaRPr lang="en-US" sz="1000" dirty="0"/>
          </a:p>
        </p:txBody>
      </p:sp>
      <p:sp>
        <p:nvSpPr>
          <p:cNvPr id="20" name="Shape 18"/>
          <p:cNvSpPr/>
          <p:nvPr/>
        </p:nvSpPr>
        <p:spPr>
          <a:xfrm>
            <a:off x="548640" y="3963663"/>
            <a:ext cx="4297680" cy="621792"/>
          </a:xfrm>
          <a:prstGeom prst="rect">
            <a:avLst/>
          </a:prstGeom>
          <a:solidFill>
            <a:srgbClr val="6A3D9A">
              <a:alpha val="12000"/>
            </a:srgbClr>
          </a:solidFill>
          <a:ln w="12700">
            <a:solidFill>
              <a:srgbClr val="6A3D9A"/>
            </a:solidFill>
            <a:prstDash val="solid"/>
          </a:ln>
        </p:spPr>
        <p:txBody>
          <a:bodyPr/>
          <a:lstStyle/>
          <a:p>
            <a:endParaRPr lang="es-MX"/>
          </a:p>
        </p:txBody>
      </p:sp>
      <p:sp>
        <p:nvSpPr>
          <p:cNvPr id="21" name="Text 19"/>
          <p:cNvSpPr txBox="1"/>
          <p:nvPr/>
        </p:nvSpPr>
        <p:spPr>
          <a:xfrm>
            <a:off x="640080" y="4000239"/>
            <a:ext cx="1463040" cy="548640"/>
          </a:xfrm>
          <a:prstGeom prst="rect">
            <a:avLst/>
          </a:prstGeom>
          <a:noFill/>
          <a:ln/>
        </p:spPr>
        <p:txBody>
          <a:bodyPr wrap="square" rtlCol="0" anchor="ctr"/>
          <a:lstStyle/>
          <a:p>
            <a:pPr marL="0" indent="0">
              <a:buNone/>
            </a:pPr>
            <a:r>
              <a:rPr lang="en-US" sz="1400" b="1" dirty="0">
                <a:solidFill>
                  <a:srgbClr val="6A3D9A"/>
                </a:solidFill>
                <a:latin typeface="Calibri" pitchFamily="34" charset="0"/>
                <a:ea typeface="Calibri" pitchFamily="34" charset="-122"/>
                <a:cs typeface="Calibri" pitchFamily="34" charset="-120"/>
              </a:rPr>
              <a:t>Spearman</a:t>
            </a:r>
            <a:endParaRPr lang="en-US" sz="1400" dirty="0"/>
          </a:p>
        </p:txBody>
      </p:sp>
      <p:sp>
        <p:nvSpPr>
          <p:cNvPr id="22" name="Text 20"/>
          <p:cNvSpPr txBox="1"/>
          <p:nvPr/>
        </p:nvSpPr>
        <p:spPr>
          <a:xfrm>
            <a:off x="2103120" y="4073391"/>
            <a:ext cx="2651760" cy="41148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Mejor método (outliers como China)</a:t>
            </a:r>
            <a:endParaRPr lang="en-US" sz="1000" dirty="0"/>
          </a:p>
        </p:txBody>
      </p:sp>
      <p:sp>
        <p:nvSpPr>
          <p:cNvPr id="23" name="Shape 21"/>
          <p:cNvSpPr/>
          <p:nvPr/>
        </p:nvSpPr>
        <p:spPr>
          <a:xfrm>
            <a:off x="548640" y="4676895"/>
            <a:ext cx="4297680" cy="621792"/>
          </a:xfrm>
          <a:prstGeom prst="rect">
            <a:avLst/>
          </a:prstGeom>
          <a:solidFill>
            <a:srgbClr val="1A9641">
              <a:alpha val="12000"/>
            </a:srgbClr>
          </a:solidFill>
          <a:ln w="12700">
            <a:solidFill>
              <a:srgbClr val="1A9641"/>
            </a:solidFill>
            <a:prstDash val="solid"/>
          </a:ln>
        </p:spPr>
        <p:txBody>
          <a:bodyPr/>
          <a:lstStyle/>
          <a:p>
            <a:endParaRPr lang="es-MX"/>
          </a:p>
        </p:txBody>
      </p:sp>
      <p:sp>
        <p:nvSpPr>
          <p:cNvPr id="24" name="Text 22"/>
          <p:cNvSpPr txBox="1"/>
          <p:nvPr/>
        </p:nvSpPr>
        <p:spPr>
          <a:xfrm>
            <a:off x="640080" y="4713471"/>
            <a:ext cx="1463040" cy="548640"/>
          </a:xfrm>
          <a:prstGeom prst="rect">
            <a:avLst/>
          </a:prstGeom>
          <a:noFill/>
          <a:ln/>
        </p:spPr>
        <p:txBody>
          <a:bodyPr wrap="square" rtlCol="0" anchor="ctr"/>
          <a:lstStyle/>
          <a:p>
            <a:pPr marL="0" indent="0">
              <a:buNone/>
            </a:pPr>
            <a:r>
              <a:rPr lang="en-US" sz="1400" b="1" dirty="0">
                <a:solidFill>
                  <a:srgbClr val="1A9641"/>
                </a:solidFill>
                <a:latin typeface="Calibri" pitchFamily="34" charset="0"/>
                <a:ea typeface="Calibri" pitchFamily="34" charset="-122"/>
                <a:cs typeface="Calibri" pitchFamily="34" charset="-120"/>
              </a:rPr>
              <a:t>−0.3 pp</a:t>
            </a:r>
            <a:endParaRPr lang="en-US" sz="1400" dirty="0"/>
          </a:p>
        </p:txBody>
      </p:sp>
      <p:sp>
        <p:nvSpPr>
          <p:cNvPr id="25" name="Text 23"/>
          <p:cNvSpPr txBox="1"/>
          <p:nvPr/>
        </p:nvSpPr>
        <p:spPr>
          <a:xfrm>
            <a:off x="2103120" y="4786623"/>
            <a:ext cx="2651760" cy="41148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Aprox. por cada 1% extra de crecimiento del PIB</a:t>
            </a:r>
            <a:endParaRPr lang="en-US" sz="1000" dirty="0"/>
          </a:p>
        </p:txBody>
      </p:sp>
      <p:sp>
        <p:nvSpPr>
          <p:cNvPr id="26" name="Shape 24"/>
          <p:cNvSpPr/>
          <p:nvPr/>
        </p:nvSpPr>
        <p:spPr>
          <a:xfrm>
            <a:off x="5212080" y="1558790"/>
            <a:ext cx="6583680" cy="4050099"/>
          </a:xfrm>
          <a:prstGeom prst="rect">
            <a:avLst/>
          </a:prstGeom>
          <a:solidFill>
            <a:srgbClr val="FFFFFF"/>
          </a:solidFill>
          <a:ln w="12700">
            <a:solidFill>
              <a:srgbClr val="D1D5DB"/>
            </a:solidFill>
            <a:prstDash val="solid"/>
          </a:ln>
        </p:spPr>
        <p:txBody>
          <a:bodyPr/>
          <a:lstStyle/>
          <a:p>
            <a:endParaRPr lang="es-MX"/>
          </a:p>
        </p:txBody>
      </p:sp>
      <p:sp>
        <p:nvSpPr>
          <p:cNvPr id="27" name="Text 25"/>
          <p:cNvSpPr txBox="1"/>
          <p:nvPr/>
        </p:nvSpPr>
        <p:spPr>
          <a:xfrm>
            <a:off x="5349240" y="1650231"/>
            <a:ext cx="6309360" cy="347472"/>
          </a:xfrm>
          <a:prstGeom prst="rect">
            <a:avLst/>
          </a:prstGeom>
          <a:noFill/>
          <a:ln/>
        </p:spPr>
        <p:txBody>
          <a:bodyPr wrap="square"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Código Python</a:t>
            </a:r>
            <a:endParaRPr lang="en-US" sz="1200" dirty="0"/>
          </a:p>
        </p:txBody>
      </p:sp>
      <p:sp>
        <p:nvSpPr>
          <p:cNvPr id="28" name="Shape 26"/>
          <p:cNvSpPr/>
          <p:nvPr/>
        </p:nvSpPr>
        <p:spPr>
          <a:xfrm>
            <a:off x="5349240" y="2043422"/>
            <a:ext cx="6309360" cy="3408649"/>
          </a:xfrm>
          <a:prstGeom prst="rect">
            <a:avLst/>
          </a:prstGeom>
          <a:solidFill>
            <a:srgbClr val="1E2D40"/>
          </a:solidFill>
          <a:ln w="12700">
            <a:solidFill>
              <a:srgbClr val="2A7ABF"/>
            </a:solidFill>
            <a:prstDash val="solid"/>
          </a:ln>
        </p:spPr>
        <p:txBody>
          <a:bodyPr/>
          <a:lstStyle/>
          <a:p>
            <a:endParaRPr lang="es-MX"/>
          </a:p>
        </p:txBody>
      </p:sp>
      <p:sp>
        <p:nvSpPr>
          <p:cNvPr id="29" name="Text 27"/>
          <p:cNvSpPr txBox="1"/>
          <p:nvPr/>
        </p:nvSpPr>
        <p:spPr>
          <a:xfrm>
            <a:off x="5458968" y="2134863"/>
            <a:ext cx="6089904" cy="3278652"/>
          </a:xfrm>
          <a:prstGeom prst="rect">
            <a:avLst/>
          </a:prstGeom>
          <a:noFill/>
          <a:ln/>
        </p:spPr>
        <p:txBody>
          <a:bodyPr wrap="square" rtlCol="0" anchor="t"/>
          <a:lstStyle/>
          <a:p>
            <a:pPr marL="0" indent="0">
              <a:buNone/>
            </a:pPr>
            <a:r>
              <a:rPr lang="en-US" sz="900" dirty="0">
                <a:solidFill>
                  <a:srgbClr val="A8D8F0"/>
                </a:solidFill>
                <a:latin typeface="Courier New" pitchFamily="34" charset="0"/>
                <a:ea typeface="Courier New" pitchFamily="34" charset="-122"/>
                <a:cs typeface="Courier New" pitchFamily="34" charset="-120"/>
              </a:rPr>
              <a:t>import wbgapi as </a:t>
            </a:r>
            <a:r>
              <a:rPr lang="en-US" sz="900" dirty="0" err="1">
                <a:solidFill>
                  <a:srgbClr val="A8D8F0"/>
                </a:solidFill>
                <a:latin typeface="Courier New" pitchFamily="34" charset="0"/>
                <a:ea typeface="Courier New" pitchFamily="34" charset="-122"/>
                <a:cs typeface="Courier New" pitchFamily="34" charset="-120"/>
              </a:rPr>
              <a:t>wb</a:t>
            </a:r>
            <a:endParaRPr lang="en-US" sz="900" dirty="0">
              <a:solidFill>
                <a:srgbClr val="A8D8F0"/>
              </a:solidFill>
              <a:latin typeface="Courier New" pitchFamily="34" charset="0"/>
              <a:ea typeface="Courier New" pitchFamily="34" charset="-122"/>
              <a:cs typeface="Courier New" pitchFamily="34" charset="-120"/>
            </a:endParaRPr>
          </a:p>
          <a:p>
            <a:pPr marL="0" indent="0">
              <a:buNone/>
            </a:pPr>
            <a:endParaRPr lang="en-US" sz="900" dirty="0"/>
          </a:p>
          <a:p>
            <a:pPr marL="0" indent="0">
              <a:buNone/>
            </a:pPr>
            <a:r>
              <a:rPr lang="en-US" sz="900" dirty="0">
                <a:solidFill>
                  <a:srgbClr val="A8D8F0"/>
                </a:solidFill>
                <a:latin typeface="Courier New" pitchFamily="34" charset="0"/>
                <a:ea typeface="Courier New" pitchFamily="34" charset="-122"/>
                <a:cs typeface="Courier New" pitchFamily="34" charset="-120"/>
              </a:rPr>
              <a:t># Descarga: crecimiento PIB y desempleo</a:t>
            </a:r>
            <a:endParaRPr lang="en-US" sz="900" dirty="0"/>
          </a:p>
          <a:p>
            <a:pPr marL="0" indent="0">
              <a:buNone/>
            </a:pPr>
            <a:r>
              <a:rPr lang="en-US" sz="900" dirty="0">
                <a:solidFill>
                  <a:srgbClr val="A8D8F0"/>
                </a:solidFill>
                <a:latin typeface="Courier New" pitchFamily="34" charset="0"/>
                <a:ea typeface="Courier New" pitchFamily="34" charset="-122"/>
                <a:cs typeface="Courier New" pitchFamily="34" charset="-120"/>
              </a:rPr>
              <a:t>crec  = wb.data.DataFrame('NY.GDP.MKTP.KD.ZG',</a:t>
            </a:r>
            <a:endParaRPr lang="en-US" sz="900" dirty="0"/>
          </a:p>
          <a:p>
            <a:pPr marL="0" indent="0">
              <a:buNone/>
            </a:pPr>
            <a:r>
              <a:rPr lang="en-US" sz="900" dirty="0">
                <a:solidFill>
                  <a:srgbClr val="A8D8F0"/>
                </a:solidFill>
                <a:latin typeface="Courier New" pitchFamily="34" charset="0"/>
                <a:ea typeface="Courier New" pitchFamily="34" charset="-122"/>
                <a:cs typeface="Courier New" pitchFamily="34" charset="-120"/>
              </a:rPr>
              <a:t>          economy=paises, time=range(2018,2024))</a:t>
            </a:r>
            <a:endParaRPr lang="en-US" sz="900" dirty="0"/>
          </a:p>
          <a:p>
            <a:pPr marL="0" indent="0">
              <a:buNone/>
            </a:pPr>
            <a:r>
              <a:rPr lang="en-US" sz="900" dirty="0">
                <a:solidFill>
                  <a:srgbClr val="A8D8F0"/>
                </a:solidFill>
                <a:latin typeface="Courier New" pitchFamily="34" charset="0"/>
                <a:ea typeface="Courier New" pitchFamily="34" charset="-122"/>
                <a:cs typeface="Courier New" pitchFamily="34" charset="-120"/>
              </a:rPr>
              <a:t>desemp = wb.data.DataFrame('SL.UEM.TOTL.ZS',</a:t>
            </a:r>
            <a:endParaRPr lang="en-US" sz="900" dirty="0"/>
          </a:p>
          <a:p>
            <a:pPr marL="0" indent="0">
              <a:buNone/>
            </a:pPr>
            <a:r>
              <a:rPr lang="en-US" sz="900" dirty="0">
                <a:solidFill>
                  <a:srgbClr val="A8D8F0"/>
                </a:solidFill>
                <a:latin typeface="Courier New" pitchFamily="34" charset="0"/>
                <a:ea typeface="Courier New" pitchFamily="34" charset="-122"/>
                <a:cs typeface="Courier New" pitchFamily="34" charset="-120"/>
              </a:rPr>
              <a:t>          economy=paises, time=range(2018,2024))</a:t>
            </a:r>
          </a:p>
          <a:p>
            <a:pPr marL="0" indent="0">
              <a:buNone/>
            </a:pPr>
            <a:endParaRPr lang="en-US" sz="900" dirty="0"/>
          </a:p>
          <a:p>
            <a:pPr marL="0" indent="0">
              <a:buNone/>
            </a:pPr>
            <a:r>
              <a:rPr lang="en-US" sz="900" dirty="0">
                <a:solidFill>
                  <a:srgbClr val="A8D8F0"/>
                </a:solidFill>
                <a:latin typeface="Courier New" pitchFamily="34" charset="0"/>
                <a:ea typeface="Courier New" pitchFamily="34" charset="-122"/>
                <a:cs typeface="Courier New" pitchFamily="34" charset="-120"/>
              </a:rPr>
              <a:t># Valor más reciente de cada país</a:t>
            </a:r>
            <a:endParaRPr lang="en-US" sz="900" dirty="0"/>
          </a:p>
          <a:p>
            <a:pPr marL="0" indent="0">
              <a:buNone/>
            </a:pPr>
            <a:r>
              <a:rPr lang="en-US" sz="900" dirty="0">
                <a:solidFill>
                  <a:srgbClr val="A8D8F0"/>
                </a:solidFill>
                <a:latin typeface="Courier New" pitchFamily="34" charset="0"/>
                <a:ea typeface="Courier New" pitchFamily="34" charset="-122"/>
                <a:cs typeface="Courier New" pitchFamily="34" charset="-120"/>
              </a:rPr>
              <a:t>crec_u  = crec.apply(lambda c: c.dropna().iloc[-1])</a:t>
            </a:r>
            <a:endParaRPr lang="en-US" sz="900" dirty="0"/>
          </a:p>
          <a:p>
            <a:pPr marL="0" indent="0">
              <a:buNone/>
            </a:pPr>
            <a:r>
              <a:rPr lang="en-US" sz="900" dirty="0">
                <a:solidFill>
                  <a:srgbClr val="A8D8F0"/>
                </a:solidFill>
                <a:latin typeface="Courier New" pitchFamily="34" charset="0"/>
                <a:ea typeface="Courier New" pitchFamily="34" charset="-122"/>
                <a:cs typeface="Courier New" pitchFamily="34" charset="-120"/>
              </a:rPr>
              <a:t>demp_u  = desemp.apply(lambda c: c.dropna().iloc[-1])</a:t>
            </a:r>
            <a:endParaRPr lang="en-US" sz="900" dirty="0"/>
          </a:p>
          <a:p>
            <a:pPr marL="0" indent="0">
              <a:buNone/>
            </a:pPr>
            <a:endParaRPr lang="en-US" sz="900" dirty="0">
              <a:solidFill>
                <a:srgbClr val="A8D8F0"/>
              </a:solidFill>
              <a:latin typeface="Courier New" pitchFamily="34" charset="0"/>
              <a:ea typeface="Courier New" pitchFamily="34" charset="-122"/>
              <a:cs typeface="Courier New" pitchFamily="34" charset="-120"/>
            </a:endParaRPr>
          </a:p>
          <a:p>
            <a:pPr marL="0" indent="0">
              <a:buNone/>
            </a:pPr>
            <a:r>
              <a:rPr lang="en-US" sz="900" dirty="0">
                <a:solidFill>
                  <a:srgbClr val="A8D8F0"/>
                </a:solidFill>
                <a:latin typeface="Courier New" pitchFamily="34" charset="0"/>
                <a:ea typeface="Courier New" pitchFamily="34" charset="-122"/>
                <a:cs typeface="Courier New" pitchFamily="34" charset="-120"/>
              </a:rPr>
              <a:t># Correlación</a:t>
            </a:r>
            <a:endParaRPr lang="en-US" sz="900" dirty="0"/>
          </a:p>
          <a:p>
            <a:pPr marL="0" indent="0">
              <a:buNone/>
            </a:pPr>
            <a:r>
              <a:rPr lang="en-US" sz="900" dirty="0">
                <a:solidFill>
                  <a:srgbClr val="A8D8F0"/>
                </a:solidFill>
                <a:latin typeface="Courier New" pitchFamily="34" charset="0"/>
                <a:ea typeface="Courier New" pitchFamily="34" charset="-122"/>
                <a:cs typeface="Courier New" pitchFamily="34" charset="-120"/>
              </a:rPr>
              <a:t>r_p = crec_u.corr(demp_u)</a:t>
            </a:r>
            <a:endParaRPr lang="en-US" sz="900" dirty="0"/>
          </a:p>
          <a:p>
            <a:pPr marL="0" indent="0">
              <a:buNone/>
            </a:pPr>
            <a:r>
              <a:rPr lang="en-US" sz="900" dirty="0">
                <a:solidFill>
                  <a:srgbClr val="A8D8F0"/>
                </a:solidFill>
                <a:latin typeface="Courier New" pitchFamily="34" charset="0"/>
                <a:ea typeface="Courier New" pitchFamily="34" charset="-122"/>
                <a:cs typeface="Courier New" pitchFamily="34" charset="-120"/>
              </a:rPr>
              <a:t>r_s = crec_u.corr(demp_u, method='spearman’)</a:t>
            </a:r>
            <a:endParaRPr lang="en-US" sz="900" dirty="0"/>
          </a:p>
          <a:p>
            <a:pPr marL="0" indent="0">
              <a:buNone/>
            </a:pPr>
            <a:endParaRPr lang="en-US" sz="900" dirty="0">
              <a:solidFill>
                <a:srgbClr val="A8D8F0"/>
              </a:solidFill>
              <a:latin typeface="Courier New" pitchFamily="34" charset="0"/>
              <a:ea typeface="Courier New" pitchFamily="34" charset="-122"/>
              <a:cs typeface="Courier New" pitchFamily="34" charset="-120"/>
            </a:endParaRPr>
          </a:p>
          <a:p>
            <a:pPr marL="0" indent="0">
              <a:buNone/>
            </a:pPr>
            <a:r>
              <a:rPr lang="en-US" sz="900" dirty="0">
                <a:solidFill>
                  <a:srgbClr val="A8D8F0"/>
                </a:solidFill>
                <a:latin typeface="Courier New" pitchFamily="34" charset="0"/>
                <a:ea typeface="Courier New" pitchFamily="34" charset="-122"/>
                <a:cs typeface="Courier New" pitchFamily="34" charset="-120"/>
              </a:rPr>
              <a:t># Scatter con línea de tendencia</a:t>
            </a:r>
            <a:endParaRPr lang="en-US" sz="900" dirty="0"/>
          </a:p>
          <a:p>
            <a:pPr marL="0" indent="0">
              <a:buNone/>
            </a:pPr>
            <a:r>
              <a:rPr lang="en-US" sz="900" dirty="0">
                <a:solidFill>
                  <a:srgbClr val="A8D8F0"/>
                </a:solidFill>
                <a:latin typeface="Courier New" pitchFamily="34" charset="0"/>
                <a:ea typeface="Courier New" pitchFamily="34" charset="-122"/>
                <a:cs typeface="Courier New" pitchFamily="34" charset="-120"/>
              </a:rPr>
              <a:t>fig, ax = plt.subplots()</a:t>
            </a:r>
            <a:endParaRPr lang="en-US" sz="900" dirty="0"/>
          </a:p>
          <a:p>
            <a:pPr marL="0" indent="0">
              <a:buNone/>
            </a:pPr>
            <a:r>
              <a:rPr lang="en-US" sz="900" dirty="0">
                <a:solidFill>
                  <a:srgbClr val="A8D8F0"/>
                </a:solidFill>
                <a:latin typeface="Courier New" pitchFamily="34" charset="0"/>
                <a:ea typeface="Courier New" pitchFamily="34" charset="-122"/>
                <a:cs typeface="Courier New" pitchFamily="34" charset="-120"/>
              </a:rPr>
              <a:t>ax.scatter(crec_u, demp_u)</a:t>
            </a:r>
            <a:endParaRPr lang="en-US" sz="900" dirty="0"/>
          </a:p>
          <a:p>
            <a:pPr marL="0" indent="0">
              <a:buNone/>
            </a:pPr>
            <a:r>
              <a:rPr lang="en-US" sz="900" dirty="0">
                <a:solidFill>
                  <a:srgbClr val="A8D8F0"/>
                </a:solidFill>
                <a:latin typeface="Courier New" pitchFamily="34" charset="0"/>
                <a:ea typeface="Courier New" pitchFamily="34" charset="-122"/>
                <a:cs typeface="Courier New" pitchFamily="34" charset="-120"/>
              </a:rPr>
              <a:t>m, b = np.polyfit(crec_u, demp_u, 1)</a:t>
            </a:r>
            <a:endParaRPr lang="en-US" sz="900" dirty="0"/>
          </a:p>
          <a:p>
            <a:pPr marL="0" indent="0">
              <a:buNone/>
            </a:pPr>
            <a:r>
              <a:rPr lang="en-US" sz="900" dirty="0">
                <a:solidFill>
                  <a:srgbClr val="A8D8F0"/>
                </a:solidFill>
                <a:latin typeface="Courier New" pitchFamily="34" charset="0"/>
                <a:ea typeface="Courier New" pitchFamily="34" charset="-122"/>
                <a:cs typeface="Courier New" pitchFamily="34" charset="-120"/>
              </a:rPr>
              <a:t>ax.plot(x_line, m*x_line+b, '--', color='gray')</a:t>
            </a:r>
            <a:endParaRPr lang="en-US" sz="900" dirty="0"/>
          </a:p>
          <a:p>
            <a:pPr marL="0" indent="0">
              <a:buNone/>
            </a:pPr>
            <a:r>
              <a:rPr lang="en-US" sz="900" dirty="0">
                <a:solidFill>
                  <a:srgbClr val="A8D8F0"/>
                </a:solidFill>
                <a:latin typeface="Courier New" pitchFamily="34" charset="0"/>
                <a:ea typeface="Courier New" pitchFamily="34" charset="-122"/>
                <a:cs typeface="Courier New" pitchFamily="34" charset="-120"/>
              </a:rPr>
              <a:t>ax.set_xlabel('Crecimiento del PIB (%)')</a:t>
            </a:r>
            <a:endParaRPr lang="en-US" sz="900" dirty="0"/>
          </a:p>
          <a:p>
            <a:pPr marL="0" indent="0">
              <a:buNone/>
            </a:pPr>
            <a:r>
              <a:rPr lang="en-US" sz="900" dirty="0">
                <a:solidFill>
                  <a:srgbClr val="A8D8F0"/>
                </a:solidFill>
                <a:latin typeface="Courier New" pitchFamily="34" charset="0"/>
                <a:ea typeface="Courier New" pitchFamily="34" charset="-122"/>
                <a:cs typeface="Courier New" pitchFamily="34" charset="-120"/>
              </a:rPr>
              <a:t>ax.set_ylabel('Tasa de desempleo (%)')</a:t>
            </a:r>
            <a:endParaRPr lang="en-US" sz="900" dirty="0"/>
          </a:p>
        </p:txBody>
      </p:sp>
      <p:sp>
        <p:nvSpPr>
          <p:cNvPr id="30" name="Shape 28"/>
          <p:cNvSpPr/>
          <p:nvPr/>
        </p:nvSpPr>
        <p:spPr>
          <a:xfrm>
            <a:off x="320040" y="5792629"/>
            <a:ext cx="11521440" cy="457200"/>
          </a:xfrm>
          <a:prstGeom prst="rect">
            <a:avLst/>
          </a:prstGeom>
          <a:solidFill>
            <a:srgbClr val="FEF3C7"/>
          </a:solidFill>
          <a:ln w="12700">
            <a:solidFill>
              <a:srgbClr val="E8A020"/>
            </a:solidFill>
            <a:prstDash val="solid"/>
          </a:ln>
        </p:spPr>
        <p:txBody>
          <a:bodyPr/>
          <a:lstStyle/>
          <a:p>
            <a:endParaRPr lang="es-MX"/>
          </a:p>
        </p:txBody>
      </p:sp>
      <p:sp>
        <p:nvSpPr>
          <p:cNvPr id="31" name="Text 29"/>
          <p:cNvSpPr txBox="1"/>
          <p:nvPr/>
        </p:nvSpPr>
        <p:spPr>
          <a:xfrm>
            <a:off x="457200" y="5820061"/>
            <a:ext cx="11247120" cy="384048"/>
          </a:xfrm>
          <a:prstGeom prst="rect">
            <a:avLst/>
          </a:prstGeom>
          <a:noFill/>
          <a:ln/>
        </p:spPr>
        <p:txBody>
          <a:bodyPr wrap="square" rtlCol="0" anchor="ctr"/>
          <a:lstStyle/>
          <a:p>
            <a:pPr marL="0" indent="0">
              <a:buNone/>
            </a:pPr>
            <a:r>
              <a:rPr lang="en-US" sz="950" dirty="0">
                <a:solidFill>
                  <a:srgbClr val="92400E"/>
                </a:solidFill>
                <a:latin typeface="Calibri" pitchFamily="34" charset="0"/>
                <a:ea typeface="Calibri" pitchFamily="34" charset="-122"/>
                <a:cs typeface="Calibri" pitchFamily="34" charset="-120"/>
              </a:rPr>
              <a:t>⚠  La correlación de Okun varía por país y período. En la Crisis del COVID-19 (2020) la relación fue más débil en economías con mayor empleo informal — como México y Perú — donde muchos trabajadores simplemente dejaron de buscar empleo (efectos de desánimo).</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txBody>
          <a:bodyPr/>
          <a:lstStyle/>
          <a:p>
            <a:endParaRPr lang="es-MX"/>
          </a:p>
        </p:txBody>
      </p:sp>
      <p:sp>
        <p:nvSpPr>
          <p:cNvPr id="3" name="Text 1"/>
          <p:cNvSpPr txBox="1"/>
          <p:nvPr/>
        </p:nvSpPr>
        <p:spPr>
          <a:xfrm>
            <a:off x="228600" y="36576"/>
            <a:ext cx="8229600" cy="27432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marL="0" indent="0" algn="r">
              <a:buNone/>
            </a:pPr>
            <a:r>
              <a:rPr lang="en-US" sz="900" b="1" dirty="0">
                <a:solidFill>
                  <a:srgbClr val="E8A020"/>
                </a:solidFill>
                <a:latin typeface="Calibri" pitchFamily="34" charset="0"/>
                <a:ea typeface="Calibri" pitchFamily="34" charset="-122"/>
                <a:cs typeface="Calibri" pitchFamily="34" charset="-120"/>
              </a:rPr>
              <a:t>Tema 2.2</a:t>
            </a:r>
            <a:endParaRPr lang="en-US" sz="900" dirty="0"/>
          </a:p>
        </p:txBody>
      </p:sp>
      <p:sp>
        <p:nvSpPr>
          <p:cNvPr id="5" name="Shape 3"/>
          <p:cNvSpPr/>
          <p:nvPr/>
        </p:nvSpPr>
        <p:spPr>
          <a:xfrm>
            <a:off x="0" y="6565392"/>
            <a:ext cx="12161520" cy="292608"/>
          </a:xfrm>
          <a:prstGeom prst="rect">
            <a:avLst/>
          </a:prstGeom>
          <a:solidFill>
            <a:srgbClr val="1B3A6B"/>
          </a:solidFill>
          <a:ln/>
        </p:spPr>
        <p:txBody>
          <a:bodyPr/>
          <a:lstStyle/>
          <a:p>
            <a:endParaRPr lang="es-MX"/>
          </a:p>
        </p:txBody>
      </p:sp>
      <p:sp>
        <p:nvSpPr>
          <p:cNvPr id="6" name="Text 4"/>
          <p:cNvSpPr txBox="1"/>
          <p:nvPr/>
        </p:nvSpPr>
        <p:spPr>
          <a:xfrm>
            <a:off x="228600" y="6592824"/>
            <a:ext cx="73152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7" name="Text 5"/>
          <p:cNvSpPr txBox="1"/>
          <p:nvPr/>
        </p:nvSpPr>
        <p:spPr>
          <a:xfrm>
            <a:off x="8686800" y="6592824"/>
            <a:ext cx="3291840" cy="228600"/>
          </a:xfrm>
          <a:prstGeom prst="rect">
            <a:avLst/>
          </a:prstGeom>
          <a:noFill/>
          <a:ln/>
        </p:spPr>
        <p:txBody>
          <a:bodyPr wrap="square" rtlCol="0" anchor="ctr"/>
          <a:lstStyle/>
          <a:p>
            <a:pPr marL="0" indent="0" algn="r">
              <a:buNone/>
            </a:pPr>
            <a:r>
              <a:rPr lang="en-US" sz="800" dirty="0">
                <a:solidFill>
                  <a:srgbClr val="E8A020"/>
                </a:solidFill>
                <a:latin typeface="Calibri" pitchFamily="34" charset="0"/>
                <a:ea typeface="Calibri" pitchFamily="34" charset="-122"/>
                <a:cs typeface="Calibri" pitchFamily="34" charset="-120"/>
              </a:rPr>
              <a:t>Banco Mundial WDI</a:t>
            </a:r>
            <a:endParaRPr lang="en-US" sz="800" dirty="0"/>
          </a:p>
        </p:txBody>
      </p:sp>
      <p:sp>
        <p:nvSpPr>
          <p:cNvPr id="8" name="Shape 6"/>
          <p:cNvSpPr/>
          <p:nvPr/>
        </p:nvSpPr>
        <p:spPr>
          <a:xfrm>
            <a:off x="320040" y="364724"/>
            <a:ext cx="5148072" cy="256032"/>
          </a:xfrm>
          <a:prstGeom prst="roundRect">
            <a:avLst>
              <a:gd name="adj" fmla="val 17857"/>
            </a:avLst>
          </a:prstGeom>
          <a:solidFill>
            <a:srgbClr val="2A7ABF"/>
          </a:solidFill>
          <a:ln/>
        </p:spPr>
        <p:txBody>
          <a:bodyPr/>
          <a:lstStyle/>
          <a:p>
            <a:endParaRPr lang="es-MX"/>
          </a:p>
        </p:txBody>
      </p:sp>
      <p:sp>
        <p:nvSpPr>
          <p:cNvPr id="9" name="Text 7"/>
          <p:cNvSpPr txBox="1"/>
          <p:nvPr/>
        </p:nvSpPr>
        <p:spPr>
          <a:xfrm>
            <a:off x="365760" y="383012"/>
            <a:ext cx="4180361" cy="21945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Numérica × Numérica — múltiples variables</a:t>
            </a:r>
            <a:endParaRPr lang="en-US" sz="850" dirty="0"/>
          </a:p>
        </p:txBody>
      </p:sp>
      <p:sp>
        <p:nvSpPr>
          <p:cNvPr id="10" name="Text 8"/>
          <p:cNvSpPr txBox="1"/>
          <p:nvPr/>
        </p:nvSpPr>
        <p:spPr>
          <a:xfrm>
            <a:off x="320040" y="666994"/>
            <a:ext cx="9144000" cy="502920"/>
          </a:xfrm>
          <a:prstGeom prst="rect">
            <a:avLst/>
          </a:prstGeom>
          <a:noFill/>
          <a:ln/>
        </p:spPr>
        <p:txBody>
          <a:bodyPr wrap="square" rtlCol="0" anchor="ctr"/>
          <a:lstStyle/>
          <a:p>
            <a:pPr marL="0" indent="0">
              <a:buNone/>
            </a:pPr>
            <a:r>
              <a:rPr lang="en-US" sz="2500" b="1" dirty="0">
                <a:solidFill>
                  <a:srgbClr val="1B3A6B"/>
                </a:solidFill>
                <a:latin typeface="Calibri" pitchFamily="34" charset="0"/>
                <a:ea typeface="Calibri" pitchFamily="34" charset="-122"/>
                <a:cs typeface="Calibri" pitchFamily="34" charset="-120"/>
              </a:rPr>
              <a:t>Matriz de correlación: el mapa del EDA</a:t>
            </a:r>
            <a:endParaRPr lang="en-US" sz="2500" dirty="0"/>
          </a:p>
        </p:txBody>
      </p:sp>
      <p:sp>
        <p:nvSpPr>
          <p:cNvPr id="11" name="Text 9"/>
          <p:cNvSpPr txBox="1"/>
          <p:nvPr/>
        </p:nvSpPr>
        <p:spPr>
          <a:xfrm>
            <a:off x="320040" y="1098136"/>
            <a:ext cx="11521440" cy="32004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En proyectos reales con 10+ variables, la matriz de correlación te dice qué pares vale la pena explorar en detalle.</a:t>
            </a:r>
            <a:endParaRPr lang="en-US" sz="1100" dirty="0"/>
          </a:p>
        </p:txBody>
      </p:sp>
      <p:sp>
        <p:nvSpPr>
          <p:cNvPr id="12" name="Shape 10"/>
          <p:cNvSpPr/>
          <p:nvPr/>
        </p:nvSpPr>
        <p:spPr>
          <a:xfrm>
            <a:off x="1554480" y="1762378"/>
            <a:ext cx="1380744" cy="457200"/>
          </a:xfrm>
          <a:prstGeom prst="rect">
            <a:avLst/>
          </a:prstGeom>
          <a:solidFill>
            <a:srgbClr val="1B3A6B"/>
          </a:solidFill>
          <a:ln/>
        </p:spPr>
        <p:txBody>
          <a:bodyPr/>
          <a:lstStyle/>
          <a:p>
            <a:endParaRPr lang="es-MX"/>
          </a:p>
        </p:txBody>
      </p:sp>
      <p:sp>
        <p:nvSpPr>
          <p:cNvPr id="13" name="Text 11"/>
          <p:cNvSpPr txBox="1"/>
          <p:nvPr/>
        </p:nvSpPr>
        <p:spPr>
          <a:xfrm>
            <a:off x="1600200" y="1808098"/>
            <a:ext cx="1289304" cy="36576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PIB pc</a:t>
            </a:r>
            <a:endParaRPr lang="en-US" sz="950" dirty="0"/>
          </a:p>
        </p:txBody>
      </p:sp>
      <p:sp>
        <p:nvSpPr>
          <p:cNvPr id="14" name="Shape 12"/>
          <p:cNvSpPr/>
          <p:nvPr/>
        </p:nvSpPr>
        <p:spPr>
          <a:xfrm>
            <a:off x="2971800" y="1762378"/>
            <a:ext cx="1380744" cy="457200"/>
          </a:xfrm>
          <a:prstGeom prst="rect">
            <a:avLst/>
          </a:prstGeom>
          <a:solidFill>
            <a:srgbClr val="1B3A6B"/>
          </a:solidFill>
          <a:ln/>
        </p:spPr>
        <p:txBody>
          <a:bodyPr/>
          <a:lstStyle/>
          <a:p>
            <a:endParaRPr lang="es-MX"/>
          </a:p>
        </p:txBody>
      </p:sp>
      <p:sp>
        <p:nvSpPr>
          <p:cNvPr id="15" name="Text 13"/>
          <p:cNvSpPr txBox="1"/>
          <p:nvPr/>
        </p:nvSpPr>
        <p:spPr>
          <a:xfrm>
            <a:off x="3017520" y="1808098"/>
            <a:ext cx="1289304" cy="36576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Gini</a:t>
            </a:r>
            <a:endParaRPr lang="en-US" sz="950" dirty="0"/>
          </a:p>
        </p:txBody>
      </p:sp>
      <p:sp>
        <p:nvSpPr>
          <p:cNvPr id="16" name="Shape 14"/>
          <p:cNvSpPr/>
          <p:nvPr/>
        </p:nvSpPr>
        <p:spPr>
          <a:xfrm>
            <a:off x="4389120" y="1762378"/>
            <a:ext cx="1380744" cy="457200"/>
          </a:xfrm>
          <a:prstGeom prst="rect">
            <a:avLst/>
          </a:prstGeom>
          <a:solidFill>
            <a:srgbClr val="1B3A6B"/>
          </a:solidFill>
          <a:ln/>
        </p:spPr>
        <p:txBody>
          <a:bodyPr/>
          <a:lstStyle/>
          <a:p>
            <a:endParaRPr lang="es-MX"/>
          </a:p>
        </p:txBody>
      </p:sp>
      <p:sp>
        <p:nvSpPr>
          <p:cNvPr id="17" name="Text 15"/>
          <p:cNvSpPr txBox="1"/>
          <p:nvPr/>
        </p:nvSpPr>
        <p:spPr>
          <a:xfrm>
            <a:off x="4434840" y="1808098"/>
            <a:ext cx="1289304" cy="36576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Desempleo</a:t>
            </a:r>
            <a:endParaRPr lang="en-US" sz="950" dirty="0"/>
          </a:p>
        </p:txBody>
      </p:sp>
      <p:sp>
        <p:nvSpPr>
          <p:cNvPr id="18" name="Shape 16"/>
          <p:cNvSpPr/>
          <p:nvPr/>
        </p:nvSpPr>
        <p:spPr>
          <a:xfrm>
            <a:off x="5806440" y="1762378"/>
            <a:ext cx="1380744" cy="457200"/>
          </a:xfrm>
          <a:prstGeom prst="rect">
            <a:avLst/>
          </a:prstGeom>
          <a:solidFill>
            <a:srgbClr val="1B3A6B"/>
          </a:solidFill>
          <a:ln/>
        </p:spPr>
        <p:txBody>
          <a:bodyPr/>
          <a:lstStyle/>
          <a:p>
            <a:endParaRPr lang="es-MX"/>
          </a:p>
        </p:txBody>
      </p:sp>
      <p:sp>
        <p:nvSpPr>
          <p:cNvPr id="19" name="Text 17"/>
          <p:cNvSpPr txBox="1"/>
          <p:nvPr/>
        </p:nvSpPr>
        <p:spPr>
          <a:xfrm>
            <a:off x="5852160" y="1808098"/>
            <a:ext cx="1289304" cy="36576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Gasto educ.</a:t>
            </a:r>
            <a:endParaRPr lang="en-US" sz="950" dirty="0"/>
          </a:p>
        </p:txBody>
      </p:sp>
      <p:sp>
        <p:nvSpPr>
          <p:cNvPr id="20" name="Shape 18"/>
          <p:cNvSpPr/>
          <p:nvPr/>
        </p:nvSpPr>
        <p:spPr>
          <a:xfrm>
            <a:off x="7223760" y="1762378"/>
            <a:ext cx="1380744" cy="457200"/>
          </a:xfrm>
          <a:prstGeom prst="rect">
            <a:avLst/>
          </a:prstGeom>
          <a:solidFill>
            <a:srgbClr val="1B3A6B"/>
          </a:solidFill>
          <a:ln/>
        </p:spPr>
        <p:txBody>
          <a:bodyPr/>
          <a:lstStyle/>
          <a:p>
            <a:endParaRPr lang="es-MX"/>
          </a:p>
        </p:txBody>
      </p:sp>
      <p:sp>
        <p:nvSpPr>
          <p:cNvPr id="21" name="Text 19"/>
          <p:cNvSpPr txBox="1"/>
          <p:nvPr/>
        </p:nvSpPr>
        <p:spPr>
          <a:xfrm>
            <a:off x="7269480" y="1808098"/>
            <a:ext cx="1289304" cy="36576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Part. fem.</a:t>
            </a:r>
            <a:endParaRPr lang="en-US" sz="950" dirty="0"/>
          </a:p>
        </p:txBody>
      </p:sp>
      <p:sp>
        <p:nvSpPr>
          <p:cNvPr id="22" name="Shape 20"/>
          <p:cNvSpPr/>
          <p:nvPr/>
        </p:nvSpPr>
        <p:spPr>
          <a:xfrm>
            <a:off x="320040" y="2219578"/>
            <a:ext cx="1207008" cy="621792"/>
          </a:xfrm>
          <a:prstGeom prst="rect">
            <a:avLst/>
          </a:prstGeom>
          <a:solidFill>
            <a:srgbClr val="1B3A6B"/>
          </a:solidFill>
          <a:ln/>
        </p:spPr>
        <p:txBody>
          <a:bodyPr/>
          <a:lstStyle/>
          <a:p>
            <a:endParaRPr lang="es-MX"/>
          </a:p>
        </p:txBody>
      </p:sp>
      <p:sp>
        <p:nvSpPr>
          <p:cNvPr id="23" name="Text 21"/>
          <p:cNvSpPr txBox="1"/>
          <p:nvPr/>
        </p:nvSpPr>
        <p:spPr>
          <a:xfrm>
            <a:off x="338328" y="2274442"/>
            <a:ext cx="1170432" cy="530352"/>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PIB pc</a:t>
            </a:r>
            <a:endParaRPr lang="en-US" sz="950" dirty="0"/>
          </a:p>
        </p:txBody>
      </p:sp>
      <p:sp>
        <p:nvSpPr>
          <p:cNvPr id="24" name="Shape 22"/>
          <p:cNvSpPr/>
          <p:nvPr/>
        </p:nvSpPr>
        <p:spPr>
          <a:xfrm>
            <a:off x="1554480" y="2219578"/>
            <a:ext cx="1380744" cy="621792"/>
          </a:xfrm>
          <a:prstGeom prst="rect">
            <a:avLst/>
          </a:prstGeom>
          <a:solidFill>
            <a:srgbClr val="E0E7EF"/>
          </a:solidFill>
          <a:ln w="12700">
            <a:solidFill>
              <a:srgbClr val="D0D8E4"/>
            </a:solidFill>
            <a:prstDash val="solid"/>
          </a:ln>
        </p:spPr>
        <p:txBody>
          <a:bodyPr/>
          <a:lstStyle/>
          <a:p>
            <a:endParaRPr lang="es-MX"/>
          </a:p>
        </p:txBody>
      </p:sp>
      <p:sp>
        <p:nvSpPr>
          <p:cNvPr id="25" name="Text 23"/>
          <p:cNvSpPr txBox="1"/>
          <p:nvPr/>
        </p:nvSpPr>
        <p:spPr>
          <a:xfrm>
            <a:off x="1600200" y="2402458"/>
            <a:ext cx="1289304" cy="256032"/>
          </a:xfrm>
          <a:prstGeom prst="rect">
            <a:avLst/>
          </a:prstGeom>
          <a:noFill/>
          <a:ln/>
        </p:spPr>
        <p:txBody>
          <a:bodyPr wrap="square" rtlCol="0" anchor="ctr"/>
          <a:lstStyle/>
          <a:p>
            <a:pPr marL="0" indent="0" algn="ctr">
              <a:buNone/>
            </a:pPr>
            <a:r>
              <a:rPr lang="en-US" sz="1400" dirty="0">
                <a:solidFill>
                  <a:srgbClr val="1E293B"/>
                </a:solidFill>
                <a:latin typeface="Calibri" pitchFamily="34" charset="0"/>
                <a:ea typeface="Calibri" pitchFamily="34" charset="-122"/>
                <a:cs typeface="Calibri" pitchFamily="34" charset="-120"/>
              </a:rPr>
              <a:t>—</a:t>
            </a:r>
            <a:endParaRPr lang="en-US" sz="1400" dirty="0"/>
          </a:p>
        </p:txBody>
      </p:sp>
      <p:sp>
        <p:nvSpPr>
          <p:cNvPr id="26" name="Shape 24"/>
          <p:cNvSpPr/>
          <p:nvPr/>
        </p:nvSpPr>
        <p:spPr>
          <a:xfrm>
            <a:off x="320040" y="2877946"/>
            <a:ext cx="1207008" cy="621792"/>
          </a:xfrm>
          <a:prstGeom prst="rect">
            <a:avLst/>
          </a:prstGeom>
          <a:solidFill>
            <a:srgbClr val="1B3A6B"/>
          </a:solidFill>
          <a:ln/>
        </p:spPr>
        <p:txBody>
          <a:bodyPr/>
          <a:lstStyle/>
          <a:p>
            <a:endParaRPr lang="es-MX"/>
          </a:p>
        </p:txBody>
      </p:sp>
      <p:sp>
        <p:nvSpPr>
          <p:cNvPr id="27" name="Text 25"/>
          <p:cNvSpPr txBox="1"/>
          <p:nvPr/>
        </p:nvSpPr>
        <p:spPr>
          <a:xfrm>
            <a:off x="338328" y="2932810"/>
            <a:ext cx="1170432" cy="530352"/>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Gini</a:t>
            </a:r>
            <a:endParaRPr lang="en-US" sz="950" dirty="0"/>
          </a:p>
        </p:txBody>
      </p:sp>
      <p:sp>
        <p:nvSpPr>
          <p:cNvPr id="28" name="Shape 26"/>
          <p:cNvSpPr/>
          <p:nvPr/>
        </p:nvSpPr>
        <p:spPr>
          <a:xfrm>
            <a:off x="1554480" y="2877946"/>
            <a:ext cx="1380744" cy="621792"/>
          </a:xfrm>
          <a:prstGeom prst="rect">
            <a:avLst/>
          </a:prstGeom>
          <a:solidFill>
            <a:srgbClr val="E05555"/>
          </a:solidFill>
          <a:ln w="12700">
            <a:solidFill>
              <a:srgbClr val="D0D8E4"/>
            </a:solidFill>
            <a:prstDash val="solid"/>
          </a:ln>
        </p:spPr>
        <p:txBody>
          <a:bodyPr/>
          <a:lstStyle/>
          <a:p>
            <a:endParaRPr lang="es-MX"/>
          </a:p>
        </p:txBody>
      </p:sp>
      <p:sp>
        <p:nvSpPr>
          <p:cNvPr id="29" name="Text 27"/>
          <p:cNvSpPr txBox="1"/>
          <p:nvPr/>
        </p:nvSpPr>
        <p:spPr>
          <a:xfrm>
            <a:off x="1600200" y="3060826"/>
            <a:ext cx="1289304" cy="256032"/>
          </a:xfrm>
          <a:prstGeom prst="rect">
            <a:avLst/>
          </a:prstGeom>
          <a:noFill/>
          <a:ln/>
        </p:spPr>
        <p:txBody>
          <a:bodyPr wrap="square" rtlCol="0" anchor="ctr"/>
          <a:lstStyle/>
          <a:p>
            <a:pPr marL="0" indent="0" algn="ctr">
              <a:buNone/>
            </a:pPr>
            <a:r>
              <a:rPr lang="en-US" sz="1400" dirty="0">
                <a:solidFill>
                  <a:srgbClr val="1E293B"/>
                </a:solidFill>
                <a:latin typeface="Calibri" pitchFamily="34" charset="0"/>
                <a:ea typeface="Calibri" pitchFamily="34" charset="-122"/>
                <a:cs typeface="Calibri" pitchFamily="34" charset="-120"/>
              </a:rPr>
              <a:t>-0.38</a:t>
            </a:r>
            <a:endParaRPr lang="en-US" sz="1400" dirty="0"/>
          </a:p>
        </p:txBody>
      </p:sp>
      <p:sp>
        <p:nvSpPr>
          <p:cNvPr id="30" name="Shape 28"/>
          <p:cNvSpPr/>
          <p:nvPr/>
        </p:nvSpPr>
        <p:spPr>
          <a:xfrm>
            <a:off x="2971800" y="2877946"/>
            <a:ext cx="1380744" cy="621792"/>
          </a:xfrm>
          <a:prstGeom prst="rect">
            <a:avLst/>
          </a:prstGeom>
          <a:solidFill>
            <a:srgbClr val="E0E7EF"/>
          </a:solidFill>
          <a:ln w="12700">
            <a:solidFill>
              <a:srgbClr val="D0D8E4"/>
            </a:solidFill>
            <a:prstDash val="solid"/>
          </a:ln>
        </p:spPr>
        <p:txBody>
          <a:bodyPr/>
          <a:lstStyle/>
          <a:p>
            <a:endParaRPr lang="es-MX"/>
          </a:p>
        </p:txBody>
      </p:sp>
      <p:sp>
        <p:nvSpPr>
          <p:cNvPr id="31" name="Text 29"/>
          <p:cNvSpPr txBox="1"/>
          <p:nvPr/>
        </p:nvSpPr>
        <p:spPr>
          <a:xfrm>
            <a:off x="3017520" y="3060826"/>
            <a:ext cx="1289304" cy="256032"/>
          </a:xfrm>
          <a:prstGeom prst="rect">
            <a:avLst/>
          </a:prstGeom>
          <a:noFill/>
          <a:ln/>
        </p:spPr>
        <p:txBody>
          <a:bodyPr wrap="square" rtlCol="0" anchor="ctr"/>
          <a:lstStyle/>
          <a:p>
            <a:pPr marL="0" indent="0" algn="ctr">
              <a:buNone/>
            </a:pPr>
            <a:r>
              <a:rPr lang="en-US" sz="1400" dirty="0">
                <a:solidFill>
                  <a:srgbClr val="1E293B"/>
                </a:solidFill>
                <a:latin typeface="Calibri" pitchFamily="34" charset="0"/>
                <a:ea typeface="Calibri" pitchFamily="34" charset="-122"/>
                <a:cs typeface="Calibri" pitchFamily="34" charset="-120"/>
              </a:rPr>
              <a:t>—</a:t>
            </a:r>
            <a:endParaRPr lang="en-US" sz="1400" dirty="0"/>
          </a:p>
        </p:txBody>
      </p:sp>
      <p:sp>
        <p:nvSpPr>
          <p:cNvPr id="32" name="Shape 30"/>
          <p:cNvSpPr/>
          <p:nvPr/>
        </p:nvSpPr>
        <p:spPr>
          <a:xfrm>
            <a:off x="320040" y="3536314"/>
            <a:ext cx="1207008" cy="621792"/>
          </a:xfrm>
          <a:prstGeom prst="rect">
            <a:avLst/>
          </a:prstGeom>
          <a:solidFill>
            <a:srgbClr val="1B3A6B"/>
          </a:solidFill>
          <a:ln/>
        </p:spPr>
        <p:txBody>
          <a:bodyPr/>
          <a:lstStyle/>
          <a:p>
            <a:endParaRPr lang="es-MX"/>
          </a:p>
        </p:txBody>
      </p:sp>
      <p:sp>
        <p:nvSpPr>
          <p:cNvPr id="33" name="Text 31"/>
          <p:cNvSpPr txBox="1"/>
          <p:nvPr/>
        </p:nvSpPr>
        <p:spPr>
          <a:xfrm>
            <a:off x="338328" y="3591178"/>
            <a:ext cx="1170432" cy="530352"/>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Desempleo</a:t>
            </a:r>
            <a:endParaRPr lang="en-US" sz="950" dirty="0"/>
          </a:p>
        </p:txBody>
      </p:sp>
      <p:sp>
        <p:nvSpPr>
          <p:cNvPr id="34" name="Shape 32"/>
          <p:cNvSpPr/>
          <p:nvPr/>
        </p:nvSpPr>
        <p:spPr>
          <a:xfrm>
            <a:off x="1554480" y="3536314"/>
            <a:ext cx="1380744" cy="621792"/>
          </a:xfrm>
          <a:prstGeom prst="rect">
            <a:avLst/>
          </a:prstGeom>
          <a:solidFill>
            <a:srgbClr val="A8C3E0"/>
          </a:solidFill>
          <a:ln w="12700">
            <a:solidFill>
              <a:srgbClr val="D0D8E4"/>
            </a:solidFill>
            <a:prstDash val="solid"/>
          </a:ln>
        </p:spPr>
        <p:txBody>
          <a:bodyPr/>
          <a:lstStyle/>
          <a:p>
            <a:endParaRPr lang="es-MX"/>
          </a:p>
        </p:txBody>
      </p:sp>
      <p:sp>
        <p:nvSpPr>
          <p:cNvPr id="35" name="Text 33"/>
          <p:cNvSpPr txBox="1"/>
          <p:nvPr/>
        </p:nvSpPr>
        <p:spPr>
          <a:xfrm>
            <a:off x="1600200" y="3719194"/>
            <a:ext cx="1289304" cy="256032"/>
          </a:xfrm>
          <a:prstGeom prst="rect">
            <a:avLst/>
          </a:prstGeom>
          <a:noFill/>
          <a:ln/>
        </p:spPr>
        <p:txBody>
          <a:bodyPr wrap="square" rtlCol="0" anchor="ctr"/>
          <a:lstStyle/>
          <a:p>
            <a:pPr marL="0" indent="0" algn="ctr">
              <a:buNone/>
            </a:pPr>
            <a:r>
              <a:rPr lang="en-US" sz="1400" dirty="0">
                <a:solidFill>
                  <a:srgbClr val="1E293B"/>
                </a:solidFill>
                <a:latin typeface="Calibri" pitchFamily="34" charset="0"/>
                <a:ea typeface="Calibri" pitchFamily="34" charset="-122"/>
                <a:cs typeface="Calibri" pitchFamily="34" charset="-120"/>
              </a:rPr>
              <a:t>0.15</a:t>
            </a:r>
            <a:endParaRPr lang="en-US" sz="1400" dirty="0"/>
          </a:p>
        </p:txBody>
      </p:sp>
      <p:sp>
        <p:nvSpPr>
          <p:cNvPr id="36" name="Shape 34"/>
          <p:cNvSpPr/>
          <p:nvPr/>
        </p:nvSpPr>
        <p:spPr>
          <a:xfrm>
            <a:off x="2971800" y="3536314"/>
            <a:ext cx="1380744" cy="621792"/>
          </a:xfrm>
          <a:prstGeom prst="rect">
            <a:avLst/>
          </a:prstGeom>
          <a:solidFill>
            <a:srgbClr val="A8C3E0"/>
          </a:solidFill>
          <a:ln w="12700">
            <a:solidFill>
              <a:srgbClr val="D0D8E4"/>
            </a:solidFill>
            <a:prstDash val="solid"/>
          </a:ln>
        </p:spPr>
        <p:txBody>
          <a:bodyPr/>
          <a:lstStyle/>
          <a:p>
            <a:endParaRPr lang="es-MX"/>
          </a:p>
        </p:txBody>
      </p:sp>
      <p:sp>
        <p:nvSpPr>
          <p:cNvPr id="37" name="Text 35"/>
          <p:cNvSpPr txBox="1"/>
          <p:nvPr/>
        </p:nvSpPr>
        <p:spPr>
          <a:xfrm>
            <a:off x="3017520" y="3719194"/>
            <a:ext cx="1289304" cy="256032"/>
          </a:xfrm>
          <a:prstGeom prst="rect">
            <a:avLst/>
          </a:prstGeom>
          <a:noFill/>
          <a:ln/>
        </p:spPr>
        <p:txBody>
          <a:bodyPr wrap="square" rtlCol="0" anchor="ctr"/>
          <a:lstStyle/>
          <a:p>
            <a:pPr marL="0" indent="0" algn="ctr">
              <a:buNone/>
            </a:pPr>
            <a:r>
              <a:rPr lang="en-US" sz="1400" dirty="0">
                <a:solidFill>
                  <a:srgbClr val="1E293B"/>
                </a:solidFill>
                <a:latin typeface="Calibri" pitchFamily="34" charset="0"/>
                <a:ea typeface="Calibri" pitchFamily="34" charset="-122"/>
                <a:cs typeface="Calibri" pitchFamily="34" charset="-120"/>
              </a:rPr>
              <a:t>0.27</a:t>
            </a:r>
            <a:endParaRPr lang="en-US" sz="1400" dirty="0"/>
          </a:p>
        </p:txBody>
      </p:sp>
      <p:sp>
        <p:nvSpPr>
          <p:cNvPr id="38" name="Shape 36"/>
          <p:cNvSpPr/>
          <p:nvPr/>
        </p:nvSpPr>
        <p:spPr>
          <a:xfrm>
            <a:off x="4389120" y="3536314"/>
            <a:ext cx="1380744" cy="621792"/>
          </a:xfrm>
          <a:prstGeom prst="rect">
            <a:avLst/>
          </a:prstGeom>
          <a:solidFill>
            <a:srgbClr val="E0E7EF"/>
          </a:solidFill>
          <a:ln w="12700">
            <a:solidFill>
              <a:srgbClr val="D0D8E4"/>
            </a:solidFill>
            <a:prstDash val="solid"/>
          </a:ln>
        </p:spPr>
        <p:txBody>
          <a:bodyPr/>
          <a:lstStyle/>
          <a:p>
            <a:endParaRPr lang="es-MX"/>
          </a:p>
        </p:txBody>
      </p:sp>
      <p:sp>
        <p:nvSpPr>
          <p:cNvPr id="39" name="Text 37"/>
          <p:cNvSpPr txBox="1"/>
          <p:nvPr/>
        </p:nvSpPr>
        <p:spPr>
          <a:xfrm>
            <a:off x="4434840" y="3719194"/>
            <a:ext cx="1289304" cy="256032"/>
          </a:xfrm>
          <a:prstGeom prst="rect">
            <a:avLst/>
          </a:prstGeom>
          <a:noFill/>
          <a:ln/>
        </p:spPr>
        <p:txBody>
          <a:bodyPr wrap="square" rtlCol="0" anchor="ctr"/>
          <a:lstStyle/>
          <a:p>
            <a:pPr marL="0" indent="0" algn="ctr">
              <a:buNone/>
            </a:pPr>
            <a:r>
              <a:rPr lang="en-US" sz="1400" dirty="0">
                <a:solidFill>
                  <a:srgbClr val="1E293B"/>
                </a:solidFill>
                <a:latin typeface="Calibri" pitchFamily="34" charset="0"/>
                <a:ea typeface="Calibri" pitchFamily="34" charset="-122"/>
                <a:cs typeface="Calibri" pitchFamily="34" charset="-120"/>
              </a:rPr>
              <a:t>—</a:t>
            </a:r>
            <a:endParaRPr lang="en-US" sz="1400" dirty="0"/>
          </a:p>
        </p:txBody>
      </p:sp>
      <p:sp>
        <p:nvSpPr>
          <p:cNvPr id="40" name="Shape 38"/>
          <p:cNvSpPr/>
          <p:nvPr/>
        </p:nvSpPr>
        <p:spPr>
          <a:xfrm>
            <a:off x="320040" y="4194682"/>
            <a:ext cx="1207008" cy="621792"/>
          </a:xfrm>
          <a:prstGeom prst="rect">
            <a:avLst/>
          </a:prstGeom>
          <a:solidFill>
            <a:srgbClr val="1B3A6B"/>
          </a:solidFill>
          <a:ln/>
        </p:spPr>
        <p:txBody>
          <a:bodyPr/>
          <a:lstStyle/>
          <a:p>
            <a:endParaRPr lang="es-MX"/>
          </a:p>
        </p:txBody>
      </p:sp>
      <p:sp>
        <p:nvSpPr>
          <p:cNvPr id="41" name="Text 39"/>
          <p:cNvSpPr txBox="1"/>
          <p:nvPr/>
        </p:nvSpPr>
        <p:spPr>
          <a:xfrm>
            <a:off x="338328" y="4249546"/>
            <a:ext cx="1170432" cy="530352"/>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Gasto educ.</a:t>
            </a:r>
            <a:endParaRPr lang="en-US" sz="950" dirty="0"/>
          </a:p>
        </p:txBody>
      </p:sp>
      <p:sp>
        <p:nvSpPr>
          <p:cNvPr id="42" name="Shape 40"/>
          <p:cNvSpPr/>
          <p:nvPr/>
        </p:nvSpPr>
        <p:spPr>
          <a:xfrm>
            <a:off x="1554480" y="4194682"/>
            <a:ext cx="1380744" cy="621792"/>
          </a:xfrm>
          <a:prstGeom prst="rect">
            <a:avLst/>
          </a:prstGeom>
          <a:solidFill>
            <a:srgbClr val="5B8EC4"/>
          </a:solidFill>
          <a:ln w="12700">
            <a:solidFill>
              <a:srgbClr val="D0D8E4"/>
            </a:solidFill>
            <a:prstDash val="solid"/>
          </a:ln>
        </p:spPr>
        <p:txBody>
          <a:bodyPr/>
          <a:lstStyle/>
          <a:p>
            <a:endParaRPr lang="es-MX"/>
          </a:p>
        </p:txBody>
      </p:sp>
      <p:sp>
        <p:nvSpPr>
          <p:cNvPr id="43" name="Text 41"/>
          <p:cNvSpPr txBox="1"/>
          <p:nvPr/>
        </p:nvSpPr>
        <p:spPr>
          <a:xfrm>
            <a:off x="1600200" y="4377562"/>
            <a:ext cx="1289304" cy="25603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0.41</a:t>
            </a:r>
            <a:endParaRPr lang="en-US" sz="1400" dirty="0"/>
          </a:p>
        </p:txBody>
      </p:sp>
      <p:sp>
        <p:nvSpPr>
          <p:cNvPr id="44" name="Shape 42"/>
          <p:cNvSpPr/>
          <p:nvPr/>
        </p:nvSpPr>
        <p:spPr>
          <a:xfrm>
            <a:off x="2971800" y="4194682"/>
            <a:ext cx="1380744" cy="621792"/>
          </a:xfrm>
          <a:prstGeom prst="rect">
            <a:avLst/>
          </a:prstGeom>
          <a:solidFill>
            <a:srgbClr val="F4A0A0"/>
          </a:solidFill>
          <a:ln w="12700">
            <a:solidFill>
              <a:srgbClr val="D0D8E4"/>
            </a:solidFill>
            <a:prstDash val="solid"/>
          </a:ln>
        </p:spPr>
        <p:txBody>
          <a:bodyPr/>
          <a:lstStyle/>
          <a:p>
            <a:endParaRPr lang="es-MX"/>
          </a:p>
        </p:txBody>
      </p:sp>
      <p:sp>
        <p:nvSpPr>
          <p:cNvPr id="45" name="Text 43"/>
          <p:cNvSpPr txBox="1"/>
          <p:nvPr/>
        </p:nvSpPr>
        <p:spPr>
          <a:xfrm>
            <a:off x="3017520" y="4377562"/>
            <a:ext cx="1289304" cy="256032"/>
          </a:xfrm>
          <a:prstGeom prst="rect">
            <a:avLst/>
          </a:prstGeom>
          <a:noFill/>
          <a:ln/>
        </p:spPr>
        <p:txBody>
          <a:bodyPr wrap="square" rtlCol="0" anchor="ctr"/>
          <a:lstStyle/>
          <a:p>
            <a:pPr marL="0" indent="0" algn="ctr">
              <a:buNone/>
            </a:pPr>
            <a:r>
              <a:rPr lang="en-US" sz="1400" dirty="0">
                <a:solidFill>
                  <a:srgbClr val="1E293B"/>
                </a:solidFill>
                <a:latin typeface="Calibri" pitchFamily="34" charset="0"/>
                <a:ea typeface="Calibri" pitchFamily="34" charset="-122"/>
                <a:cs typeface="Calibri" pitchFamily="34" charset="-120"/>
              </a:rPr>
              <a:t>-0.18</a:t>
            </a:r>
            <a:endParaRPr lang="en-US" sz="1400" dirty="0"/>
          </a:p>
        </p:txBody>
      </p:sp>
      <p:sp>
        <p:nvSpPr>
          <p:cNvPr id="46" name="Shape 44"/>
          <p:cNvSpPr/>
          <p:nvPr/>
        </p:nvSpPr>
        <p:spPr>
          <a:xfrm>
            <a:off x="4389120" y="4194682"/>
            <a:ext cx="1380744" cy="621792"/>
          </a:xfrm>
          <a:prstGeom prst="rect">
            <a:avLst/>
          </a:prstGeom>
          <a:solidFill>
            <a:srgbClr val="F4F7FB"/>
          </a:solidFill>
          <a:ln w="12700">
            <a:solidFill>
              <a:srgbClr val="D0D8E4"/>
            </a:solidFill>
            <a:prstDash val="solid"/>
          </a:ln>
        </p:spPr>
        <p:txBody>
          <a:bodyPr/>
          <a:lstStyle/>
          <a:p>
            <a:endParaRPr lang="es-MX"/>
          </a:p>
        </p:txBody>
      </p:sp>
      <p:sp>
        <p:nvSpPr>
          <p:cNvPr id="47" name="Text 45"/>
          <p:cNvSpPr txBox="1"/>
          <p:nvPr/>
        </p:nvSpPr>
        <p:spPr>
          <a:xfrm>
            <a:off x="4434840" y="4377562"/>
            <a:ext cx="1289304" cy="256032"/>
          </a:xfrm>
          <a:prstGeom prst="rect">
            <a:avLst/>
          </a:prstGeom>
          <a:noFill/>
          <a:ln/>
        </p:spPr>
        <p:txBody>
          <a:bodyPr wrap="square" rtlCol="0" anchor="ctr"/>
          <a:lstStyle/>
          <a:p>
            <a:pPr marL="0" indent="0" algn="ctr">
              <a:buNone/>
            </a:pPr>
            <a:r>
              <a:rPr lang="en-US" sz="1400" dirty="0">
                <a:solidFill>
                  <a:srgbClr val="1E293B"/>
                </a:solidFill>
                <a:latin typeface="Calibri" pitchFamily="34" charset="0"/>
                <a:ea typeface="Calibri" pitchFamily="34" charset="-122"/>
                <a:cs typeface="Calibri" pitchFamily="34" charset="-120"/>
              </a:rPr>
              <a:t>-0.08</a:t>
            </a:r>
            <a:endParaRPr lang="en-US" sz="1400" dirty="0"/>
          </a:p>
        </p:txBody>
      </p:sp>
      <p:sp>
        <p:nvSpPr>
          <p:cNvPr id="48" name="Shape 46"/>
          <p:cNvSpPr/>
          <p:nvPr/>
        </p:nvSpPr>
        <p:spPr>
          <a:xfrm>
            <a:off x="5806440" y="4194682"/>
            <a:ext cx="1380744" cy="621792"/>
          </a:xfrm>
          <a:prstGeom prst="rect">
            <a:avLst/>
          </a:prstGeom>
          <a:solidFill>
            <a:srgbClr val="E0E7EF"/>
          </a:solidFill>
          <a:ln w="12700">
            <a:solidFill>
              <a:srgbClr val="D0D8E4"/>
            </a:solidFill>
            <a:prstDash val="solid"/>
          </a:ln>
        </p:spPr>
        <p:txBody>
          <a:bodyPr/>
          <a:lstStyle/>
          <a:p>
            <a:endParaRPr lang="es-MX"/>
          </a:p>
        </p:txBody>
      </p:sp>
      <p:sp>
        <p:nvSpPr>
          <p:cNvPr id="49" name="Text 47"/>
          <p:cNvSpPr txBox="1"/>
          <p:nvPr/>
        </p:nvSpPr>
        <p:spPr>
          <a:xfrm>
            <a:off x="5852160" y="4377562"/>
            <a:ext cx="1289304" cy="256032"/>
          </a:xfrm>
          <a:prstGeom prst="rect">
            <a:avLst/>
          </a:prstGeom>
          <a:noFill/>
          <a:ln/>
        </p:spPr>
        <p:txBody>
          <a:bodyPr wrap="square" rtlCol="0" anchor="ctr"/>
          <a:lstStyle/>
          <a:p>
            <a:pPr marL="0" indent="0" algn="ctr">
              <a:buNone/>
            </a:pPr>
            <a:r>
              <a:rPr lang="en-US" sz="1400" dirty="0">
                <a:solidFill>
                  <a:srgbClr val="1E293B"/>
                </a:solidFill>
                <a:latin typeface="Calibri" pitchFamily="34" charset="0"/>
                <a:ea typeface="Calibri" pitchFamily="34" charset="-122"/>
                <a:cs typeface="Calibri" pitchFamily="34" charset="-120"/>
              </a:rPr>
              <a:t>—</a:t>
            </a:r>
            <a:endParaRPr lang="en-US" sz="1400" dirty="0"/>
          </a:p>
        </p:txBody>
      </p:sp>
      <p:sp>
        <p:nvSpPr>
          <p:cNvPr id="50" name="Shape 48"/>
          <p:cNvSpPr/>
          <p:nvPr/>
        </p:nvSpPr>
        <p:spPr>
          <a:xfrm>
            <a:off x="320040" y="4853050"/>
            <a:ext cx="1207008" cy="621792"/>
          </a:xfrm>
          <a:prstGeom prst="rect">
            <a:avLst/>
          </a:prstGeom>
          <a:solidFill>
            <a:srgbClr val="1B3A6B"/>
          </a:solidFill>
          <a:ln/>
        </p:spPr>
        <p:txBody>
          <a:bodyPr/>
          <a:lstStyle/>
          <a:p>
            <a:endParaRPr lang="es-MX"/>
          </a:p>
        </p:txBody>
      </p:sp>
      <p:sp>
        <p:nvSpPr>
          <p:cNvPr id="51" name="Text 49"/>
          <p:cNvSpPr txBox="1"/>
          <p:nvPr/>
        </p:nvSpPr>
        <p:spPr>
          <a:xfrm>
            <a:off x="338328" y="4907914"/>
            <a:ext cx="1170432" cy="530352"/>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Part. fem.</a:t>
            </a:r>
            <a:endParaRPr lang="en-US" sz="950" dirty="0"/>
          </a:p>
        </p:txBody>
      </p:sp>
      <p:sp>
        <p:nvSpPr>
          <p:cNvPr id="52" name="Shape 50"/>
          <p:cNvSpPr/>
          <p:nvPr/>
        </p:nvSpPr>
        <p:spPr>
          <a:xfrm>
            <a:off x="1554480" y="4853050"/>
            <a:ext cx="1380744" cy="621792"/>
          </a:xfrm>
          <a:prstGeom prst="rect">
            <a:avLst/>
          </a:prstGeom>
          <a:solidFill>
            <a:srgbClr val="1D4E8F"/>
          </a:solidFill>
          <a:ln w="12700">
            <a:solidFill>
              <a:srgbClr val="D0D8E4"/>
            </a:solidFill>
            <a:prstDash val="solid"/>
          </a:ln>
        </p:spPr>
        <p:txBody>
          <a:bodyPr/>
          <a:lstStyle/>
          <a:p>
            <a:endParaRPr lang="es-MX"/>
          </a:p>
        </p:txBody>
      </p:sp>
      <p:sp>
        <p:nvSpPr>
          <p:cNvPr id="53" name="Text 51"/>
          <p:cNvSpPr txBox="1"/>
          <p:nvPr/>
        </p:nvSpPr>
        <p:spPr>
          <a:xfrm>
            <a:off x="1600200" y="5035930"/>
            <a:ext cx="1289304" cy="25603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0.52</a:t>
            </a:r>
            <a:endParaRPr lang="en-US" sz="1400" dirty="0"/>
          </a:p>
        </p:txBody>
      </p:sp>
      <p:sp>
        <p:nvSpPr>
          <p:cNvPr id="54" name="Shape 52"/>
          <p:cNvSpPr/>
          <p:nvPr/>
        </p:nvSpPr>
        <p:spPr>
          <a:xfrm>
            <a:off x="2971800" y="4853050"/>
            <a:ext cx="1380744" cy="621792"/>
          </a:xfrm>
          <a:prstGeom prst="rect">
            <a:avLst/>
          </a:prstGeom>
          <a:solidFill>
            <a:srgbClr val="E05555"/>
          </a:solidFill>
          <a:ln w="12700">
            <a:solidFill>
              <a:srgbClr val="D0D8E4"/>
            </a:solidFill>
            <a:prstDash val="solid"/>
          </a:ln>
        </p:spPr>
        <p:txBody>
          <a:bodyPr/>
          <a:lstStyle/>
          <a:p>
            <a:endParaRPr lang="es-MX"/>
          </a:p>
        </p:txBody>
      </p:sp>
      <p:sp>
        <p:nvSpPr>
          <p:cNvPr id="55" name="Text 53"/>
          <p:cNvSpPr txBox="1"/>
          <p:nvPr/>
        </p:nvSpPr>
        <p:spPr>
          <a:xfrm>
            <a:off x="3017520" y="5035930"/>
            <a:ext cx="1289304" cy="25603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-0.44</a:t>
            </a:r>
            <a:endParaRPr lang="en-US" sz="1400" dirty="0"/>
          </a:p>
        </p:txBody>
      </p:sp>
      <p:sp>
        <p:nvSpPr>
          <p:cNvPr id="56" name="Shape 54"/>
          <p:cNvSpPr/>
          <p:nvPr/>
        </p:nvSpPr>
        <p:spPr>
          <a:xfrm>
            <a:off x="4389120" y="4853050"/>
            <a:ext cx="1380744" cy="621792"/>
          </a:xfrm>
          <a:prstGeom prst="rect">
            <a:avLst/>
          </a:prstGeom>
          <a:solidFill>
            <a:srgbClr val="A8C3E0"/>
          </a:solidFill>
          <a:ln w="12700">
            <a:solidFill>
              <a:srgbClr val="D0D8E4"/>
            </a:solidFill>
            <a:prstDash val="solid"/>
          </a:ln>
        </p:spPr>
        <p:txBody>
          <a:bodyPr/>
          <a:lstStyle/>
          <a:p>
            <a:endParaRPr lang="es-MX"/>
          </a:p>
        </p:txBody>
      </p:sp>
      <p:sp>
        <p:nvSpPr>
          <p:cNvPr id="57" name="Text 55"/>
          <p:cNvSpPr txBox="1"/>
          <p:nvPr/>
        </p:nvSpPr>
        <p:spPr>
          <a:xfrm>
            <a:off x="4434840" y="5035930"/>
            <a:ext cx="1289304" cy="256032"/>
          </a:xfrm>
          <a:prstGeom prst="rect">
            <a:avLst/>
          </a:prstGeom>
          <a:noFill/>
          <a:ln/>
        </p:spPr>
        <p:txBody>
          <a:bodyPr wrap="square" rtlCol="0" anchor="ctr"/>
          <a:lstStyle/>
          <a:p>
            <a:pPr marL="0" indent="0" algn="ctr">
              <a:buNone/>
            </a:pPr>
            <a:r>
              <a:rPr lang="en-US" sz="1400" dirty="0">
                <a:solidFill>
                  <a:srgbClr val="1E293B"/>
                </a:solidFill>
                <a:latin typeface="Calibri" pitchFamily="34" charset="0"/>
                <a:ea typeface="Calibri" pitchFamily="34" charset="-122"/>
                <a:cs typeface="Calibri" pitchFamily="34" charset="-120"/>
              </a:rPr>
              <a:t>0.12</a:t>
            </a:r>
            <a:endParaRPr lang="en-US" sz="1400" dirty="0"/>
          </a:p>
        </p:txBody>
      </p:sp>
      <p:sp>
        <p:nvSpPr>
          <p:cNvPr id="58" name="Shape 56"/>
          <p:cNvSpPr/>
          <p:nvPr/>
        </p:nvSpPr>
        <p:spPr>
          <a:xfrm>
            <a:off x="5806440" y="4853050"/>
            <a:ext cx="1380744" cy="621792"/>
          </a:xfrm>
          <a:prstGeom prst="rect">
            <a:avLst/>
          </a:prstGeom>
          <a:solidFill>
            <a:srgbClr val="5B8EC4"/>
          </a:solidFill>
          <a:ln w="12700">
            <a:solidFill>
              <a:srgbClr val="D0D8E4"/>
            </a:solidFill>
            <a:prstDash val="solid"/>
          </a:ln>
        </p:spPr>
        <p:txBody>
          <a:bodyPr/>
          <a:lstStyle/>
          <a:p>
            <a:endParaRPr lang="es-MX"/>
          </a:p>
        </p:txBody>
      </p:sp>
      <p:sp>
        <p:nvSpPr>
          <p:cNvPr id="59" name="Text 57"/>
          <p:cNvSpPr txBox="1"/>
          <p:nvPr/>
        </p:nvSpPr>
        <p:spPr>
          <a:xfrm>
            <a:off x="5852160" y="5035930"/>
            <a:ext cx="1289304" cy="256032"/>
          </a:xfrm>
          <a:prstGeom prst="rect">
            <a:avLst/>
          </a:prstGeom>
          <a:noFill/>
          <a:ln/>
        </p:spPr>
        <p:txBody>
          <a:bodyPr wrap="square" rtlCol="0" anchor="ctr"/>
          <a:lstStyle/>
          <a:p>
            <a:pPr marL="0" indent="0" algn="ctr">
              <a:buNone/>
            </a:pPr>
            <a:r>
              <a:rPr lang="en-US" sz="1400" dirty="0">
                <a:solidFill>
                  <a:srgbClr val="1E293B"/>
                </a:solidFill>
                <a:latin typeface="Calibri" pitchFamily="34" charset="0"/>
                <a:ea typeface="Calibri" pitchFamily="34" charset="-122"/>
                <a:cs typeface="Calibri" pitchFamily="34" charset="-120"/>
              </a:rPr>
              <a:t>0.35</a:t>
            </a:r>
            <a:endParaRPr lang="en-US" sz="1400" dirty="0"/>
          </a:p>
        </p:txBody>
      </p:sp>
      <p:sp>
        <p:nvSpPr>
          <p:cNvPr id="60" name="Shape 58"/>
          <p:cNvSpPr/>
          <p:nvPr/>
        </p:nvSpPr>
        <p:spPr>
          <a:xfrm>
            <a:off x="7223760" y="4853050"/>
            <a:ext cx="1380744" cy="621792"/>
          </a:xfrm>
          <a:prstGeom prst="rect">
            <a:avLst/>
          </a:prstGeom>
          <a:solidFill>
            <a:srgbClr val="E0E7EF"/>
          </a:solidFill>
          <a:ln w="12700">
            <a:solidFill>
              <a:srgbClr val="D0D8E4"/>
            </a:solidFill>
            <a:prstDash val="solid"/>
          </a:ln>
        </p:spPr>
        <p:txBody>
          <a:bodyPr/>
          <a:lstStyle/>
          <a:p>
            <a:endParaRPr lang="es-MX"/>
          </a:p>
        </p:txBody>
      </p:sp>
      <p:sp>
        <p:nvSpPr>
          <p:cNvPr id="61" name="Text 59"/>
          <p:cNvSpPr txBox="1"/>
          <p:nvPr/>
        </p:nvSpPr>
        <p:spPr>
          <a:xfrm>
            <a:off x="7269480" y="5035930"/>
            <a:ext cx="1289304" cy="256032"/>
          </a:xfrm>
          <a:prstGeom prst="rect">
            <a:avLst/>
          </a:prstGeom>
          <a:noFill/>
          <a:ln/>
        </p:spPr>
        <p:txBody>
          <a:bodyPr wrap="square" rtlCol="0" anchor="ctr"/>
          <a:lstStyle/>
          <a:p>
            <a:pPr marL="0" indent="0" algn="ctr">
              <a:buNone/>
            </a:pPr>
            <a:r>
              <a:rPr lang="en-US" sz="1400" dirty="0">
                <a:solidFill>
                  <a:srgbClr val="1E293B"/>
                </a:solidFill>
                <a:latin typeface="Calibri" pitchFamily="34" charset="0"/>
                <a:ea typeface="Calibri" pitchFamily="34" charset="-122"/>
                <a:cs typeface="Calibri" pitchFamily="34" charset="-120"/>
              </a:rPr>
              <a:t>—</a:t>
            </a:r>
            <a:endParaRPr lang="en-US" sz="1400" dirty="0"/>
          </a:p>
        </p:txBody>
      </p:sp>
      <p:sp>
        <p:nvSpPr>
          <p:cNvPr id="62" name="Text 60"/>
          <p:cNvSpPr txBox="1"/>
          <p:nvPr/>
        </p:nvSpPr>
        <p:spPr>
          <a:xfrm>
            <a:off x="9144000" y="1554480"/>
            <a:ext cx="2651760" cy="320040"/>
          </a:xfrm>
          <a:prstGeom prst="rect">
            <a:avLst/>
          </a:prstGeom>
          <a:noFill/>
          <a:ln/>
        </p:spPr>
        <p:txBody>
          <a:bodyPr wrap="square" rtlCol="0" anchor="ctr"/>
          <a:lstStyle/>
          <a:p>
            <a:pPr marL="0" indent="0">
              <a:buNone/>
            </a:pPr>
            <a:r>
              <a:rPr lang="en-US" sz="1000" b="1" dirty="0">
                <a:solidFill>
                  <a:srgbClr val="1B3A6B"/>
                </a:solidFill>
                <a:latin typeface="Calibri" pitchFamily="34" charset="0"/>
                <a:ea typeface="Calibri" pitchFamily="34" charset="-122"/>
                <a:cs typeface="Calibri" pitchFamily="34" charset="-120"/>
              </a:rPr>
              <a:t>Escala de colores:</a:t>
            </a:r>
            <a:endParaRPr lang="en-US" sz="1000" dirty="0"/>
          </a:p>
        </p:txBody>
      </p:sp>
      <p:sp>
        <p:nvSpPr>
          <p:cNvPr id="63" name="Shape 61"/>
          <p:cNvSpPr/>
          <p:nvPr/>
        </p:nvSpPr>
        <p:spPr>
          <a:xfrm>
            <a:off x="9144000" y="1920240"/>
            <a:ext cx="320040" cy="320040"/>
          </a:xfrm>
          <a:prstGeom prst="rect">
            <a:avLst/>
          </a:prstGeom>
          <a:solidFill>
            <a:srgbClr val="2A7ABF"/>
          </a:solidFill>
          <a:ln/>
        </p:spPr>
        <p:txBody>
          <a:bodyPr/>
          <a:lstStyle/>
          <a:p>
            <a:endParaRPr lang="es-MX"/>
          </a:p>
        </p:txBody>
      </p:sp>
      <p:sp>
        <p:nvSpPr>
          <p:cNvPr id="64" name="Text 62"/>
          <p:cNvSpPr txBox="1"/>
          <p:nvPr/>
        </p:nvSpPr>
        <p:spPr>
          <a:xfrm>
            <a:off x="9555480" y="1938528"/>
            <a:ext cx="2468880" cy="320040"/>
          </a:xfrm>
          <a:prstGeom prst="rect">
            <a:avLst/>
          </a:prstGeom>
          <a:noFill/>
          <a:ln/>
        </p:spPr>
        <p:txBody>
          <a:bodyPr wrap="square" rtlCol="0" anchor="ctr"/>
          <a:lstStyle/>
          <a:p>
            <a:pPr marL="0" indent="0">
              <a:buNone/>
            </a:pPr>
            <a:r>
              <a:rPr lang="en-US" sz="850" dirty="0">
                <a:solidFill>
                  <a:srgbClr val="1E293B"/>
                </a:solidFill>
                <a:latin typeface="Calibri" pitchFamily="34" charset="0"/>
                <a:ea typeface="Calibri" pitchFamily="34" charset="-122"/>
                <a:cs typeface="Calibri" pitchFamily="34" charset="-120"/>
              </a:rPr>
              <a:t>+0.5 a +1.0  Correlación positiva fuerte</a:t>
            </a:r>
            <a:endParaRPr lang="en-US" sz="850" dirty="0"/>
          </a:p>
        </p:txBody>
      </p:sp>
      <p:sp>
        <p:nvSpPr>
          <p:cNvPr id="65" name="Shape 63"/>
          <p:cNvSpPr/>
          <p:nvPr/>
        </p:nvSpPr>
        <p:spPr>
          <a:xfrm>
            <a:off x="9144000" y="2331720"/>
            <a:ext cx="320040" cy="320040"/>
          </a:xfrm>
          <a:prstGeom prst="rect">
            <a:avLst/>
          </a:prstGeom>
          <a:solidFill>
            <a:srgbClr val="A8C3E0"/>
          </a:solidFill>
          <a:ln/>
        </p:spPr>
        <p:txBody>
          <a:bodyPr/>
          <a:lstStyle/>
          <a:p>
            <a:endParaRPr lang="es-MX"/>
          </a:p>
        </p:txBody>
      </p:sp>
      <p:sp>
        <p:nvSpPr>
          <p:cNvPr id="66" name="Text 64"/>
          <p:cNvSpPr txBox="1"/>
          <p:nvPr/>
        </p:nvSpPr>
        <p:spPr>
          <a:xfrm>
            <a:off x="9555480" y="2350008"/>
            <a:ext cx="2468880" cy="320040"/>
          </a:xfrm>
          <a:prstGeom prst="rect">
            <a:avLst/>
          </a:prstGeom>
          <a:noFill/>
          <a:ln/>
        </p:spPr>
        <p:txBody>
          <a:bodyPr wrap="square" rtlCol="0" anchor="ctr"/>
          <a:lstStyle/>
          <a:p>
            <a:pPr marL="0" indent="0">
              <a:buNone/>
            </a:pPr>
            <a:r>
              <a:rPr lang="en-US" sz="850" dirty="0">
                <a:solidFill>
                  <a:srgbClr val="1E293B"/>
                </a:solidFill>
                <a:latin typeface="Calibri" pitchFamily="34" charset="0"/>
                <a:ea typeface="Calibri" pitchFamily="34" charset="-122"/>
                <a:cs typeface="Calibri" pitchFamily="34" charset="-120"/>
              </a:rPr>
              <a:t>+0.1 a +0.5  Correlación positiva débil</a:t>
            </a:r>
            <a:endParaRPr lang="en-US" sz="850" dirty="0"/>
          </a:p>
        </p:txBody>
      </p:sp>
      <p:sp>
        <p:nvSpPr>
          <p:cNvPr id="67" name="Shape 65"/>
          <p:cNvSpPr/>
          <p:nvPr/>
        </p:nvSpPr>
        <p:spPr>
          <a:xfrm>
            <a:off x="9144000" y="2743200"/>
            <a:ext cx="320040" cy="320040"/>
          </a:xfrm>
          <a:prstGeom prst="rect">
            <a:avLst/>
          </a:prstGeom>
          <a:solidFill>
            <a:srgbClr val="E0E7EF"/>
          </a:solidFill>
          <a:ln/>
        </p:spPr>
        <p:txBody>
          <a:bodyPr/>
          <a:lstStyle/>
          <a:p>
            <a:endParaRPr lang="es-MX"/>
          </a:p>
        </p:txBody>
      </p:sp>
      <p:sp>
        <p:nvSpPr>
          <p:cNvPr id="68" name="Text 66"/>
          <p:cNvSpPr txBox="1"/>
          <p:nvPr/>
        </p:nvSpPr>
        <p:spPr>
          <a:xfrm>
            <a:off x="9555480" y="2761488"/>
            <a:ext cx="2468880" cy="320040"/>
          </a:xfrm>
          <a:prstGeom prst="rect">
            <a:avLst/>
          </a:prstGeom>
          <a:noFill/>
          <a:ln/>
        </p:spPr>
        <p:txBody>
          <a:bodyPr wrap="square" rtlCol="0" anchor="ctr"/>
          <a:lstStyle/>
          <a:p>
            <a:pPr marL="0" indent="0">
              <a:buNone/>
            </a:pPr>
            <a:r>
              <a:rPr lang="en-US" sz="850" dirty="0">
                <a:solidFill>
                  <a:srgbClr val="1E293B"/>
                </a:solidFill>
                <a:latin typeface="Calibri" pitchFamily="34" charset="0"/>
                <a:ea typeface="Calibri" pitchFamily="34" charset="-122"/>
                <a:cs typeface="Calibri" pitchFamily="34" charset="-120"/>
              </a:rPr>
              <a:t>−0.1 a +0.1  Sin relación lineal</a:t>
            </a:r>
            <a:endParaRPr lang="en-US" sz="850" dirty="0"/>
          </a:p>
        </p:txBody>
      </p:sp>
      <p:sp>
        <p:nvSpPr>
          <p:cNvPr id="69" name="Shape 67"/>
          <p:cNvSpPr/>
          <p:nvPr/>
        </p:nvSpPr>
        <p:spPr>
          <a:xfrm>
            <a:off x="9144000" y="3154680"/>
            <a:ext cx="320040" cy="320040"/>
          </a:xfrm>
          <a:prstGeom prst="rect">
            <a:avLst/>
          </a:prstGeom>
          <a:solidFill>
            <a:srgbClr val="F4A0A0"/>
          </a:solidFill>
          <a:ln/>
        </p:spPr>
        <p:txBody>
          <a:bodyPr/>
          <a:lstStyle/>
          <a:p>
            <a:endParaRPr lang="es-MX"/>
          </a:p>
        </p:txBody>
      </p:sp>
      <p:sp>
        <p:nvSpPr>
          <p:cNvPr id="70" name="Text 68"/>
          <p:cNvSpPr txBox="1"/>
          <p:nvPr/>
        </p:nvSpPr>
        <p:spPr>
          <a:xfrm>
            <a:off x="9555480" y="3172968"/>
            <a:ext cx="2468880" cy="320040"/>
          </a:xfrm>
          <a:prstGeom prst="rect">
            <a:avLst/>
          </a:prstGeom>
          <a:noFill/>
          <a:ln/>
        </p:spPr>
        <p:txBody>
          <a:bodyPr wrap="square" rtlCol="0" anchor="ctr"/>
          <a:lstStyle/>
          <a:p>
            <a:pPr marL="0" indent="0">
              <a:buNone/>
            </a:pPr>
            <a:r>
              <a:rPr lang="en-US" sz="850" dirty="0">
                <a:solidFill>
                  <a:srgbClr val="1E293B"/>
                </a:solidFill>
                <a:latin typeface="Calibri" pitchFamily="34" charset="0"/>
                <a:ea typeface="Calibri" pitchFamily="34" charset="-122"/>
                <a:cs typeface="Calibri" pitchFamily="34" charset="-120"/>
              </a:rPr>
              <a:t>−0.5 a −0.1  Correlación negativa débil</a:t>
            </a:r>
            <a:endParaRPr lang="en-US" sz="850" dirty="0"/>
          </a:p>
        </p:txBody>
      </p:sp>
      <p:sp>
        <p:nvSpPr>
          <p:cNvPr id="71" name="Shape 69"/>
          <p:cNvSpPr/>
          <p:nvPr/>
        </p:nvSpPr>
        <p:spPr>
          <a:xfrm>
            <a:off x="9144000" y="3566160"/>
            <a:ext cx="320040" cy="320040"/>
          </a:xfrm>
          <a:prstGeom prst="rect">
            <a:avLst/>
          </a:prstGeom>
          <a:solidFill>
            <a:srgbClr val="C0392B"/>
          </a:solidFill>
          <a:ln/>
        </p:spPr>
        <p:txBody>
          <a:bodyPr/>
          <a:lstStyle/>
          <a:p>
            <a:endParaRPr lang="es-MX"/>
          </a:p>
        </p:txBody>
      </p:sp>
      <p:sp>
        <p:nvSpPr>
          <p:cNvPr id="72" name="Text 70"/>
          <p:cNvSpPr txBox="1"/>
          <p:nvPr/>
        </p:nvSpPr>
        <p:spPr>
          <a:xfrm>
            <a:off x="9555480" y="3584448"/>
            <a:ext cx="2468880" cy="320040"/>
          </a:xfrm>
          <a:prstGeom prst="rect">
            <a:avLst/>
          </a:prstGeom>
          <a:noFill/>
          <a:ln/>
        </p:spPr>
        <p:txBody>
          <a:bodyPr wrap="square" rtlCol="0" anchor="ctr"/>
          <a:lstStyle/>
          <a:p>
            <a:pPr marL="0" indent="0">
              <a:buNone/>
            </a:pPr>
            <a:r>
              <a:rPr lang="en-US" sz="850" dirty="0">
                <a:solidFill>
                  <a:srgbClr val="1E293B"/>
                </a:solidFill>
                <a:latin typeface="Calibri" pitchFamily="34" charset="0"/>
                <a:ea typeface="Calibri" pitchFamily="34" charset="-122"/>
                <a:cs typeface="Calibri" pitchFamily="34" charset="-120"/>
              </a:rPr>
              <a:t>−1.0 a −0.5  Correlación negativa fuerte</a:t>
            </a:r>
            <a:endParaRPr lang="en-US" sz="850" dirty="0"/>
          </a:p>
        </p:txBody>
      </p:sp>
      <p:sp>
        <p:nvSpPr>
          <p:cNvPr id="73" name="Shape 71"/>
          <p:cNvSpPr/>
          <p:nvPr/>
        </p:nvSpPr>
        <p:spPr>
          <a:xfrm>
            <a:off x="9144000" y="4023360"/>
            <a:ext cx="2651760" cy="1737360"/>
          </a:xfrm>
          <a:prstGeom prst="rect">
            <a:avLst/>
          </a:prstGeom>
          <a:solidFill>
            <a:srgbClr val="1E2D40"/>
          </a:solidFill>
          <a:ln w="12700">
            <a:solidFill>
              <a:srgbClr val="2A7ABF"/>
            </a:solidFill>
            <a:prstDash val="solid"/>
          </a:ln>
        </p:spPr>
        <p:txBody>
          <a:bodyPr/>
          <a:lstStyle/>
          <a:p>
            <a:endParaRPr lang="es-MX"/>
          </a:p>
        </p:txBody>
      </p:sp>
      <p:sp>
        <p:nvSpPr>
          <p:cNvPr id="74" name="Text 72"/>
          <p:cNvSpPr txBox="1"/>
          <p:nvPr/>
        </p:nvSpPr>
        <p:spPr>
          <a:xfrm>
            <a:off x="9253728" y="4114800"/>
            <a:ext cx="2432304" cy="1554480"/>
          </a:xfrm>
          <a:prstGeom prst="rect">
            <a:avLst/>
          </a:prstGeom>
          <a:noFill/>
          <a:ln/>
        </p:spPr>
        <p:txBody>
          <a:bodyPr wrap="square" rtlCol="0" anchor="t"/>
          <a:lstStyle/>
          <a:p>
            <a:pPr marL="0" indent="0">
              <a:buNone/>
            </a:pPr>
            <a:r>
              <a:rPr lang="en-US" sz="850" dirty="0">
                <a:solidFill>
                  <a:srgbClr val="A8D8F0"/>
                </a:solidFill>
                <a:latin typeface="Courier New" pitchFamily="34" charset="0"/>
                <a:ea typeface="Courier New" pitchFamily="34" charset="-122"/>
                <a:cs typeface="Courier New" pitchFamily="34" charset="-120"/>
              </a:rPr>
              <a:t>corr_mat = df[vars_num].corr()</a:t>
            </a:r>
            <a:endParaRPr lang="en-US" sz="850" dirty="0"/>
          </a:p>
          <a:p>
            <a:pPr marL="0" indent="0">
              <a:buNone/>
            </a:pPr>
            <a:endParaRPr lang="en-US" sz="850" dirty="0">
              <a:solidFill>
                <a:srgbClr val="A8D8F0"/>
              </a:solidFill>
              <a:latin typeface="Courier New" pitchFamily="34" charset="0"/>
              <a:ea typeface="Courier New" pitchFamily="34" charset="-122"/>
              <a:cs typeface="Courier New" pitchFamily="34" charset="-120"/>
            </a:endParaRPr>
          </a:p>
          <a:p>
            <a:pPr marL="0" indent="0">
              <a:buNone/>
            </a:pPr>
            <a:r>
              <a:rPr lang="en-US" sz="850" dirty="0" err="1">
                <a:solidFill>
                  <a:srgbClr val="A8D8F0"/>
                </a:solidFill>
                <a:latin typeface="Courier New" pitchFamily="34" charset="0"/>
                <a:ea typeface="Courier New" pitchFamily="34" charset="-122"/>
                <a:cs typeface="Courier New" pitchFamily="34" charset="-120"/>
              </a:rPr>
              <a:t>sns.heatmap</a:t>
            </a:r>
            <a:r>
              <a:rPr lang="en-US" sz="850" dirty="0">
                <a:solidFill>
                  <a:srgbClr val="A8D8F0"/>
                </a:solidFill>
                <a:latin typeface="Courier New" pitchFamily="34" charset="0"/>
                <a:ea typeface="Courier New" pitchFamily="34" charset="-122"/>
                <a:cs typeface="Courier New" pitchFamily="34" charset="-120"/>
              </a:rPr>
              <a:t>(corr_mat,</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    annot=True, fmt='.2f',</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    cmap='RdBu_r',</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    vmin=-1, vmax=1,</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    mask=np.triu(...)  # solo triángulo inf.</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txBody>
          <a:bodyPr/>
          <a:lstStyle/>
          <a:p>
            <a:endParaRPr lang="es-MX"/>
          </a:p>
        </p:txBody>
      </p:sp>
      <p:sp>
        <p:nvSpPr>
          <p:cNvPr id="3" name="Text 1"/>
          <p:cNvSpPr txBox="1"/>
          <p:nvPr/>
        </p:nvSpPr>
        <p:spPr>
          <a:xfrm>
            <a:off x="228600" y="36576"/>
            <a:ext cx="8229600" cy="27432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marL="0" indent="0" algn="r">
              <a:buNone/>
            </a:pPr>
            <a:r>
              <a:rPr lang="en-US" sz="900" b="1" dirty="0">
                <a:solidFill>
                  <a:srgbClr val="E8A020"/>
                </a:solidFill>
                <a:latin typeface="Calibri" pitchFamily="34" charset="0"/>
                <a:ea typeface="Calibri" pitchFamily="34" charset="-122"/>
                <a:cs typeface="Calibri" pitchFamily="34" charset="-120"/>
              </a:rPr>
              <a:t>Tema 2.2</a:t>
            </a:r>
            <a:endParaRPr lang="en-US" sz="900" dirty="0"/>
          </a:p>
        </p:txBody>
      </p:sp>
      <p:sp>
        <p:nvSpPr>
          <p:cNvPr id="5" name="Shape 3"/>
          <p:cNvSpPr/>
          <p:nvPr/>
        </p:nvSpPr>
        <p:spPr>
          <a:xfrm>
            <a:off x="0" y="6565392"/>
            <a:ext cx="12161520" cy="292608"/>
          </a:xfrm>
          <a:prstGeom prst="rect">
            <a:avLst/>
          </a:prstGeom>
          <a:solidFill>
            <a:srgbClr val="1B3A6B"/>
          </a:solidFill>
          <a:ln/>
        </p:spPr>
        <p:txBody>
          <a:bodyPr/>
          <a:lstStyle/>
          <a:p>
            <a:endParaRPr lang="es-MX"/>
          </a:p>
        </p:txBody>
      </p:sp>
      <p:sp>
        <p:nvSpPr>
          <p:cNvPr id="6" name="Text 4"/>
          <p:cNvSpPr txBox="1"/>
          <p:nvPr/>
        </p:nvSpPr>
        <p:spPr>
          <a:xfrm>
            <a:off x="228600" y="6592824"/>
            <a:ext cx="73152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7" name="Shape 5"/>
          <p:cNvSpPr/>
          <p:nvPr/>
        </p:nvSpPr>
        <p:spPr>
          <a:xfrm>
            <a:off x="320040" y="364724"/>
            <a:ext cx="2770632" cy="256032"/>
          </a:xfrm>
          <a:prstGeom prst="roundRect">
            <a:avLst>
              <a:gd name="adj" fmla="val 17857"/>
            </a:avLst>
          </a:prstGeom>
          <a:solidFill>
            <a:srgbClr val="2A7ABF"/>
          </a:solidFill>
          <a:ln/>
        </p:spPr>
        <p:txBody>
          <a:bodyPr/>
          <a:lstStyle/>
          <a:p>
            <a:endParaRPr lang="es-MX"/>
          </a:p>
        </p:txBody>
      </p:sp>
      <p:sp>
        <p:nvSpPr>
          <p:cNvPr id="8" name="Text 6"/>
          <p:cNvSpPr txBox="1"/>
          <p:nvPr/>
        </p:nvSpPr>
        <p:spPr>
          <a:xfrm>
            <a:off x="365760" y="383012"/>
            <a:ext cx="2394693" cy="21945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Numérica × Categórica</a:t>
            </a:r>
            <a:endParaRPr lang="en-US" sz="850" dirty="0"/>
          </a:p>
        </p:txBody>
      </p:sp>
      <p:sp>
        <p:nvSpPr>
          <p:cNvPr id="9" name="Text 7"/>
          <p:cNvSpPr txBox="1"/>
          <p:nvPr/>
        </p:nvSpPr>
        <p:spPr>
          <a:xfrm>
            <a:off x="320040" y="658368"/>
            <a:ext cx="10972800" cy="502920"/>
          </a:xfrm>
          <a:prstGeom prst="rect">
            <a:avLst/>
          </a:prstGeom>
          <a:noFill/>
          <a:ln/>
        </p:spPr>
        <p:txBody>
          <a:bodyPr wrap="square" rtlCol="0" anchor="ctr"/>
          <a:lstStyle/>
          <a:p>
            <a:pPr marL="0" indent="0">
              <a:buNone/>
            </a:pPr>
            <a:r>
              <a:rPr lang="en-US" sz="2500" b="1" dirty="0">
                <a:solidFill>
                  <a:srgbClr val="1B3A6B"/>
                </a:solidFill>
                <a:latin typeface="Calibri" pitchFamily="34" charset="0"/>
                <a:ea typeface="Calibri" pitchFamily="34" charset="-122"/>
                <a:cs typeface="Calibri" pitchFamily="34" charset="-120"/>
              </a:rPr>
              <a:t>Comparar distribuciones entre grupos</a:t>
            </a:r>
            <a:endParaRPr lang="en-US" sz="2500" dirty="0"/>
          </a:p>
        </p:txBody>
      </p:sp>
      <p:sp>
        <p:nvSpPr>
          <p:cNvPr id="10" name="Shape 8"/>
          <p:cNvSpPr/>
          <p:nvPr/>
        </p:nvSpPr>
        <p:spPr>
          <a:xfrm>
            <a:off x="320040" y="1051560"/>
            <a:ext cx="5486400" cy="1691640"/>
          </a:xfrm>
          <a:prstGeom prst="rect">
            <a:avLst/>
          </a:prstGeom>
          <a:solidFill>
            <a:srgbClr val="FFFFFF"/>
          </a:solidFill>
          <a:ln w="12700">
            <a:solidFill>
              <a:srgbClr val="D1D5DB"/>
            </a:solidFill>
            <a:prstDash val="solid"/>
          </a:ln>
        </p:spPr>
        <p:txBody>
          <a:bodyPr/>
          <a:lstStyle/>
          <a:p>
            <a:endParaRPr lang="es-MX"/>
          </a:p>
        </p:txBody>
      </p:sp>
      <p:sp>
        <p:nvSpPr>
          <p:cNvPr id="11" name="Shape 9"/>
          <p:cNvSpPr/>
          <p:nvPr/>
        </p:nvSpPr>
        <p:spPr>
          <a:xfrm>
            <a:off x="320040" y="1051560"/>
            <a:ext cx="73152" cy="1691640"/>
          </a:xfrm>
          <a:prstGeom prst="rect">
            <a:avLst/>
          </a:prstGeom>
          <a:solidFill>
            <a:srgbClr val="2A7ABF"/>
          </a:solidFill>
          <a:ln/>
        </p:spPr>
        <p:txBody>
          <a:bodyPr/>
          <a:lstStyle/>
          <a:p>
            <a:endParaRPr lang="es-MX"/>
          </a:p>
        </p:txBody>
      </p:sp>
      <p:sp>
        <p:nvSpPr>
          <p:cNvPr id="12" name="Text 10"/>
          <p:cNvSpPr txBox="1"/>
          <p:nvPr/>
        </p:nvSpPr>
        <p:spPr>
          <a:xfrm>
            <a:off x="457200" y="1143000"/>
            <a:ext cx="5212080" cy="347472"/>
          </a:xfrm>
          <a:prstGeom prst="rect">
            <a:avLst/>
          </a:prstGeom>
          <a:noFill/>
          <a:ln/>
        </p:spPr>
        <p:txBody>
          <a:bodyPr wrap="square" rtlCol="0" anchor="ctr"/>
          <a:lstStyle/>
          <a:p>
            <a:pPr marL="0" indent="0">
              <a:buNone/>
            </a:pPr>
            <a:r>
              <a:rPr lang="en-US" sz="1300" b="1" dirty="0">
                <a:solidFill>
                  <a:srgbClr val="2A7ABF"/>
                </a:solidFill>
                <a:latin typeface="Calibri" pitchFamily="34" charset="0"/>
                <a:ea typeface="Calibri" pitchFamily="34" charset="-122"/>
                <a:cs typeface="Calibri" pitchFamily="34" charset="-120"/>
              </a:rPr>
              <a:t>Estadísticos por grupo</a:t>
            </a:r>
            <a:endParaRPr lang="en-US" sz="1300" dirty="0"/>
          </a:p>
        </p:txBody>
      </p:sp>
      <p:sp>
        <p:nvSpPr>
          <p:cNvPr id="13" name="Text 11"/>
          <p:cNvSpPr txBox="1"/>
          <p:nvPr/>
        </p:nvSpPr>
        <p:spPr>
          <a:xfrm>
            <a:off x="457200" y="1508760"/>
            <a:ext cx="521208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Primera herramienta siempre. Muestra el "centro" de cada grupo. Usar mediana en distribuciones asimétricas.</a:t>
            </a:r>
            <a:endParaRPr lang="en-US" sz="1000" dirty="0"/>
          </a:p>
        </p:txBody>
      </p:sp>
      <p:sp>
        <p:nvSpPr>
          <p:cNvPr id="14" name="Shape 12"/>
          <p:cNvSpPr/>
          <p:nvPr/>
        </p:nvSpPr>
        <p:spPr>
          <a:xfrm>
            <a:off x="457200" y="1965960"/>
            <a:ext cx="5212080" cy="685800"/>
          </a:xfrm>
          <a:prstGeom prst="rect">
            <a:avLst/>
          </a:prstGeom>
          <a:solidFill>
            <a:srgbClr val="1E2D40"/>
          </a:solidFill>
          <a:ln w="12700">
            <a:solidFill>
              <a:srgbClr val="2A7ABF"/>
            </a:solidFill>
            <a:prstDash val="solid"/>
          </a:ln>
        </p:spPr>
        <p:txBody>
          <a:bodyPr/>
          <a:lstStyle/>
          <a:p>
            <a:endParaRPr lang="es-MX"/>
          </a:p>
        </p:txBody>
      </p:sp>
      <p:sp>
        <p:nvSpPr>
          <p:cNvPr id="15" name="Text 13"/>
          <p:cNvSpPr txBox="1"/>
          <p:nvPr/>
        </p:nvSpPr>
        <p:spPr>
          <a:xfrm>
            <a:off x="566928" y="2057400"/>
            <a:ext cx="4992624" cy="502920"/>
          </a:xfrm>
          <a:prstGeom prst="rect">
            <a:avLst/>
          </a:prstGeom>
          <a:noFill/>
          <a:ln/>
        </p:spPr>
        <p:txBody>
          <a:bodyPr wrap="square" rtlCol="0" anchor="t"/>
          <a:lstStyle/>
          <a:p>
            <a:pPr marL="0" indent="0">
              <a:buNone/>
            </a:pPr>
            <a:r>
              <a:rPr lang="en-US" sz="850" dirty="0">
                <a:solidFill>
                  <a:srgbClr val="A8D8F0"/>
                </a:solidFill>
                <a:latin typeface="Courier New" pitchFamily="34" charset="0"/>
                <a:ea typeface="Courier New" pitchFamily="34" charset="-122"/>
                <a:cs typeface="Courier New" pitchFamily="34" charset="-120"/>
              </a:rPr>
              <a:t>df.groupby('escolaridad')['ingreso'].agg(</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    media='mean', mediana='median',</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    n='count', desv_std='std'</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a:t>
            </a:r>
            <a:endParaRPr lang="en-US" sz="850" dirty="0"/>
          </a:p>
        </p:txBody>
      </p:sp>
      <p:sp>
        <p:nvSpPr>
          <p:cNvPr id="16" name="Shape 14"/>
          <p:cNvSpPr/>
          <p:nvPr/>
        </p:nvSpPr>
        <p:spPr>
          <a:xfrm>
            <a:off x="320040" y="2834640"/>
            <a:ext cx="5486400" cy="1691640"/>
          </a:xfrm>
          <a:prstGeom prst="rect">
            <a:avLst/>
          </a:prstGeom>
          <a:solidFill>
            <a:srgbClr val="FFFFFF"/>
          </a:solidFill>
          <a:ln w="12700">
            <a:solidFill>
              <a:srgbClr val="D1D5DB"/>
            </a:solidFill>
            <a:prstDash val="solid"/>
          </a:ln>
        </p:spPr>
        <p:txBody>
          <a:bodyPr/>
          <a:lstStyle/>
          <a:p>
            <a:endParaRPr lang="es-MX"/>
          </a:p>
        </p:txBody>
      </p:sp>
      <p:sp>
        <p:nvSpPr>
          <p:cNvPr id="17" name="Shape 15"/>
          <p:cNvSpPr/>
          <p:nvPr/>
        </p:nvSpPr>
        <p:spPr>
          <a:xfrm>
            <a:off x="320040" y="2834640"/>
            <a:ext cx="73152" cy="1691640"/>
          </a:xfrm>
          <a:prstGeom prst="rect">
            <a:avLst/>
          </a:prstGeom>
          <a:solidFill>
            <a:srgbClr val="1A9641"/>
          </a:solidFill>
          <a:ln/>
        </p:spPr>
        <p:txBody>
          <a:bodyPr/>
          <a:lstStyle/>
          <a:p>
            <a:endParaRPr lang="es-MX"/>
          </a:p>
        </p:txBody>
      </p:sp>
      <p:sp>
        <p:nvSpPr>
          <p:cNvPr id="18" name="Text 16"/>
          <p:cNvSpPr txBox="1"/>
          <p:nvPr/>
        </p:nvSpPr>
        <p:spPr>
          <a:xfrm>
            <a:off x="457200" y="2926080"/>
            <a:ext cx="5212080" cy="347472"/>
          </a:xfrm>
          <a:prstGeom prst="rect">
            <a:avLst/>
          </a:prstGeom>
          <a:noFill/>
          <a:ln/>
        </p:spPr>
        <p:txBody>
          <a:bodyPr wrap="square" rtlCol="0" anchor="ctr"/>
          <a:lstStyle/>
          <a:p>
            <a:pPr marL="0" indent="0">
              <a:buNone/>
            </a:pPr>
            <a:r>
              <a:rPr lang="en-US" sz="1300" b="1" dirty="0">
                <a:solidFill>
                  <a:srgbClr val="1A9641"/>
                </a:solidFill>
                <a:latin typeface="Calibri" pitchFamily="34" charset="0"/>
                <a:ea typeface="Calibri" pitchFamily="34" charset="-122"/>
                <a:cs typeface="Calibri" pitchFamily="34" charset="-120"/>
              </a:rPr>
              <a:t>Box plot agrupado</a:t>
            </a:r>
            <a:endParaRPr lang="en-US" sz="1300" dirty="0"/>
          </a:p>
        </p:txBody>
      </p:sp>
      <p:sp>
        <p:nvSpPr>
          <p:cNvPr id="19" name="Text 17"/>
          <p:cNvSpPr txBox="1"/>
          <p:nvPr/>
        </p:nvSpPr>
        <p:spPr>
          <a:xfrm>
            <a:off x="457200" y="3291840"/>
            <a:ext cx="521208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Muestra mediana, cuartiles y outliers por grupo. Compacto y fácil de comparar muchos grupos simultáneamente.</a:t>
            </a:r>
            <a:endParaRPr lang="en-US" sz="1000" dirty="0"/>
          </a:p>
        </p:txBody>
      </p:sp>
      <p:sp>
        <p:nvSpPr>
          <p:cNvPr id="20" name="Shape 18"/>
          <p:cNvSpPr/>
          <p:nvPr/>
        </p:nvSpPr>
        <p:spPr>
          <a:xfrm>
            <a:off x="457200" y="3749040"/>
            <a:ext cx="5212080" cy="685800"/>
          </a:xfrm>
          <a:prstGeom prst="rect">
            <a:avLst/>
          </a:prstGeom>
          <a:solidFill>
            <a:srgbClr val="1E2D40"/>
          </a:solidFill>
          <a:ln w="12700">
            <a:solidFill>
              <a:srgbClr val="2A7ABF"/>
            </a:solidFill>
            <a:prstDash val="solid"/>
          </a:ln>
        </p:spPr>
        <p:txBody>
          <a:bodyPr/>
          <a:lstStyle/>
          <a:p>
            <a:endParaRPr lang="es-MX"/>
          </a:p>
        </p:txBody>
      </p:sp>
      <p:sp>
        <p:nvSpPr>
          <p:cNvPr id="21" name="Text 19"/>
          <p:cNvSpPr txBox="1"/>
          <p:nvPr/>
        </p:nvSpPr>
        <p:spPr>
          <a:xfrm>
            <a:off x="566928" y="3840480"/>
            <a:ext cx="4992624" cy="502920"/>
          </a:xfrm>
          <a:prstGeom prst="rect">
            <a:avLst/>
          </a:prstGeom>
          <a:noFill/>
          <a:ln/>
        </p:spPr>
        <p:txBody>
          <a:bodyPr wrap="square" rtlCol="0" anchor="t"/>
          <a:lstStyle/>
          <a:p>
            <a:pPr marL="0" indent="0">
              <a:buNone/>
            </a:pPr>
            <a:r>
              <a:rPr lang="en-US" sz="850" dirty="0">
                <a:solidFill>
                  <a:srgbClr val="A8D8F0"/>
                </a:solidFill>
                <a:latin typeface="Courier New" pitchFamily="34" charset="0"/>
                <a:ea typeface="Courier New" pitchFamily="34" charset="-122"/>
                <a:cs typeface="Courier New" pitchFamily="34" charset="-120"/>
              </a:rPr>
              <a:t>ax.boxplot([grupo_A, grupo_B, ...])</a:t>
            </a:r>
            <a:endParaRPr lang="en-US" sz="850" dirty="0"/>
          </a:p>
        </p:txBody>
      </p:sp>
      <p:sp>
        <p:nvSpPr>
          <p:cNvPr id="22" name="Shape 20"/>
          <p:cNvSpPr/>
          <p:nvPr/>
        </p:nvSpPr>
        <p:spPr>
          <a:xfrm>
            <a:off x="320040" y="4617720"/>
            <a:ext cx="5486400" cy="1691640"/>
          </a:xfrm>
          <a:prstGeom prst="rect">
            <a:avLst/>
          </a:prstGeom>
          <a:solidFill>
            <a:srgbClr val="FFFFFF"/>
          </a:solidFill>
          <a:ln w="12700">
            <a:solidFill>
              <a:srgbClr val="D1D5DB"/>
            </a:solidFill>
            <a:prstDash val="solid"/>
          </a:ln>
        </p:spPr>
        <p:txBody>
          <a:bodyPr/>
          <a:lstStyle/>
          <a:p>
            <a:endParaRPr lang="es-MX"/>
          </a:p>
        </p:txBody>
      </p:sp>
      <p:sp>
        <p:nvSpPr>
          <p:cNvPr id="23" name="Shape 21"/>
          <p:cNvSpPr/>
          <p:nvPr/>
        </p:nvSpPr>
        <p:spPr>
          <a:xfrm>
            <a:off x="320040" y="4617720"/>
            <a:ext cx="73152" cy="1691640"/>
          </a:xfrm>
          <a:prstGeom prst="rect">
            <a:avLst/>
          </a:prstGeom>
          <a:solidFill>
            <a:srgbClr val="6A3D9A"/>
          </a:solidFill>
          <a:ln/>
        </p:spPr>
        <p:txBody>
          <a:bodyPr/>
          <a:lstStyle/>
          <a:p>
            <a:endParaRPr lang="es-MX"/>
          </a:p>
        </p:txBody>
      </p:sp>
      <p:sp>
        <p:nvSpPr>
          <p:cNvPr id="24" name="Text 22"/>
          <p:cNvSpPr txBox="1"/>
          <p:nvPr/>
        </p:nvSpPr>
        <p:spPr>
          <a:xfrm>
            <a:off x="457200" y="4709160"/>
            <a:ext cx="5212080" cy="347472"/>
          </a:xfrm>
          <a:prstGeom prst="rect">
            <a:avLst/>
          </a:prstGeom>
          <a:noFill/>
          <a:ln/>
        </p:spPr>
        <p:txBody>
          <a:bodyPr wrap="square" rtlCol="0" anchor="ctr"/>
          <a:lstStyle/>
          <a:p>
            <a:pPr marL="0" indent="0">
              <a:buNone/>
            </a:pPr>
            <a:r>
              <a:rPr lang="en-US" sz="1300" b="1" dirty="0">
                <a:solidFill>
                  <a:srgbClr val="6A3D9A"/>
                </a:solidFill>
                <a:latin typeface="Calibri" pitchFamily="34" charset="0"/>
                <a:ea typeface="Calibri" pitchFamily="34" charset="-122"/>
                <a:cs typeface="Calibri" pitchFamily="34" charset="-120"/>
              </a:rPr>
              <a:t>Violin plot</a:t>
            </a:r>
            <a:endParaRPr lang="en-US" sz="1300" dirty="0"/>
          </a:p>
        </p:txBody>
      </p:sp>
      <p:sp>
        <p:nvSpPr>
          <p:cNvPr id="25" name="Text 23"/>
          <p:cNvSpPr txBox="1"/>
          <p:nvPr/>
        </p:nvSpPr>
        <p:spPr>
          <a:xfrm>
            <a:off x="457200" y="5074920"/>
            <a:ext cx="5212080" cy="4572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Agrega la forma completa de la distribución dentro de cada grupo. Revela bimodalidad que el box plot esconde.</a:t>
            </a:r>
            <a:endParaRPr lang="en-US" sz="1000" dirty="0"/>
          </a:p>
        </p:txBody>
      </p:sp>
      <p:sp>
        <p:nvSpPr>
          <p:cNvPr id="26" name="Shape 24"/>
          <p:cNvSpPr/>
          <p:nvPr/>
        </p:nvSpPr>
        <p:spPr>
          <a:xfrm>
            <a:off x="457200" y="5532120"/>
            <a:ext cx="5212080" cy="685800"/>
          </a:xfrm>
          <a:prstGeom prst="rect">
            <a:avLst/>
          </a:prstGeom>
          <a:solidFill>
            <a:srgbClr val="1E2D40"/>
          </a:solidFill>
          <a:ln w="12700">
            <a:solidFill>
              <a:srgbClr val="2A7ABF"/>
            </a:solidFill>
            <a:prstDash val="solid"/>
          </a:ln>
        </p:spPr>
        <p:txBody>
          <a:bodyPr/>
          <a:lstStyle/>
          <a:p>
            <a:endParaRPr lang="es-MX"/>
          </a:p>
        </p:txBody>
      </p:sp>
      <p:sp>
        <p:nvSpPr>
          <p:cNvPr id="27" name="Text 25"/>
          <p:cNvSpPr txBox="1"/>
          <p:nvPr/>
        </p:nvSpPr>
        <p:spPr>
          <a:xfrm>
            <a:off x="566928" y="5623560"/>
            <a:ext cx="4992624" cy="502920"/>
          </a:xfrm>
          <a:prstGeom prst="rect">
            <a:avLst/>
          </a:prstGeom>
          <a:noFill/>
          <a:ln/>
        </p:spPr>
        <p:txBody>
          <a:bodyPr wrap="square" rtlCol="0" anchor="t"/>
          <a:lstStyle/>
          <a:p>
            <a:pPr marL="0" indent="0">
              <a:buNone/>
            </a:pPr>
            <a:r>
              <a:rPr lang="en-US" sz="850" dirty="0">
                <a:solidFill>
                  <a:srgbClr val="A8D8F0"/>
                </a:solidFill>
                <a:latin typeface="Courier New" pitchFamily="34" charset="0"/>
                <a:ea typeface="Courier New" pitchFamily="34" charset="-122"/>
                <a:cs typeface="Courier New" pitchFamily="34" charset="-120"/>
              </a:rPr>
              <a:t>ax.violinplot([grupo_A, grupo_B, ...])</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 O con seaborn:</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sns.violinplot(data=df, x='escolaridad', y='ingreso')</a:t>
            </a:r>
            <a:endParaRPr lang="en-US" sz="850" dirty="0"/>
          </a:p>
        </p:txBody>
      </p:sp>
      <p:sp>
        <p:nvSpPr>
          <p:cNvPr id="28" name="Shape 26"/>
          <p:cNvSpPr/>
          <p:nvPr/>
        </p:nvSpPr>
        <p:spPr>
          <a:xfrm>
            <a:off x="6035040" y="1051560"/>
            <a:ext cx="5806440" cy="5029200"/>
          </a:xfrm>
          <a:prstGeom prst="rect">
            <a:avLst/>
          </a:prstGeom>
          <a:solidFill>
            <a:srgbClr val="FFFFFF"/>
          </a:solidFill>
          <a:ln w="12700">
            <a:solidFill>
              <a:srgbClr val="D1D5DB"/>
            </a:solidFill>
            <a:prstDash val="solid"/>
          </a:ln>
        </p:spPr>
        <p:txBody>
          <a:bodyPr/>
          <a:lstStyle/>
          <a:p>
            <a:endParaRPr lang="es-MX"/>
          </a:p>
        </p:txBody>
      </p:sp>
      <p:sp>
        <p:nvSpPr>
          <p:cNvPr id="29" name="Text 27"/>
          <p:cNvSpPr txBox="1"/>
          <p:nvPr/>
        </p:nvSpPr>
        <p:spPr>
          <a:xfrm>
            <a:off x="6172200" y="1143000"/>
            <a:ext cx="5486400" cy="594360"/>
          </a:xfrm>
          <a:prstGeom prst="rect">
            <a:avLst/>
          </a:prstGeom>
          <a:noFill/>
          <a:ln/>
        </p:spPr>
        <p:txBody>
          <a:bodyPr wrap="square" rtlCol="0" anchor="ctr"/>
          <a:lstStyle/>
          <a:p>
            <a:pPr marL="0" indent="0">
              <a:buNone/>
            </a:pPr>
            <a:r>
              <a:rPr lang="en-US" sz="1150" b="1" dirty="0">
                <a:solidFill>
                  <a:srgbClr val="1B3A6B"/>
                </a:solidFill>
                <a:latin typeface="Calibri" pitchFamily="34" charset="0"/>
                <a:ea typeface="Calibri" pitchFamily="34" charset="-122"/>
                <a:cs typeface="Calibri" pitchFamily="34" charset="-120"/>
              </a:rPr>
              <a:t>Ejemplo — Ingreso por escolaridad (ENIGH)</a:t>
            </a:r>
            <a:endParaRPr lang="en-US" sz="1150" dirty="0"/>
          </a:p>
          <a:p>
            <a:pPr marL="0" indent="0">
              <a:buNone/>
            </a:pPr>
            <a:r>
              <a:rPr lang="en-US" sz="1150" b="1" dirty="0">
                <a:solidFill>
                  <a:srgbClr val="1B3A6B"/>
                </a:solidFill>
                <a:latin typeface="Calibri" pitchFamily="34" charset="0"/>
                <a:ea typeface="Calibri" pitchFamily="34" charset="-122"/>
                <a:cs typeface="Calibri" pitchFamily="34" charset="-120"/>
              </a:rPr>
              <a:t>¿Cuánto más gana quien tiene Posgrado vs. Primaria?</a:t>
            </a:r>
            <a:endParaRPr lang="en-US" sz="1150" dirty="0"/>
          </a:p>
        </p:txBody>
      </p:sp>
      <p:sp>
        <p:nvSpPr>
          <p:cNvPr id="30" name="Text 28"/>
          <p:cNvSpPr txBox="1"/>
          <p:nvPr/>
        </p:nvSpPr>
        <p:spPr>
          <a:xfrm>
            <a:off x="6172200" y="1920240"/>
            <a:ext cx="1188720" cy="411480"/>
          </a:xfrm>
          <a:prstGeom prst="rect">
            <a:avLst/>
          </a:prstGeom>
          <a:noFill/>
          <a:ln/>
        </p:spPr>
        <p:txBody>
          <a:bodyPr wrap="square" rtlCol="0" anchor="ctr"/>
          <a:lstStyle/>
          <a:p>
            <a:pPr marL="0" indent="0" algn="r">
              <a:buNone/>
            </a:pPr>
            <a:r>
              <a:rPr lang="en-US" sz="950" dirty="0">
                <a:solidFill>
                  <a:srgbClr val="1E293B"/>
                </a:solidFill>
                <a:latin typeface="Calibri" pitchFamily="34" charset="0"/>
                <a:ea typeface="Calibri" pitchFamily="34" charset="-122"/>
                <a:cs typeface="Calibri" pitchFamily="34" charset="-120"/>
              </a:rPr>
              <a:t>Sin esc.</a:t>
            </a:r>
            <a:endParaRPr lang="en-US" sz="950" dirty="0"/>
          </a:p>
        </p:txBody>
      </p:sp>
      <p:sp>
        <p:nvSpPr>
          <p:cNvPr id="31" name="Shape 29"/>
          <p:cNvSpPr/>
          <p:nvPr/>
        </p:nvSpPr>
        <p:spPr>
          <a:xfrm>
            <a:off x="7908417" y="1938528"/>
            <a:ext cx="408051" cy="347472"/>
          </a:xfrm>
          <a:prstGeom prst="rect">
            <a:avLst/>
          </a:prstGeom>
          <a:solidFill>
            <a:srgbClr val="C0392B">
              <a:alpha val="25000"/>
            </a:srgbClr>
          </a:solidFill>
          <a:ln w="12700">
            <a:solidFill>
              <a:srgbClr val="C0392B"/>
            </a:solidFill>
            <a:prstDash val="solid"/>
          </a:ln>
        </p:spPr>
        <p:txBody>
          <a:bodyPr/>
          <a:lstStyle/>
          <a:p>
            <a:endParaRPr lang="es-MX"/>
          </a:p>
        </p:txBody>
      </p:sp>
      <p:sp>
        <p:nvSpPr>
          <p:cNvPr id="32" name="Shape 30"/>
          <p:cNvSpPr/>
          <p:nvPr/>
        </p:nvSpPr>
        <p:spPr>
          <a:xfrm>
            <a:off x="8112443" y="1920240"/>
            <a:ext cx="0" cy="384048"/>
          </a:xfrm>
          <a:prstGeom prst="line">
            <a:avLst/>
          </a:prstGeom>
          <a:noFill/>
          <a:ln w="38100">
            <a:solidFill>
              <a:srgbClr val="C0392B"/>
            </a:solidFill>
            <a:prstDash val="solid"/>
          </a:ln>
        </p:spPr>
        <p:txBody>
          <a:bodyPr/>
          <a:lstStyle/>
          <a:p>
            <a:endParaRPr lang="es-MX"/>
          </a:p>
        </p:txBody>
      </p:sp>
      <p:sp>
        <p:nvSpPr>
          <p:cNvPr id="33" name="Text 31"/>
          <p:cNvSpPr txBox="1"/>
          <p:nvPr/>
        </p:nvSpPr>
        <p:spPr>
          <a:xfrm>
            <a:off x="8185595" y="1920240"/>
            <a:ext cx="868680" cy="347472"/>
          </a:xfrm>
          <a:prstGeom prst="rect">
            <a:avLst/>
          </a:prstGeom>
          <a:noFill/>
          <a:ln/>
        </p:spPr>
        <p:txBody>
          <a:bodyPr wrap="square" rtlCol="0" anchor="ctr"/>
          <a:lstStyle/>
          <a:p>
            <a:pPr marL="0" indent="0">
              <a:buNone/>
            </a:pPr>
            <a:r>
              <a:rPr lang="en-US" sz="950" b="1" dirty="0">
                <a:solidFill>
                  <a:srgbClr val="C0392B"/>
                </a:solidFill>
                <a:latin typeface="Calibri" pitchFamily="34" charset="0"/>
                <a:ea typeface="Calibri" pitchFamily="34" charset="-122"/>
                <a:cs typeface="Calibri" pitchFamily="34" charset="-120"/>
              </a:rPr>
              <a:t>$6k</a:t>
            </a:r>
            <a:endParaRPr lang="en-US" sz="950" dirty="0"/>
          </a:p>
        </p:txBody>
      </p:sp>
      <p:sp>
        <p:nvSpPr>
          <p:cNvPr id="34" name="Text 32"/>
          <p:cNvSpPr txBox="1"/>
          <p:nvPr/>
        </p:nvSpPr>
        <p:spPr>
          <a:xfrm>
            <a:off x="6172200" y="2514600"/>
            <a:ext cx="1188720" cy="411480"/>
          </a:xfrm>
          <a:prstGeom prst="rect">
            <a:avLst/>
          </a:prstGeom>
          <a:noFill/>
          <a:ln/>
        </p:spPr>
        <p:txBody>
          <a:bodyPr wrap="square" rtlCol="0" anchor="ctr"/>
          <a:lstStyle/>
          <a:p>
            <a:pPr marL="0" indent="0" algn="r">
              <a:buNone/>
            </a:pPr>
            <a:r>
              <a:rPr lang="en-US" sz="950" dirty="0">
                <a:solidFill>
                  <a:srgbClr val="1E293B"/>
                </a:solidFill>
                <a:latin typeface="Calibri" pitchFamily="34" charset="0"/>
                <a:ea typeface="Calibri" pitchFamily="34" charset="-122"/>
                <a:cs typeface="Calibri" pitchFamily="34" charset="-120"/>
              </a:rPr>
              <a:t>Primaria</a:t>
            </a:r>
            <a:endParaRPr lang="en-US" sz="950" dirty="0"/>
          </a:p>
        </p:txBody>
      </p:sp>
      <p:sp>
        <p:nvSpPr>
          <p:cNvPr id="35" name="Shape 33"/>
          <p:cNvSpPr/>
          <p:nvPr/>
        </p:nvSpPr>
        <p:spPr>
          <a:xfrm>
            <a:off x="8076438" y="2532888"/>
            <a:ext cx="636080" cy="347472"/>
          </a:xfrm>
          <a:prstGeom prst="rect">
            <a:avLst/>
          </a:prstGeom>
          <a:solidFill>
            <a:srgbClr val="E67E22">
              <a:alpha val="25000"/>
            </a:srgbClr>
          </a:solidFill>
          <a:ln w="12700">
            <a:solidFill>
              <a:srgbClr val="E67E22"/>
            </a:solidFill>
            <a:prstDash val="solid"/>
          </a:ln>
        </p:spPr>
        <p:txBody>
          <a:bodyPr/>
          <a:lstStyle/>
          <a:p>
            <a:endParaRPr lang="es-MX"/>
          </a:p>
        </p:txBody>
      </p:sp>
      <p:sp>
        <p:nvSpPr>
          <p:cNvPr id="36" name="Shape 34"/>
          <p:cNvSpPr/>
          <p:nvPr/>
        </p:nvSpPr>
        <p:spPr>
          <a:xfrm>
            <a:off x="8388477" y="2514600"/>
            <a:ext cx="0" cy="384048"/>
          </a:xfrm>
          <a:prstGeom prst="line">
            <a:avLst/>
          </a:prstGeom>
          <a:noFill/>
          <a:ln w="38100">
            <a:solidFill>
              <a:srgbClr val="E67E22"/>
            </a:solidFill>
            <a:prstDash val="solid"/>
          </a:ln>
        </p:spPr>
        <p:txBody>
          <a:bodyPr/>
          <a:lstStyle/>
          <a:p>
            <a:endParaRPr lang="es-MX"/>
          </a:p>
        </p:txBody>
      </p:sp>
      <p:sp>
        <p:nvSpPr>
          <p:cNvPr id="37" name="Text 35"/>
          <p:cNvSpPr txBox="1"/>
          <p:nvPr/>
        </p:nvSpPr>
        <p:spPr>
          <a:xfrm>
            <a:off x="8461629" y="2514600"/>
            <a:ext cx="868680" cy="347472"/>
          </a:xfrm>
          <a:prstGeom prst="rect">
            <a:avLst/>
          </a:prstGeom>
          <a:noFill/>
          <a:ln/>
        </p:spPr>
        <p:txBody>
          <a:bodyPr wrap="square" rtlCol="0" anchor="ctr"/>
          <a:lstStyle/>
          <a:p>
            <a:pPr marL="0" indent="0">
              <a:buNone/>
            </a:pPr>
            <a:r>
              <a:rPr lang="en-US" sz="950" b="1" dirty="0">
                <a:solidFill>
                  <a:srgbClr val="E67E22"/>
                </a:solidFill>
                <a:latin typeface="Calibri" pitchFamily="34" charset="0"/>
                <a:ea typeface="Calibri" pitchFamily="34" charset="-122"/>
                <a:cs typeface="Calibri" pitchFamily="34" charset="-120"/>
              </a:rPr>
              <a:t>$8k</a:t>
            </a:r>
            <a:endParaRPr lang="en-US" sz="950" dirty="0"/>
          </a:p>
        </p:txBody>
      </p:sp>
      <p:sp>
        <p:nvSpPr>
          <p:cNvPr id="38" name="Text 36"/>
          <p:cNvSpPr txBox="1"/>
          <p:nvPr/>
        </p:nvSpPr>
        <p:spPr>
          <a:xfrm>
            <a:off x="6172200" y="3108960"/>
            <a:ext cx="1188720" cy="411480"/>
          </a:xfrm>
          <a:prstGeom prst="rect">
            <a:avLst/>
          </a:prstGeom>
          <a:noFill/>
          <a:ln/>
        </p:spPr>
        <p:txBody>
          <a:bodyPr wrap="square" rtlCol="0" anchor="ctr"/>
          <a:lstStyle/>
          <a:p>
            <a:pPr marL="0" indent="0" algn="r">
              <a:buNone/>
            </a:pPr>
            <a:r>
              <a:rPr lang="en-US" sz="950" dirty="0">
                <a:solidFill>
                  <a:srgbClr val="1E293B"/>
                </a:solidFill>
                <a:latin typeface="Calibri" pitchFamily="34" charset="0"/>
                <a:ea typeface="Calibri" pitchFamily="34" charset="-122"/>
                <a:cs typeface="Calibri" pitchFamily="34" charset="-120"/>
              </a:rPr>
              <a:t>Secundaria</a:t>
            </a:r>
            <a:endParaRPr lang="en-US" sz="950" dirty="0"/>
          </a:p>
        </p:txBody>
      </p:sp>
      <p:sp>
        <p:nvSpPr>
          <p:cNvPr id="39" name="Shape 37"/>
          <p:cNvSpPr/>
          <p:nvPr/>
        </p:nvSpPr>
        <p:spPr>
          <a:xfrm>
            <a:off x="8292465" y="3127248"/>
            <a:ext cx="840105" cy="347472"/>
          </a:xfrm>
          <a:prstGeom prst="rect">
            <a:avLst/>
          </a:prstGeom>
          <a:solidFill>
            <a:srgbClr val="F1C40F">
              <a:alpha val="25000"/>
            </a:srgbClr>
          </a:solidFill>
          <a:ln w="12700">
            <a:solidFill>
              <a:srgbClr val="F1C40F"/>
            </a:solidFill>
            <a:prstDash val="solid"/>
          </a:ln>
        </p:spPr>
        <p:txBody>
          <a:bodyPr/>
          <a:lstStyle/>
          <a:p>
            <a:endParaRPr lang="es-MX"/>
          </a:p>
        </p:txBody>
      </p:sp>
      <p:sp>
        <p:nvSpPr>
          <p:cNvPr id="40" name="Shape 38"/>
          <p:cNvSpPr/>
          <p:nvPr/>
        </p:nvSpPr>
        <p:spPr>
          <a:xfrm>
            <a:off x="8676513" y="3108960"/>
            <a:ext cx="0" cy="384048"/>
          </a:xfrm>
          <a:prstGeom prst="line">
            <a:avLst/>
          </a:prstGeom>
          <a:noFill/>
          <a:ln w="38100">
            <a:solidFill>
              <a:srgbClr val="F1C40F"/>
            </a:solidFill>
            <a:prstDash val="solid"/>
          </a:ln>
        </p:spPr>
        <p:txBody>
          <a:bodyPr/>
          <a:lstStyle/>
          <a:p>
            <a:endParaRPr lang="es-MX"/>
          </a:p>
        </p:txBody>
      </p:sp>
      <p:sp>
        <p:nvSpPr>
          <p:cNvPr id="41" name="Text 39"/>
          <p:cNvSpPr txBox="1"/>
          <p:nvPr/>
        </p:nvSpPr>
        <p:spPr>
          <a:xfrm>
            <a:off x="8749665" y="3108960"/>
            <a:ext cx="868680" cy="347472"/>
          </a:xfrm>
          <a:prstGeom prst="rect">
            <a:avLst/>
          </a:prstGeom>
          <a:noFill/>
          <a:ln/>
        </p:spPr>
        <p:txBody>
          <a:bodyPr wrap="square" rtlCol="0" anchor="ctr"/>
          <a:lstStyle/>
          <a:p>
            <a:pPr marL="0" indent="0">
              <a:buNone/>
            </a:pPr>
            <a:r>
              <a:rPr lang="en-US" sz="950" b="1" dirty="0">
                <a:solidFill>
                  <a:srgbClr val="F1C40F"/>
                </a:solidFill>
                <a:latin typeface="Calibri" pitchFamily="34" charset="0"/>
                <a:ea typeface="Calibri" pitchFamily="34" charset="-122"/>
                <a:cs typeface="Calibri" pitchFamily="34" charset="-120"/>
              </a:rPr>
              <a:t>$10k</a:t>
            </a:r>
            <a:endParaRPr lang="en-US" sz="950" dirty="0"/>
          </a:p>
        </p:txBody>
      </p:sp>
      <p:sp>
        <p:nvSpPr>
          <p:cNvPr id="42" name="Text 40"/>
          <p:cNvSpPr txBox="1"/>
          <p:nvPr/>
        </p:nvSpPr>
        <p:spPr>
          <a:xfrm>
            <a:off x="6172200" y="3703320"/>
            <a:ext cx="1188720" cy="411480"/>
          </a:xfrm>
          <a:prstGeom prst="rect">
            <a:avLst/>
          </a:prstGeom>
          <a:noFill/>
          <a:ln/>
        </p:spPr>
        <p:txBody>
          <a:bodyPr wrap="square" rtlCol="0" anchor="ctr"/>
          <a:lstStyle/>
          <a:p>
            <a:pPr marL="0" indent="0" algn="r">
              <a:buNone/>
            </a:pPr>
            <a:r>
              <a:rPr lang="en-US" sz="950" dirty="0">
                <a:solidFill>
                  <a:srgbClr val="1E293B"/>
                </a:solidFill>
                <a:latin typeface="Calibri" pitchFamily="34" charset="0"/>
                <a:ea typeface="Calibri" pitchFamily="34" charset="-122"/>
                <a:cs typeface="Calibri" pitchFamily="34" charset="-120"/>
              </a:rPr>
              <a:t>Prepa</a:t>
            </a:r>
            <a:endParaRPr lang="en-US" sz="950" dirty="0"/>
          </a:p>
        </p:txBody>
      </p:sp>
      <p:sp>
        <p:nvSpPr>
          <p:cNvPr id="43" name="Shape 41"/>
          <p:cNvSpPr/>
          <p:nvPr/>
        </p:nvSpPr>
        <p:spPr>
          <a:xfrm>
            <a:off x="8532495" y="3721608"/>
            <a:ext cx="1080135" cy="347472"/>
          </a:xfrm>
          <a:prstGeom prst="rect">
            <a:avLst/>
          </a:prstGeom>
          <a:solidFill>
            <a:srgbClr val="1A9641">
              <a:alpha val="25000"/>
            </a:srgbClr>
          </a:solidFill>
          <a:ln w="12700">
            <a:solidFill>
              <a:srgbClr val="1A9641"/>
            </a:solidFill>
            <a:prstDash val="solid"/>
          </a:ln>
        </p:spPr>
        <p:txBody>
          <a:bodyPr/>
          <a:lstStyle/>
          <a:p>
            <a:endParaRPr lang="es-MX"/>
          </a:p>
        </p:txBody>
      </p:sp>
      <p:sp>
        <p:nvSpPr>
          <p:cNvPr id="44" name="Shape 42"/>
          <p:cNvSpPr/>
          <p:nvPr/>
        </p:nvSpPr>
        <p:spPr>
          <a:xfrm>
            <a:off x="9072563" y="3703320"/>
            <a:ext cx="0" cy="384048"/>
          </a:xfrm>
          <a:prstGeom prst="line">
            <a:avLst/>
          </a:prstGeom>
          <a:noFill/>
          <a:ln w="38100">
            <a:solidFill>
              <a:srgbClr val="1A9641"/>
            </a:solidFill>
            <a:prstDash val="solid"/>
          </a:ln>
        </p:spPr>
        <p:txBody>
          <a:bodyPr/>
          <a:lstStyle/>
          <a:p>
            <a:endParaRPr lang="es-MX"/>
          </a:p>
        </p:txBody>
      </p:sp>
      <p:sp>
        <p:nvSpPr>
          <p:cNvPr id="45" name="Text 43"/>
          <p:cNvSpPr txBox="1"/>
          <p:nvPr/>
        </p:nvSpPr>
        <p:spPr>
          <a:xfrm>
            <a:off x="9145715" y="3703320"/>
            <a:ext cx="868680" cy="347472"/>
          </a:xfrm>
          <a:prstGeom prst="rect">
            <a:avLst/>
          </a:prstGeom>
          <a:noFill/>
          <a:ln/>
        </p:spPr>
        <p:txBody>
          <a:bodyPr wrap="square" rtlCol="0" anchor="ctr"/>
          <a:lstStyle/>
          <a:p>
            <a:pPr marL="0" indent="0">
              <a:buNone/>
            </a:pPr>
            <a:r>
              <a:rPr lang="en-US" sz="950" b="1" dirty="0">
                <a:solidFill>
                  <a:srgbClr val="1A9641"/>
                </a:solidFill>
                <a:latin typeface="Calibri" pitchFamily="34" charset="0"/>
                <a:ea typeface="Calibri" pitchFamily="34" charset="-122"/>
                <a:cs typeface="Calibri" pitchFamily="34" charset="-120"/>
              </a:rPr>
              <a:t>$14k</a:t>
            </a:r>
            <a:endParaRPr lang="en-US" sz="950" dirty="0"/>
          </a:p>
        </p:txBody>
      </p:sp>
      <p:sp>
        <p:nvSpPr>
          <p:cNvPr id="46" name="Text 44"/>
          <p:cNvSpPr txBox="1"/>
          <p:nvPr/>
        </p:nvSpPr>
        <p:spPr>
          <a:xfrm>
            <a:off x="6172200" y="4297680"/>
            <a:ext cx="1188720" cy="411480"/>
          </a:xfrm>
          <a:prstGeom prst="rect">
            <a:avLst/>
          </a:prstGeom>
          <a:noFill/>
          <a:ln/>
        </p:spPr>
        <p:txBody>
          <a:bodyPr wrap="square" rtlCol="0" anchor="ctr"/>
          <a:lstStyle/>
          <a:p>
            <a:pPr marL="0" indent="0" algn="r">
              <a:buNone/>
            </a:pPr>
            <a:r>
              <a:rPr lang="en-US" sz="950" dirty="0">
                <a:solidFill>
                  <a:srgbClr val="1E293B"/>
                </a:solidFill>
                <a:latin typeface="Calibri" pitchFamily="34" charset="0"/>
                <a:ea typeface="Calibri" pitchFamily="34" charset="-122"/>
                <a:cs typeface="Calibri" pitchFamily="34" charset="-120"/>
              </a:rPr>
              <a:t>Licenc.</a:t>
            </a:r>
            <a:endParaRPr lang="en-US" sz="950" dirty="0"/>
          </a:p>
        </p:txBody>
      </p:sp>
      <p:sp>
        <p:nvSpPr>
          <p:cNvPr id="47" name="Shape 45"/>
          <p:cNvSpPr/>
          <p:nvPr/>
        </p:nvSpPr>
        <p:spPr>
          <a:xfrm>
            <a:off x="9132570" y="4315968"/>
            <a:ext cx="1800225" cy="347472"/>
          </a:xfrm>
          <a:prstGeom prst="rect">
            <a:avLst/>
          </a:prstGeom>
          <a:solidFill>
            <a:srgbClr val="2A7ABF">
              <a:alpha val="25000"/>
            </a:srgbClr>
          </a:solidFill>
          <a:ln w="12700">
            <a:solidFill>
              <a:srgbClr val="2A7ABF"/>
            </a:solidFill>
            <a:prstDash val="solid"/>
          </a:ln>
        </p:spPr>
        <p:txBody>
          <a:bodyPr/>
          <a:lstStyle/>
          <a:p>
            <a:endParaRPr lang="es-MX"/>
          </a:p>
        </p:txBody>
      </p:sp>
      <p:sp>
        <p:nvSpPr>
          <p:cNvPr id="48" name="Shape 46"/>
          <p:cNvSpPr/>
          <p:nvPr/>
        </p:nvSpPr>
        <p:spPr>
          <a:xfrm>
            <a:off x="9852660" y="4297680"/>
            <a:ext cx="0" cy="384048"/>
          </a:xfrm>
          <a:prstGeom prst="line">
            <a:avLst/>
          </a:prstGeom>
          <a:noFill/>
          <a:ln w="38100">
            <a:solidFill>
              <a:srgbClr val="2A7ABF"/>
            </a:solidFill>
            <a:prstDash val="solid"/>
          </a:ln>
        </p:spPr>
        <p:txBody>
          <a:bodyPr/>
          <a:lstStyle/>
          <a:p>
            <a:endParaRPr lang="es-MX"/>
          </a:p>
        </p:txBody>
      </p:sp>
      <p:sp>
        <p:nvSpPr>
          <p:cNvPr id="49" name="Text 47"/>
          <p:cNvSpPr txBox="1"/>
          <p:nvPr/>
        </p:nvSpPr>
        <p:spPr>
          <a:xfrm>
            <a:off x="9925812" y="4297680"/>
            <a:ext cx="868680" cy="347472"/>
          </a:xfrm>
          <a:prstGeom prst="rect">
            <a:avLst/>
          </a:prstGeom>
          <a:noFill/>
          <a:ln/>
        </p:spPr>
        <p:txBody>
          <a:bodyPr wrap="square" rtlCol="0" anchor="ctr"/>
          <a:lstStyle/>
          <a:p>
            <a:pPr marL="0" indent="0">
              <a:buNone/>
            </a:pPr>
            <a:r>
              <a:rPr lang="en-US" sz="950" b="1" dirty="0">
                <a:solidFill>
                  <a:srgbClr val="2A7ABF"/>
                </a:solidFill>
                <a:latin typeface="Calibri" pitchFamily="34" charset="0"/>
                <a:ea typeface="Calibri" pitchFamily="34" charset="-122"/>
                <a:cs typeface="Calibri" pitchFamily="34" charset="-120"/>
              </a:rPr>
              <a:t>$20k</a:t>
            </a:r>
            <a:endParaRPr lang="en-US" sz="950" dirty="0"/>
          </a:p>
        </p:txBody>
      </p:sp>
      <p:sp>
        <p:nvSpPr>
          <p:cNvPr id="50" name="Text 48"/>
          <p:cNvSpPr txBox="1"/>
          <p:nvPr/>
        </p:nvSpPr>
        <p:spPr>
          <a:xfrm>
            <a:off x="6172200" y="4892040"/>
            <a:ext cx="1188720" cy="411480"/>
          </a:xfrm>
          <a:prstGeom prst="rect">
            <a:avLst/>
          </a:prstGeom>
          <a:noFill/>
          <a:ln/>
        </p:spPr>
        <p:txBody>
          <a:bodyPr wrap="square" rtlCol="0" anchor="ctr"/>
          <a:lstStyle/>
          <a:p>
            <a:pPr marL="0" indent="0" algn="r">
              <a:buNone/>
            </a:pPr>
            <a:r>
              <a:rPr lang="en-US" sz="950" dirty="0">
                <a:solidFill>
                  <a:srgbClr val="1E293B"/>
                </a:solidFill>
                <a:latin typeface="Calibri" pitchFamily="34" charset="0"/>
                <a:ea typeface="Calibri" pitchFamily="34" charset="-122"/>
                <a:cs typeface="Calibri" pitchFamily="34" charset="-120"/>
              </a:rPr>
              <a:t>Posgrado</a:t>
            </a:r>
            <a:endParaRPr lang="en-US" sz="950" dirty="0"/>
          </a:p>
        </p:txBody>
      </p:sp>
      <p:sp>
        <p:nvSpPr>
          <p:cNvPr id="51" name="Shape 49"/>
          <p:cNvSpPr/>
          <p:nvPr/>
        </p:nvSpPr>
        <p:spPr>
          <a:xfrm>
            <a:off x="10092690" y="4910328"/>
            <a:ext cx="1200150" cy="347472"/>
          </a:xfrm>
          <a:prstGeom prst="rect">
            <a:avLst/>
          </a:prstGeom>
          <a:solidFill>
            <a:srgbClr val="6A3D9A">
              <a:alpha val="25000"/>
            </a:srgbClr>
          </a:solidFill>
          <a:ln w="12700">
            <a:solidFill>
              <a:srgbClr val="6A3D9A"/>
            </a:solidFill>
            <a:prstDash val="solid"/>
          </a:ln>
        </p:spPr>
        <p:txBody>
          <a:bodyPr/>
          <a:lstStyle/>
          <a:p>
            <a:endParaRPr lang="es-MX"/>
          </a:p>
        </p:txBody>
      </p:sp>
      <p:sp>
        <p:nvSpPr>
          <p:cNvPr id="52" name="Shape 50"/>
          <p:cNvSpPr/>
          <p:nvPr/>
        </p:nvSpPr>
        <p:spPr>
          <a:xfrm>
            <a:off x="11292840" y="4892040"/>
            <a:ext cx="0" cy="384048"/>
          </a:xfrm>
          <a:prstGeom prst="line">
            <a:avLst/>
          </a:prstGeom>
          <a:noFill/>
          <a:ln w="38100">
            <a:solidFill>
              <a:srgbClr val="6A3D9A"/>
            </a:solidFill>
            <a:prstDash val="solid"/>
          </a:ln>
        </p:spPr>
        <p:txBody>
          <a:bodyPr/>
          <a:lstStyle/>
          <a:p>
            <a:endParaRPr lang="es-MX"/>
          </a:p>
        </p:txBody>
      </p:sp>
      <p:sp>
        <p:nvSpPr>
          <p:cNvPr id="53" name="Text 51"/>
          <p:cNvSpPr txBox="1"/>
          <p:nvPr/>
        </p:nvSpPr>
        <p:spPr>
          <a:xfrm>
            <a:off x="10287000" y="4892040"/>
            <a:ext cx="868680" cy="347472"/>
          </a:xfrm>
          <a:prstGeom prst="rect">
            <a:avLst/>
          </a:prstGeom>
          <a:noFill/>
          <a:ln/>
        </p:spPr>
        <p:txBody>
          <a:bodyPr wrap="square" rtlCol="0" anchor="ctr"/>
          <a:lstStyle/>
          <a:p>
            <a:pPr marL="0" indent="0">
              <a:buNone/>
            </a:pPr>
            <a:r>
              <a:rPr lang="en-US" sz="950" b="1" dirty="0">
                <a:solidFill>
                  <a:srgbClr val="6A3D9A"/>
                </a:solidFill>
                <a:latin typeface="Calibri" pitchFamily="34" charset="0"/>
                <a:ea typeface="Calibri" pitchFamily="34" charset="-122"/>
                <a:cs typeface="Calibri" pitchFamily="34" charset="-120"/>
              </a:rPr>
              <a:t>$32k</a:t>
            </a:r>
            <a:endParaRPr lang="en-US" sz="950" dirty="0"/>
          </a:p>
        </p:txBody>
      </p:sp>
      <p:sp>
        <p:nvSpPr>
          <p:cNvPr id="54" name="Shape 52"/>
          <p:cNvSpPr/>
          <p:nvPr/>
        </p:nvSpPr>
        <p:spPr>
          <a:xfrm>
            <a:off x="7452360" y="5303520"/>
            <a:ext cx="3840480" cy="0"/>
          </a:xfrm>
          <a:prstGeom prst="line">
            <a:avLst/>
          </a:prstGeom>
          <a:noFill/>
          <a:ln w="12700">
            <a:solidFill>
              <a:srgbClr val="D1D5DB"/>
            </a:solidFill>
            <a:prstDash val="solid"/>
          </a:ln>
        </p:spPr>
        <p:txBody>
          <a:bodyPr/>
          <a:lstStyle/>
          <a:p>
            <a:endParaRPr lang="es-MX"/>
          </a:p>
        </p:txBody>
      </p:sp>
      <p:sp>
        <p:nvSpPr>
          <p:cNvPr id="55" name="Text 53"/>
          <p:cNvSpPr txBox="1"/>
          <p:nvPr/>
        </p:nvSpPr>
        <p:spPr>
          <a:xfrm>
            <a:off x="7178040" y="7269480"/>
            <a:ext cx="640080" cy="256032"/>
          </a:xfrm>
          <a:prstGeom prst="rect">
            <a:avLst/>
          </a:prstGeom>
          <a:noFill/>
          <a:ln/>
        </p:spPr>
        <p:txBody>
          <a:bodyPr wrap="square"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$0k</a:t>
            </a:r>
            <a:endParaRPr lang="en-US" sz="800" dirty="0"/>
          </a:p>
        </p:txBody>
      </p:sp>
      <p:sp>
        <p:nvSpPr>
          <p:cNvPr id="56" name="Text 54"/>
          <p:cNvSpPr txBox="1"/>
          <p:nvPr/>
        </p:nvSpPr>
        <p:spPr>
          <a:xfrm>
            <a:off x="8378190" y="7269480"/>
            <a:ext cx="640080" cy="256032"/>
          </a:xfrm>
          <a:prstGeom prst="rect">
            <a:avLst/>
          </a:prstGeom>
          <a:noFill/>
          <a:ln/>
        </p:spPr>
        <p:txBody>
          <a:bodyPr wrap="square"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$10k</a:t>
            </a:r>
            <a:endParaRPr lang="en-US" sz="800" dirty="0"/>
          </a:p>
        </p:txBody>
      </p:sp>
      <p:sp>
        <p:nvSpPr>
          <p:cNvPr id="57" name="Text 55"/>
          <p:cNvSpPr txBox="1"/>
          <p:nvPr/>
        </p:nvSpPr>
        <p:spPr>
          <a:xfrm>
            <a:off x="9578340" y="7269480"/>
            <a:ext cx="640080" cy="256032"/>
          </a:xfrm>
          <a:prstGeom prst="rect">
            <a:avLst/>
          </a:prstGeom>
          <a:noFill/>
          <a:ln/>
        </p:spPr>
        <p:txBody>
          <a:bodyPr wrap="square"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$20k</a:t>
            </a:r>
            <a:endParaRPr lang="en-US" sz="800" dirty="0"/>
          </a:p>
        </p:txBody>
      </p:sp>
      <p:sp>
        <p:nvSpPr>
          <p:cNvPr id="58" name="Text 56"/>
          <p:cNvSpPr txBox="1"/>
          <p:nvPr/>
        </p:nvSpPr>
        <p:spPr>
          <a:xfrm>
            <a:off x="10778490" y="7269480"/>
            <a:ext cx="640080" cy="256032"/>
          </a:xfrm>
          <a:prstGeom prst="rect">
            <a:avLst/>
          </a:prstGeom>
          <a:noFill/>
          <a:ln/>
        </p:spPr>
        <p:txBody>
          <a:bodyPr wrap="square" rtlCol="0" anchor="ctr"/>
          <a:lstStyle/>
          <a:p>
            <a:pPr marL="0" indent="0" algn="ctr">
              <a:buNone/>
            </a:pPr>
            <a:r>
              <a:rPr lang="en-US" sz="800" dirty="0">
                <a:solidFill>
                  <a:srgbClr val="6B7280"/>
                </a:solidFill>
                <a:latin typeface="Calibri" pitchFamily="34" charset="0"/>
                <a:ea typeface="Calibri" pitchFamily="34" charset="-122"/>
                <a:cs typeface="Calibri" pitchFamily="34" charset="-120"/>
              </a:rPr>
              <a:t>$30k</a:t>
            </a:r>
            <a:endParaRPr lang="en-US" sz="800" dirty="0"/>
          </a:p>
        </p:txBody>
      </p:sp>
      <p:sp>
        <p:nvSpPr>
          <p:cNvPr id="59" name="Shape 57"/>
          <p:cNvSpPr/>
          <p:nvPr/>
        </p:nvSpPr>
        <p:spPr>
          <a:xfrm>
            <a:off x="6172200" y="5349240"/>
            <a:ext cx="5486400" cy="548640"/>
          </a:xfrm>
          <a:prstGeom prst="rect">
            <a:avLst/>
          </a:prstGeom>
          <a:solidFill>
            <a:srgbClr val="EEF2FF"/>
          </a:solidFill>
          <a:ln w="12700">
            <a:solidFill>
              <a:srgbClr val="2A7ABF"/>
            </a:solidFill>
            <a:prstDash val="solid"/>
          </a:ln>
        </p:spPr>
        <p:txBody>
          <a:bodyPr/>
          <a:lstStyle/>
          <a:p>
            <a:endParaRPr lang="es-MX"/>
          </a:p>
        </p:txBody>
      </p:sp>
      <p:sp>
        <p:nvSpPr>
          <p:cNvPr id="60" name="Text 58"/>
          <p:cNvSpPr txBox="1"/>
          <p:nvPr/>
        </p:nvSpPr>
        <p:spPr>
          <a:xfrm>
            <a:off x="6309360" y="5413248"/>
            <a:ext cx="5212080" cy="411480"/>
          </a:xfrm>
          <a:prstGeom prst="rect">
            <a:avLst/>
          </a:prstGeom>
          <a:noFill/>
          <a:ln/>
        </p:spPr>
        <p:txBody>
          <a:bodyPr wrap="square" rtlCol="0" anchor="ctr"/>
          <a:lstStyle/>
          <a:p>
            <a:pPr marL="0" indent="0">
              <a:buNone/>
            </a:pPr>
            <a:r>
              <a:rPr lang="en-US" sz="950" dirty="0">
                <a:solidFill>
                  <a:srgbClr val="1B3A6B"/>
                </a:solidFill>
                <a:latin typeface="Calibri" pitchFamily="34" charset="0"/>
                <a:ea typeface="Calibri" pitchFamily="34" charset="-122"/>
                <a:cs typeface="Calibri" pitchFamily="34" charset="-120"/>
              </a:rPr>
              <a:t>Ratio Posgrado / Sin escolaridad: ~5.8x  |  La línea vertical = mediana, la barra = rango intercuartílico Q1–Q3</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txBody>
          <a:bodyPr/>
          <a:lstStyle/>
          <a:p>
            <a:endParaRPr lang="es-MX"/>
          </a:p>
        </p:txBody>
      </p:sp>
      <p:sp>
        <p:nvSpPr>
          <p:cNvPr id="3" name="Text 1"/>
          <p:cNvSpPr txBox="1"/>
          <p:nvPr/>
        </p:nvSpPr>
        <p:spPr>
          <a:xfrm>
            <a:off x="228600" y="36576"/>
            <a:ext cx="8229600" cy="27432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marL="0" indent="0" algn="r">
              <a:buNone/>
            </a:pPr>
            <a:r>
              <a:rPr lang="en-US" sz="900" b="1" dirty="0">
                <a:solidFill>
                  <a:srgbClr val="E8A020"/>
                </a:solidFill>
                <a:latin typeface="Calibri" pitchFamily="34" charset="0"/>
                <a:ea typeface="Calibri" pitchFamily="34" charset="-122"/>
                <a:cs typeface="Calibri" pitchFamily="34" charset="-120"/>
              </a:rPr>
              <a:t>Tema 2.2</a:t>
            </a:r>
            <a:endParaRPr lang="en-US" sz="900" dirty="0"/>
          </a:p>
        </p:txBody>
      </p:sp>
      <p:sp>
        <p:nvSpPr>
          <p:cNvPr id="5" name="Shape 3"/>
          <p:cNvSpPr/>
          <p:nvPr/>
        </p:nvSpPr>
        <p:spPr>
          <a:xfrm>
            <a:off x="0" y="6565392"/>
            <a:ext cx="12161520" cy="292608"/>
          </a:xfrm>
          <a:prstGeom prst="rect">
            <a:avLst/>
          </a:prstGeom>
          <a:solidFill>
            <a:srgbClr val="1B3A6B"/>
          </a:solidFill>
          <a:ln/>
        </p:spPr>
        <p:txBody>
          <a:bodyPr/>
          <a:lstStyle/>
          <a:p>
            <a:endParaRPr lang="es-MX"/>
          </a:p>
        </p:txBody>
      </p:sp>
      <p:sp>
        <p:nvSpPr>
          <p:cNvPr id="6" name="Text 4"/>
          <p:cNvSpPr txBox="1"/>
          <p:nvPr/>
        </p:nvSpPr>
        <p:spPr>
          <a:xfrm>
            <a:off x="228600" y="6592824"/>
            <a:ext cx="73152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7" name="Shape 5"/>
          <p:cNvSpPr/>
          <p:nvPr/>
        </p:nvSpPr>
        <p:spPr>
          <a:xfrm>
            <a:off x="320040" y="364724"/>
            <a:ext cx="3008376" cy="256032"/>
          </a:xfrm>
          <a:prstGeom prst="roundRect">
            <a:avLst>
              <a:gd name="adj" fmla="val 17857"/>
            </a:avLst>
          </a:prstGeom>
          <a:solidFill>
            <a:srgbClr val="2A7ABF"/>
          </a:solidFill>
          <a:ln/>
        </p:spPr>
        <p:txBody>
          <a:bodyPr/>
          <a:lstStyle/>
          <a:p>
            <a:endParaRPr lang="es-MX"/>
          </a:p>
        </p:txBody>
      </p:sp>
      <p:sp>
        <p:nvSpPr>
          <p:cNvPr id="8" name="Text 6"/>
          <p:cNvSpPr txBox="1"/>
          <p:nvPr/>
        </p:nvSpPr>
        <p:spPr>
          <a:xfrm>
            <a:off x="365760" y="383012"/>
            <a:ext cx="2541342" cy="21945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Categórica × Categórica</a:t>
            </a:r>
            <a:endParaRPr lang="en-US" sz="850" dirty="0"/>
          </a:p>
        </p:txBody>
      </p:sp>
      <p:sp>
        <p:nvSpPr>
          <p:cNvPr id="9" name="Text 7"/>
          <p:cNvSpPr txBox="1"/>
          <p:nvPr/>
        </p:nvSpPr>
        <p:spPr>
          <a:xfrm>
            <a:off x="320040" y="658368"/>
            <a:ext cx="10972800" cy="502920"/>
          </a:xfrm>
          <a:prstGeom prst="rect">
            <a:avLst/>
          </a:prstGeom>
          <a:noFill/>
          <a:ln/>
        </p:spPr>
        <p:txBody>
          <a:bodyPr wrap="square" rtlCol="0" anchor="ctr"/>
          <a:lstStyle/>
          <a:p>
            <a:pPr marL="0" indent="0">
              <a:buNone/>
            </a:pPr>
            <a:r>
              <a:rPr lang="en-US" sz="2500" b="1" dirty="0">
                <a:solidFill>
                  <a:srgbClr val="1B3A6B"/>
                </a:solidFill>
                <a:latin typeface="Calibri" pitchFamily="34" charset="0"/>
                <a:ea typeface="Calibri" pitchFamily="34" charset="-122"/>
                <a:cs typeface="Calibri" pitchFamily="34" charset="-120"/>
              </a:rPr>
              <a:t>Tabla de contingencia y Chi-cuadrado</a:t>
            </a:r>
            <a:endParaRPr lang="en-US" sz="2500" dirty="0"/>
          </a:p>
        </p:txBody>
      </p:sp>
      <p:sp>
        <p:nvSpPr>
          <p:cNvPr id="10" name="Shape 8"/>
          <p:cNvSpPr/>
          <p:nvPr/>
        </p:nvSpPr>
        <p:spPr>
          <a:xfrm>
            <a:off x="320040" y="1200795"/>
            <a:ext cx="5303520" cy="1828800"/>
          </a:xfrm>
          <a:prstGeom prst="rect">
            <a:avLst/>
          </a:prstGeom>
          <a:solidFill>
            <a:srgbClr val="FFFFFF"/>
          </a:solidFill>
          <a:ln w="12700">
            <a:solidFill>
              <a:srgbClr val="D1D5DB"/>
            </a:solidFill>
            <a:prstDash val="solid"/>
          </a:ln>
        </p:spPr>
        <p:txBody>
          <a:bodyPr/>
          <a:lstStyle/>
          <a:p>
            <a:endParaRPr lang="es-MX"/>
          </a:p>
        </p:txBody>
      </p:sp>
      <p:sp>
        <p:nvSpPr>
          <p:cNvPr id="11" name="Shape 9"/>
          <p:cNvSpPr/>
          <p:nvPr/>
        </p:nvSpPr>
        <p:spPr>
          <a:xfrm>
            <a:off x="320040" y="1200795"/>
            <a:ext cx="73152" cy="1828800"/>
          </a:xfrm>
          <a:prstGeom prst="rect">
            <a:avLst/>
          </a:prstGeom>
          <a:solidFill>
            <a:srgbClr val="6A3D9A"/>
          </a:solidFill>
          <a:ln/>
        </p:spPr>
        <p:txBody>
          <a:bodyPr/>
          <a:lstStyle/>
          <a:p>
            <a:endParaRPr lang="es-MX"/>
          </a:p>
        </p:txBody>
      </p:sp>
      <p:sp>
        <p:nvSpPr>
          <p:cNvPr id="12" name="Text 10"/>
          <p:cNvSpPr txBox="1"/>
          <p:nvPr/>
        </p:nvSpPr>
        <p:spPr>
          <a:xfrm>
            <a:off x="457200" y="1273947"/>
            <a:ext cx="5029200" cy="384048"/>
          </a:xfrm>
          <a:prstGeom prst="rect">
            <a:avLst/>
          </a:prstGeom>
          <a:noFill/>
          <a:ln/>
        </p:spPr>
        <p:txBody>
          <a:bodyPr wrap="square" rtlCol="0" anchor="ctr"/>
          <a:lstStyle/>
          <a:p>
            <a:pPr marL="0" indent="0">
              <a:buNone/>
            </a:pPr>
            <a:r>
              <a:rPr lang="en-US" sz="1300" b="1" dirty="0">
                <a:solidFill>
                  <a:srgbClr val="6A3D9A"/>
                </a:solidFill>
                <a:latin typeface="Calibri" pitchFamily="34" charset="0"/>
                <a:ea typeface="Calibri" pitchFamily="34" charset="-122"/>
                <a:cs typeface="Calibri" pitchFamily="34" charset="-120"/>
              </a:rPr>
              <a:t>¿Qué es una tabla de contingencia?</a:t>
            </a:r>
            <a:endParaRPr lang="en-US" sz="1300" dirty="0"/>
          </a:p>
        </p:txBody>
      </p:sp>
      <p:sp>
        <p:nvSpPr>
          <p:cNvPr id="13" name="Text 11"/>
          <p:cNvSpPr txBox="1"/>
          <p:nvPr/>
        </p:nvSpPr>
        <p:spPr>
          <a:xfrm>
            <a:off x="457200" y="1657995"/>
            <a:ext cx="5029200" cy="109728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Cruza dos variables categóricas. Cada celda muestra cuántos casos pertenecen a esa combinación de categorías.</a:t>
            </a:r>
            <a:endParaRPr lang="en-US" sz="1050" dirty="0"/>
          </a:p>
          <a:p>
            <a:pPr marL="0" indent="0">
              <a:buNone/>
            </a:pP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Las proporciones POR FILA o POR COLUMNA son más informativas que las frecuencias absolutas cuando los grupos tienen distinto tamaño.</a:t>
            </a:r>
            <a:endParaRPr lang="en-US" sz="1050" dirty="0"/>
          </a:p>
        </p:txBody>
      </p:sp>
      <p:sp>
        <p:nvSpPr>
          <p:cNvPr id="14" name="Shape 12"/>
          <p:cNvSpPr/>
          <p:nvPr/>
        </p:nvSpPr>
        <p:spPr>
          <a:xfrm>
            <a:off x="439948" y="3075315"/>
            <a:ext cx="5120640" cy="1874520"/>
          </a:xfrm>
          <a:prstGeom prst="rect">
            <a:avLst/>
          </a:prstGeom>
          <a:solidFill>
            <a:srgbClr val="1E2D40"/>
          </a:solidFill>
          <a:ln w="12700">
            <a:solidFill>
              <a:srgbClr val="2A7ABF"/>
            </a:solidFill>
            <a:prstDash val="solid"/>
          </a:ln>
        </p:spPr>
        <p:txBody>
          <a:bodyPr/>
          <a:lstStyle/>
          <a:p>
            <a:endParaRPr lang="es-MX"/>
          </a:p>
        </p:txBody>
      </p:sp>
      <p:sp>
        <p:nvSpPr>
          <p:cNvPr id="15" name="Text 13"/>
          <p:cNvSpPr txBox="1"/>
          <p:nvPr/>
        </p:nvSpPr>
        <p:spPr>
          <a:xfrm>
            <a:off x="549676" y="3166755"/>
            <a:ext cx="4901184" cy="1691640"/>
          </a:xfrm>
          <a:prstGeom prst="rect">
            <a:avLst/>
          </a:prstGeom>
          <a:noFill/>
          <a:ln/>
        </p:spPr>
        <p:txBody>
          <a:bodyPr wrap="square" rtlCol="0" anchor="t"/>
          <a:lstStyle/>
          <a:p>
            <a:pPr marL="0" indent="0">
              <a:buNone/>
            </a:pPr>
            <a:r>
              <a:rPr lang="en-US" sz="850" dirty="0">
                <a:solidFill>
                  <a:srgbClr val="A8D8F0"/>
                </a:solidFill>
                <a:latin typeface="Courier New" pitchFamily="34" charset="0"/>
                <a:ea typeface="Courier New" pitchFamily="34" charset="-122"/>
                <a:cs typeface="Courier New" pitchFamily="34" charset="-120"/>
              </a:rPr>
              <a:t># Tabla de frecuencias absolutas</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pd.crosstab(df['vivienda'], df['internet'])</a:t>
            </a:r>
            <a:endParaRPr lang="en-US" sz="850" dirty="0"/>
          </a:p>
          <a:p>
            <a:pPr marL="0" indent="0">
              <a:buNone/>
            </a:pP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 Proporciones por fila (más informativo)</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pd.crosstab(df['vivienda'], df['internet'],</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            normalize='index') * 100</a:t>
            </a:r>
            <a:endParaRPr lang="en-US" sz="850" dirty="0"/>
          </a:p>
          <a:p>
            <a:pPr marL="0" indent="0">
              <a:buNone/>
            </a:pP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 Chi-cuadrado de independencia</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from scipy.stats import chi2_contingency</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chi2, p, dof, expected = chi2_contingency(tabla)</a:t>
            </a:r>
            <a:endParaRPr lang="en-US" sz="850" dirty="0"/>
          </a:p>
          <a:p>
            <a:pPr marL="0" indent="0">
              <a:buNone/>
            </a:pPr>
            <a:r>
              <a:rPr lang="en-US" sz="850" dirty="0">
                <a:solidFill>
                  <a:srgbClr val="A8D8F0"/>
                </a:solidFill>
                <a:latin typeface="Courier New" pitchFamily="34" charset="0"/>
                <a:ea typeface="Courier New" pitchFamily="34" charset="-122"/>
                <a:cs typeface="Courier New" pitchFamily="34" charset="-120"/>
              </a:rPr>
              <a:t># p &lt; 0.05 → rechazamos independencia</a:t>
            </a:r>
            <a:endParaRPr lang="en-US" sz="850" dirty="0"/>
          </a:p>
        </p:txBody>
      </p:sp>
      <p:sp>
        <p:nvSpPr>
          <p:cNvPr id="16" name="Shape 14"/>
          <p:cNvSpPr/>
          <p:nvPr/>
        </p:nvSpPr>
        <p:spPr>
          <a:xfrm>
            <a:off x="320040" y="5041275"/>
            <a:ext cx="5303520" cy="713232"/>
          </a:xfrm>
          <a:prstGeom prst="rect">
            <a:avLst/>
          </a:prstGeom>
          <a:solidFill>
            <a:srgbClr val="1B3A6B"/>
          </a:solidFill>
          <a:ln w="12700">
            <a:solidFill>
              <a:srgbClr val="1B3A6B"/>
            </a:solidFill>
            <a:prstDash val="solid"/>
          </a:ln>
        </p:spPr>
        <p:txBody>
          <a:bodyPr/>
          <a:lstStyle/>
          <a:p>
            <a:endParaRPr lang="es-MX"/>
          </a:p>
        </p:txBody>
      </p:sp>
      <p:sp>
        <p:nvSpPr>
          <p:cNvPr id="17" name="Text 15"/>
          <p:cNvSpPr txBox="1"/>
          <p:nvPr/>
        </p:nvSpPr>
        <p:spPr>
          <a:xfrm>
            <a:off x="457200" y="5086995"/>
            <a:ext cx="5029200" cy="274320"/>
          </a:xfrm>
          <a:prstGeom prst="rect">
            <a:avLst/>
          </a:prstGeom>
          <a:noFill/>
          <a:ln/>
        </p:spPr>
        <p:txBody>
          <a:bodyPr wrap="square" rtlCol="0" anchor="ctr"/>
          <a:lstStyle/>
          <a:p>
            <a:pPr marL="0" indent="0">
              <a:buNone/>
            </a:pPr>
            <a:r>
              <a:rPr lang="en-US" sz="1000" b="1" dirty="0">
                <a:solidFill>
                  <a:srgbClr val="E8A020"/>
                </a:solidFill>
                <a:latin typeface="Calibri" pitchFamily="34" charset="0"/>
                <a:ea typeface="Calibri" pitchFamily="34" charset="-122"/>
                <a:cs typeface="Calibri" pitchFamily="34" charset="-120"/>
              </a:rPr>
              <a:t>Interpretación del Chi-cuadrado:</a:t>
            </a:r>
            <a:endParaRPr lang="en-US" sz="1000" dirty="0"/>
          </a:p>
        </p:txBody>
      </p:sp>
      <p:sp>
        <p:nvSpPr>
          <p:cNvPr id="18" name="Text 16"/>
          <p:cNvSpPr txBox="1"/>
          <p:nvPr/>
        </p:nvSpPr>
        <p:spPr>
          <a:xfrm>
            <a:off x="457200" y="5343027"/>
            <a:ext cx="5029200" cy="365760"/>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p &lt; 0.05 → Las variables NO son independientes (hay asociación estadística)</a:t>
            </a:r>
            <a:endParaRPr lang="en-US" sz="950" dirty="0"/>
          </a:p>
          <a:p>
            <a:pPr marL="0" indent="0">
              <a:buNone/>
            </a:pPr>
            <a:r>
              <a:rPr lang="en-US" sz="950" dirty="0">
                <a:solidFill>
                  <a:srgbClr val="FFFFFF"/>
                </a:solidFill>
                <a:latin typeface="Calibri" pitchFamily="34" charset="0"/>
                <a:ea typeface="Calibri" pitchFamily="34" charset="-122"/>
                <a:cs typeface="Calibri" pitchFamily="34" charset="-120"/>
              </a:rPr>
              <a:t>p ≥ 0.05 → No hay evidencia suficiente de asociación con estos datos</a:t>
            </a:r>
            <a:endParaRPr lang="en-US" sz="950" dirty="0"/>
          </a:p>
        </p:txBody>
      </p:sp>
      <p:sp>
        <p:nvSpPr>
          <p:cNvPr id="19" name="Shape 17"/>
          <p:cNvSpPr/>
          <p:nvPr/>
        </p:nvSpPr>
        <p:spPr>
          <a:xfrm>
            <a:off x="5852160" y="1200795"/>
            <a:ext cx="5989320" cy="4572000"/>
          </a:xfrm>
          <a:prstGeom prst="rect">
            <a:avLst/>
          </a:prstGeom>
          <a:solidFill>
            <a:srgbClr val="FFFFFF"/>
          </a:solidFill>
          <a:ln w="12700">
            <a:solidFill>
              <a:srgbClr val="D1D5DB"/>
            </a:solidFill>
            <a:prstDash val="solid"/>
          </a:ln>
        </p:spPr>
        <p:txBody>
          <a:bodyPr/>
          <a:lstStyle/>
          <a:p>
            <a:endParaRPr lang="es-MX"/>
          </a:p>
        </p:txBody>
      </p:sp>
      <p:sp>
        <p:nvSpPr>
          <p:cNvPr id="20" name="Text 18"/>
          <p:cNvSpPr txBox="1"/>
          <p:nvPr/>
        </p:nvSpPr>
        <p:spPr>
          <a:xfrm>
            <a:off x="5989320" y="1292235"/>
            <a:ext cx="5669280" cy="548640"/>
          </a:xfrm>
          <a:prstGeom prst="rect">
            <a:avLst/>
          </a:prstGeom>
          <a:noFill/>
          <a:ln/>
        </p:spPr>
        <p:txBody>
          <a:bodyPr wrap="square" rtlCol="0" anchor="ctr"/>
          <a:lstStyle/>
          <a:p>
            <a:pPr marL="0" indent="0">
              <a:buNone/>
            </a:pPr>
            <a:r>
              <a:rPr lang="en-US" sz="1150" b="1" dirty="0">
                <a:solidFill>
                  <a:srgbClr val="1B3A6B"/>
                </a:solidFill>
                <a:latin typeface="Calibri" pitchFamily="34" charset="0"/>
                <a:ea typeface="Calibri" pitchFamily="34" charset="-122"/>
                <a:cs typeface="Calibri" pitchFamily="34" charset="-120"/>
              </a:rPr>
              <a:t>Ejemplo — Acceso a internet × Tipo de vivienda</a:t>
            </a:r>
            <a:endParaRPr lang="en-US" sz="1150" dirty="0"/>
          </a:p>
          <a:p>
            <a:pPr marL="0" indent="0">
              <a:buNone/>
            </a:pPr>
            <a:r>
              <a:rPr lang="en-US" sz="1150" b="1" dirty="0">
                <a:solidFill>
                  <a:srgbClr val="1B3A6B"/>
                </a:solidFill>
                <a:latin typeface="Calibri" pitchFamily="34" charset="0"/>
                <a:ea typeface="Calibri" pitchFamily="34" charset="-122"/>
                <a:cs typeface="Calibri" pitchFamily="34" charset="-120"/>
              </a:rPr>
              <a:t>(ENIGH simulada — proporciones por fila)</a:t>
            </a:r>
            <a:endParaRPr lang="en-US" sz="1150" dirty="0"/>
          </a:p>
        </p:txBody>
      </p:sp>
      <p:sp>
        <p:nvSpPr>
          <p:cNvPr id="21" name="Shape 19"/>
          <p:cNvSpPr/>
          <p:nvPr/>
        </p:nvSpPr>
        <p:spPr>
          <a:xfrm>
            <a:off x="8001000" y="1932315"/>
            <a:ext cx="1920240" cy="365760"/>
          </a:xfrm>
          <a:prstGeom prst="rect">
            <a:avLst/>
          </a:prstGeom>
          <a:solidFill>
            <a:srgbClr val="2A7ABF"/>
          </a:solidFill>
          <a:ln/>
        </p:spPr>
        <p:txBody>
          <a:bodyPr/>
          <a:lstStyle/>
          <a:p>
            <a:endParaRPr lang="es-MX"/>
          </a:p>
        </p:txBody>
      </p:sp>
      <p:sp>
        <p:nvSpPr>
          <p:cNvPr id="22" name="Text 20"/>
          <p:cNvSpPr txBox="1"/>
          <p:nvPr/>
        </p:nvSpPr>
        <p:spPr>
          <a:xfrm>
            <a:off x="8046720" y="1950603"/>
            <a:ext cx="182880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Con internet</a:t>
            </a:r>
            <a:endParaRPr lang="en-US" sz="1000" dirty="0"/>
          </a:p>
        </p:txBody>
      </p:sp>
      <p:sp>
        <p:nvSpPr>
          <p:cNvPr id="23" name="Shape 21"/>
          <p:cNvSpPr/>
          <p:nvPr/>
        </p:nvSpPr>
        <p:spPr>
          <a:xfrm>
            <a:off x="9966960" y="1932315"/>
            <a:ext cx="1767840" cy="365760"/>
          </a:xfrm>
          <a:prstGeom prst="rect">
            <a:avLst/>
          </a:prstGeom>
          <a:solidFill>
            <a:srgbClr val="C0392B"/>
          </a:solidFill>
          <a:ln/>
        </p:spPr>
        <p:txBody>
          <a:bodyPr/>
          <a:lstStyle/>
          <a:p>
            <a:endParaRPr lang="es-MX"/>
          </a:p>
        </p:txBody>
      </p:sp>
      <p:sp>
        <p:nvSpPr>
          <p:cNvPr id="24" name="Text 22"/>
          <p:cNvSpPr txBox="1"/>
          <p:nvPr/>
        </p:nvSpPr>
        <p:spPr>
          <a:xfrm>
            <a:off x="10012680" y="1950603"/>
            <a:ext cx="1722120" cy="32004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Sin internet</a:t>
            </a:r>
            <a:endParaRPr lang="en-US" sz="1000" dirty="0"/>
          </a:p>
        </p:txBody>
      </p:sp>
      <p:sp>
        <p:nvSpPr>
          <p:cNvPr id="25" name="Shape 23"/>
          <p:cNvSpPr/>
          <p:nvPr/>
        </p:nvSpPr>
        <p:spPr>
          <a:xfrm>
            <a:off x="5989320" y="2389515"/>
            <a:ext cx="1920240" cy="685800"/>
          </a:xfrm>
          <a:prstGeom prst="rect">
            <a:avLst/>
          </a:prstGeom>
          <a:solidFill>
            <a:srgbClr val="1B3A6B"/>
          </a:solidFill>
          <a:ln/>
        </p:spPr>
        <p:txBody>
          <a:bodyPr/>
          <a:lstStyle/>
          <a:p>
            <a:endParaRPr lang="es-MX"/>
          </a:p>
        </p:txBody>
      </p:sp>
      <p:sp>
        <p:nvSpPr>
          <p:cNvPr id="26" name="Text 24"/>
          <p:cNvSpPr txBox="1"/>
          <p:nvPr/>
        </p:nvSpPr>
        <p:spPr>
          <a:xfrm>
            <a:off x="6035040" y="2572395"/>
            <a:ext cx="192024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Propia</a:t>
            </a:r>
            <a:endParaRPr lang="en-US" sz="1100" dirty="0"/>
          </a:p>
        </p:txBody>
      </p:sp>
      <p:sp>
        <p:nvSpPr>
          <p:cNvPr id="27" name="Shape 25"/>
          <p:cNvSpPr/>
          <p:nvPr/>
        </p:nvSpPr>
        <p:spPr>
          <a:xfrm>
            <a:off x="8001000" y="2480955"/>
            <a:ext cx="1920240" cy="502920"/>
          </a:xfrm>
          <a:prstGeom prst="rect">
            <a:avLst/>
          </a:prstGeom>
          <a:solidFill>
            <a:srgbClr val="EBF0F8"/>
          </a:solidFill>
          <a:ln w="12700">
            <a:solidFill>
              <a:srgbClr val="D1D5DB"/>
            </a:solidFill>
            <a:prstDash val="solid"/>
          </a:ln>
        </p:spPr>
        <p:txBody>
          <a:bodyPr/>
          <a:lstStyle/>
          <a:p>
            <a:endParaRPr lang="es-MX"/>
          </a:p>
        </p:txBody>
      </p:sp>
      <p:sp>
        <p:nvSpPr>
          <p:cNvPr id="28" name="Shape 26"/>
          <p:cNvSpPr/>
          <p:nvPr/>
        </p:nvSpPr>
        <p:spPr>
          <a:xfrm>
            <a:off x="8001000" y="2480955"/>
            <a:ext cx="1248156" cy="502920"/>
          </a:xfrm>
          <a:prstGeom prst="rect">
            <a:avLst/>
          </a:prstGeom>
          <a:solidFill>
            <a:srgbClr val="2A7ABF">
              <a:alpha val="70000"/>
            </a:srgbClr>
          </a:solidFill>
          <a:ln w="12700">
            <a:solidFill>
              <a:srgbClr val="2A7ABF"/>
            </a:solidFill>
            <a:prstDash val="solid"/>
          </a:ln>
        </p:spPr>
        <p:txBody>
          <a:bodyPr/>
          <a:lstStyle/>
          <a:p>
            <a:endParaRPr lang="es-MX"/>
          </a:p>
        </p:txBody>
      </p:sp>
      <p:sp>
        <p:nvSpPr>
          <p:cNvPr id="29" name="Text 27"/>
          <p:cNvSpPr txBox="1"/>
          <p:nvPr/>
        </p:nvSpPr>
        <p:spPr>
          <a:xfrm>
            <a:off x="8183880" y="2526675"/>
            <a:ext cx="1691640" cy="411480"/>
          </a:xfrm>
          <a:prstGeom prst="rect">
            <a:avLst/>
          </a:prstGeom>
          <a:noFill/>
          <a:ln/>
        </p:spPr>
        <p:txBody>
          <a:bodyPr wrap="square" rtlCol="0" anchor="ctr"/>
          <a:lstStyle/>
          <a:p>
            <a:pPr marL="0" indent="0" algn="ctr">
              <a:buNone/>
            </a:pPr>
            <a:r>
              <a:rPr lang="en-US" sz="1400" b="1" dirty="0">
                <a:solidFill>
                  <a:srgbClr val="1B3A6B"/>
                </a:solidFill>
                <a:latin typeface="Calibri" pitchFamily="34" charset="0"/>
                <a:ea typeface="Calibri" pitchFamily="34" charset="-122"/>
                <a:cs typeface="Calibri" pitchFamily="34" charset="-120"/>
              </a:rPr>
              <a:t>65%</a:t>
            </a:r>
            <a:endParaRPr lang="en-US" sz="1400" dirty="0"/>
          </a:p>
        </p:txBody>
      </p:sp>
      <p:sp>
        <p:nvSpPr>
          <p:cNvPr id="30" name="Shape 28"/>
          <p:cNvSpPr/>
          <p:nvPr/>
        </p:nvSpPr>
        <p:spPr>
          <a:xfrm>
            <a:off x="9966960" y="2480955"/>
            <a:ext cx="1767840" cy="502920"/>
          </a:xfrm>
          <a:prstGeom prst="rect">
            <a:avLst/>
          </a:prstGeom>
          <a:solidFill>
            <a:srgbClr val="EBF0F8"/>
          </a:solidFill>
          <a:ln w="12700">
            <a:solidFill>
              <a:srgbClr val="D1D5DB"/>
            </a:solidFill>
            <a:prstDash val="solid"/>
          </a:ln>
        </p:spPr>
        <p:txBody>
          <a:bodyPr/>
          <a:lstStyle/>
          <a:p>
            <a:endParaRPr lang="es-MX"/>
          </a:p>
        </p:txBody>
      </p:sp>
      <p:sp>
        <p:nvSpPr>
          <p:cNvPr id="31" name="Shape 29"/>
          <p:cNvSpPr/>
          <p:nvPr/>
        </p:nvSpPr>
        <p:spPr>
          <a:xfrm>
            <a:off x="9966960" y="2480955"/>
            <a:ext cx="672084" cy="502920"/>
          </a:xfrm>
          <a:prstGeom prst="rect">
            <a:avLst/>
          </a:prstGeom>
          <a:solidFill>
            <a:srgbClr val="C0392B">
              <a:alpha val="50000"/>
            </a:srgbClr>
          </a:solidFill>
          <a:ln w="12700">
            <a:solidFill>
              <a:srgbClr val="C0392B"/>
            </a:solidFill>
            <a:prstDash val="solid"/>
          </a:ln>
        </p:spPr>
        <p:txBody>
          <a:bodyPr/>
          <a:lstStyle/>
          <a:p>
            <a:endParaRPr lang="es-MX"/>
          </a:p>
        </p:txBody>
      </p:sp>
      <p:sp>
        <p:nvSpPr>
          <p:cNvPr id="32" name="Text 30"/>
          <p:cNvSpPr txBox="1"/>
          <p:nvPr/>
        </p:nvSpPr>
        <p:spPr>
          <a:xfrm>
            <a:off x="10012680" y="2526675"/>
            <a:ext cx="1645920" cy="411480"/>
          </a:xfrm>
          <a:prstGeom prst="rect">
            <a:avLst/>
          </a:prstGeom>
          <a:noFill/>
          <a:ln/>
        </p:spPr>
        <p:txBody>
          <a:bodyPr wrap="square" rtlCol="0" anchor="ctr"/>
          <a:lstStyle/>
          <a:p>
            <a:pPr marL="0" indent="0" algn="ctr">
              <a:buNone/>
            </a:pPr>
            <a:r>
              <a:rPr lang="en-US" sz="1400" b="1" dirty="0">
                <a:solidFill>
                  <a:srgbClr val="1B3A6B"/>
                </a:solidFill>
                <a:latin typeface="Calibri" pitchFamily="34" charset="0"/>
                <a:ea typeface="Calibri" pitchFamily="34" charset="-122"/>
                <a:cs typeface="Calibri" pitchFamily="34" charset="-120"/>
              </a:rPr>
              <a:t>35%</a:t>
            </a:r>
            <a:endParaRPr lang="en-US" sz="1400" dirty="0"/>
          </a:p>
        </p:txBody>
      </p:sp>
      <p:sp>
        <p:nvSpPr>
          <p:cNvPr id="33" name="Shape 31"/>
          <p:cNvSpPr/>
          <p:nvPr/>
        </p:nvSpPr>
        <p:spPr>
          <a:xfrm>
            <a:off x="5989320" y="3166755"/>
            <a:ext cx="1920240" cy="685800"/>
          </a:xfrm>
          <a:prstGeom prst="rect">
            <a:avLst/>
          </a:prstGeom>
          <a:solidFill>
            <a:srgbClr val="1B3A6B"/>
          </a:solidFill>
          <a:ln/>
        </p:spPr>
        <p:txBody>
          <a:bodyPr/>
          <a:lstStyle/>
          <a:p>
            <a:endParaRPr lang="es-MX"/>
          </a:p>
        </p:txBody>
      </p:sp>
      <p:sp>
        <p:nvSpPr>
          <p:cNvPr id="34" name="Text 32"/>
          <p:cNvSpPr txBox="1"/>
          <p:nvPr/>
        </p:nvSpPr>
        <p:spPr>
          <a:xfrm>
            <a:off x="6035040" y="3349635"/>
            <a:ext cx="192024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Rentada</a:t>
            </a:r>
            <a:endParaRPr lang="en-US" sz="1100" dirty="0"/>
          </a:p>
        </p:txBody>
      </p:sp>
      <p:sp>
        <p:nvSpPr>
          <p:cNvPr id="35" name="Shape 33"/>
          <p:cNvSpPr/>
          <p:nvPr/>
        </p:nvSpPr>
        <p:spPr>
          <a:xfrm>
            <a:off x="8001000" y="3258195"/>
            <a:ext cx="1920240" cy="502920"/>
          </a:xfrm>
          <a:prstGeom prst="rect">
            <a:avLst/>
          </a:prstGeom>
          <a:solidFill>
            <a:srgbClr val="EBF0F8"/>
          </a:solidFill>
          <a:ln w="12700">
            <a:solidFill>
              <a:srgbClr val="D1D5DB"/>
            </a:solidFill>
            <a:prstDash val="solid"/>
          </a:ln>
        </p:spPr>
        <p:txBody>
          <a:bodyPr/>
          <a:lstStyle/>
          <a:p>
            <a:endParaRPr lang="es-MX"/>
          </a:p>
        </p:txBody>
      </p:sp>
      <p:sp>
        <p:nvSpPr>
          <p:cNvPr id="36" name="Shape 34"/>
          <p:cNvSpPr/>
          <p:nvPr/>
        </p:nvSpPr>
        <p:spPr>
          <a:xfrm>
            <a:off x="8001000" y="3258195"/>
            <a:ext cx="1382573" cy="502920"/>
          </a:xfrm>
          <a:prstGeom prst="rect">
            <a:avLst/>
          </a:prstGeom>
          <a:solidFill>
            <a:srgbClr val="2A7ABF">
              <a:alpha val="70000"/>
            </a:srgbClr>
          </a:solidFill>
          <a:ln w="12700">
            <a:solidFill>
              <a:srgbClr val="2A7ABF"/>
            </a:solidFill>
            <a:prstDash val="solid"/>
          </a:ln>
        </p:spPr>
        <p:txBody>
          <a:bodyPr/>
          <a:lstStyle/>
          <a:p>
            <a:endParaRPr lang="es-MX"/>
          </a:p>
        </p:txBody>
      </p:sp>
      <p:sp>
        <p:nvSpPr>
          <p:cNvPr id="37" name="Text 35"/>
          <p:cNvSpPr txBox="1"/>
          <p:nvPr/>
        </p:nvSpPr>
        <p:spPr>
          <a:xfrm>
            <a:off x="8246852" y="3303915"/>
            <a:ext cx="1628668" cy="411480"/>
          </a:xfrm>
          <a:prstGeom prst="rect">
            <a:avLst/>
          </a:prstGeom>
          <a:noFill/>
          <a:ln/>
        </p:spPr>
        <p:txBody>
          <a:bodyPr wrap="square" rtlCol="0" anchor="ctr"/>
          <a:lstStyle/>
          <a:p>
            <a:pPr marL="0" indent="0" algn="ctr">
              <a:buNone/>
            </a:pPr>
            <a:r>
              <a:rPr lang="en-US" sz="1400" b="1" dirty="0">
                <a:solidFill>
                  <a:srgbClr val="1B3A6B"/>
                </a:solidFill>
                <a:latin typeface="Calibri" pitchFamily="34" charset="0"/>
                <a:ea typeface="Calibri" pitchFamily="34" charset="-122"/>
                <a:cs typeface="Calibri" pitchFamily="34" charset="-120"/>
              </a:rPr>
              <a:t>72%</a:t>
            </a:r>
            <a:endParaRPr lang="en-US" sz="1400" dirty="0"/>
          </a:p>
        </p:txBody>
      </p:sp>
      <p:sp>
        <p:nvSpPr>
          <p:cNvPr id="38" name="Shape 36"/>
          <p:cNvSpPr/>
          <p:nvPr/>
        </p:nvSpPr>
        <p:spPr>
          <a:xfrm>
            <a:off x="9966960" y="3258195"/>
            <a:ext cx="1767840" cy="502920"/>
          </a:xfrm>
          <a:prstGeom prst="rect">
            <a:avLst/>
          </a:prstGeom>
          <a:solidFill>
            <a:srgbClr val="EBF0F8"/>
          </a:solidFill>
          <a:ln w="12700">
            <a:solidFill>
              <a:srgbClr val="D1D5DB"/>
            </a:solidFill>
            <a:prstDash val="solid"/>
          </a:ln>
        </p:spPr>
        <p:txBody>
          <a:bodyPr/>
          <a:lstStyle/>
          <a:p>
            <a:endParaRPr lang="es-MX"/>
          </a:p>
        </p:txBody>
      </p:sp>
      <p:sp>
        <p:nvSpPr>
          <p:cNvPr id="39" name="Shape 37"/>
          <p:cNvSpPr/>
          <p:nvPr/>
        </p:nvSpPr>
        <p:spPr>
          <a:xfrm>
            <a:off x="9966960" y="3258195"/>
            <a:ext cx="537667" cy="502920"/>
          </a:xfrm>
          <a:prstGeom prst="rect">
            <a:avLst/>
          </a:prstGeom>
          <a:solidFill>
            <a:srgbClr val="C0392B">
              <a:alpha val="50000"/>
            </a:srgbClr>
          </a:solidFill>
          <a:ln w="12700">
            <a:solidFill>
              <a:srgbClr val="C0392B"/>
            </a:solidFill>
            <a:prstDash val="solid"/>
          </a:ln>
        </p:spPr>
        <p:txBody>
          <a:bodyPr/>
          <a:lstStyle/>
          <a:p>
            <a:endParaRPr lang="es-MX"/>
          </a:p>
        </p:txBody>
      </p:sp>
      <p:sp>
        <p:nvSpPr>
          <p:cNvPr id="40" name="Text 38"/>
          <p:cNvSpPr txBox="1"/>
          <p:nvPr/>
        </p:nvSpPr>
        <p:spPr>
          <a:xfrm>
            <a:off x="10133444" y="3303915"/>
            <a:ext cx="1425946" cy="411480"/>
          </a:xfrm>
          <a:prstGeom prst="rect">
            <a:avLst/>
          </a:prstGeom>
          <a:noFill/>
          <a:ln/>
        </p:spPr>
        <p:txBody>
          <a:bodyPr wrap="square" rtlCol="0" anchor="ctr"/>
          <a:lstStyle/>
          <a:p>
            <a:pPr marL="0" indent="0" algn="ctr">
              <a:buNone/>
            </a:pPr>
            <a:r>
              <a:rPr lang="en-US" sz="1400" b="1" dirty="0">
                <a:solidFill>
                  <a:srgbClr val="1B3A6B"/>
                </a:solidFill>
                <a:latin typeface="Calibri" pitchFamily="34" charset="0"/>
                <a:ea typeface="Calibri" pitchFamily="34" charset="-122"/>
                <a:cs typeface="Calibri" pitchFamily="34" charset="-120"/>
              </a:rPr>
              <a:t>28%</a:t>
            </a:r>
            <a:endParaRPr lang="en-US" sz="1400" dirty="0"/>
          </a:p>
        </p:txBody>
      </p:sp>
      <p:sp>
        <p:nvSpPr>
          <p:cNvPr id="41" name="Shape 39"/>
          <p:cNvSpPr/>
          <p:nvPr/>
        </p:nvSpPr>
        <p:spPr>
          <a:xfrm>
            <a:off x="5989320" y="3943995"/>
            <a:ext cx="1920240" cy="685800"/>
          </a:xfrm>
          <a:prstGeom prst="rect">
            <a:avLst/>
          </a:prstGeom>
          <a:solidFill>
            <a:srgbClr val="1B3A6B"/>
          </a:solidFill>
          <a:ln/>
        </p:spPr>
        <p:txBody>
          <a:bodyPr/>
          <a:lstStyle/>
          <a:p>
            <a:endParaRPr lang="es-MX"/>
          </a:p>
        </p:txBody>
      </p:sp>
      <p:sp>
        <p:nvSpPr>
          <p:cNvPr id="42" name="Text 40"/>
          <p:cNvSpPr txBox="1"/>
          <p:nvPr/>
        </p:nvSpPr>
        <p:spPr>
          <a:xfrm>
            <a:off x="6035040" y="4126875"/>
            <a:ext cx="192024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Prestada</a:t>
            </a:r>
            <a:endParaRPr lang="en-US" sz="1100" dirty="0"/>
          </a:p>
        </p:txBody>
      </p:sp>
      <p:sp>
        <p:nvSpPr>
          <p:cNvPr id="43" name="Shape 41"/>
          <p:cNvSpPr/>
          <p:nvPr/>
        </p:nvSpPr>
        <p:spPr>
          <a:xfrm>
            <a:off x="8001000" y="4035435"/>
            <a:ext cx="1920240" cy="502920"/>
          </a:xfrm>
          <a:prstGeom prst="rect">
            <a:avLst/>
          </a:prstGeom>
          <a:solidFill>
            <a:srgbClr val="EBF0F8"/>
          </a:solidFill>
          <a:ln w="12700">
            <a:solidFill>
              <a:srgbClr val="D1D5DB"/>
            </a:solidFill>
            <a:prstDash val="solid"/>
          </a:ln>
        </p:spPr>
        <p:txBody>
          <a:bodyPr/>
          <a:lstStyle/>
          <a:p>
            <a:endParaRPr lang="es-MX"/>
          </a:p>
        </p:txBody>
      </p:sp>
      <p:sp>
        <p:nvSpPr>
          <p:cNvPr id="44" name="Shape 42"/>
          <p:cNvSpPr/>
          <p:nvPr/>
        </p:nvSpPr>
        <p:spPr>
          <a:xfrm>
            <a:off x="8001000" y="4035435"/>
            <a:ext cx="864108" cy="502920"/>
          </a:xfrm>
          <a:prstGeom prst="rect">
            <a:avLst/>
          </a:prstGeom>
          <a:solidFill>
            <a:srgbClr val="2A7ABF">
              <a:alpha val="70000"/>
            </a:srgbClr>
          </a:solidFill>
          <a:ln w="12700">
            <a:solidFill>
              <a:srgbClr val="2A7ABF"/>
            </a:solidFill>
            <a:prstDash val="solid"/>
          </a:ln>
        </p:spPr>
        <p:txBody>
          <a:bodyPr/>
          <a:lstStyle/>
          <a:p>
            <a:endParaRPr lang="es-MX"/>
          </a:p>
        </p:txBody>
      </p:sp>
      <p:sp>
        <p:nvSpPr>
          <p:cNvPr id="45" name="Text 43"/>
          <p:cNvSpPr txBox="1"/>
          <p:nvPr/>
        </p:nvSpPr>
        <p:spPr>
          <a:xfrm>
            <a:off x="8046720" y="4081155"/>
            <a:ext cx="1828800" cy="411480"/>
          </a:xfrm>
          <a:prstGeom prst="rect">
            <a:avLst/>
          </a:prstGeom>
          <a:noFill/>
          <a:ln/>
        </p:spPr>
        <p:txBody>
          <a:bodyPr wrap="square" rtlCol="0" anchor="ctr"/>
          <a:lstStyle/>
          <a:p>
            <a:pPr marL="0" indent="0" algn="ctr">
              <a:buNone/>
            </a:pPr>
            <a:r>
              <a:rPr lang="en-US" sz="1400" b="1" dirty="0">
                <a:solidFill>
                  <a:srgbClr val="1B3A6B"/>
                </a:solidFill>
                <a:latin typeface="Calibri" pitchFamily="34" charset="0"/>
                <a:ea typeface="Calibri" pitchFamily="34" charset="-122"/>
                <a:cs typeface="Calibri" pitchFamily="34" charset="-120"/>
              </a:rPr>
              <a:t>45%</a:t>
            </a:r>
            <a:endParaRPr lang="en-US" sz="1400" dirty="0"/>
          </a:p>
        </p:txBody>
      </p:sp>
      <p:sp>
        <p:nvSpPr>
          <p:cNvPr id="46" name="Shape 44"/>
          <p:cNvSpPr/>
          <p:nvPr/>
        </p:nvSpPr>
        <p:spPr>
          <a:xfrm>
            <a:off x="9966960" y="4035435"/>
            <a:ext cx="1767840" cy="502920"/>
          </a:xfrm>
          <a:prstGeom prst="rect">
            <a:avLst/>
          </a:prstGeom>
          <a:solidFill>
            <a:srgbClr val="EBF0F8"/>
          </a:solidFill>
          <a:ln w="12700">
            <a:solidFill>
              <a:srgbClr val="D1D5DB"/>
            </a:solidFill>
            <a:prstDash val="solid"/>
          </a:ln>
        </p:spPr>
        <p:txBody>
          <a:bodyPr/>
          <a:lstStyle/>
          <a:p>
            <a:endParaRPr lang="es-MX"/>
          </a:p>
        </p:txBody>
      </p:sp>
      <p:sp>
        <p:nvSpPr>
          <p:cNvPr id="47" name="Shape 45"/>
          <p:cNvSpPr/>
          <p:nvPr/>
        </p:nvSpPr>
        <p:spPr>
          <a:xfrm>
            <a:off x="9966960" y="4035435"/>
            <a:ext cx="1056132" cy="502920"/>
          </a:xfrm>
          <a:prstGeom prst="rect">
            <a:avLst/>
          </a:prstGeom>
          <a:solidFill>
            <a:srgbClr val="C0392B">
              <a:alpha val="50000"/>
            </a:srgbClr>
          </a:solidFill>
          <a:ln w="12700">
            <a:solidFill>
              <a:srgbClr val="C0392B"/>
            </a:solidFill>
            <a:prstDash val="solid"/>
          </a:ln>
        </p:spPr>
        <p:txBody>
          <a:bodyPr/>
          <a:lstStyle/>
          <a:p>
            <a:endParaRPr lang="es-MX"/>
          </a:p>
        </p:txBody>
      </p:sp>
      <p:sp>
        <p:nvSpPr>
          <p:cNvPr id="48" name="Text 46"/>
          <p:cNvSpPr txBox="1"/>
          <p:nvPr/>
        </p:nvSpPr>
        <p:spPr>
          <a:xfrm>
            <a:off x="10012680" y="4081155"/>
            <a:ext cx="1629644" cy="411480"/>
          </a:xfrm>
          <a:prstGeom prst="rect">
            <a:avLst/>
          </a:prstGeom>
          <a:noFill/>
          <a:ln/>
        </p:spPr>
        <p:txBody>
          <a:bodyPr wrap="square" rtlCol="0" anchor="ctr"/>
          <a:lstStyle/>
          <a:p>
            <a:pPr marL="0" indent="0" algn="ctr">
              <a:buNone/>
            </a:pPr>
            <a:r>
              <a:rPr lang="en-US" sz="1400" b="1" dirty="0">
                <a:solidFill>
                  <a:srgbClr val="1B3A6B"/>
                </a:solidFill>
                <a:latin typeface="Calibri" pitchFamily="34" charset="0"/>
                <a:ea typeface="Calibri" pitchFamily="34" charset="-122"/>
                <a:cs typeface="Calibri" pitchFamily="34" charset="-120"/>
              </a:rPr>
              <a:t>55%</a:t>
            </a:r>
            <a:endParaRPr lang="en-US" sz="1400" dirty="0"/>
          </a:p>
        </p:txBody>
      </p:sp>
      <p:sp>
        <p:nvSpPr>
          <p:cNvPr id="49" name="Shape 47"/>
          <p:cNvSpPr/>
          <p:nvPr/>
        </p:nvSpPr>
        <p:spPr>
          <a:xfrm>
            <a:off x="5989320" y="4812675"/>
            <a:ext cx="5669280" cy="685800"/>
          </a:xfrm>
          <a:prstGeom prst="rect">
            <a:avLst/>
          </a:prstGeom>
          <a:solidFill>
            <a:srgbClr val="EEF2FF"/>
          </a:solidFill>
          <a:ln w="12700">
            <a:solidFill>
              <a:srgbClr val="6A3D9A"/>
            </a:solidFill>
            <a:prstDash val="solid"/>
          </a:ln>
        </p:spPr>
        <p:txBody>
          <a:bodyPr/>
          <a:lstStyle/>
          <a:p>
            <a:endParaRPr lang="es-MX"/>
          </a:p>
        </p:txBody>
      </p:sp>
      <p:sp>
        <p:nvSpPr>
          <p:cNvPr id="50" name="Text 48"/>
          <p:cNvSpPr txBox="1"/>
          <p:nvPr/>
        </p:nvSpPr>
        <p:spPr>
          <a:xfrm>
            <a:off x="6126480" y="4858395"/>
            <a:ext cx="5394960" cy="594360"/>
          </a:xfrm>
          <a:prstGeom prst="rect">
            <a:avLst/>
          </a:prstGeom>
          <a:noFill/>
          <a:ln/>
        </p:spPr>
        <p:txBody>
          <a:bodyPr wrap="square" rtlCol="0" anchor="ctr"/>
          <a:lstStyle/>
          <a:p>
            <a:pPr marL="0" indent="0">
              <a:buNone/>
            </a:pPr>
            <a:r>
              <a:rPr lang="en-US" sz="950" dirty="0">
                <a:solidFill>
                  <a:srgbClr val="1B3A6B"/>
                </a:solidFill>
                <a:latin typeface="Calibri" pitchFamily="34" charset="0"/>
                <a:ea typeface="Calibri" pitchFamily="34" charset="-122"/>
                <a:cs typeface="Calibri" pitchFamily="34" charset="-120"/>
              </a:rPr>
              <a:t>Interpretación: los hogares rentados tienen la mayor tasa de acceso a internet (72%), mientras que los prestados la menor (45%). Chi-cuadrado: si p &lt; 0.05 → el tipo de tenencia está asociado al acceso a internet.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txBody>
          <a:bodyPr/>
          <a:lstStyle/>
          <a:p>
            <a:endParaRPr lang="es-MX"/>
          </a:p>
        </p:txBody>
      </p:sp>
      <p:sp>
        <p:nvSpPr>
          <p:cNvPr id="3" name="Text 1"/>
          <p:cNvSpPr txBox="1"/>
          <p:nvPr/>
        </p:nvSpPr>
        <p:spPr>
          <a:xfrm>
            <a:off x="228600" y="36576"/>
            <a:ext cx="8229600" cy="27432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marL="0" indent="0" algn="r">
              <a:buNone/>
            </a:pPr>
            <a:r>
              <a:rPr lang="en-US" sz="900" b="1" dirty="0">
                <a:solidFill>
                  <a:srgbClr val="E8A020"/>
                </a:solidFill>
                <a:latin typeface="Calibri" pitchFamily="34" charset="0"/>
                <a:ea typeface="Calibri" pitchFamily="34" charset="-122"/>
                <a:cs typeface="Calibri" pitchFamily="34" charset="-120"/>
              </a:rPr>
              <a:t>Sesión 3</a:t>
            </a:r>
            <a:endParaRPr lang="en-US" sz="900" dirty="0"/>
          </a:p>
        </p:txBody>
      </p:sp>
      <p:sp>
        <p:nvSpPr>
          <p:cNvPr id="5" name="Shape 3"/>
          <p:cNvSpPr/>
          <p:nvPr/>
        </p:nvSpPr>
        <p:spPr>
          <a:xfrm>
            <a:off x="0" y="6565392"/>
            <a:ext cx="12161520" cy="292608"/>
          </a:xfrm>
          <a:prstGeom prst="rect">
            <a:avLst/>
          </a:prstGeom>
          <a:solidFill>
            <a:srgbClr val="1B3A6B"/>
          </a:solidFill>
          <a:ln/>
        </p:spPr>
        <p:txBody>
          <a:bodyPr/>
          <a:lstStyle/>
          <a:p>
            <a:endParaRPr lang="es-MX"/>
          </a:p>
        </p:txBody>
      </p:sp>
      <p:sp>
        <p:nvSpPr>
          <p:cNvPr id="6" name="Text 4"/>
          <p:cNvSpPr txBox="1"/>
          <p:nvPr/>
        </p:nvSpPr>
        <p:spPr>
          <a:xfrm>
            <a:off x="228600" y="6592824"/>
            <a:ext cx="73152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7" name="Text 5"/>
          <p:cNvSpPr txBox="1"/>
          <p:nvPr/>
        </p:nvSpPr>
        <p:spPr>
          <a:xfrm>
            <a:off x="320040" y="457200"/>
            <a:ext cx="10972800" cy="548640"/>
          </a:xfrm>
          <a:prstGeom prst="rect">
            <a:avLst/>
          </a:prstGeom>
          <a:noFill/>
          <a:ln/>
        </p:spPr>
        <p:txBody>
          <a:bodyPr wrap="square" rtlCol="0" anchor="ctr"/>
          <a:lstStyle/>
          <a:p>
            <a:pPr marL="0" indent="0">
              <a:buNone/>
            </a:pPr>
            <a:r>
              <a:rPr lang="en-US" sz="3000" b="1" dirty="0">
                <a:solidFill>
                  <a:srgbClr val="E8A020"/>
                </a:solidFill>
                <a:latin typeface="Calibri" pitchFamily="34" charset="0"/>
                <a:ea typeface="Calibri" pitchFamily="34" charset="-122"/>
                <a:cs typeface="Calibri" pitchFamily="34" charset="-120"/>
              </a:rPr>
              <a:t>Correlación ≠ Causalidad</a:t>
            </a:r>
            <a:endParaRPr lang="en-US" sz="3000" dirty="0"/>
          </a:p>
        </p:txBody>
      </p:sp>
      <p:sp>
        <p:nvSpPr>
          <p:cNvPr id="8" name="Text 6"/>
          <p:cNvSpPr txBox="1"/>
          <p:nvPr/>
        </p:nvSpPr>
        <p:spPr>
          <a:xfrm>
            <a:off x="320040" y="1005840"/>
            <a:ext cx="10972800" cy="347472"/>
          </a:xfrm>
          <a:prstGeom prst="rect">
            <a:avLst/>
          </a:prstGeom>
          <a:noFill/>
          <a:ln/>
        </p:spPr>
        <p:txBody>
          <a:bodyPr wrap="square" rtlCol="0" anchor="ctr"/>
          <a:lstStyle/>
          <a:p>
            <a:pPr marL="0" indent="0">
              <a:buNone/>
            </a:pPr>
            <a:r>
              <a:rPr lang="en-US" sz="1500" i="1" dirty="0">
                <a:solidFill>
                  <a:srgbClr val="90A8C0"/>
                </a:solidFill>
                <a:latin typeface="Calibri" pitchFamily="34" charset="0"/>
                <a:ea typeface="Calibri" pitchFamily="34" charset="-122"/>
                <a:cs typeface="Calibri" pitchFamily="34" charset="-120"/>
              </a:rPr>
              <a:t>El error más costoso en política pública</a:t>
            </a:r>
            <a:endParaRPr lang="en-US" sz="1500" dirty="0"/>
          </a:p>
        </p:txBody>
      </p:sp>
      <p:sp>
        <p:nvSpPr>
          <p:cNvPr id="9" name="Shape 7"/>
          <p:cNvSpPr/>
          <p:nvPr/>
        </p:nvSpPr>
        <p:spPr>
          <a:xfrm>
            <a:off x="320040" y="1508760"/>
            <a:ext cx="3794760" cy="4343400"/>
          </a:xfrm>
          <a:prstGeom prst="rect">
            <a:avLst/>
          </a:prstGeom>
          <a:solidFill>
            <a:srgbClr val="FFFFFF">
              <a:alpha val="10000"/>
            </a:srgbClr>
          </a:solidFill>
          <a:ln w="12700">
            <a:solidFill>
              <a:srgbClr val="1A9641"/>
            </a:solidFill>
            <a:prstDash val="solid"/>
          </a:ln>
        </p:spPr>
        <p:txBody>
          <a:bodyPr/>
          <a:lstStyle/>
          <a:p>
            <a:endParaRPr lang="es-MX"/>
          </a:p>
        </p:txBody>
      </p:sp>
      <p:sp>
        <p:nvSpPr>
          <p:cNvPr id="10" name="Shape 8"/>
          <p:cNvSpPr/>
          <p:nvPr/>
        </p:nvSpPr>
        <p:spPr>
          <a:xfrm>
            <a:off x="320040" y="1508760"/>
            <a:ext cx="3794760" cy="502920"/>
          </a:xfrm>
          <a:prstGeom prst="rect">
            <a:avLst/>
          </a:prstGeom>
          <a:solidFill>
            <a:srgbClr val="1A9641"/>
          </a:solidFill>
          <a:ln w="12700">
            <a:solidFill>
              <a:srgbClr val="1A9641"/>
            </a:solidFill>
            <a:prstDash val="solid"/>
          </a:ln>
        </p:spPr>
        <p:txBody>
          <a:bodyPr/>
          <a:lstStyle/>
          <a:p>
            <a:endParaRPr lang="es-MX"/>
          </a:p>
        </p:txBody>
      </p:sp>
      <p:sp>
        <p:nvSpPr>
          <p:cNvPr id="11" name="Text 9"/>
          <p:cNvSpPr txBox="1"/>
          <p:nvPr/>
        </p:nvSpPr>
        <p:spPr>
          <a:xfrm>
            <a:off x="411480" y="1527048"/>
            <a:ext cx="502920" cy="4572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2" name="Text 10"/>
          <p:cNvSpPr txBox="1"/>
          <p:nvPr/>
        </p:nvSpPr>
        <p:spPr>
          <a:xfrm>
            <a:off x="960120" y="1572768"/>
            <a:ext cx="306324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1. Causalidad real</a:t>
            </a:r>
            <a:endParaRPr lang="en-US" sz="1300" dirty="0"/>
          </a:p>
        </p:txBody>
      </p:sp>
      <p:sp>
        <p:nvSpPr>
          <p:cNvPr id="13" name="Text 11"/>
          <p:cNvSpPr txBox="1"/>
          <p:nvPr/>
        </p:nvSpPr>
        <p:spPr>
          <a:xfrm>
            <a:off x="457200" y="2103120"/>
            <a:ext cx="3520440" cy="50292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X realmente causa Y.</a:t>
            </a:r>
            <a:endParaRPr lang="en-US" sz="1100" dirty="0"/>
          </a:p>
        </p:txBody>
      </p:sp>
      <p:sp>
        <p:nvSpPr>
          <p:cNvPr id="14" name="Shape 12"/>
          <p:cNvSpPr/>
          <p:nvPr/>
        </p:nvSpPr>
        <p:spPr>
          <a:xfrm>
            <a:off x="457200" y="2670048"/>
            <a:ext cx="3520440" cy="0"/>
          </a:xfrm>
          <a:prstGeom prst="line">
            <a:avLst/>
          </a:prstGeom>
          <a:noFill/>
          <a:ln w="12700">
            <a:solidFill>
              <a:srgbClr val="1A9641"/>
            </a:solidFill>
            <a:prstDash val="solid"/>
          </a:ln>
        </p:spPr>
        <p:txBody>
          <a:bodyPr/>
          <a:lstStyle/>
          <a:p>
            <a:endParaRPr lang="es-MX"/>
          </a:p>
        </p:txBody>
      </p:sp>
      <p:sp>
        <p:nvSpPr>
          <p:cNvPr id="15" name="Text 13"/>
          <p:cNvSpPr txBox="1"/>
          <p:nvPr/>
        </p:nvSpPr>
        <p:spPr>
          <a:xfrm>
            <a:off x="457200" y="2724912"/>
            <a:ext cx="3520440" cy="292608"/>
          </a:xfrm>
          <a:prstGeom prst="rect">
            <a:avLst/>
          </a:prstGeom>
          <a:noFill/>
          <a:ln/>
        </p:spPr>
        <p:txBody>
          <a:bodyPr wrap="square" rtlCol="0" anchor="ctr"/>
          <a:lstStyle/>
          <a:p>
            <a:pPr marL="0" indent="0">
              <a:buNone/>
            </a:pPr>
            <a:r>
              <a:rPr lang="en-US" sz="950" b="1" dirty="0">
                <a:solidFill>
                  <a:srgbClr val="90A8C0"/>
                </a:solidFill>
                <a:latin typeface="Calibri" pitchFamily="34" charset="0"/>
                <a:ea typeface="Calibri" pitchFamily="34" charset="-122"/>
                <a:cs typeface="Calibri" pitchFamily="34" charset="-120"/>
              </a:rPr>
              <a:t>Ejemplo real:</a:t>
            </a:r>
            <a:endParaRPr lang="en-US" sz="950" dirty="0"/>
          </a:p>
        </p:txBody>
      </p:sp>
      <p:sp>
        <p:nvSpPr>
          <p:cNvPr id="16" name="Text 14"/>
          <p:cNvSpPr txBox="1"/>
          <p:nvPr/>
        </p:nvSpPr>
        <p:spPr>
          <a:xfrm>
            <a:off x="457200" y="3017520"/>
            <a:ext cx="3520440" cy="777240"/>
          </a:xfrm>
          <a:prstGeom prst="rect">
            <a:avLst/>
          </a:prstGeom>
          <a:noFill/>
          <a:ln/>
        </p:spPr>
        <p:txBody>
          <a:bodyPr wrap="square" rtlCol="0" anchor="ctr"/>
          <a:lstStyle/>
          <a:p>
            <a:pPr marL="0" indent="0">
              <a:buNone/>
            </a:pPr>
            <a:r>
              <a:rPr lang="en-US" sz="1050" i="1" dirty="0">
                <a:solidFill>
                  <a:srgbClr val="E8A020"/>
                </a:solidFill>
                <a:latin typeface="Calibri" pitchFamily="34" charset="0"/>
                <a:ea typeface="Calibri" pitchFamily="34" charset="-122"/>
                <a:cs typeface="Calibri" pitchFamily="34" charset="-120"/>
              </a:rPr>
              <a:t>Más educación → mayores ingresos</a:t>
            </a:r>
            <a:endParaRPr lang="en-US" sz="1050" dirty="0"/>
          </a:p>
          <a:p>
            <a:pPr marL="0" indent="0">
              <a:buNone/>
            </a:pPr>
            <a:r>
              <a:rPr lang="en-US" sz="1050" i="1" dirty="0">
                <a:solidFill>
                  <a:srgbClr val="E8A020"/>
                </a:solidFill>
                <a:latin typeface="Calibri" pitchFamily="34" charset="0"/>
                <a:ea typeface="Calibri" pitchFamily="34" charset="-122"/>
                <a:cs typeface="Calibri" pitchFamily="34" charset="-120"/>
              </a:rPr>
              <a:t>(con condiciones — no siempre directo)</a:t>
            </a:r>
            <a:endParaRPr lang="en-US" sz="1050" dirty="0"/>
          </a:p>
        </p:txBody>
      </p:sp>
      <p:sp>
        <p:nvSpPr>
          <p:cNvPr id="17" name="Shape 15"/>
          <p:cNvSpPr/>
          <p:nvPr/>
        </p:nvSpPr>
        <p:spPr>
          <a:xfrm>
            <a:off x="457200" y="3886200"/>
            <a:ext cx="3520440" cy="1783080"/>
          </a:xfrm>
          <a:prstGeom prst="rect">
            <a:avLst/>
          </a:prstGeom>
          <a:solidFill>
            <a:srgbClr val="FFFFFF">
              <a:alpha val="10000"/>
            </a:srgbClr>
          </a:solidFill>
          <a:ln w="12700">
            <a:solidFill>
              <a:srgbClr val="1A9641"/>
            </a:solidFill>
            <a:prstDash val="solid"/>
          </a:ln>
        </p:spPr>
        <p:txBody>
          <a:bodyPr/>
          <a:lstStyle/>
          <a:p>
            <a:endParaRPr lang="es-MX"/>
          </a:p>
        </p:txBody>
      </p:sp>
      <p:sp>
        <p:nvSpPr>
          <p:cNvPr id="18" name="Text 16"/>
          <p:cNvSpPr txBox="1"/>
          <p:nvPr/>
        </p:nvSpPr>
        <p:spPr>
          <a:xfrm>
            <a:off x="502920" y="3950208"/>
            <a:ext cx="3383280" cy="320040"/>
          </a:xfrm>
          <a:prstGeom prst="rect">
            <a:avLst/>
          </a:prstGeom>
          <a:noFill/>
          <a:ln/>
        </p:spPr>
        <p:txBody>
          <a:bodyPr wrap="square" rtlCol="0" anchor="ctr"/>
          <a:lstStyle/>
          <a:p>
            <a:pPr marL="0" indent="0">
              <a:buNone/>
            </a:pPr>
            <a:r>
              <a:rPr lang="en-US" sz="950" b="1" dirty="0">
                <a:solidFill>
                  <a:srgbClr val="90A8C0"/>
                </a:solidFill>
                <a:latin typeface="Calibri" pitchFamily="34" charset="0"/>
                <a:ea typeface="Calibri" pitchFamily="34" charset="-122"/>
                <a:cs typeface="Calibri" pitchFamily="34" charset="-120"/>
              </a:rPr>
              <a:t>¿Qué prueba causalidad?</a:t>
            </a:r>
            <a:endParaRPr lang="en-US" sz="950" dirty="0"/>
          </a:p>
        </p:txBody>
      </p:sp>
      <p:sp>
        <p:nvSpPr>
          <p:cNvPr id="19" name="Text 17"/>
          <p:cNvSpPr txBox="1"/>
          <p:nvPr/>
        </p:nvSpPr>
        <p:spPr>
          <a:xfrm>
            <a:off x="502920" y="4270248"/>
            <a:ext cx="3383280" cy="77724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Experimento aleatorio (RCT),</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variable instrumental (IV),</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diseño diferencias en diferencias (DiD)</a:t>
            </a:r>
            <a:endParaRPr lang="en-US" sz="1000" dirty="0"/>
          </a:p>
        </p:txBody>
      </p:sp>
      <p:sp>
        <p:nvSpPr>
          <p:cNvPr id="20" name="Shape 18"/>
          <p:cNvSpPr/>
          <p:nvPr/>
        </p:nvSpPr>
        <p:spPr>
          <a:xfrm>
            <a:off x="4251960" y="1508760"/>
            <a:ext cx="3794760" cy="4343400"/>
          </a:xfrm>
          <a:prstGeom prst="rect">
            <a:avLst/>
          </a:prstGeom>
          <a:solidFill>
            <a:srgbClr val="FFFFFF">
              <a:alpha val="10000"/>
            </a:srgbClr>
          </a:solidFill>
          <a:ln w="12700">
            <a:solidFill>
              <a:srgbClr val="6A3D9A"/>
            </a:solidFill>
            <a:prstDash val="solid"/>
          </a:ln>
        </p:spPr>
        <p:txBody>
          <a:bodyPr/>
          <a:lstStyle/>
          <a:p>
            <a:endParaRPr lang="es-MX"/>
          </a:p>
        </p:txBody>
      </p:sp>
      <p:sp>
        <p:nvSpPr>
          <p:cNvPr id="21" name="Shape 19"/>
          <p:cNvSpPr/>
          <p:nvPr/>
        </p:nvSpPr>
        <p:spPr>
          <a:xfrm>
            <a:off x="4251960" y="1508760"/>
            <a:ext cx="3794760" cy="502920"/>
          </a:xfrm>
          <a:prstGeom prst="rect">
            <a:avLst/>
          </a:prstGeom>
          <a:solidFill>
            <a:srgbClr val="6A3D9A"/>
          </a:solidFill>
          <a:ln w="12700">
            <a:solidFill>
              <a:srgbClr val="6A3D9A"/>
            </a:solidFill>
            <a:prstDash val="solid"/>
          </a:ln>
        </p:spPr>
        <p:txBody>
          <a:bodyPr/>
          <a:lstStyle/>
          <a:p>
            <a:endParaRPr lang="es-MX"/>
          </a:p>
        </p:txBody>
      </p:sp>
      <p:sp>
        <p:nvSpPr>
          <p:cNvPr id="22" name="Text 20"/>
          <p:cNvSpPr txBox="1"/>
          <p:nvPr/>
        </p:nvSpPr>
        <p:spPr>
          <a:xfrm>
            <a:off x="4343400" y="1527048"/>
            <a:ext cx="502920" cy="4572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3" name="Text 21"/>
          <p:cNvSpPr txBox="1"/>
          <p:nvPr/>
        </p:nvSpPr>
        <p:spPr>
          <a:xfrm>
            <a:off x="4892040" y="1572768"/>
            <a:ext cx="306324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2. Causalidad inversa</a:t>
            </a:r>
            <a:endParaRPr lang="en-US" sz="1300" dirty="0"/>
          </a:p>
        </p:txBody>
      </p:sp>
      <p:sp>
        <p:nvSpPr>
          <p:cNvPr id="24" name="Text 22"/>
          <p:cNvSpPr txBox="1"/>
          <p:nvPr/>
        </p:nvSpPr>
        <p:spPr>
          <a:xfrm>
            <a:off x="4389120" y="2103120"/>
            <a:ext cx="3520440" cy="50292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Y causa X, no al revés.</a:t>
            </a:r>
            <a:endParaRPr lang="en-US" sz="1100" dirty="0"/>
          </a:p>
        </p:txBody>
      </p:sp>
      <p:sp>
        <p:nvSpPr>
          <p:cNvPr id="25" name="Shape 23"/>
          <p:cNvSpPr/>
          <p:nvPr/>
        </p:nvSpPr>
        <p:spPr>
          <a:xfrm>
            <a:off x="4389120" y="2670048"/>
            <a:ext cx="3520440" cy="0"/>
          </a:xfrm>
          <a:prstGeom prst="line">
            <a:avLst/>
          </a:prstGeom>
          <a:noFill/>
          <a:ln w="12700">
            <a:solidFill>
              <a:srgbClr val="6A3D9A"/>
            </a:solidFill>
            <a:prstDash val="solid"/>
          </a:ln>
        </p:spPr>
        <p:txBody>
          <a:bodyPr/>
          <a:lstStyle/>
          <a:p>
            <a:endParaRPr lang="es-MX"/>
          </a:p>
        </p:txBody>
      </p:sp>
      <p:sp>
        <p:nvSpPr>
          <p:cNvPr id="26" name="Text 24"/>
          <p:cNvSpPr txBox="1"/>
          <p:nvPr/>
        </p:nvSpPr>
        <p:spPr>
          <a:xfrm>
            <a:off x="4389120" y="2724912"/>
            <a:ext cx="3520440" cy="292608"/>
          </a:xfrm>
          <a:prstGeom prst="rect">
            <a:avLst/>
          </a:prstGeom>
          <a:noFill/>
          <a:ln/>
        </p:spPr>
        <p:txBody>
          <a:bodyPr wrap="square" rtlCol="0" anchor="ctr"/>
          <a:lstStyle/>
          <a:p>
            <a:pPr marL="0" indent="0">
              <a:buNone/>
            </a:pPr>
            <a:r>
              <a:rPr lang="en-US" sz="950" b="1" dirty="0">
                <a:solidFill>
                  <a:srgbClr val="90A8C0"/>
                </a:solidFill>
                <a:latin typeface="Calibri" pitchFamily="34" charset="0"/>
                <a:ea typeface="Calibri" pitchFamily="34" charset="-122"/>
                <a:cs typeface="Calibri" pitchFamily="34" charset="-120"/>
              </a:rPr>
              <a:t>Ejemplo real:</a:t>
            </a:r>
            <a:endParaRPr lang="en-US" sz="950" dirty="0"/>
          </a:p>
        </p:txBody>
      </p:sp>
      <p:sp>
        <p:nvSpPr>
          <p:cNvPr id="27" name="Text 25"/>
          <p:cNvSpPr txBox="1"/>
          <p:nvPr/>
        </p:nvSpPr>
        <p:spPr>
          <a:xfrm>
            <a:off x="4389120" y="3017520"/>
            <a:ext cx="3520440" cy="777240"/>
          </a:xfrm>
          <a:prstGeom prst="rect">
            <a:avLst/>
          </a:prstGeom>
          <a:noFill/>
          <a:ln/>
        </p:spPr>
        <p:txBody>
          <a:bodyPr wrap="square" rtlCol="0" anchor="ctr"/>
          <a:lstStyle/>
          <a:p>
            <a:pPr marL="0" indent="0">
              <a:buNone/>
            </a:pPr>
            <a:r>
              <a:rPr lang="en-US" sz="1050" i="1" dirty="0">
                <a:solidFill>
                  <a:srgbClr val="E8A020"/>
                </a:solidFill>
                <a:latin typeface="Calibri" pitchFamily="34" charset="0"/>
                <a:ea typeface="Calibri" pitchFamily="34" charset="-122"/>
                <a:cs typeface="Calibri" pitchFamily="34" charset="-120"/>
              </a:rPr>
              <a:t>¿El gasto en policía reduce el crimen?</a:t>
            </a:r>
            <a:endParaRPr lang="en-US" sz="1050" dirty="0"/>
          </a:p>
          <a:p>
            <a:pPr marL="0" indent="0">
              <a:buNone/>
            </a:pPr>
            <a:r>
              <a:rPr lang="en-US" sz="1050" i="1" dirty="0">
                <a:solidFill>
                  <a:srgbClr val="E8A020"/>
                </a:solidFill>
                <a:latin typeface="Calibri" pitchFamily="34" charset="0"/>
                <a:ea typeface="Calibri" pitchFamily="34" charset="-122"/>
                <a:cs typeface="Calibri" pitchFamily="34" charset="-120"/>
              </a:rPr>
              <a:t>¿O más crimen genera más gasto en policía?</a:t>
            </a:r>
            <a:endParaRPr lang="en-US" sz="1050" dirty="0"/>
          </a:p>
        </p:txBody>
      </p:sp>
      <p:sp>
        <p:nvSpPr>
          <p:cNvPr id="28" name="Shape 26"/>
          <p:cNvSpPr/>
          <p:nvPr/>
        </p:nvSpPr>
        <p:spPr>
          <a:xfrm>
            <a:off x="4389120" y="3886200"/>
            <a:ext cx="3520440" cy="1783080"/>
          </a:xfrm>
          <a:prstGeom prst="rect">
            <a:avLst/>
          </a:prstGeom>
          <a:solidFill>
            <a:srgbClr val="FFFFFF">
              <a:alpha val="10000"/>
            </a:srgbClr>
          </a:solidFill>
          <a:ln w="12700">
            <a:solidFill>
              <a:srgbClr val="6A3D9A"/>
            </a:solidFill>
            <a:prstDash val="solid"/>
          </a:ln>
        </p:spPr>
        <p:txBody>
          <a:bodyPr/>
          <a:lstStyle/>
          <a:p>
            <a:endParaRPr lang="es-MX"/>
          </a:p>
        </p:txBody>
      </p:sp>
      <p:sp>
        <p:nvSpPr>
          <p:cNvPr id="29" name="Text 27"/>
          <p:cNvSpPr txBox="1"/>
          <p:nvPr/>
        </p:nvSpPr>
        <p:spPr>
          <a:xfrm>
            <a:off x="4434840" y="3950208"/>
            <a:ext cx="3383280" cy="320040"/>
          </a:xfrm>
          <a:prstGeom prst="rect">
            <a:avLst/>
          </a:prstGeom>
          <a:noFill/>
          <a:ln/>
        </p:spPr>
        <p:txBody>
          <a:bodyPr wrap="square" rtlCol="0" anchor="ctr"/>
          <a:lstStyle/>
          <a:p>
            <a:pPr marL="0" indent="0">
              <a:buNone/>
            </a:pPr>
            <a:r>
              <a:rPr lang="en-US" sz="950" b="1" dirty="0">
                <a:solidFill>
                  <a:srgbClr val="90A8C0"/>
                </a:solidFill>
                <a:latin typeface="Calibri" pitchFamily="34" charset="0"/>
                <a:ea typeface="Calibri" pitchFamily="34" charset="-122"/>
                <a:cs typeface="Calibri" pitchFamily="34" charset="-120"/>
              </a:rPr>
              <a:t>¿Qué prueba causalidad?</a:t>
            </a:r>
            <a:endParaRPr lang="en-US" sz="950" dirty="0"/>
          </a:p>
        </p:txBody>
      </p:sp>
      <p:sp>
        <p:nvSpPr>
          <p:cNvPr id="30" name="Text 28"/>
          <p:cNvSpPr txBox="1"/>
          <p:nvPr/>
        </p:nvSpPr>
        <p:spPr>
          <a:xfrm>
            <a:off x="4434840" y="4270248"/>
            <a:ext cx="3383280" cy="77724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Experimento natural, DiD,</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panel de datos con efectos fijos</a:t>
            </a:r>
            <a:endParaRPr lang="en-US" sz="1000" dirty="0"/>
          </a:p>
        </p:txBody>
      </p:sp>
      <p:sp>
        <p:nvSpPr>
          <p:cNvPr id="31" name="Shape 29"/>
          <p:cNvSpPr/>
          <p:nvPr/>
        </p:nvSpPr>
        <p:spPr>
          <a:xfrm>
            <a:off x="8183880" y="1508760"/>
            <a:ext cx="3794760" cy="4343400"/>
          </a:xfrm>
          <a:prstGeom prst="rect">
            <a:avLst/>
          </a:prstGeom>
          <a:solidFill>
            <a:srgbClr val="FFFFFF">
              <a:alpha val="10000"/>
            </a:srgbClr>
          </a:solidFill>
          <a:ln w="12700">
            <a:solidFill>
              <a:srgbClr val="C0392B"/>
            </a:solidFill>
            <a:prstDash val="solid"/>
          </a:ln>
        </p:spPr>
        <p:txBody>
          <a:bodyPr/>
          <a:lstStyle/>
          <a:p>
            <a:endParaRPr lang="es-MX"/>
          </a:p>
        </p:txBody>
      </p:sp>
      <p:sp>
        <p:nvSpPr>
          <p:cNvPr id="32" name="Shape 30"/>
          <p:cNvSpPr/>
          <p:nvPr/>
        </p:nvSpPr>
        <p:spPr>
          <a:xfrm>
            <a:off x="8183880" y="1508760"/>
            <a:ext cx="3794760" cy="502920"/>
          </a:xfrm>
          <a:prstGeom prst="rect">
            <a:avLst/>
          </a:prstGeom>
          <a:solidFill>
            <a:srgbClr val="C0392B"/>
          </a:solidFill>
          <a:ln w="12700">
            <a:solidFill>
              <a:srgbClr val="C0392B"/>
            </a:solidFill>
            <a:prstDash val="solid"/>
          </a:ln>
        </p:spPr>
        <p:txBody>
          <a:bodyPr/>
          <a:lstStyle/>
          <a:p>
            <a:endParaRPr lang="es-MX"/>
          </a:p>
        </p:txBody>
      </p:sp>
      <p:sp>
        <p:nvSpPr>
          <p:cNvPr id="33" name="Text 31"/>
          <p:cNvSpPr txBox="1"/>
          <p:nvPr/>
        </p:nvSpPr>
        <p:spPr>
          <a:xfrm>
            <a:off x="8275320" y="1527048"/>
            <a:ext cx="502920" cy="4572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34" name="Text 32"/>
          <p:cNvSpPr txBox="1"/>
          <p:nvPr/>
        </p:nvSpPr>
        <p:spPr>
          <a:xfrm>
            <a:off x="8823960" y="1572768"/>
            <a:ext cx="306324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3. Variable confusora (Z)</a:t>
            </a:r>
            <a:endParaRPr lang="en-US" sz="1300" dirty="0"/>
          </a:p>
        </p:txBody>
      </p:sp>
      <p:sp>
        <p:nvSpPr>
          <p:cNvPr id="35" name="Text 33"/>
          <p:cNvSpPr txBox="1"/>
          <p:nvPr/>
        </p:nvSpPr>
        <p:spPr>
          <a:xfrm>
            <a:off x="8321040" y="2103120"/>
            <a:ext cx="3520440" cy="50292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Una tercera variable Z causa tanto X como Y.</a:t>
            </a:r>
            <a:endParaRPr lang="en-US" sz="1100" dirty="0"/>
          </a:p>
        </p:txBody>
      </p:sp>
      <p:sp>
        <p:nvSpPr>
          <p:cNvPr id="36" name="Shape 34"/>
          <p:cNvSpPr/>
          <p:nvPr/>
        </p:nvSpPr>
        <p:spPr>
          <a:xfrm>
            <a:off x="8321040" y="2670048"/>
            <a:ext cx="3520440" cy="0"/>
          </a:xfrm>
          <a:prstGeom prst="line">
            <a:avLst/>
          </a:prstGeom>
          <a:noFill/>
          <a:ln w="12700">
            <a:solidFill>
              <a:srgbClr val="C0392B"/>
            </a:solidFill>
            <a:prstDash val="solid"/>
          </a:ln>
        </p:spPr>
        <p:txBody>
          <a:bodyPr/>
          <a:lstStyle/>
          <a:p>
            <a:endParaRPr lang="es-MX"/>
          </a:p>
        </p:txBody>
      </p:sp>
      <p:sp>
        <p:nvSpPr>
          <p:cNvPr id="37" name="Text 35"/>
          <p:cNvSpPr txBox="1"/>
          <p:nvPr/>
        </p:nvSpPr>
        <p:spPr>
          <a:xfrm>
            <a:off x="8321040" y="2724912"/>
            <a:ext cx="3520440" cy="292608"/>
          </a:xfrm>
          <a:prstGeom prst="rect">
            <a:avLst/>
          </a:prstGeom>
          <a:noFill/>
          <a:ln/>
        </p:spPr>
        <p:txBody>
          <a:bodyPr wrap="square" rtlCol="0" anchor="ctr"/>
          <a:lstStyle/>
          <a:p>
            <a:pPr marL="0" indent="0">
              <a:buNone/>
            </a:pPr>
            <a:r>
              <a:rPr lang="en-US" sz="950" b="1" dirty="0">
                <a:solidFill>
                  <a:srgbClr val="90A8C0"/>
                </a:solidFill>
                <a:latin typeface="Calibri" pitchFamily="34" charset="0"/>
                <a:ea typeface="Calibri" pitchFamily="34" charset="-122"/>
                <a:cs typeface="Calibri" pitchFamily="34" charset="-120"/>
              </a:rPr>
              <a:t>Ejemplo real:</a:t>
            </a:r>
            <a:endParaRPr lang="en-US" sz="950" dirty="0"/>
          </a:p>
        </p:txBody>
      </p:sp>
      <p:sp>
        <p:nvSpPr>
          <p:cNvPr id="38" name="Text 36"/>
          <p:cNvSpPr txBox="1"/>
          <p:nvPr/>
        </p:nvSpPr>
        <p:spPr>
          <a:xfrm>
            <a:off x="8321040" y="3017520"/>
            <a:ext cx="3520440" cy="777240"/>
          </a:xfrm>
          <a:prstGeom prst="rect">
            <a:avLst/>
          </a:prstGeom>
          <a:noFill/>
          <a:ln/>
        </p:spPr>
        <p:txBody>
          <a:bodyPr wrap="square" rtlCol="0" anchor="ctr"/>
          <a:lstStyle/>
          <a:p>
            <a:pPr marL="0" indent="0">
              <a:buNone/>
            </a:pPr>
            <a:r>
              <a:rPr lang="en-US" sz="1050" i="1" dirty="0">
                <a:solidFill>
                  <a:srgbClr val="E8A020"/>
                </a:solidFill>
                <a:latin typeface="Calibri" pitchFamily="34" charset="0"/>
                <a:ea typeface="Calibri" pitchFamily="34" charset="-122"/>
                <a:cs typeface="Calibri" pitchFamily="34" charset="-120"/>
              </a:rPr>
              <a:t>Helados y ahogamientos: la temperatura</a:t>
            </a:r>
            <a:endParaRPr lang="en-US" sz="1050" dirty="0"/>
          </a:p>
          <a:p>
            <a:pPr marL="0" indent="0">
              <a:buNone/>
            </a:pPr>
            <a:r>
              <a:rPr lang="en-US" sz="1050" i="1" dirty="0">
                <a:solidFill>
                  <a:srgbClr val="E8A020"/>
                </a:solidFill>
                <a:latin typeface="Calibri" pitchFamily="34" charset="0"/>
                <a:ea typeface="Calibri" pitchFamily="34" charset="-122"/>
                <a:cs typeface="Calibri" pitchFamily="34" charset="-120"/>
              </a:rPr>
              <a:t>(Z) mueve a ambos. Prohibir helados no salva vidas.</a:t>
            </a:r>
            <a:endParaRPr lang="en-US" sz="1050" dirty="0"/>
          </a:p>
        </p:txBody>
      </p:sp>
      <p:sp>
        <p:nvSpPr>
          <p:cNvPr id="39" name="Shape 37"/>
          <p:cNvSpPr/>
          <p:nvPr/>
        </p:nvSpPr>
        <p:spPr>
          <a:xfrm>
            <a:off x="8321040" y="3886200"/>
            <a:ext cx="3520440" cy="1783080"/>
          </a:xfrm>
          <a:prstGeom prst="rect">
            <a:avLst/>
          </a:prstGeom>
          <a:solidFill>
            <a:srgbClr val="FFFFFF">
              <a:alpha val="10000"/>
            </a:srgbClr>
          </a:solidFill>
          <a:ln w="12700">
            <a:solidFill>
              <a:srgbClr val="C0392B"/>
            </a:solidFill>
            <a:prstDash val="solid"/>
          </a:ln>
        </p:spPr>
        <p:txBody>
          <a:bodyPr/>
          <a:lstStyle/>
          <a:p>
            <a:endParaRPr lang="es-MX"/>
          </a:p>
        </p:txBody>
      </p:sp>
      <p:sp>
        <p:nvSpPr>
          <p:cNvPr id="40" name="Text 38"/>
          <p:cNvSpPr txBox="1"/>
          <p:nvPr/>
        </p:nvSpPr>
        <p:spPr>
          <a:xfrm>
            <a:off x="8366760" y="3950208"/>
            <a:ext cx="3383280" cy="320040"/>
          </a:xfrm>
          <a:prstGeom prst="rect">
            <a:avLst/>
          </a:prstGeom>
          <a:noFill/>
          <a:ln/>
        </p:spPr>
        <p:txBody>
          <a:bodyPr wrap="square" rtlCol="0" anchor="ctr"/>
          <a:lstStyle/>
          <a:p>
            <a:pPr marL="0" indent="0">
              <a:buNone/>
            </a:pPr>
            <a:r>
              <a:rPr lang="en-US" sz="950" b="1" dirty="0">
                <a:solidFill>
                  <a:srgbClr val="90A8C0"/>
                </a:solidFill>
                <a:latin typeface="Calibri" pitchFamily="34" charset="0"/>
                <a:ea typeface="Calibri" pitchFamily="34" charset="-122"/>
                <a:cs typeface="Calibri" pitchFamily="34" charset="-120"/>
              </a:rPr>
              <a:t>¿Qué identifica Z?</a:t>
            </a:r>
            <a:endParaRPr lang="en-US" sz="950" dirty="0"/>
          </a:p>
        </p:txBody>
      </p:sp>
      <p:sp>
        <p:nvSpPr>
          <p:cNvPr id="41" name="Text 39"/>
          <p:cNvSpPr txBox="1"/>
          <p:nvPr/>
        </p:nvSpPr>
        <p:spPr>
          <a:xfrm>
            <a:off x="8366760" y="4270248"/>
            <a:ext cx="3383280" cy="77724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Análisis de mediación,</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regresión controlando por Z,</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gráficas de causalidad (DAGs)</a:t>
            </a:r>
            <a:endParaRPr lang="en-US" sz="1000" dirty="0"/>
          </a:p>
        </p:txBody>
      </p:sp>
      <p:sp>
        <p:nvSpPr>
          <p:cNvPr id="42" name="Shape 40"/>
          <p:cNvSpPr/>
          <p:nvPr/>
        </p:nvSpPr>
        <p:spPr>
          <a:xfrm>
            <a:off x="320040" y="5925312"/>
            <a:ext cx="11521440" cy="621792"/>
          </a:xfrm>
          <a:prstGeom prst="rect">
            <a:avLst/>
          </a:prstGeom>
          <a:solidFill>
            <a:srgbClr val="C0392B">
              <a:alpha val="20000"/>
            </a:srgbClr>
          </a:solidFill>
          <a:ln w="12700">
            <a:solidFill>
              <a:srgbClr val="C0392B"/>
            </a:solidFill>
            <a:prstDash val="solid"/>
          </a:ln>
        </p:spPr>
        <p:txBody>
          <a:bodyPr/>
          <a:lstStyle/>
          <a:p>
            <a:endParaRPr lang="es-MX"/>
          </a:p>
        </p:txBody>
      </p:sp>
      <p:sp>
        <p:nvSpPr>
          <p:cNvPr id="43" name="Text 41"/>
          <p:cNvSpPr txBox="1"/>
          <p:nvPr/>
        </p:nvSpPr>
        <p:spPr>
          <a:xfrm>
            <a:off x="457200" y="5961888"/>
            <a:ext cx="11155680" cy="54864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El EDA genera hipótesis — no las confirma. La correlación es el punto de partida, no la respuesta. Para establecer causalidad necesitas diseño de investigación: RCT, IV, DiD, RDD. Eso es econometría — sesiones 5+.</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347472"/>
          </a:xfrm>
          <a:prstGeom prst="rect">
            <a:avLst/>
          </a:prstGeom>
          <a:solidFill>
            <a:srgbClr val="1B3A6B"/>
          </a:solidFill>
          <a:ln/>
        </p:spPr>
        <p:txBody>
          <a:bodyPr/>
          <a:lstStyle/>
          <a:p>
            <a:endParaRPr lang="es-MX"/>
          </a:p>
        </p:txBody>
      </p:sp>
      <p:sp>
        <p:nvSpPr>
          <p:cNvPr id="3" name="Text 1"/>
          <p:cNvSpPr txBox="1"/>
          <p:nvPr/>
        </p:nvSpPr>
        <p:spPr>
          <a:xfrm>
            <a:off x="228600" y="36576"/>
            <a:ext cx="8229600" cy="27432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marL="0" indent="0" algn="r">
              <a:buNone/>
            </a:pPr>
            <a:r>
              <a:rPr lang="en-US" sz="900" b="1" dirty="0">
                <a:solidFill>
                  <a:srgbClr val="E8A020"/>
                </a:solidFill>
                <a:latin typeface="Calibri" pitchFamily="34" charset="0"/>
                <a:ea typeface="Calibri" pitchFamily="34" charset="-122"/>
                <a:cs typeface="Calibri" pitchFamily="34" charset="-120"/>
              </a:rPr>
              <a:t>Sesión 3</a:t>
            </a:r>
            <a:endParaRPr lang="en-US" sz="900" dirty="0"/>
          </a:p>
        </p:txBody>
      </p:sp>
      <p:sp>
        <p:nvSpPr>
          <p:cNvPr id="5" name="Shape 3"/>
          <p:cNvSpPr/>
          <p:nvPr/>
        </p:nvSpPr>
        <p:spPr>
          <a:xfrm>
            <a:off x="0" y="6565392"/>
            <a:ext cx="12192000" cy="292608"/>
          </a:xfrm>
          <a:prstGeom prst="rect">
            <a:avLst/>
          </a:prstGeom>
          <a:solidFill>
            <a:srgbClr val="1B3A6B"/>
          </a:solidFill>
          <a:ln/>
        </p:spPr>
        <p:txBody>
          <a:bodyPr/>
          <a:lstStyle/>
          <a:p>
            <a:endParaRPr lang="es-MX"/>
          </a:p>
        </p:txBody>
      </p:sp>
      <p:sp>
        <p:nvSpPr>
          <p:cNvPr id="6" name="Text 4"/>
          <p:cNvSpPr txBox="1"/>
          <p:nvPr/>
        </p:nvSpPr>
        <p:spPr>
          <a:xfrm>
            <a:off x="228600" y="6592824"/>
            <a:ext cx="73152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7" name="Text 5"/>
          <p:cNvSpPr txBox="1"/>
          <p:nvPr/>
        </p:nvSpPr>
        <p:spPr>
          <a:xfrm>
            <a:off x="320040" y="457200"/>
            <a:ext cx="10972800" cy="502920"/>
          </a:xfrm>
          <a:prstGeom prst="rect">
            <a:avLst/>
          </a:prstGeom>
          <a:noFill/>
          <a:ln/>
        </p:spPr>
        <p:txBody>
          <a:bodyPr wrap="square" rtlCol="0" anchor="ctr"/>
          <a:lstStyle/>
          <a:p>
            <a:pPr marL="0" indent="0">
              <a:buNone/>
            </a:pPr>
            <a:r>
              <a:rPr lang="en-US" sz="2500" b="1" dirty="0">
                <a:solidFill>
                  <a:srgbClr val="1B3A6B"/>
                </a:solidFill>
                <a:latin typeface="Calibri" pitchFamily="34" charset="0"/>
                <a:ea typeface="Calibri" pitchFamily="34" charset="-122"/>
                <a:cs typeface="Calibri" pitchFamily="34" charset="-120"/>
              </a:rPr>
              <a:t>EDA en un proyecto real: flujo de 5 pasos</a:t>
            </a:r>
            <a:endParaRPr lang="en-US" sz="2500" dirty="0"/>
          </a:p>
        </p:txBody>
      </p:sp>
      <p:sp>
        <p:nvSpPr>
          <p:cNvPr id="8" name="Shape 6"/>
          <p:cNvSpPr/>
          <p:nvPr/>
        </p:nvSpPr>
        <p:spPr>
          <a:xfrm>
            <a:off x="320040" y="1097280"/>
            <a:ext cx="594360" cy="868680"/>
          </a:xfrm>
          <a:prstGeom prst="rect">
            <a:avLst/>
          </a:prstGeom>
          <a:solidFill>
            <a:srgbClr val="2A7ABF"/>
          </a:solidFill>
          <a:ln w="12700">
            <a:solidFill>
              <a:srgbClr val="2A7ABF"/>
            </a:solidFill>
            <a:prstDash val="solid"/>
          </a:ln>
        </p:spPr>
        <p:txBody>
          <a:bodyPr/>
          <a:lstStyle/>
          <a:p>
            <a:endParaRPr lang="es-MX"/>
          </a:p>
        </p:txBody>
      </p:sp>
      <p:sp>
        <p:nvSpPr>
          <p:cNvPr id="9" name="Text 7"/>
          <p:cNvSpPr txBox="1"/>
          <p:nvPr/>
        </p:nvSpPr>
        <p:spPr>
          <a:xfrm>
            <a:off x="320040" y="1261872"/>
            <a:ext cx="59436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0" name="Shape 8"/>
          <p:cNvSpPr/>
          <p:nvPr/>
        </p:nvSpPr>
        <p:spPr>
          <a:xfrm>
            <a:off x="960120" y="1097280"/>
            <a:ext cx="11155680" cy="868680"/>
          </a:xfrm>
          <a:prstGeom prst="rect">
            <a:avLst/>
          </a:prstGeom>
          <a:solidFill>
            <a:srgbClr val="FFFFFF"/>
          </a:solidFill>
          <a:ln w="12700">
            <a:solidFill>
              <a:srgbClr val="D1D5DB"/>
            </a:solidFill>
            <a:prstDash val="solid"/>
          </a:ln>
        </p:spPr>
        <p:txBody>
          <a:bodyPr/>
          <a:lstStyle/>
          <a:p>
            <a:endParaRPr lang="es-MX"/>
          </a:p>
        </p:txBody>
      </p:sp>
      <p:sp>
        <p:nvSpPr>
          <p:cNvPr id="11" name="Text 9"/>
          <p:cNvSpPr txBox="1"/>
          <p:nvPr/>
        </p:nvSpPr>
        <p:spPr>
          <a:xfrm>
            <a:off x="1097280" y="1170432"/>
            <a:ext cx="4114800" cy="347472"/>
          </a:xfrm>
          <a:prstGeom prst="rect">
            <a:avLst/>
          </a:prstGeom>
          <a:noFill/>
          <a:ln/>
        </p:spPr>
        <p:txBody>
          <a:bodyPr wrap="square" rtlCol="0" anchor="ctr"/>
          <a:lstStyle/>
          <a:p>
            <a:pPr marL="0" indent="0">
              <a:buNone/>
            </a:pPr>
            <a:r>
              <a:rPr lang="en-US" sz="1400" b="1" dirty="0">
                <a:solidFill>
                  <a:srgbClr val="2A7ABF"/>
                </a:solidFill>
                <a:latin typeface="Calibri" pitchFamily="34" charset="0"/>
                <a:ea typeface="Calibri" pitchFamily="34" charset="-122"/>
                <a:cs typeface="Calibri" pitchFamily="34" charset="-120"/>
              </a:rPr>
              <a:t>Variable objetivo</a:t>
            </a:r>
            <a:endParaRPr lang="en-US" sz="1400" dirty="0"/>
          </a:p>
        </p:txBody>
      </p:sp>
      <p:sp>
        <p:nvSpPr>
          <p:cNvPr id="12" name="Text 10"/>
          <p:cNvSpPr txBox="1"/>
          <p:nvPr/>
        </p:nvSpPr>
        <p:spPr>
          <a:xfrm>
            <a:off x="5212080" y="1170432"/>
            <a:ext cx="6766560" cy="347472"/>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¿Qué quiero explicar o predecir?</a:t>
            </a:r>
            <a:endParaRPr lang="en-US" sz="1300" dirty="0"/>
          </a:p>
        </p:txBody>
      </p:sp>
      <p:sp>
        <p:nvSpPr>
          <p:cNvPr id="13" name="Text 11"/>
          <p:cNvSpPr txBox="1"/>
          <p:nvPr/>
        </p:nvSpPr>
        <p:spPr>
          <a:xfrm>
            <a:off x="1097280" y="1572768"/>
            <a:ext cx="10972800" cy="347472"/>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Definir antes de tocar los datos. Sin variable objetivo, el EDA no tiene dirección.</a:t>
            </a:r>
            <a:endParaRPr lang="en-US" sz="1050" dirty="0"/>
          </a:p>
        </p:txBody>
      </p:sp>
      <p:sp>
        <p:nvSpPr>
          <p:cNvPr id="14" name="Shape 12"/>
          <p:cNvSpPr/>
          <p:nvPr/>
        </p:nvSpPr>
        <p:spPr>
          <a:xfrm>
            <a:off x="594360" y="1975104"/>
            <a:ext cx="0" cy="100584"/>
          </a:xfrm>
          <a:prstGeom prst="line">
            <a:avLst/>
          </a:prstGeom>
          <a:noFill/>
          <a:ln w="25400">
            <a:solidFill>
              <a:srgbClr val="2A7ABF"/>
            </a:solidFill>
            <a:prstDash val="solid"/>
          </a:ln>
        </p:spPr>
        <p:txBody>
          <a:bodyPr/>
          <a:lstStyle/>
          <a:p>
            <a:endParaRPr lang="es-MX"/>
          </a:p>
        </p:txBody>
      </p:sp>
      <p:sp>
        <p:nvSpPr>
          <p:cNvPr id="15" name="Shape 13"/>
          <p:cNvSpPr/>
          <p:nvPr/>
        </p:nvSpPr>
        <p:spPr>
          <a:xfrm>
            <a:off x="320040" y="2084832"/>
            <a:ext cx="594360" cy="868680"/>
          </a:xfrm>
          <a:prstGeom prst="rect">
            <a:avLst/>
          </a:prstGeom>
          <a:solidFill>
            <a:srgbClr val="1A9641"/>
          </a:solidFill>
          <a:ln w="12700">
            <a:solidFill>
              <a:srgbClr val="1A9641"/>
            </a:solidFill>
            <a:prstDash val="solid"/>
          </a:ln>
        </p:spPr>
        <p:txBody>
          <a:bodyPr/>
          <a:lstStyle/>
          <a:p>
            <a:endParaRPr lang="es-MX"/>
          </a:p>
        </p:txBody>
      </p:sp>
      <p:sp>
        <p:nvSpPr>
          <p:cNvPr id="16" name="Text 14"/>
          <p:cNvSpPr txBox="1"/>
          <p:nvPr/>
        </p:nvSpPr>
        <p:spPr>
          <a:xfrm>
            <a:off x="320040" y="2249424"/>
            <a:ext cx="59436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7" name="Shape 15"/>
          <p:cNvSpPr/>
          <p:nvPr/>
        </p:nvSpPr>
        <p:spPr>
          <a:xfrm>
            <a:off x="960120" y="2084832"/>
            <a:ext cx="11155680" cy="868680"/>
          </a:xfrm>
          <a:prstGeom prst="rect">
            <a:avLst/>
          </a:prstGeom>
          <a:solidFill>
            <a:srgbClr val="FFFFFF"/>
          </a:solidFill>
          <a:ln w="12700">
            <a:solidFill>
              <a:srgbClr val="D1D5DB"/>
            </a:solidFill>
            <a:prstDash val="solid"/>
          </a:ln>
        </p:spPr>
        <p:txBody>
          <a:bodyPr/>
          <a:lstStyle/>
          <a:p>
            <a:endParaRPr lang="es-MX"/>
          </a:p>
        </p:txBody>
      </p:sp>
      <p:sp>
        <p:nvSpPr>
          <p:cNvPr id="18" name="Text 16"/>
          <p:cNvSpPr txBox="1"/>
          <p:nvPr/>
        </p:nvSpPr>
        <p:spPr>
          <a:xfrm>
            <a:off x="1097280" y="2157984"/>
            <a:ext cx="4114800" cy="347472"/>
          </a:xfrm>
          <a:prstGeom prst="rect">
            <a:avLst/>
          </a:prstGeom>
          <a:noFill/>
          <a:ln/>
        </p:spPr>
        <p:txBody>
          <a:bodyPr wrap="square" rtlCol="0" anchor="ctr"/>
          <a:lstStyle/>
          <a:p>
            <a:pPr marL="0" indent="0">
              <a:buNone/>
            </a:pPr>
            <a:r>
              <a:rPr lang="en-US" sz="1400" b="1" dirty="0">
                <a:solidFill>
                  <a:srgbClr val="1A9641"/>
                </a:solidFill>
                <a:latin typeface="Calibri" pitchFamily="34" charset="0"/>
                <a:ea typeface="Calibri" pitchFamily="34" charset="-122"/>
                <a:cs typeface="Calibri" pitchFamily="34" charset="-120"/>
              </a:rPr>
              <a:t>Una variable — objetivo</a:t>
            </a:r>
            <a:endParaRPr lang="en-US" sz="1400" dirty="0"/>
          </a:p>
        </p:txBody>
      </p:sp>
      <p:sp>
        <p:nvSpPr>
          <p:cNvPr id="19" name="Text 17"/>
          <p:cNvSpPr txBox="1"/>
          <p:nvPr/>
        </p:nvSpPr>
        <p:spPr>
          <a:xfrm>
            <a:off x="5212080" y="2157984"/>
            <a:ext cx="6766560" cy="347472"/>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Distribución, estadísticos, outliers.</a:t>
            </a:r>
            <a:endParaRPr lang="en-US" sz="1300" dirty="0"/>
          </a:p>
        </p:txBody>
      </p:sp>
      <p:sp>
        <p:nvSpPr>
          <p:cNvPr id="20" name="Text 18"/>
          <p:cNvSpPr txBox="1"/>
          <p:nvPr/>
        </p:nvSpPr>
        <p:spPr>
          <a:xfrm>
            <a:off x="1097280" y="2560320"/>
            <a:ext cx="10972800" cy="347472"/>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Histograma + box plot + percentiles. ¿Hay valores imposibles que pasaron la limpieza?</a:t>
            </a:r>
            <a:endParaRPr lang="en-US" sz="1050" dirty="0"/>
          </a:p>
        </p:txBody>
      </p:sp>
      <p:sp>
        <p:nvSpPr>
          <p:cNvPr id="21" name="Shape 19"/>
          <p:cNvSpPr/>
          <p:nvPr/>
        </p:nvSpPr>
        <p:spPr>
          <a:xfrm>
            <a:off x="594360" y="2962656"/>
            <a:ext cx="0" cy="100584"/>
          </a:xfrm>
          <a:prstGeom prst="line">
            <a:avLst/>
          </a:prstGeom>
          <a:noFill/>
          <a:ln w="25400">
            <a:solidFill>
              <a:srgbClr val="1A9641"/>
            </a:solidFill>
            <a:prstDash val="solid"/>
          </a:ln>
        </p:spPr>
        <p:txBody>
          <a:bodyPr/>
          <a:lstStyle/>
          <a:p>
            <a:endParaRPr lang="es-MX"/>
          </a:p>
        </p:txBody>
      </p:sp>
      <p:sp>
        <p:nvSpPr>
          <p:cNvPr id="22" name="Shape 20"/>
          <p:cNvSpPr/>
          <p:nvPr/>
        </p:nvSpPr>
        <p:spPr>
          <a:xfrm>
            <a:off x="320040" y="3072384"/>
            <a:ext cx="594360" cy="868680"/>
          </a:xfrm>
          <a:prstGeom prst="rect">
            <a:avLst/>
          </a:prstGeom>
          <a:solidFill>
            <a:srgbClr val="6A3D9A"/>
          </a:solidFill>
          <a:ln w="12700">
            <a:solidFill>
              <a:srgbClr val="6A3D9A"/>
            </a:solidFill>
            <a:prstDash val="solid"/>
          </a:ln>
        </p:spPr>
        <p:txBody>
          <a:bodyPr/>
          <a:lstStyle/>
          <a:p>
            <a:endParaRPr lang="es-MX"/>
          </a:p>
        </p:txBody>
      </p:sp>
      <p:sp>
        <p:nvSpPr>
          <p:cNvPr id="23" name="Text 21"/>
          <p:cNvSpPr txBox="1"/>
          <p:nvPr/>
        </p:nvSpPr>
        <p:spPr>
          <a:xfrm>
            <a:off x="320040" y="3236976"/>
            <a:ext cx="59436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4" name="Shape 22"/>
          <p:cNvSpPr/>
          <p:nvPr/>
        </p:nvSpPr>
        <p:spPr>
          <a:xfrm>
            <a:off x="960120" y="3072384"/>
            <a:ext cx="11155680" cy="868680"/>
          </a:xfrm>
          <a:prstGeom prst="rect">
            <a:avLst/>
          </a:prstGeom>
          <a:solidFill>
            <a:srgbClr val="FFFFFF"/>
          </a:solidFill>
          <a:ln w="12700">
            <a:solidFill>
              <a:srgbClr val="D1D5DB"/>
            </a:solidFill>
            <a:prstDash val="solid"/>
          </a:ln>
        </p:spPr>
        <p:txBody>
          <a:bodyPr/>
          <a:lstStyle/>
          <a:p>
            <a:endParaRPr lang="es-MX"/>
          </a:p>
        </p:txBody>
      </p:sp>
      <p:sp>
        <p:nvSpPr>
          <p:cNvPr id="25" name="Text 23"/>
          <p:cNvSpPr txBox="1"/>
          <p:nvPr/>
        </p:nvSpPr>
        <p:spPr>
          <a:xfrm>
            <a:off x="1097280" y="3145536"/>
            <a:ext cx="4114800" cy="347472"/>
          </a:xfrm>
          <a:prstGeom prst="rect">
            <a:avLst/>
          </a:prstGeom>
          <a:noFill/>
          <a:ln/>
        </p:spPr>
        <p:txBody>
          <a:bodyPr wrap="square" rtlCol="0" anchor="ctr"/>
          <a:lstStyle/>
          <a:p>
            <a:pPr marL="0" indent="0">
              <a:buNone/>
            </a:pPr>
            <a:r>
              <a:rPr lang="en-US" sz="1400" b="1" dirty="0">
                <a:solidFill>
                  <a:srgbClr val="6A3D9A"/>
                </a:solidFill>
                <a:latin typeface="Calibri" pitchFamily="34" charset="0"/>
                <a:ea typeface="Calibri" pitchFamily="34" charset="-122"/>
                <a:cs typeface="Calibri" pitchFamily="34" charset="-120"/>
              </a:rPr>
              <a:t>Correlaciones numéricas</a:t>
            </a:r>
            <a:endParaRPr lang="en-US" sz="1400" dirty="0"/>
          </a:p>
        </p:txBody>
      </p:sp>
      <p:sp>
        <p:nvSpPr>
          <p:cNvPr id="26" name="Text 24"/>
          <p:cNvSpPr txBox="1"/>
          <p:nvPr/>
        </p:nvSpPr>
        <p:spPr>
          <a:xfrm>
            <a:off x="5212080" y="3145536"/>
            <a:ext cx="6766560" cy="347472"/>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Matriz de correlación con todas las variables numéricas.</a:t>
            </a:r>
            <a:endParaRPr lang="en-US" sz="1300" dirty="0"/>
          </a:p>
        </p:txBody>
      </p:sp>
      <p:sp>
        <p:nvSpPr>
          <p:cNvPr id="27" name="Text 25"/>
          <p:cNvSpPr txBox="1"/>
          <p:nvPr/>
        </p:nvSpPr>
        <p:spPr>
          <a:xfrm>
            <a:off x="1097280" y="3547872"/>
            <a:ext cx="10972800" cy="347472"/>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Priorizar los 3-5 pares con |r| &gt; 0.3 para exploración más profunda.</a:t>
            </a:r>
            <a:endParaRPr lang="en-US" sz="1050" dirty="0"/>
          </a:p>
        </p:txBody>
      </p:sp>
      <p:sp>
        <p:nvSpPr>
          <p:cNvPr id="28" name="Shape 26"/>
          <p:cNvSpPr/>
          <p:nvPr/>
        </p:nvSpPr>
        <p:spPr>
          <a:xfrm>
            <a:off x="594360" y="3950208"/>
            <a:ext cx="0" cy="100584"/>
          </a:xfrm>
          <a:prstGeom prst="line">
            <a:avLst/>
          </a:prstGeom>
          <a:noFill/>
          <a:ln w="25400">
            <a:solidFill>
              <a:srgbClr val="6A3D9A"/>
            </a:solidFill>
            <a:prstDash val="solid"/>
          </a:ln>
        </p:spPr>
        <p:txBody>
          <a:bodyPr/>
          <a:lstStyle/>
          <a:p>
            <a:endParaRPr lang="es-MX"/>
          </a:p>
        </p:txBody>
      </p:sp>
      <p:sp>
        <p:nvSpPr>
          <p:cNvPr id="29" name="Shape 27"/>
          <p:cNvSpPr/>
          <p:nvPr/>
        </p:nvSpPr>
        <p:spPr>
          <a:xfrm>
            <a:off x="320040" y="4059936"/>
            <a:ext cx="594360" cy="868680"/>
          </a:xfrm>
          <a:prstGeom prst="rect">
            <a:avLst/>
          </a:prstGeom>
          <a:solidFill>
            <a:srgbClr val="E8A020"/>
          </a:solidFill>
          <a:ln w="12700">
            <a:solidFill>
              <a:srgbClr val="E8A020"/>
            </a:solidFill>
            <a:prstDash val="solid"/>
          </a:ln>
        </p:spPr>
        <p:txBody>
          <a:bodyPr/>
          <a:lstStyle/>
          <a:p>
            <a:endParaRPr lang="es-MX"/>
          </a:p>
        </p:txBody>
      </p:sp>
      <p:sp>
        <p:nvSpPr>
          <p:cNvPr id="30" name="Text 28"/>
          <p:cNvSpPr txBox="1"/>
          <p:nvPr/>
        </p:nvSpPr>
        <p:spPr>
          <a:xfrm>
            <a:off x="320040" y="4224528"/>
            <a:ext cx="59436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31" name="Shape 29"/>
          <p:cNvSpPr/>
          <p:nvPr/>
        </p:nvSpPr>
        <p:spPr>
          <a:xfrm>
            <a:off x="960120" y="4059936"/>
            <a:ext cx="11155680" cy="868680"/>
          </a:xfrm>
          <a:prstGeom prst="rect">
            <a:avLst/>
          </a:prstGeom>
          <a:solidFill>
            <a:srgbClr val="FFFFFF"/>
          </a:solidFill>
          <a:ln w="12700">
            <a:solidFill>
              <a:srgbClr val="D1D5DB"/>
            </a:solidFill>
            <a:prstDash val="solid"/>
          </a:ln>
        </p:spPr>
        <p:txBody>
          <a:bodyPr/>
          <a:lstStyle/>
          <a:p>
            <a:endParaRPr lang="es-MX"/>
          </a:p>
        </p:txBody>
      </p:sp>
      <p:sp>
        <p:nvSpPr>
          <p:cNvPr id="32" name="Text 30"/>
          <p:cNvSpPr txBox="1"/>
          <p:nvPr/>
        </p:nvSpPr>
        <p:spPr>
          <a:xfrm>
            <a:off x="1097280" y="4133088"/>
            <a:ext cx="4114800" cy="347472"/>
          </a:xfrm>
          <a:prstGeom prst="rect">
            <a:avLst/>
          </a:prstGeom>
          <a:noFill/>
          <a:ln/>
        </p:spPr>
        <p:txBody>
          <a:bodyPr wrap="square" rtlCol="0" anchor="ctr"/>
          <a:lstStyle/>
          <a:p>
            <a:pPr marL="0" indent="0">
              <a:buNone/>
            </a:pPr>
            <a:r>
              <a:rPr lang="en-US" sz="1400" b="1" dirty="0">
                <a:solidFill>
                  <a:srgbClr val="E8A020"/>
                </a:solidFill>
                <a:latin typeface="Calibri" pitchFamily="34" charset="0"/>
                <a:ea typeface="Calibri" pitchFamily="34" charset="-122"/>
                <a:cs typeface="Calibri" pitchFamily="34" charset="-120"/>
              </a:rPr>
              <a:t>Medianas por grupo</a:t>
            </a:r>
            <a:endParaRPr lang="en-US" sz="1400" dirty="0"/>
          </a:p>
        </p:txBody>
      </p:sp>
      <p:sp>
        <p:nvSpPr>
          <p:cNvPr id="33" name="Text 31"/>
          <p:cNvSpPr txBox="1"/>
          <p:nvPr/>
        </p:nvSpPr>
        <p:spPr>
          <a:xfrm>
            <a:off x="5212080" y="4133088"/>
            <a:ext cx="6766560" cy="347472"/>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Para cada categórica, calcular mediana de la variable objetivo por grupo.</a:t>
            </a:r>
            <a:endParaRPr lang="en-US" sz="1300" dirty="0"/>
          </a:p>
        </p:txBody>
      </p:sp>
      <p:sp>
        <p:nvSpPr>
          <p:cNvPr id="34" name="Text 32"/>
          <p:cNvSpPr txBox="1"/>
          <p:nvPr/>
        </p:nvSpPr>
        <p:spPr>
          <a:xfrm>
            <a:off x="1097280" y="4535424"/>
            <a:ext cx="10972800" cy="347472"/>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Si la mediana varía entre grupos, hay señal. Continuar con box plot / violin plot.</a:t>
            </a:r>
            <a:endParaRPr lang="en-US" sz="1050" dirty="0"/>
          </a:p>
        </p:txBody>
      </p:sp>
      <p:sp>
        <p:nvSpPr>
          <p:cNvPr id="35" name="Shape 33"/>
          <p:cNvSpPr/>
          <p:nvPr/>
        </p:nvSpPr>
        <p:spPr>
          <a:xfrm>
            <a:off x="594360" y="4937760"/>
            <a:ext cx="0" cy="100584"/>
          </a:xfrm>
          <a:prstGeom prst="line">
            <a:avLst/>
          </a:prstGeom>
          <a:noFill/>
          <a:ln w="25400">
            <a:solidFill>
              <a:srgbClr val="E8A020"/>
            </a:solidFill>
            <a:prstDash val="solid"/>
          </a:ln>
        </p:spPr>
        <p:txBody>
          <a:bodyPr/>
          <a:lstStyle/>
          <a:p>
            <a:endParaRPr lang="es-MX"/>
          </a:p>
        </p:txBody>
      </p:sp>
      <p:sp>
        <p:nvSpPr>
          <p:cNvPr id="36" name="Shape 34"/>
          <p:cNvSpPr/>
          <p:nvPr/>
        </p:nvSpPr>
        <p:spPr>
          <a:xfrm>
            <a:off x="320040" y="5047488"/>
            <a:ext cx="594360" cy="868680"/>
          </a:xfrm>
          <a:prstGeom prst="rect">
            <a:avLst/>
          </a:prstGeom>
          <a:solidFill>
            <a:srgbClr val="C0392B"/>
          </a:solidFill>
          <a:ln w="12700">
            <a:solidFill>
              <a:srgbClr val="C0392B"/>
            </a:solidFill>
            <a:prstDash val="solid"/>
          </a:ln>
        </p:spPr>
        <p:txBody>
          <a:bodyPr/>
          <a:lstStyle/>
          <a:p>
            <a:endParaRPr lang="es-MX"/>
          </a:p>
        </p:txBody>
      </p:sp>
      <p:sp>
        <p:nvSpPr>
          <p:cNvPr id="37" name="Text 35"/>
          <p:cNvSpPr txBox="1"/>
          <p:nvPr/>
        </p:nvSpPr>
        <p:spPr>
          <a:xfrm>
            <a:off x="320040" y="5212080"/>
            <a:ext cx="59436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38" name="Shape 36"/>
          <p:cNvSpPr/>
          <p:nvPr/>
        </p:nvSpPr>
        <p:spPr>
          <a:xfrm>
            <a:off x="960120" y="5047488"/>
            <a:ext cx="11155680" cy="868680"/>
          </a:xfrm>
          <a:prstGeom prst="rect">
            <a:avLst/>
          </a:prstGeom>
          <a:solidFill>
            <a:srgbClr val="FFFFFF"/>
          </a:solidFill>
          <a:ln w="12700">
            <a:solidFill>
              <a:srgbClr val="D1D5DB"/>
            </a:solidFill>
            <a:prstDash val="solid"/>
          </a:ln>
        </p:spPr>
        <p:txBody>
          <a:bodyPr/>
          <a:lstStyle/>
          <a:p>
            <a:endParaRPr lang="es-MX"/>
          </a:p>
        </p:txBody>
      </p:sp>
      <p:sp>
        <p:nvSpPr>
          <p:cNvPr id="39" name="Text 37"/>
          <p:cNvSpPr txBox="1"/>
          <p:nvPr/>
        </p:nvSpPr>
        <p:spPr>
          <a:xfrm>
            <a:off x="1097280" y="5120640"/>
            <a:ext cx="4114800" cy="347472"/>
          </a:xfrm>
          <a:prstGeom prst="rect">
            <a:avLst/>
          </a:prstGeom>
          <a:noFill/>
          <a:ln/>
        </p:spPr>
        <p:txBody>
          <a:bodyPr wrap="square" rtlCol="0" anchor="ctr"/>
          <a:lstStyle/>
          <a:p>
            <a:pPr marL="0" indent="0">
              <a:buNone/>
            </a:pPr>
            <a:r>
              <a:rPr lang="en-US" sz="1400" b="1" dirty="0">
                <a:solidFill>
                  <a:srgbClr val="C0392B"/>
                </a:solidFill>
                <a:latin typeface="Calibri" pitchFamily="34" charset="0"/>
                <a:ea typeface="Calibri" pitchFamily="34" charset="-122"/>
                <a:cs typeface="Calibri" pitchFamily="34" charset="-120"/>
              </a:rPr>
              <a:t>Documentar hipótesis</a:t>
            </a:r>
            <a:endParaRPr lang="en-US" sz="1400" dirty="0"/>
          </a:p>
        </p:txBody>
      </p:sp>
      <p:sp>
        <p:nvSpPr>
          <p:cNvPr id="40" name="Text 38"/>
          <p:cNvSpPr txBox="1"/>
          <p:nvPr/>
        </p:nvSpPr>
        <p:spPr>
          <a:xfrm>
            <a:off x="5212080" y="5120640"/>
            <a:ext cx="6766560" cy="347472"/>
          </a:xfrm>
          <a:prstGeom prst="rect">
            <a:avLst/>
          </a:prstGeom>
          <a:noFill/>
          <a:ln/>
        </p:spPr>
        <p:txBody>
          <a:bodyPr wrap="square" rtlCol="0" anchor="ctr"/>
          <a:lstStyle/>
          <a:p>
            <a:pPr marL="0" indent="0">
              <a:buNone/>
            </a:pPr>
            <a:r>
              <a:rPr lang="en-US" sz="1300" b="1" dirty="0">
                <a:solidFill>
                  <a:srgbClr val="1B3A6B"/>
                </a:solidFill>
                <a:latin typeface="Calibri" pitchFamily="34" charset="0"/>
                <a:ea typeface="Calibri" pitchFamily="34" charset="-122"/>
                <a:cs typeface="Calibri" pitchFamily="34" charset="-120"/>
              </a:rPr>
              <a:t>Escribir las hipótesis antes de modelar.</a:t>
            </a:r>
            <a:endParaRPr lang="en-US" sz="1300" dirty="0"/>
          </a:p>
        </p:txBody>
      </p:sp>
      <p:sp>
        <p:nvSpPr>
          <p:cNvPr id="41" name="Text 39"/>
          <p:cNvSpPr txBox="1"/>
          <p:nvPr/>
        </p:nvSpPr>
        <p:spPr>
          <a:xfrm>
            <a:off x="1097280" y="5522976"/>
            <a:ext cx="10972800" cy="347472"/>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H1, H2, H3... Las hipótesis guían la especificación del modelo. Cambiarlas post-hoc es p-hacking.</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txBody>
          <a:bodyPr/>
          <a:lstStyle/>
          <a:p>
            <a:endParaRPr lang="es-MX"/>
          </a:p>
        </p:txBody>
      </p:sp>
      <p:sp>
        <p:nvSpPr>
          <p:cNvPr id="3" name="Text 1"/>
          <p:cNvSpPr txBox="1"/>
          <p:nvPr/>
        </p:nvSpPr>
        <p:spPr>
          <a:xfrm>
            <a:off x="228600" y="36576"/>
            <a:ext cx="8229600" cy="27432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marL="0" indent="0" algn="r">
              <a:buNone/>
            </a:pPr>
            <a:r>
              <a:rPr lang="en-US" sz="900" b="1" dirty="0">
                <a:solidFill>
                  <a:srgbClr val="E8A020"/>
                </a:solidFill>
                <a:latin typeface="Calibri" pitchFamily="34" charset="0"/>
                <a:ea typeface="Calibri" pitchFamily="34" charset="-122"/>
                <a:cs typeface="Calibri" pitchFamily="34" charset="-120"/>
              </a:rPr>
              <a:t>Sesión 3</a:t>
            </a:r>
            <a:endParaRPr lang="en-US" sz="900" dirty="0"/>
          </a:p>
        </p:txBody>
      </p:sp>
      <p:sp>
        <p:nvSpPr>
          <p:cNvPr id="5" name="Shape 3"/>
          <p:cNvSpPr/>
          <p:nvPr/>
        </p:nvSpPr>
        <p:spPr>
          <a:xfrm>
            <a:off x="0" y="6565392"/>
            <a:ext cx="12161520" cy="292608"/>
          </a:xfrm>
          <a:prstGeom prst="rect">
            <a:avLst/>
          </a:prstGeom>
          <a:solidFill>
            <a:srgbClr val="1B3A6B"/>
          </a:solidFill>
          <a:ln/>
        </p:spPr>
        <p:txBody>
          <a:bodyPr/>
          <a:lstStyle/>
          <a:p>
            <a:endParaRPr lang="es-MX"/>
          </a:p>
        </p:txBody>
      </p:sp>
      <p:sp>
        <p:nvSpPr>
          <p:cNvPr id="6" name="Text 4"/>
          <p:cNvSpPr txBox="1"/>
          <p:nvPr/>
        </p:nvSpPr>
        <p:spPr>
          <a:xfrm>
            <a:off x="228600" y="6592824"/>
            <a:ext cx="73152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7" name="Text 5"/>
          <p:cNvSpPr txBox="1"/>
          <p:nvPr/>
        </p:nvSpPr>
        <p:spPr>
          <a:xfrm>
            <a:off x="320040" y="457200"/>
            <a:ext cx="9144000" cy="502920"/>
          </a:xfrm>
          <a:prstGeom prst="rect">
            <a:avLst/>
          </a:prstGeom>
          <a:noFill/>
          <a:ln/>
        </p:spPr>
        <p:txBody>
          <a:bodyPr wrap="square" rtlCol="0" anchor="ctr"/>
          <a:lstStyle/>
          <a:p>
            <a:pPr marL="0" indent="0">
              <a:buNone/>
            </a:pPr>
            <a:r>
              <a:rPr lang="en-US" sz="2500" b="1" dirty="0">
                <a:solidFill>
                  <a:srgbClr val="1B3A6B"/>
                </a:solidFill>
                <a:latin typeface="Calibri" pitchFamily="34" charset="0"/>
                <a:ea typeface="Calibri" pitchFamily="34" charset="-122"/>
                <a:cs typeface="Calibri" pitchFamily="34" charset="-120"/>
              </a:rPr>
              <a:t>Ejercicio en Google Colab</a:t>
            </a:r>
            <a:endParaRPr lang="en-US" sz="2500" dirty="0"/>
          </a:p>
        </p:txBody>
      </p:sp>
      <p:sp>
        <p:nvSpPr>
          <p:cNvPr id="8" name="Text 6"/>
          <p:cNvSpPr txBox="1"/>
          <p:nvPr/>
        </p:nvSpPr>
        <p:spPr>
          <a:xfrm>
            <a:off x="320040" y="960120"/>
            <a:ext cx="11521440" cy="32004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Abrir sesion3_notebook.ipynb  ·  Datasets: ENIGH (Sesión 2) + Banco Mundial WDI</a:t>
            </a:r>
            <a:endParaRPr lang="en-US" sz="1100" dirty="0"/>
          </a:p>
        </p:txBody>
      </p:sp>
      <p:sp>
        <p:nvSpPr>
          <p:cNvPr id="9" name="Shape 7"/>
          <p:cNvSpPr/>
          <p:nvPr/>
        </p:nvSpPr>
        <p:spPr>
          <a:xfrm>
            <a:off x="320040" y="1371600"/>
            <a:ext cx="5577840" cy="2377440"/>
          </a:xfrm>
          <a:prstGeom prst="rect">
            <a:avLst/>
          </a:prstGeom>
          <a:solidFill>
            <a:srgbClr val="FFFFFF"/>
          </a:solidFill>
          <a:ln w="12700">
            <a:solidFill>
              <a:srgbClr val="D1D5DB"/>
            </a:solidFill>
            <a:prstDash val="solid"/>
          </a:ln>
        </p:spPr>
        <p:txBody>
          <a:bodyPr/>
          <a:lstStyle/>
          <a:p>
            <a:endParaRPr lang="es-MX"/>
          </a:p>
        </p:txBody>
      </p:sp>
      <p:sp>
        <p:nvSpPr>
          <p:cNvPr id="10" name="Shape 8"/>
          <p:cNvSpPr/>
          <p:nvPr/>
        </p:nvSpPr>
        <p:spPr>
          <a:xfrm>
            <a:off x="320040" y="1371600"/>
            <a:ext cx="5577840" cy="457200"/>
          </a:xfrm>
          <a:prstGeom prst="rect">
            <a:avLst/>
          </a:prstGeom>
          <a:solidFill>
            <a:srgbClr val="1B3A6B"/>
          </a:solidFill>
          <a:ln/>
        </p:spPr>
        <p:txBody>
          <a:bodyPr/>
          <a:lstStyle/>
          <a:p>
            <a:endParaRPr lang="es-MX"/>
          </a:p>
        </p:txBody>
      </p:sp>
      <p:sp>
        <p:nvSpPr>
          <p:cNvPr id="11" name="Text 9"/>
          <p:cNvSpPr txBox="1"/>
          <p:nvPr/>
        </p:nvSpPr>
        <p:spPr>
          <a:xfrm>
            <a:off x="411480" y="1426464"/>
            <a:ext cx="1097280" cy="347472"/>
          </a:xfrm>
          <a:prstGeom prst="rect">
            <a:avLst/>
          </a:prstGeom>
          <a:noFill/>
          <a:ln/>
        </p:spPr>
        <p:txBody>
          <a:bodyPr wrap="square" rtlCol="0" anchor="ctr"/>
          <a:lstStyle/>
          <a:p>
            <a:pPr marL="0" indent="0">
              <a:buNone/>
            </a:pPr>
            <a:r>
              <a:rPr lang="en-US" sz="1150" b="1" dirty="0">
                <a:solidFill>
                  <a:srgbClr val="90A8C0"/>
                </a:solidFill>
                <a:latin typeface="Calibri" pitchFamily="34" charset="0"/>
                <a:ea typeface="Calibri" pitchFamily="34" charset="-122"/>
                <a:cs typeface="Calibri" pitchFamily="34" charset="-120"/>
              </a:rPr>
              <a:t>Parte 0</a:t>
            </a:r>
            <a:endParaRPr lang="en-US" sz="1150" dirty="0"/>
          </a:p>
        </p:txBody>
      </p:sp>
      <p:sp>
        <p:nvSpPr>
          <p:cNvPr id="12" name="Text 10"/>
          <p:cNvSpPr txBox="1"/>
          <p:nvPr/>
        </p:nvSpPr>
        <p:spPr>
          <a:xfrm>
            <a:off x="1508760" y="1426464"/>
            <a:ext cx="356616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Setup y carga de datos</a:t>
            </a:r>
            <a:endParaRPr lang="en-US" sz="1300" dirty="0"/>
          </a:p>
        </p:txBody>
      </p:sp>
      <p:sp>
        <p:nvSpPr>
          <p:cNvPr id="13" name="Text 11"/>
          <p:cNvSpPr txBox="1"/>
          <p:nvPr/>
        </p:nvSpPr>
        <p:spPr>
          <a:xfrm>
            <a:off x="5074920" y="1444752"/>
            <a:ext cx="731520" cy="320040"/>
          </a:xfrm>
          <a:prstGeom prst="rect">
            <a:avLst/>
          </a:prstGeom>
          <a:noFill/>
          <a:ln/>
        </p:spPr>
        <p:txBody>
          <a:bodyPr wrap="square" rtlCol="0" anchor="ctr"/>
          <a:lstStyle/>
          <a:p>
            <a:pPr marL="0" indent="0" algn="r">
              <a:buNone/>
            </a:pPr>
            <a:r>
              <a:rPr lang="en-US" sz="1100" b="1" dirty="0">
                <a:solidFill>
                  <a:srgbClr val="E8A020"/>
                </a:solidFill>
                <a:latin typeface="Calibri" pitchFamily="34" charset="0"/>
                <a:ea typeface="Calibri" pitchFamily="34" charset="-122"/>
                <a:cs typeface="Calibri" pitchFamily="34" charset="-120"/>
              </a:rPr>
              <a:t>5 min</a:t>
            </a:r>
            <a:endParaRPr lang="en-US" sz="1100" dirty="0"/>
          </a:p>
        </p:txBody>
      </p:sp>
      <p:sp>
        <p:nvSpPr>
          <p:cNvPr id="14" name="Text 12"/>
          <p:cNvSpPr txBox="1"/>
          <p:nvPr/>
        </p:nvSpPr>
        <p:spPr>
          <a:xfrm>
            <a:off x="411480" y="1920240"/>
            <a:ext cx="182880" cy="384048"/>
          </a:xfrm>
          <a:prstGeom prst="rect">
            <a:avLst/>
          </a:prstGeom>
          <a:noFill/>
          <a:ln/>
        </p:spPr>
        <p:txBody>
          <a:bodyPr wrap="square"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a:t>
            </a:r>
            <a:endParaRPr lang="en-US" sz="1100" dirty="0"/>
          </a:p>
        </p:txBody>
      </p:sp>
      <p:sp>
        <p:nvSpPr>
          <p:cNvPr id="15" name="Text 13"/>
          <p:cNvSpPr txBox="1"/>
          <p:nvPr/>
        </p:nvSpPr>
        <p:spPr>
          <a:xfrm>
            <a:off x="594360" y="1920240"/>
            <a:ext cx="521208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Importar librerías: pandas, numpy, matplotlib, seaborn, wbgapi</a:t>
            </a:r>
            <a:endParaRPr lang="en-US" sz="1050" dirty="0"/>
          </a:p>
        </p:txBody>
      </p:sp>
      <p:sp>
        <p:nvSpPr>
          <p:cNvPr id="16" name="Text 14"/>
          <p:cNvSpPr txBox="1"/>
          <p:nvPr/>
        </p:nvSpPr>
        <p:spPr>
          <a:xfrm>
            <a:off x="411480" y="2377440"/>
            <a:ext cx="182880" cy="384048"/>
          </a:xfrm>
          <a:prstGeom prst="rect">
            <a:avLst/>
          </a:prstGeom>
          <a:noFill/>
          <a:ln/>
        </p:spPr>
        <p:txBody>
          <a:bodyPr wrap="square"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a:t>
            </a:r>
            <a:endParaRPr lang="en-US" sz="1100" dirty="0"/>
          </a:p>
        </p:txBody>
      </p:sp>
      <p:sp>
        <p:nvSpPr>
          <p:cNvPr id="17" name="Text 15"/>
          <p:cNvSpPr txBox="1"/>
          <p:nvPr/>
        </p:nvSpPr>
        <p:spPr>
          <a:xfrm>
            <a:off x="594360" y="2377440"/>
            <a:ext cx="521208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Cargar enigh_limpio.csv (de sesión 2)</a:t>
            </a:r>
            <a:endParaRPr lang="en-US" sz="1050" dirty="0"/>
          </a:p>
        </p:txBody>
      </p:sp>
      <p:sp>
        <p:nvSpPr>
          <p:cNvPr id="18" name="Text 16"/>
          <p:cNvSpPr txBox="1"/>
          <p:nvPr/>
        </p:nvSpPr>
        <p:spPr>
          <a:xfrm>
            <a:off x="411480" y="2834640"/>
            <a:ext cx="182880" cy="384048"/>
          </a:xfrm>
          <a:prstGeom prst="rect">
            <a:avLst/>
          </a:prstGeom>
          <a:noFill/>
          <a:ln/>
        </p:spPr>
        <p:txBody>
          <a:bodyPr wrap="square"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a:t>
            </a:r>
            <a:endParaRPr lang="en-US" sz="1100" dirty="0"/>
          </a:p>
        </p:txBody>
      </p:sp>
      <p:sp>
        <p:nvSpPr>
          <p:cNvPr id="19" name="Text 17"/>
          <p:cNvSpPr txBox="1"/>
          <p:nvPr/>
        </p:nvSpPr>
        <p:spPr>
          <a:xfrm>
            <a:off x="594360" y="2834640"/>
            <a:ext cx="521208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Descargar datos del Banco Mundial para 27 países</a:t>
            </a:r>
            <a:endParaRPr lang="en-US" sz="1050" dirty="0"/>
          </a:p>
        </p:txBody>
      </p:sp>
      <p:sp>
        <p:nvSpPr>
          <p:cNvPr id="20" name="Shape 18"/>
          <p:cNvSpPr/>
          <p:nvPr/>
        </p:nvSpPr>
        <p:spPr>
          <a:xfrm>
            <a:off x="6080760" y="1371600"/>
            <a:ext cx="5577840" cy="2377440"/>
          </a:xfrm>
          <a:prstGeom prst="rect">
            <a:avLst/>
          </a:prstGeom>
          <a:solidFill>
            <a:srgbClr val="FFFFFF"/>
          </a:solidFill>
          <a:ln w="12700">
            <a:solidFill>
              <a:srgbClr val="D1D5DB"/>
            </a:solidFill>
            <a:prstDash val="solid"/>
          </a:ln>
        </p:spPr>
        <p:txBody>
          <a:bodyPr/>
          <a:lstStyle/>
          <a:p>
            <a:endParaRPr lang="es-MX"/>
          </a:p>
        </p:txBody>
      </p:sp>
      <p:sp>
        <p:nvSpPr>
          <p:cNvPr id="21" name="Shape 19"/>
          <p:cNvSpPr/>
          <p:nvPr/>
        </p:nvSpPr>
        <p:spPr>
          <a:xfrm>
            <a:off x="6080760" y="1371600"/>
            <a:ext cx="5577840" cy="457200"/>
          </a:xfrm>
          <a:prstGeom prst="rect">
            <a:avLst/>
          </a:prstGeom>
          <a:solidFill>
            <a:srgbClr val="2A7ABF"/>
          </a:solidFill>
          <a:ln/>
        </p:spPr>
        <p:txBody>
          <a:bodyPr/>
          <a:lstStyle/>
          <a:p>
            <a:endParaRPr lang="es-MX"/>
          </a:p>
        </p:txBody>
      </p:sp>
      <p:sp>
        <p:nvSpPr>
          <p:cNvPr id="22" name="Text 20"/>
          <p:cNvSpPr txBox="1"/>
          <p:nvPr/>
        </p:nvSpPr>
        <p:spPr>
          <a:xfrm>
            <a:off x="6172200" y="1426464"/>
            <a:ext cx="1097280" cy="347472"/>
          </a:xfrm>
          <a:prstGeom prst="rect">
            <a:avLst/>
          </a:prstGeom>
          <a:noFill/>
          <a:ln/>
        </p:spPr>
        <p:txBody>
          <a:bodyPr wrap="square" rtlCol="0" anchor="ctr"/>
          <a:lstStyle/>
          <a:p>
            <a:pPr marL="0" indent="0">
              <a:buNone/>
            </a:pPr>
            <a:r>
              <a:rPr lang="en-US" sz="1150" b="1" dirty="0">
                <a:solidFill>
                  <a:srgbClr val="90A8C0"/>
                </a:solidFill>
                <a:latin typeface="Calibri" pitchFamily="34" charset="0"/>
                <a:ea typeface="Calibri" pitchFamily="34" charset="-122"/>
                <a:cs typeface="Calibri" pitchFamily="34" charset="-120"/>
              </a:rPr>
              <a:t>Parte 1</a:t>
            </a:r>
            <a:endParaRPr lang="en-US" sz="1150" dirty="0"/>
          </a:p>
        </p:txBody>
      </p:sp>
      <p:sp>
        <p:nvSpPr>
          <p:cNvPr id="23" name="Text 21"/>
          <p:cNvSpPr txBox="1"/>
          <p:nvPr/>
        </p:nvSpPr>
        <p:spPr>
          <a:xfrm>
            <a:off x="7269480" y="1426464"/>
            <a:ext cx="356616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Una variable</a:t>
            </a:r>
            <a:endParaRPr lang="en-US" sz="1300" dirty="0"/>
          </a:p>
        </p:txBody>
      </p:sp>
      <p:sp>
        <p:nvSpPr>
          <p:cNvPr id="24" name="Text 22"/>
          <p:cNvSpPr txBox="1"/>
          <p:nvPr/>
        </p:nvSpPr>
        <p:spPr>
          <a:xfrm>
            <a:off x="10835640" y="1444752"/>
            <a:ext cx="731520" cy="320040"/>
          </a:xfrm>
          <a:prstGeom prst="rect">
            <a:avLst/>
          </a:prstGeom>
          <a:noFill/>
          <a:ln/>
        </p:spPr>
        <p:txBody>
          <a:bodyPr wrap="square" rtlCol="0" anchor="ctr"/>
          <a:lstStyle/>
          <a:p>
            <a:pPr marL="0" indent="0" algn="r">
              <a:buNone/>
            </a:pPr>
            <a:r>
              <a:rPr lang="en-US" sz="1100" b="1" dirty="0">
                <a:solidFill>
                  <a:srgbClr val="E8A020"/>
                </a:solidFill>
                <a:latin typeface="Calibri" pitchFamily="34" charset="0"/>
                <a:ea typeface="Calibri" pitchFamily="34" charset="-122"/>
                <a:cs typeface="Calibri" pitchFamily="34" charset="-120"/>
              </a:rPr>
              <a:t>20 min</a:t>
            </a:r>
            <a:endParaRPr lang="en-US" sz="1100" dirty="0"/>
          </a:p>
        </p:txBody>
      </p:sp>
      <p:sp>
        <p:nvSpPr>
          <p:cNvPr id="25" name="Text 23"/>
          <p:cNvSpPr txBox="1"/>
          <p:nvPr/>
        </p:nvSpPr>
        <p:spPr>
          <a:xfrm>
            <a:off x="6172200" y="1920240"/>
            <a:ext cx="182880" cy="384048"/>
          </a:xfrm>
          <a:prstGeom prst="rect">
            <a:avLst/>
          </a:prstGeom>
          <a:noFill/>
          <a:ln/>
        </p:spPr>
        <p:txBody>
          <a:bodyPr wrap="square" rtlCol="0" anchor="ctr"/>
          <a:lstStyle/>
          <a:p>
            <a:pPr marL="0" indent="0">
              <a:buNone/>
            </a:pPr>
            <a:r>
              <a:rPr lang="en-US" sz="1100" b="1" dirty="0">
                <a:solidFill>
                  <a:srgbClr val="2A7ABF"/>
                </a:solidFill>
                <a:latin typeface="Calibri" pitchFamily="34" charset="0"/>
                <a:ea typeface="Calibri" pitchFamily="34" charset="-122"/>
                <a:cs typeface="Calibri" pitchFamily="34" charset="-120"/>
              </a:rPr>
              <a:t>•</a:t>
            </a:r>
            <a:endParaRPr lang="en-US" sz="1100" dirty="0"/>
          </a:p>
        </p:txBody>
      </p:sp>
      <p:sp>
        <p:nvSpPr>
          <p:cNvPr id="26" name="Text 24"/>
          <p:cNvSpPr txBox="1"/>
          <p:nvPr/>
        </p:nvSpPr>
        <p:spPr>
          <a:xfrm>
            <a:off x="6355080" y="1920240"/>
            <a:ext cx="521208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Tabla de frecuencias de escolaridad + gráfica de barras ordenadas</a:t>
            </a:r>
            <a:endParaRPr lang="en-US" sz="1050" dirty="0"/>
          </a:p>
        </p:txBody>
      </p:sp>
      <p:sp>
        <p:nvSpPr>
          <p:cNvPr id="27" name="Text 25"/>
          <p:cNvSpPr txBox="1"/>
          <p:nvPr/>
        </p:nvSpPr>
        <p:spPr>
          <a:xfrm>
            <a:off x="6172200" y="2377440"/>
            <a:ext cx="182880" cy="384048"/>
          </a:xfrm>
          <a:prstGeom prst="rect">
            <a:avLst/>
          </a:prstGeom>
          <a:noFill/>
          <a:ln/>
        </p:spPr>
        <p:txBody>
          <a:bodyPr wrap="square" rtlCol="0" anchor="ctr"/>
          <a:lstStyle/>
          <a:p>
            <a:pPr marL="0" indent="0">
              <a:buNone/>
            </a:pPr>
            <a:r>
              <a:rPr lang="en-US" sz="1100" b="1" dirty="0">
                <a:solidFill>
                  <a:srgbClr val="2A7ABF"/>
                </a:solidFill>
                <a:latin typeface="Calibri" pitchFamily="34" charset="0"/>
                <a:ea typeface="Calibri" pitchFamily="34" charset="-122"/>
                <a:cs typeface="Calibri" pitchFamily="34" charset="-120"/>
              </a:rPr>
              <a:t>•</a:t>
            </a:r>
            <a:endParaRPr lang="en-US" sz="1100" dirty="0"/>
          </a:p>
        </p:txBody>
      </p:sp>
      <p:sp>
        <p:nvSpPr>
          <p:cNvPr id="28" name="Text 26"/>
          <p:cNvSpPr txBox="1"/>
          <p:nvPr/>
        </p:nvSpPr>
        <p:spPr>
          <a:xfrm>
            <a:off x="6355080" y="2377440"/>
            <a:ext cx="521208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Estadísticos completos de ingreso mensual: media, mediana, percentiles, asimetría</a:t>
            </a:r>
            <a:endParaRPr lang="en-US" sz="1050" dirty="0"/>
          </a:p>
        </p:txBody>
      </p:sp>
      <p:sp>
        <p:nvSpPr>
          <p:cNvPr id="29" name="Text 27"/>
          <p:cNvSpPr txBox="1"/>
          <p:nvPr/>
        </p:nvSpPr>
        <p:spPr>
          <a:xfrm>
            <a:off x="6172200" y="2834640"/>
            <a:ext cx="182880" cy="384048"/>
          </a:xfrm>
          <a:prstGeom prst="rect">
            <a:avLst/>
          </a:prstGeom>
          <a:noFill/>
          <a:ln/>
        </p:spPr>
        <p:txBody>
          <a:bodyPr wrap="square" rtlCol="0" anchor="ctr"/>
          <a:lstStyle/>
          <a:p>
            <a:pPr marL="0" indent="0">
              <a:buNone/>
            </a:pPr>
            <a:r>
              <a:rPr lang="en-US" sz="1100" b="1" dirty="0">
                <a:solidFill>
                  <a:srgbClr val="2A7ABF"/>
                </a:solidFill>
                <a:latin typeface="Calibri" pitchFamily="34" charset="0"/>
                <a:ea typeface="Calibri" pitchFamily="34" charset="-122"/>
                <a:cs typeface="Calibri" pitchFamily="34" charset="-120"/>
              </a:rPr>
              <a:t>•</a:t>
            </a:r>
            <a:endParaRPr lang="en-US" sz="1100" dirty="0"/>
          </a:p>
        </p:txBody>
      </p:sp>
      <p:sp>
        <p:nvSpPr>
          <p:cNvPr id="30" name="Text 28"/>
          <p:cNvSpPr txBox="1"/>
          <p:nvPr/>
        </p:nvSpPr>
        <p:spPr>
          <a:xfrm>
            <a:off x="6355080" y="2834640"/>
            <a:ext cx="521208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Histograma + KDE + box plot del ingreso. ¿Qué cuenta cada gráfica?</a:t>
            </a:r>
            <a:endParaRPr lang="en-US" sz="1050" dirty="0"/>
          </a:p>
        </p:txBody>
      </p:sp>
      <p:sp>
        <p:nvSpPr>
          <p:cNvPr id="31" name="Text 29"/>
          <p:cNvSpPr txBox="1"/>
          <p:nvPr/>
        </p:nvSpPr>
        <p:spPr>
          <a:xfrm>
            <a:off x="6172200" y="3291840"/>
            <a:ext cx="182880" cy="384048"/>
          </a:xfrm>
          <a:prstGeom prst="rect">
            <a:avLst/>
          </a:prstGeom>
          <a:noFill/>
          <a:ln/>
        </p:spPr>
        <p:txBody>
          <a:bodyPr wrap="square" rtlCol="0" anchor="ctr"/>
          <a:lstStyle/>
          <a:p>
            <a:pPr marL="0" indent="0">
              <a:buNone/>
            </a:pPr>
            <a:r>
              <a:rPr lang="en-US" sz="1100" b="1" dirty="0">
                <a:solidFill>
                  <a:srgbClr val="2A7ABF"/>
                </a:solidFill>
                <a:latin typeface="Calibri" pitchFamily="34" charset="0"/>
                <a:ea typeface="Calibri" pitchFamily="34" charset="-122"/>
                <a:cs typeface="Calibri" pitchFamily="34" charset="-120"/>
              </a:rPr>
              <a:t>•</a:t>
            </a:r>
            <a:endParaRPr lang="en-US" sz="1100" dirty="0"/>
          </a:p>
        </p:txBody>
      </p:sp>
      <p:sp>
        <p:nvSpPr>
          <p:cNvPr id="32" name="Text 30"/>
          <p:cNvSpPr txBox="1"/>
          <p:nvPr/>
        </p:nvSpPr>
        <p:spPr>
          <a:xfrm>
            <a:off x="6355080" y="3291840"/>
            <a:ext cx="521208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PIB per cápita mundial: escala lineal vs. logarítmica</a:t>
            </a:r>
            <a:endParaRPr lang="en-US" sz="1050" dirty="0"/>
          </a:p>
        </p:txBody>
      </p:sp>
      <p:sp>
        <p:nvSpPr>
          <p:cNvPr id="33" name="Shape 31"/>
          <p:cNvSpPr/>
          <p:nvPr/>
        </p:nvSpPr>
        <p:spPr>
          <a:xfrm>
            <a:off x="320040" y="3886200"/>
            <a:ext cx="5577840" cy="2377440"/>
          </a:xfrm>
          <a:prstGeom prst="rect">
            <a:avLst/>
          </a:prstGeom>
          <a:solidFill>
            <a:srgbClr val="FFFFFF"/>
          </a:solidFill>
          <a:ln w="12700">
            <a:solidFill>
              <a:srgbClr val="D1D5DB"/>
            </a:solidFill>
            <a:prstDash val="solid"/>
          </a:ln>
        </p:spPr>
        <p:txBody>
          <a:bodyPr/>
          <a:lstStyle/>
          <a:p>
            <a:endParaRPr lang="es-MX"/>
          </a:p>
        </p:txBody>
      </p:sp>
      <p:sp>
        <p:nvSpPr>
          <p:cNvPr id="34" name="Shape 32"/>
          <p:cNvSpPr/>
          <p:nvPr/>
        </p:nvSpPr>
        <p:spPr>
          <a:xfrm>
            <a:off x="320040" y="3886200"/>
            <a:ext cx="5577840" cy="457200"/>
          </a:xfrm>
          <a:prstGeom prst="rect">
            <a:avLst/>
          </a:prstGeom>
          <a:solidFill>
            <a:srgbClr val="1A9641"/>
          </a:solidFill>
          <a:ln/>
        </p:spPr>
        <p:txBody>
          <a:bodyPr/>
          <a:lstStyle/>
          <a:p>
            <a:endParaRPr lang="es-MX"/>
          </a:p>
        </p:txBody>
      </p:sp>
      <p:sp>
        <p:nvSpPr>
          <p:cNvPr id="35" name="Text 33"/>
          <p:cNvSpPr txBox="1"/>
          <p:nvPr/>
        </p:nvSpPr>
        <p:spPr>
          <a:xfrm>
            <a:off x="411480" y="3941064"/>
            <a:ext cx="1097280" cy="347472"/>
          </a:xfrm>
          <a:prstGeom prst="rect">
            <a:avLst/>
          </a:prstGeom>
          <a:noFill/>
          <a:ln/>
        </p:spPr>
        <p:txBody>
          <a:bodyPr wrap="square" rtlCol="0" anchor="ctr"/>
          <a:lstStyle/>
          <a:p>
            <a:pPr marL="0" indent="0">
              <a:buNone/>
            </a:pPr>
            <a:r>
              <a:rPr lang="en-US" sz="1150" b="1" dirty="0">
                <a:solidFill>
                  <a:srgbClr val="90A8C0"/>
                </a:solidFill>
                <a:latin typeface="Calibri" pitchFamily="34" charset="0"/>
                <a:ea typeface="Calibri" pitchFamily="34" charset="-122"/>
                <a:cs typeface="Calibri" pitchFamily="34" charset="-120"/>
              </a:rPr>
              <a:t>Parte 2</a:t>
            </a:r>
            <a:endParaRPr lang="en-US" sz="1150" dirty="0"/>
          </a:p>
        </p:txBody>
      </p:sp>
      <p:sp>
        <p:nvSpPr>
          <p:cNvPr id="36" name="Text 34"/>
          <p:cNvSpPr txBox="1"/>
          <p:nvPr/>
        </p:nvSpPr>
        <p:spPr>
          <a:xfrm>
            <a:off x="1508760" y="3941064"/>
            <a:ext cx="356616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Dos variables</a:t>
            </a:r>
            <a:endParaRPr lang="en-US" sz="1300" dirty="0"/>
          </a:p>
        </p:txBody>
      </p:sp>
      <p:sp>
        <p:nvSpPr>
          <p:cNvPr id="37" name="Text 35"/>
          <p:cNvSpPr txBox="1"/>
          <p:nvPr/>
        </p:nvSpPr>
        <p:spPr>
          <a:xfrm>
            <a:off x="5074920" y="3959352"/>
            <a:ext cx="731520" cy="320040"/>
          </a:xfrm>
          <a:prstGeom prst="rect">
            <a:avLst/>
          </a:prstGeom>
          <a:noFill/>
          <a:ln/>
        </p:spPr>
        <p:txBody>
          <a:bodyPr wrap="square" rtlCol="0" anchor="ctr"/>
          <a:lstStyle/>
          <a:p>
            <a:pPr marL="0" indent="0" algn="r">
              <a:buNone/>
            </a:pPr>
            <a:r>
              <a:rPr lang="en-US" sz="1100" b="1" dirty="0">
                <a:solidFill>
                  <a:srgbClr val="E8A020"/>
                </a:solidFill>
                <a:latin typeface="Calibri" pitchFamily="34" charset="0"/>
                <a:ea typeface="Calibri" pitchFamily="34" charset="-122"/>
                <a:cs typeface="Calibri" pitchFamily="34" charset="-120"/>
              </a:rPr>
              <a:t>25 min</a:t>
            </a:r>
            <a:endParaRPr lang="en-US" sz="1100" dirty="0"/>
          </a:p>
        </p:txBody>
      </p:sp>
      <p:sp>
        <p:nvSpPr>
          <p:cNvPr id="38" name="Text 36"/>
          <p:cNvSpPr txBox="1"/>
          <p:nvPr/>
        </p:nvSpPr>
        <p:spPr>
          <a:xfrm>
            <a:off x="411480" y="4434840"/>
            <a:ext cx="182880" cy="384048"/>
          </a:xfrm>
          <a:prstGeom prst="rect">
            <a:avLst/>
          </a:prstGeom>
          <a:noFill/>
          <a:ln/>
        </p:spPr>
        <p:txBody>
          <a:bodyPr wrap="square" rtlCol="0" anchor="ctr"/>
          <a:lstStyle/>
          <a:p>
            <a:pPr marL="0" indent="0">
              <a:buNone/>
            </a:pPr>
            <a:r>
              <a:rPr lang="en-US" sz="1100" b="1" dirty="0">
                <a:solidFill>
                  <a:srgbClr val="1A9641"/>
                </a:solidFill>
                <a:latin typeface="Calibri" pitchFamily="34" charset="0"/>
                <a:ea typeface="Calibri" pitchFamily="34" charset="-122"/>
                <a:cs typeface="Calibri" pitchFamily="34" charset="-120"/>
              </a:rPr>
              <a:t>•</a:t>
            </a:r>
            <a:endParaRPr lang="en-US" sz="1100" dirty="0"/>
          </a:p>
        </p:txBody>
      </p:sp>
      <p:sp>
        <p:nvSpPr>
          <p:cNvPr id="39" name="Text 37"/>
          <p:cNvSpPr txBox="1"/>
          <p:nvPr/>
        </p:nvSpPr>
        <p:spPr>
          <a:xfrm>
            <a:off x="594360" y="4434840"/>
            <a:ext cx="521208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Curva de Okun: scatter plot crecimiento PIB vs. desempleo</a:t>
            </a:r>
            <a:endParaRPr lang="en-US" sz="1050" dirty="0"/>
          </a:p>
        </p:txBody>
      </p:sp>
      <p:sp>
        <p:nvSpPr>
          <p:cNvPr id="40" name="Text 38"/>
          <p:cNvSpPr txBox="1"/>
          <p:nvPr/>
        </p:nvSpPr>
        <p:spPr>
          <a:xfrm>
            <a:off x="411480" y="4892040"/>
            <a:ext cx="182880" cy="384048"/>
          </a:xfrm>
          <a:prstGeom prst="rect">
            <a:avLst/>
          </a:prstGeom>
          <a:noFill/>
          <a:ln/>
        </p:spPr>
        <p:txBody>
          <a:bodyPr wrap="square" rtlCol="0" anchor="ctr"/>
          <a:lstStyle/>
          <a:p>
            <a:pPr marL="0" indent="0">
              <a:buNone/>
            </a:pPr>
            <a:r>
              <a:rPr lang="en-US" sz="1100" b="1" dirty="0">
                <a:solidFill>
                  <a:srgbClr val="1A9641"/>
                </a:solidFill>
                <a:latin typeface="Calibri" pitchFamily="34" charset="0"/>
                <a:ea typeface="Calibri" pitchFamily="34" charset="-122"/>
                <a:cs typeface="Calibri" pitchFamily="34" charset="-120"/>
              </a:rPr>
              <a:t>•</a:t>
            </a:r>
            <a:endParaRPr lang="en-US" sz="1100" dirty="0"/>
          </a:p>
        </p:txBody>
      </p:sp>
      <p:sp>
        <p:nvSpPr>
          <p:cNvPr id="41" name="Text 39"/>
          <p:cNvSpPr txBox="1"/>
          <p:nvPr/>
        </p:nvSpPr>
        <p:spPr>
          <a:xfrm>
            <a:off x="594360" y="4892040"/>
            <a:ext cx="521208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Matriz de correlación del Banco Mundial: ¿qué par llama tu atención?</a:t>
            </a:r>
            <a:endParaRPr lang="en-US" sz="1050" dirty="0"/>
          </a:p>
        </p:txBody>
      </p:sp>
      <p:sp>
        <p:nvSpPr>
          <p:cNvPr id="42" name="Text 40"/>
          <p:cNvSpPr txBox="1"/>
          <p:nvPr/>
        </p:nvSpPr>
        <p:spPr>
          <a:xfrm>
            <a:off x="411480" y="5349240"/>
            <a:ext cx="182880" cy="384048"/>
          </a:xfrm>
          <a:prstGeom prst="rect">
            <a:avLst/>
          </a:prstGeom>
          <a:noFill/>
          <a:ln/>
        </p:spPr>
        <p:txBody>
          <a:bodyPr wrap="square" rtlCol="0" anchor="ctr"/>
          <a:lstStyle/>
          <a:p>
            <a:pPr marL="0" indent="0">
              <a:buNone/>
            </a:pPr>
            <a:r>
              <a:rPr lang="en-US" sz="1100" b="1" dirty="0">
                <a:solidFill>
                  <a:srgbClr val="1A9641"/>
                </a:solidFill>
                <a:latin typeface="Calibri" pitchFamily="34" charset="0"/>
                <a:ea typeface="Calibri" pitchFamily="34" charset="-122"/>
                <a:cs typeface="Calibri" pitchFamily="34" charset="-120"/>
              </a:rPr>
              <a:t>•</a:t>
            </a:r>
            <a:endParaRPr lang="en-US" sz="1100" dirty="0"/>
          </a:p>
        </p:txBody>
      </p:sp>
      <p:sp>
        <p:nvSpPr>
          <p:cNvPr id="43" name="Text 41"/>
          <p:cNvSpPr txBox="1"/>
          <p:nvPr/>
        </p:nvSpPr>
        <p:spPr>
          <a:xfrm>
            <a:off x="594360" y="5349240"/>
            <a:ext cx="521208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Box + violin plot: ingreso por escolaridad</a:t>
            </a:r>
            <a:endParaRPr lang="en-US" sz="1050" dirty="0"/>
          </a:p>
        </p:txBody>
      </p:sp>
      <p:sp>
        <p:nvSpPr>
          <p:cNvPr id="44" name="Text 42"/>
          <p:cNvSpPr txBox="1"/>
          <p:nvPr/>
        </p:nvSpPr>
        <p:spPr>
          <a:xfrm>
            <a:off x="411480" y="5806440"/>
            <a:ext cx="182880" cy="384048"/>
          </a:xfrm>
          <a:prstGeom prst="rect">
            <a:avLst/>
          </a:prstGeom>
          <a:noFill/>
          <a:ln/>
        </p:spPr>
        <p:txBody>
          <a:bodyPr wrap="square" rtlCol="0" anchor="ctr"/>
          <a:lstStyle/>
          <a:p>
            <a:pPr marL="0" indent="0">
              <a:buNone/>
            </a:pPr>
            <a:r>
              <a:rPr lang="en-US" sz="1100" b="1" dirty="0">
                <a:solidFill>
                  <a:srgbClr val="1A9641"/>
                </a:solidFill>
                <a:latin typeface="Calibri" pitchFamily="34" charset="0"/>
                <a:ea typeface="Calibri" pitchFamily="34" charset="-122"/>
                <a:cs typeface="Calibri" pitchFamily="34" charset="-120"/>
              </a:rPr>
              <a:t>•</a:t>
            </a:r>
            <a:endParaRPr lang="en-US" sz="1100" dirty="0"/>
          </a:p>
        </p:txBody>
      </p:sp>
      <p:sp>
        <p:nvSpPr>
          <p:cNvPr id="45" name="Text 43"/>
          <p:cNvSpPr txBox="1"/>
          <p:nvPr/>
        </p:nvSpPr>
        <p:spPr>
          <a:xfrm>
            <a:off x="594360" y="5806440"/>
            <a:ext cx="521208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Tabla de contingencia + Chi-cuadrado: internet × vivienda</a:t>
            </a:r>
            <a:endParaRPr lang="en-US" sz="1050" dirty="0"/>
          </a:p>
        </p:txBody>
      </p:sp>
      <p:sp>
        <p:nvSpPr>
          <p:cNvPr id="46" name="Shape 44"/>
          <p:cNvSpPr/>
          <p:nvPr/>
        </p:nvSpPr>
        <p:spPr>
          <a:xfrm>
            <a:off x="6080760" y="3886200"/>
            <a:ext cx="5577840" cy="2377440"/>
          </a:xfrm>
          <a:prstGeom prst="rect">
            <a:avLst/>
          </a:prstGeom>
          <a:solidFill>
            <a:srgbClr val="FFFFFF"/>
          </a:solidFill>
          <a:ln w="12700">
            <a:solidFill>
              <a:srgbClr val="D1D5DB"/>
            </a:solidFill>
            <a:prstDash val="solid"/>
          </a:ln>
        </p:spPr>
        <p:txBody>
          <a:bodyPr/>
          <a:lstStyle/>
          <a:p>
            <a:endParaRPr lang="es-MX"/>
          </a:p>
        </p:txBody>
      </p:sp>
      <p:sp>
        <p:nvSpPr>
          <p:cNvPr id="47" name="Shape 45"/>
          <p:cNvSpPr/>
          <p:nvPr/>
        </p:nvSpPr>
        <p:spPr>
          <a:xfrm>
            <a:off x="6080760" y="3886200"/>
            <a:ext cx="5577840" cy="457200"/>
          </a:xfrm>
          <a:prstGeom prst="rect">
            <a:avLst/>
          </a:prstGeom>
          <a:solidFill>
            <a:srgbClr val="6A3D9A"/>
          </a:solidFill>
          <a:ln/>
        </p:spPr>
        <p:txBody>
          <a:bodyPr/>
          <a:lstStyle/>
          <a:p>
            <a:endParaRPr lang="es-MX"/>
          </a:p>
        </p:txBody>
      </p:sp>
      <p:sp>
        <p:nvSpPr>
          <p:cNvPr id="48" name="Text 46"/>
          <p:cNvSpPr txBox="1"/>
          <p:nvPr/>
        </p:nvSpPr>
        <p:spPr>
          <a:xfrm>
            <a:off x="6172200" y="3941064"/>
            <a:ext cx="1097280" cy="347472"/>
          </a:xfrm>
          <a:prstGeom prst="rect">
            <a:avLst/>
          </a:prstGeom>
          <a:noFill/>
          <a:ln/>
        </p:spPr>
        <p:txBody>
          <a:bodyPr wrap="square" rtlCol="0" anchor="ctr"/>
          <a:lstStyle/>
          <a:p>
            <a:pPr marL="0" indent="0">
              <a:buNone/>
            </a:pPr>
            <a:r>
              <a:rPr lang="en-US" sz="1150" b="1" dirty="0">
                <a:solidFill>
                  <a:srgbClr val="90A8C0"/>
                </a:solidFill>
                <a:latin typeface="Calibri" pitchFamily="34" charset="0"/>
                <a:ea typeface="Calibri" pitchFamily="34" charset="-122"/>
                <a:cs typeface="Calibri" pitchFamily="34" charset="-120"/>
              </a:rPr>
              <a:t>Cierre</a:t>
            </a:r>
            <a:endParaRPr lang="en-US" sz="1150" dirty="0"/>
          </a:p>
        </p:txBody>
      </p:sp>
      <p:sp>
        <p:nvSpPr>
          <p:cNvPr id="49" name="Text 47"/>
          <p:cNvSpPr txBox="1"/>
          <p:nvPr/>
        </p:nvSpPr>
        <p:spPr>
          <a:xfrm>
            <a:off x="7269480" y="3941064"/>
            <a:ext cx="356616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Discusión</a:t>
            </a:r>
            <a:endParaRPr lang="en-US" sz="1300" dirty="0"/>
          </a:p>
        </p:txBody>
      </p:sp>
      <p:sp>
        <p:nvSpPr>
          <p:cNvPr id="50" name="Text 48"/>
          <p:cNvSpPr txBox="1"/>
          <p:nvPr/>
        </p:nvSpPr>
        <p:spPr>
          <a:xfrm>
            <a:off x="10835640" y="3959352"/>
            <a:ext cx="731520" cy="320040"/>
          </a:xfrm>
          <a:prstGeom prst="rect">
            <a:avLst/>
          </a:prstGeom>
          <a:noFill/>
          <a:ln/>
        </p:spPr>
        <p:txBody>
          <a:bodyPr wrap="square" rtlCol="0" anchor="ctr"/>
          <a:lstStyle/>
          <a:p>
            <a:pPr marL="0" indent="0" algn="r">
              <a:buNone/>
            </a:pPr>
            <a:r>
              <a:rPr lang="en-US" sz="1100" b="1" dirty="0">
                <a:solidFill>
                  <a:srgbClr val="E8A020"/>
                </a:solidFill>
                <a:latin typeface="Calibri" pitchFamily="34" charset="0"/>
                <a:ea typeface="Calibri" pitchFamily="34" charset="-122"/>
                <a:cs typeface="Calibri" pitchFamily="34" charset="-120"/>
              </a:rPr>
              <a:t>10 min</a:t>
            </a:r>
            <a:endParaRPr lang="en-US" sz="1100" dirty="0"/>
          </a:p>
        </p:txBody>
      </p:sp>
      <p:sp>
        <p:nvSpPr>
          <p:cNvPr id="51" name="Text 49"/>
          <p:cNvSpPr txBox="1"/>
          <p:nvPr/>
        </p:nvSpPr>
        <p:spPr>
          <a:xfrm>
            <a:off x="6172200" y="4434840"/>
            <a:ext cx="182880" cy="384048"/>
          </a:xfrm>
          <a:prstGeom prst="rect">
            <a:avLst/>
          </a:prstGeom>
          <a:noFill/>
          <a:ln/>
        </p:spPr>
        <p:txBody>
          <a:bodyPr wrap="square" rtlCol="0" anchor="ctr"/>
          <a:lstStyle/>
          <a:p>
            <a:pPr marL="0" indent="0">
              <a:buNone/>
            </a:pPr>
            <a:r>
              <a:rPr lang="en-US" sz="1100" b="1" dirty="0">
                <a:solidFill>
                  <a:srgbClr val="6A3D9A"/>
                </a:solidFill>
                <a:latin typeface="Calibri" pitchFamily="34" charset="0"/>
                <a:ea typeface="Calibri" pitchFamily="34" charset="-122"/>
                <a:cs typeface="Calibri" pitchFamily="34" charset="-120"/>
              </a:rPr>
              <a:t>•</a:t>
            </a:r>
            <a:endParaRPr lang="en-US" sz="1100" dirty="0"/>
          </a:p>
        </p:txBody>
      </p:sp>
      <p:sp>
        <p:nvSpPr>
          <p:cNvPr id="52" name="Text 50"/>
          <p:cNvSpPr txBox="1"/>
          <p:nvPr/>
        </p:nvSpPr>
        <p:spPr>
          <a:xfrm>
            <a:off x="6355080" y="4434840"/>
            <a:ext cx="521208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¿Cuál correlación te parece más interesante del Banco Mundial?</a:t>
            </a:r>
            <a:endParaRPr lang="en-US" sz="1050" dirty="0"/>
          </a:p>
        </p:txBody>
      </p:sp>
      <p:sp>
        <p:nvSpPr>
          <p:cNvPr id="53" name="Text 51"/>
          <p:cNvSpPr txBox="1"/>
          <p:nvPr/>
        </p:nvSpPr>
        <p:spPr>
          <a:xfrm>
            <a:off x="6172200" y="4892040"/>
            <a:ext cx="182880" cy="384048"/>
          </a:xfrm>
          <a:prstGeom prst="rect">
            <a:avLst/>
          </a:prstGeom>
          <a:noFill/>
          <a:ln/>
        </p:spPr>
        <p:txBody>
          <a:bodyPr wrap="square" rtlCol="0" anchor="ctr"/>
          <a:lstStyle/>
          <a:p>
            <a:pPr marL="0" indent="0">
              <a:buNone/>
            </a:pPr>
            <a:r>
              <a:rPr lang="en-US" sz="1100" b="1" dirty="0">
                <a:solidFill>
                  <a:srgbClr val="6A3D9A"/>
                </a:solidFill>
                <a:latin typeface="Calibri" pitchFamily="34" charset="0"/>
                <a:ea typeface="Calibri" pitchFamily="34" charset="-122"/>
                <a:cs typeface="Calibri" pitchFamily="34" charset="-120"/>
              </a:rPr>
              <a:t>•</a:t>
            </a:r>
            <a:endParaRPr lang="en-US" sz="1100" dirty="0"/>
          </a:p>
        </p:txBody>
      </p:sp>
      <p:sp>
        <p:nvSpPr>
          <p:cNvPr id="54" name="Text 52"/>
          <p:cNvSpPr txBox="1"/>
          <p:nvPr/>
        </p:nvSpPr>
        <p:spPr>
          <a:xfrm>
            <a:off x="6355080" y="4892040"/>
            <a:ext cx="521208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¿Qué par de variables explorarías para tu proyecto final?</a:t>
            </a:r>
            <a:endParaRPr lang="en-US" sz="1050" dirty="0"/>
          </a:p>
        </p:txBody>
      </p:sp>
      <p:sp>
        <p:nvSpPr>
          <p:cNvPr id="55" name="Text 53"/>
          <p:cNvSpPr txBox="1"/>
          <p:nvPr/>
        </p:nvSpPr>
        <p:spPr>
          <a:xfrm>
            <a:off x="6172200" y="5349240"/>
            <a:ext cx="182880" cy="384048"/>
          </a:xfrm>
          <a:prstGeom prst="rect">
            <a:avLst/>
          </a:prstGeom>
          <a:noFill/>
          <a:ln/>
        </p:spPr>
        <p:txBody>
          <a:bodyPr wrap="square" rtlCol="0" anchor="ctr"/>
          <a:lstStyle/>
          <a:p>
            <a:pPr marL="0" indent="0">
              <a:buNone/>
            </a:pPr>
            <a:r>
              <a:rPr lang="en-US" sz="1100" b="1" dirty="0">
                <a:solidFill>
                  <a:srgbClr val="6A3D9A"/>
                </a:solidFill>
                <a:latin typeface="Calibri" pitchFamily="34" charset="0"/>
                <a:ea typeface="Calibri" pitchFamily="34" charset="-122"/>
                <a:cs typeface="Calibri" pitchFamily="34" charset="-120"/>
              </a:rPr>
              <a:t>•</a:t>
            </a:r>
            <a:endParaRPr lang="en-US" sz="1100" dirty="0"/>
          </a:p>
        </p:txBody>
      </p:sp>
      <p:sp>
        <p:nvSpPr>
          <p:cNvPr id="56" name="Text 54"/>
          <p:cNvSpPr txBox="1"/>
          <p:nvPr/>
        </p:nvSpPr>
        <p:spPr>
          <a:xfrm>
            <a:off x="6355080" y="5349240"/>
            <a:ext cx="521208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¿Encontraste alguna correlación que probablemente sea espuria?</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txBody>
          <a:bodyPr/>
          <a:lstStyle/>
          <a:p>
            <a:endParaRPr lang="es-MX"/>
          </a:p>
        </p:txBody>
      </p:sp>
      <p:sp>
        <p:nvSpPr>
          <p:cNvPr id="3" name="Text 1"/>
          <p:cNvSpPr txBox="1"/>
          <p:nvPr/>
        </p:nvSpPr>
        <p:spPr>
          <a:xfrm>
            <a:off x="228600" y="36576"/>
            <a:ext cx="8229600" cy="274320"/>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marL="0" indent="0" algn="r">
              <a:buNone/>
            </a:pPr>
            <a:r>
              <a:rPr lang="en-US" sz="900" b="1" dirty="0">
                <a:solidFill>
                  <a:srgbClr val="E8A020"/>
                </a:solidFill>
                <a:latin typeface="Calibri" pitchFamily="34" charset="0"/>
                <a:ea typeface="Calibri" pitchFamily="34" charset="-122"/>
                <a:cs typeface="Calibri" pitchFamily="34" charset="-120"/>
              </a:rPr>
              <a:t>Sesión 3</a:t>
            </a:r>
            <a:endParaRPr lang="en-US" sz="900" dirty="0"/>
          </a:p>
        </p:txBody>
      </p:sp>
      <p:sp>
        <p:nvSpPr>
          <p:cNvPr id="5" name="Shape 3"/>
          <p:cNvSpPr/>
          <p:nvPr/>
        </p:nvSpPr>
        <p:spPr>
          <a:xfrm>
            <a:off x="0" y="6565392"/>
            <a:ext cx="12161520" cy="292608"/>
          </a:xfrm>
          <a:prstGeom prst="rect">
            <a:avLst/>
          </a:prstGeom>
          <a:solidFill>
            <a:srgbClr val="1B3A6B"/>
          </a:solidFill>
          <a:ln/>
        </p:spPr>
        <p:txBody>
          <a:bodyPr/>
          <a:lstStyle/>
          <a:p>
            <a:endParaRPr lang="es-MX"/>
          </a:p>
        </p:txBody>
      </p:sp>
      <p:sp>
        <p:nvSpPr>
          <p:cNvPr id="6" name="Text 4"/>
          <p:cNvSpPr txBox="1"/>
          <p:nvPr/>
        </p:nvSpPr>
        <p:spPr>
          <a:xfrm>
            <a:off x="228600" y="6592824"/>
            <a:ext cx="7315200" cy="22860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7" name="Text 5"/>
          <p:cNvSpPr txBox="1"/>
          <p:nvPr/>
        </p:nvSpPr>
        <p:spPr>
          <a:xfrm>
            <a:off x="320040" y="457200"/>
            <a:ext cx="1097280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Lo que aprendimos hoy</a:t>
            </a:r>
            <a:endParaRPr lang="en-US" sz="2800" dirty="0"/>
          </a:p>
        </p:txBody>
      </p:sp>
      <p:sp>
        <p:nvSpPr>
          <p:cNvPr id="8" name="Text 6"/>
          <p:cNvSpPr txBox="1"/>
          <p:nvPr/>
        </p:nvSpPr>
        <p:spPr>
          <a:xfrm>
            <a:off x="320040" y="960120"/>
            <a:ext cx="10972800" cy="347472"/>
          </a:xfrm>
          <a:prstGeom prst="rect">
            <a:avLst/>
          </a:prstGeom>
          <a:noFill/>
          <a:ln/>
        </p:spPr>
        <p:txBody>
          <a:bodyPr wrap="square" rtlCol="0" anchor="ctr"/>
          <a:lstStyle/>
          <a:p>
            <a:pPr marL="0" indent="0">
              <a:buNone/>
            </a:pPr>
            <a:r>
              <a:rPr lang="en-US" sz="1300" i="1" dirty="0">
                <a:solidFill>
                  <a:srgbClr val="90A8C0"/>
                </a:solidFill>
                <a:latin typeface="Calibri" pitchFamily="34" charset="0"/>
                <a:ea typeface="Calibri" pitchFamily="34" charset="-122"/>
                <a:cs typeface="Calibri" pitchFamily="34" charset="-120"/>
              </a:rPr>
              <a:t>Sesión 3 — Análisis Exploratorio de Datos</a:t>
            </a:r>
            <a:endParaRPr lang="en-US" sz="1300" dirty="0"/>
          </a:p>
        </p:txBody>
      </p:sp>
      <p:sp>
        <p:nvSpPr>
          <p:cNvPr id="9" name="Shape 7"/>
          <p:cNvSpPr/>
          <p:nvPr/>
        </p:nvSpPr>
        <p:spPr>
          <a:xfrm>
            <a:off x="320040" y="1417320"/>
            <a:ext cx="5577840" cy="1371600"/>
          </a:xfrm>
          <a:prstGeom prst="rect">
            <a:avLst/>
          </a:prstGeom>
          <a:solidFill>
            <a:srgbClr val="FFFFFF">
              <a:alpha val="8000"/>
            </a:srgbClr>
          </a:solidFill>
          <a:ln w="12700">
            <a:solidFill>
              <a:srgbClr val="2A7ABF"/>
            </a:solidFill>
            <a:prstDash val="solid"/>
          </a:ln>
        </p:spPr>
        <p:txBody>
          <a:bodyPr/>
          <a:lstStyle/>
          <a:p>
            <a:endParaRPr lang="es-MX"/>
          </a:p>
        </p:txBody>
      </p:sp>
      <p:sp>
        <p:nvSpPr>
          <p:cNvPr id="10" name="Text 8"/>
          <p:cNvSpPr txBox="1"/>
          <p:nvPr/>
        </p:nvSpPr>
        <p:spPr>
          <a:xfrm>
            <a:off x="411480" y="1508760"/>
            <a:ext cx="502920" cy="1188720"/>
          </a:xfrm>
          <a:prstGeom prst="rect">
            <a:avLst/>
          </a:prstGeom>
          <a:noFill/>
          <a:ln/>
        </p:spPr>
        <p:txBody>
          <a:bodyPr wrap="square" rtlCol="0" anchor="ctr"/>
          <a:lstStyle/>
          <a:p>
            <a:pPr marL="0" indent="0">
              <a:buNone/>
            </a:pPr>
            <a:r>
              <a:rPr lang="en-US" sz="2000" b="1" dirty="0">
                <a:solidFill>
                  <a:srgbClr val="1A9641"/>
                </a:solidFill>
                <a:latin typeface="Calibri" pitchFamily="34" charset="0"/>
                <a:ea typeface="Calibri" pitchFamily="34" charset="-122"/>
                <a:cs typeface="Calibri" pitchFamily="34" charset="-120"/>
              </a:rPr>
              <a:t>✅</a:t>
            </a:r>
            <a:endParaRPr lang="en-US" sz="2000" dirty="0"/>
          </a:p>
        </p:txBody>
      </p:sp>
      <p:sp>
        <p:nvSpPr>
          <p:cNvPr id="11" name="Text 9"/>
          <p:cNvSpPr txBox="1"/>
          <p:nvPr/>
        </p:nvSpPr>
        <p:spPr>
          <a:xfrm>
            <a:off x="960120" y="1508760"/>
            <a:ext cx="4846320" cy="384048"/>
          </a:xfrm>
          <a:prstGeom prst="rect">
            <a:avLst/>
          </a:prstGeom>
          <a:noFill/>
          <a:ln/>
        </p:spPr>
        <p:txBody>
          <a:bodyPr wrap="square" rtlCol="0" anchor="ctr"/>
          <a:lstStyle/>
          <a:p>
            <a:pPr marL="0" indent="0">
              <a:buNone/>
            </a:pPr>
            <a:r>
              <a:rPr lang="en-US" sz="1250" b="1" dirty="0">
                <a:solidFill>
                  <a:srgbClr val="E8A020"/>
                </a:solidFill>
                <a:latin typeface="Calibri" pitchFamily="34" charset="0"/>
                <a:ea typeface="Calibri" pitchFamily="34" charset="-122"/>
                <a:cs typeface="Calibri" pitchFamily="34" charset="-120"/>
              </a:rPr>
              <a:t>Una variable categórica</a:t>
            </a:r>
            <a:endParaRPr lang="en-US" sz="1250" dirty="0"/>
          </a:p>
        </p:txBody>
      </p:sp>
      <p:sp>
        <p:nvSpPr>
          <p:cNvPr id="12" name="Text 10"/>
          <p:cNvSpPr txBox="1"/>
          <p:nvPr/>
        </p:nvSpPr>
        <p:spPr>
          <a:xfrm>
            <a:off x="960120" y="1920240"/>
            <a:ext cx="4846320" cy="804672"/>
          </a:xfrm>
          <a:prstGeom prst="rect">
            <a:avLst/>
          </a:prstGeom>
          <a:noFill/>
          <a:ln/>
        </p:spPr>
        <p:txBody>
          <a:bodyPr wrap="square" rtlCol="0" anchor="ctr"/>
          <a:lstStyle/>
          <a:p>
            <a:pPr marL="0" indent="0">
              <a:buNone/>
            </a:pPr>
            <a:r>
              <a:rPr lang="en-US" sz="1000" dirty="0">
                <a:solidFill>
                  <a:srgbClr val="C5D8EC"/>
                </a:solidFill>
                <a:latin typeface="Calibri" pitchFamily="34" charset="0"/>
                <a:ea typeface="Calibri" pitchFamily="34" charset="-122"/>
                <a:cs typeface="Calibri" pitchFamily="34" charset="-120"/>
              </a:rPr>
              <a:t>Frecuencias, proporciones, moda. Frecuencia acumulada solo en ordinales. Nunca calcular la media de una categórica.</a:t>
            </a:r>
            <a:endParaRPr lang="en-US" sz="1000" dirty="0"/>
          </a:p>
        </p:txBody>
      </p:sp>
      <p:sp>
        <p:nvSpPr>
          <p:cNvPr id="13" name="Shape 11"/>
          <p:cNvSpPr/>
          <p:nvPr/>
        </p:nvSpPr>
        <p:spPr>
          <a:xfrm>
            <a:off x="6080760" y="1417320"/>
            <a:ext cx="5577840" cy="1371600"/>
          </a:xfrm>
          <a:prstGeom prst="rect">
            <a:avLst/>
          </a:prstGeom>
          <a:solidFill>
            <a:srgbClr val="FFFFFF">
              <a:alpha val="8000"/>
            </a:srgbClr>
          </a:solidFill>
          <a:ln w="12700">
            <a:solidFill>
              <a:srgbClr val="2A7ABF"/>
            </a:solidFill>
            <a:prstDash val="solid"/>
          </a:ln>
        </p:spPr>
        <p:txBody>
          <a:bodyPr/>
          <a:lstStyle/>
          <a:p>
            <a:endParaRPr lang="es-MX"/>
          </a:p>
        </p:txBody>
      </p:sp>
      <p:sp>
        <p:nvSpPr>
          <p:cNvPr id="14" name="Text 12"/>
          <p:cNvSpPr txBox="1"/>
          <p:nvPr/>
        </p:nvSpPr>
        <p:spPr>
          <a:xfrm>
            <a:off x="6172200" y="1508760"/>
            <a:ext cx="502920" cy="1188720"/>
          </a:xfrm>
          <a:prstGeom prst="rect">
            <a:avLst/>
          </a:prstGeom>
          <a:noFill/>
          <a:ln/>
        </p:spPr>
        <p:txBody>
          <a:bodyPr wrap="square" rtlCol="0" anchor="ctr"/>
          <a:lstStyle/>
          <a:p>
            <a:pPr marL="0" indent="0">
              <a:buNone/>
            </a:pPr>
            <a:r>
              <a:rPr lang="en-US" sz="2000" b="1" dirty="0">
                <a:solidFill>
                  <a:srgbClr val="1A9641"/>
                </a:solidFill>
                <a:latin typeface="Calibri" pitchFamily="34" charset="0"/>
                <a:ea typeface="Calibri" pitchFamily="34" charset="-122"/>
                <a:cs typeface="Calibri" pitchFamily="34" charset="-120"/>
              </a:rPr>
              <a:t>✅</a:t>
            </a:r>
            <a:endParaRPr lang="en-US" sz="2000" dirty="0"/>
          </a:p>
        </p:txBody>
      </p:sp>
      <p:sp>
        <p:nvSpPr>
          <p:cNvPr id="15" name="Text 13"/>
          <p:cNvSpPr txBox="1"/>
          <p:nvPr/>
        </p:nvSpPr>
        <p:spPr>
          <a:xfrm>
            <a:off x="6720840" y="1508760"/>
            <a:ext cx="4846320" cy="384048"/>
          </a:xfrm>
          <a:prstGeom prst="rect">
            <a:avLst/>
          </a:prstGeom>
          <a:noFill/>
          <a:ln/>
        </p:spPr>
        <p:txBody>
          <a:bodyPr wrap="square" rtlCol="0" anchor="ctr"/>
          <a:lstStyle/>
          <a:p>
            <a:pPr marL="0" indent="0">
              <a:buNone/>
            </a:pPr>
            <a:r>
              <a:rPr lang="en-US" sz="1250" b="1" dirty="0">
                <a:solidFill>
                  <a:srgbClr val="E8A020"/>
                </a:solidFill>
                <a:latin typeface="Calibri" pitchFamily="34" charset="0"/>
                <a:ea typeface="Calibri" pitchFamily="34" charset="-122"/>
                <a:cs typeface="Calibri" pitchFamily="34" charset="-120"/>
              </a:rPr>
              <a:t>Una variable continua</a:t>
            </a:r>
            <a:endParaRPr lang="en-US" sz="1250" dirty="0"/>
          </a:p>
        </p:txBody>
      </p:sp>
      <p:sp>
        <p:nvSpPr>
          <p:cNvPr id="16" name="Text 14"/>
          <p:cNvSpPr txBox="1"/>
          <p:nvPr/>
        </p:nvSpPr>
        <p:spPr>
          <a:xfrm>
            <a:off x="6720840" y="1920240"/>
            <a:ext cx="4846320" cy="804672"/>
          </a:xfrm>
          <a:prstGeom prst="rect">
            <a:avLst/>
          </a:prstGeom>
          <a:noFill/>
          <a:ln/>
        </p:spPr>
        <p:txBody>
          <a:bodyPr wrap="square" rtlCol="0" anchor="ctr"/>
          <a:lstStyle/>
          <a:p>
            <a:pPr marL="0" indent="0">
              <a:buNone/>
            </a:pPr>
            <a:r>
              <a:rPr lang="en-US" sz="1000" dirty="0">
                <a:solidFill>
                  <a:srgbClr val="C5D8EC"/>
                </a:solidFill>
                <a:latin typeface="Calibri" pitchFamily="34" charset="0"/>
                <a:ea typeface="Calibri" pitchFamily="34" charset="-122"/>
                <a:cs typeface="Calibri" pitchFamily="34" charset="-120"/>
              </a:rPr>
              <a:t>Media vs. mediana (en distribuciones asimétricas, la mediana gana). Desv. std, percentiles, asimetría. Histograma + box plot + KDE.</a:t>
            </a:r>
            <a:endParaRPr lang="en-US" sz="1000" dirty="0"/>
          </a:p>
        </p:txBody>
      </p:sp>
      <p:sp>
        <p:nvSpPr>
          <p:cNvPr id="17" name="Shape 15"/>
          <p:cNvSpPr/>
          <p:nvPr/>
        </p:nvSpPr>
        <p:spPr>
          <a:xfrm>
            <a:off x="320040" y="2880360"/>
            <a:ext cx="5577840" cy="1371600"/>
          </a:xfrm>
          <a:prstGeom prst="rect">
            <a:avLst/>
          </a:prstGeom>
          <a:solidFill>
            <a:srgbClr val="FFFFFF">
              <a:alpha val="8000"/>
            </a:srgbClr>
          </a:solidFill>
          <a:ln w="12700">
            <a:solidFill>
              <a:srgbClr val="2A7ABF"/>
            </a:solidFill>
            <a:prstDash val="solid"/>
          </a:ln>
        </p:spPr>
        <p:txBody>
          <a:bodyPr/>
          <a:lstStyle/>
          <a:p>
            <a:endParaRPr lang="es-MX"/>
          </a:p>
        </p:txBody>
      </p:sp>
      <p:sp>
        <p:nvSpPr>
          <p:cNvPr id="18" name="Text 16"/>
          <p:cNvSpPr txBox="1"/>
          <p:nvPr/>
        </p:nvSpPr>
        <p:spPr>
          <a:xfrm>
            <a:off x="411480" y="2971800"/>
            <a:ext cx="502920" cy="1188720"/>
          </a:xfrm>
          <a:prstGeom prst="rect">
            <a:avLst/>
          </a:prstGeom>
          <a:noFill/>
          <a:ln/>
        </p:spPr>
        <p:txBody>
          <a:bodyPr wrap="square" rtlCol="0" anchor="ctr"/>
          <a:lstStyle/>
          <a:p>
            <a:pPr marL="0" indent="0">
              <a:buNone/>
            </a:pPr>
            <a:r>
              <a:rPr lang="en-US" sz="2000" b="1" dirty="0">
                <a:solidFill>
                  <a:srgbClr val="1A9641"/>
                </a:solidFill>
                <a:latin typeface="Calibri" pitchFamily="34" charset="0"/>
                <a:ea typeface="Calibri" pitchFamily="34" charset="-122"/>
                <a:cs typeface="Calibri" pitchFamily="34" charset="-120"/>
              </a:rPr>
              <a:t>✅</a:t>
            </a:r>
            <a:endParaRPr lang="en-US" sz="2000" dirty="0"/>
          </a:p>
        </p:txBody>
      </p:sp>
      <p:sp>
        <p:nvSpPr>
          <p:cNvPr id="19" name="Text 17"/>
          <p:cNvSpPr txBox="1"/>
          <p:nvPr/>
        </p:nvSpPr>
        <p:spPr>
          <a:xfrm>
            <a:off x="960120" y="2971800"/>
            <a:ext cx="4846320" cy="384048"/>
          </a:xfrm>
          <a:prstGeom prst="rect">
            <a:avLst/>
          </a:prstGeom>
          <a:noFill/>
          <a:ln/>
        </p:spPr>
        <p:txBody>
          <a:bodyPr wrap="square" rtlCol="0" anchor="ctr"/>
          <a:lstStyle/>
          <a:p>
            <a:pPr marL="0" indent="0">
              <a:buNone/>
            </a:pPr>
            <a:r>
              <a:rPr lang="en-US" sz="1250" b="1" dirty="0">
                <a:solidFill>
                  <a:srgbClr val="E8A020"/>
                </a:solidFill>
                <a:latin typeface="Calibri" pitchFamily="34" charset="0"/>
                <a:ea typeface="Calibri" pitchFamily="34" charset="-122"/>
                <a:cs typeface="Calibri" pitchFamily="34" charset="-120"/>
              </a:rPr>
              <a:t>Numérica × Numérica</a:t>
            </a:r>
            <a:endParaRPr lang="en-US" sz="1250" dirty="0"/>
          </a:p>
        </p:txBody>
      </p:sp>
      <p:sp>
        <p:nvSpPr>
          <p:cNvPr id="20" name="Text 18"/>
          <p:cNvSpPr txBox="1"/>
          <p:nvPr/>
        </p:nvSpPr>
        <p:spPr>
          <a:xfrm>
            <a:off x="960120" y="3383280"/>
            <a:ext cx="4846320" cy="804672"/>
          </a:xfrm>
          <a:prstGeom prst="rect">
            <a:avLst/>
          </a:prstGeom>
          <a:noFill/>
          <a:ln/>
        </p:spPr>
        <p:txBody>
          <a:bodyPr wrap="square" rtlCol="0" anchor="ctr"/>
          <a:lstStyle/>
          <a:p>
            <a:pPr marL="0" indent="0">
              <a:buNone/>
            </a:pPr>
            <a:r>
              <a:rPr lang="en-US" sz="1000" dirty="0">
                <a:solidFill>
                  <a:srgbClr val="C5D8EC"/>
                </a:solidFill>
                <a:latin typeface="Calibri" pitchFamily="34" charset="0"/>
                <a:ea typeface="Calibri" pitchFamily="34" charset="-122"/>
                <a:cs typeface="Calibri" pitchFamily="34" charset="-120"/>
              </a:rPr>
              <a:t>Covarianza (unidades) → correlación de Pearson (adimensional). Pearson para relaciones lineales, Spearman para monótonas o con outliers.</a:t>
            </a:r>
            <a:endParaRPr lang="en-US" sz="1000" dirty="0"/>
          </a:p>
        </p:txBody>
      </p:sp>
      <p:sp>
        <p:nvSpPr>
          <p:cNvPr id="21" name="Shape 19"/>
          <p:cNvSpPr/>
          <p:nvPr/>
        </p:nvSpPr>
        <p:spPr>
          <a:xfrm>
            <a:off x="6080760" y="2880360"/>
            <a:ext cx="5577840" cy="1371600"/>
          </a:xfrm>
          <a:prstGeom prst="rect">
            <a:avLst/>
          </a:prstGeom>
          <a:solidFill>
            <a:srgbClr val="FFFFFF">
              <a:alpha val="8000"/>
            </a:srgbClr>
          </a:solidFill>
          <a:ln w="12700">
            <a:solidFill>
              <a:srgbClr val="2A7ABF"/>
            </a:solidFill>
            <a:prstDash val="solid"/>
          </a:ln>
        </p:spPr>
        <p:txBody>
          <a:bodyPr/>
          <a:lstStyle/>
          <a:p>
            <a:endParaRPr lang="es-MX"/>
          </a:p>
        </p:txBody>
      </p:sp>
      <p:sp>
        <p:nvSpPr>
          <p:cNvPr id="22" name="Text 20"/>
          <p:cNvSpPr txBox="1"/>
          <p:nvPr/>
        </p:nvSpPr>
        <p:spPr>
          <a:xfrm>
            <a:off x="6172200" y="2971800"/>
            <a:ext cx="502920" cy="1188720"/>
          </a:xfrm>
          <a:prstGeom prst="rect">
            <a:avLst/>
          </a:prstGeom>
          <a:noFill/>
          <a:ln/>
        </p:spPr>
        <p:txBody>
          <a:bodyPr wrap="square" rtlCol="0" anchor="ctr"/>
          <a:lstStyle/>
          <a:p>
            <a:pPr marL="0" indent="0">
              <a:buNone/>
            </a:pPr>
            <a:r>
              <a:rPr lang="en-US" sz="2000" b="1" dirty="0">
                <a:solidFill>
                  <a:srgbClr val="1A9641"/>
                </a:solidFill>
                <a:latin typeface="Calibri" pitchFamily="34" charset="0"/>
                <a:ea typeface="Calibri" pitchFamily="34" charset="-122"/>
                <a:cs typeface="Calibri" pitchFamily="34" charset="-120"/>
              </a:rPr>
              <a:t>✅</a:t>
            </a:r>
            <a:endParaRPr lang="en-US" sz="2000" dirty="0"/>
          </a:p>
        </p:txBody>
      </p:sp>
      <p:sp>
        <p:nvSpPr>
          <p:cNvPr id="23" name="Text 21"/>
          <p:cNvSpPr txBox="1"/>
          <p:nvPr/>
        </p:nvSpPr>
        <p:spPr>
          <a:xfrm>
            <a:off x="6720840" y="2971800"/>
            <a:ext cx="4846320" cy="384048"/>
          </a:xfrm>
          <a:prstGeom prst="rect">
            <a:avLst/>
          </a:prstGeom>
          <a:noFill/>
          <a:ln/>
        </p:spPr>
        <p:txBody>
          <a:bodyPr wrap="square" rtlCol="0" anchor="ctr"/>
          <a:lstStyle/>
          <a:p>
            <a:pPr marL="0" indent="0">
              <a:buNone/>
            </a:pPr>
            <a:r>
              <a:rPr lang="en-US" sz="1250" b="1" dirty="0">
                <a:solidFill>
                  <a:srgbClr val="E8A020"/>
                </a:solidFill>
                <a:latin typeface="Calibri" pitchFamily="34" charset="0"/>
                <a:ea typeface="Calibri" pitchFamily="34" charset="-122"/>
                <a:cs typeface="Calibri" pitchFamily="34" charset="-120"/>
              </a:rPr>
              <a:t>Numérica × Categórica</a:t>
            </a:r>
            <a:endParaRPr lang="en-US" sz="1250" dirty="0"/>
          </a:p>
        </p:txBody>
      </p:sp>
      <p:sp>
        <p:nvSpPr>
          <p:cNvPr id="24" name="Text 22"/>
          <p:cNvSpPr txBox="1"/>
          <p:nvPr/>
        </p:nvSpPr>
        <p:spPr>
          <a:xfrm>
            <a:off x="6720840" y="3383280"/>
            <a:ext cx="4846320" cy="804672"/>
          </a:xfrm>
          <a:prstGeom prst="rect">
            <a:avLst/>
          </a:prstGeom>
          <a:noFill/>
          <a:ln/>
        </p:spPr>
        <p:txBody>
          <a:bodyPr wrap="square" rtlCol="0" anchor="ctr"/>
          <a:lstStyle/>
          <a:p>
            <a:pPr marL="0" indent="0">
              <a:buNone/>
            </a:pPr>
            <a:r>
              <a:rPr lang="en-US" sz="1000" dirty="0">
                <a:solidFill>
                  <a:srgbClr val="C5D8EC"/>
                </a:solidFill>
                <a:latin typeface="Calibri" pitchFamily="34" charset="0"/>
                <a:ea typeface="Calibri" pitchFamily="34" charset="-122"/>
                <a:cs typeface="Calibri" pitchFamily="34" charset="-120"/>
              </a:rPr>
              <a:t>Estadísticos por grupo (mediana). Box plot agrupado para outliers; violin plot para la forma de la distribución por grupo.</a:t>
            </a:r>
            <a:endParaRPr lang="en-US" sz="1000" dirty="0"/>
          </a:p>
        </p:txBody>
      </p:sp>
      <p:sp>
        <p:nvSpPr>
          <p:cNvPr id="25" name="Shape 23"/>
          <p:cNvSpPr/>
          <p:nvPr/>
        </p:nvSpPr>
        <p:spPr>
          <a:xfrm>
            <a:off x="320040" y="4343400"/>
            <a:ext cx="5577840" cy="1371600"/>
          </a:xfrm>
          <a:prstGeom prst="rect">
            <a:avLst/>
          </a:prstGeom>
          <a:solidFill>
            <a:srgbClr val="FFFFFF">
              <a:alpha val="8000"/>
            </a:srgbClr>
          </a:solidFill>
          <a:ln w="12700">
            <a:solidFill>
              <a:srgbClr val="2A7ABF"/>
            </a:solidFill>
            <a:prstDash val="solid"/>
          </a:ln>
        </p:spPr>
        <p:txBody>
          <a:bodyPr/>
          <a:lstStyle/>
          <a:p>
            <a:endParaRPr lang="es-MX"/>
          </a:p>
        </p:txBody>
      </p:sp>
      <p:sp>
        <p:nvSpPr>
          <p:cNvPr id="26" name="Text 24"/>
          <p:cNvSpPr txBox="1"/>
          <p:nvPr/>
        </p:nvSpPr>
        <p:spPr>
          <a:xfrm>
            <a:off x="411480" y="4434840"/>
            <a:ext cx="502920" cy="1188720"/>
          </a:xfrm>
          <a:prstGeom prst="rect">
            <a:avLst/>
          </a:prstGeom>
          <a:noFill/>
          <a:ln/>
        </p:spPr>
        <p:txBody>
          <a:bodyPr wrap="square" rtlCol="0" anchor="ctr"/>
          <a:lstStyle/>
          <a:p>
            <a:pPr marL="0" indent="0">
              <a:buNone/>
            </a:pPr>
            <a:r>
              <a:rPr lang="en-US" sz="2000" b="1" dirty="0">
                <a:solidFill>
                  <a:srgbClr val="1A9641"/>
                </a:solidFill>
                <a:latin typeface="Calibri" pitchFamily="34" charset="0"/>
                <a:ea typeface="Calibri" pitchFamily="34" charset="-122"/>
                <a:cs typeface="Calibri" pitchFamily="34" charset="-120"/>
              </a:rPr>
              <a:t>✅</a:t>
            </a:r>
            <a:endParaRPr lang="en-US" sz="2000" dirty="0"/>
          </a:p>
        </p:txBody>
      </p:sp>
      <p:sp>
        <p:nvSpPr>
          <p:cNvPr id="27" name="Text 25"/>
          <p:cNvSpPr txBox="1"/>
          <p:nvPr/>
        </p:nvSpPr>
        <p:spPr>
          <a:xfrm>
            <a:off x="960120" y="4434840"/>
            <a:ext cx="4846320" cy="384048"/>
          </a:xfrm>
          <a:prstGeom prst="rect">
            <a:avLst/>
          </a:prstGeom>
          <a:noFill/>
          <a:ln/>
        </p:spPr>
        <p:txBody>
          <a:bodyPr wrap="square" rtlCol="0" anchor="ctr"/>
          <a:lstStyle/>
          <a:p>
            <a:pPr marL="0" indent="0">
              <a:buNone/>
            </a:pPr>
            <a:r>
              <a:rPr lang="en-US" sz="1250" b="1" dirty="0">
                <a:solidFill>
                  <a:srgbClr val="E8A020"/>
                </a:solidFill>
                <a:latin typeface="Calibri" pitchFamily="34" charset="0"/>
                <a:ea typeface="Calibri" pitchFamily="34" charset="-122"/>
                <a:cs typeface="Calibri" pitchFamily="34" charset="-120"/>
              </a:rPr>
              <a:t>Categórica × Categórica</a:t>
            </a:r>
            <a:endParaRPr lang="en-US" sz="1250" dirty="0"/>
          </a:p>
        </p:txBody>
      </p:sp>
      <p:sp>
        <p:nvSpPr>
          <p:cNvPr id="28" name="Text 26"/>
          <p:cNvSpPr txBox="1"/>
          <p:nvPr/>
        </p:nvSpPr>
        <p:spPr>
          <a:xfrm>
            <a:off x="960120" y="4846320"/>
            <a:ext cx="4846320" cy="804672"/>
          </a:xfrm>
          <a:prstGeom prst="rect">
            <a:avLst/>
          </a:prstGeom>
          <a:noFill/>
          <a:ln/>
        </p:spPr>
        <p:txBody>
          <a:bodyPr wrap="square" rtlCol="0" anchor="ctr"/>
          <a:lstStyle/>
          <a:p>
            <a:pPr marL="0" indent="0">
              <a:buNone/>
            </a:pPr>
            <a:r>
              <a:rPr lang="en-US" sz="1000" dirty="0">
                <a:solidFill>
                  <a:srgbClr val="C5D8EC"/>
                </a:solidFill>
                <a:latin typeface="Calibri" pitchFamily="34" charset="0"/>
                <a:ea typeface="Calibri" pitchFamily="34" charset="-122"/>
                <a:cs typeface="Calibri" pitchFamily="34" charset="-120"/>
              </a:rPr>
              <a:t>Tabla de contingencia con proporciones por fila/columna. Chi-cuadrado para testear independencia estadística.</a:t>
            </a:r>
            <a:endParaRPr lang="en-US" sz="1000" dirty="0"/>
          </a:p>
        </p:txBody>
      </p:sp>
      <p:sp>
        <p:nvSpPr>
          <p:cNvPr id="29" name="Shape 27"/>
          <p:cNvSpPr/>
          <p:nvPr/>
        </p:nvSpPr>
        <p:spPr>
          <a:xfrm>
            <a:off x="6080760" y="4343400"/>
            <a:ext cx="5577840" cy="1371600"/>
          </a:xfrm>
          <a:prstGeom prst="rect">
            <a:avLst/>
          </a:prstGeom>
          <a:solidFill>
            <a:srgbClr val="FFFFFF">
              <a:alpha val="8000"/>
            </a:srgbClr>
          </a:solidFill>
          <a:ln w="12700">
            <a:solidFill>
              <a:srgbClr val="C0392B"/>
            </a:solidFill>
            <a:prstDash val="solid"/>
          </a:ln>
        </p:spPr>
        <p:txBody>
          <a:bodyPr/>
          <a:lstStyle/>
          <a:p>
            <a:endParaRPr lang="es-MX"/>
          </a:p>
        </p:txBody>
      </p:sp>
      <p:sp>
        <p:nvSpPr>
          <p:cNvPr id="30" name="Text 28"/>
          <p:cNvSpPr txBox="1"/>
          <p:nvPr/>
        </p:nvSpPr>
        <p:spPr>
          <a:xfrm>
            <a:off x="6172200" y="4434840"/>
            <a:ext cx="502920" cy="1188720"/>
          </a:xfrm>
          <a:prstGeom prst="rect">
            <a:avLst/>
          </a:prstGeom>
          <a:noFill/>
          <a:ln/>
        </p:spPr>
        <p:txBody>
          <a:bodyPr wrap="square" rtlCol="0" anchor="ctr"/>
          <a:lstStyle/>
          <a:p>
            <a:pPr marL="0" indent="0">
              <a:buNone/>
            </a:pPr>
            <a:r>
              <a:rPr lang="en-US" sz="2000" b="1" dirty="0">
                <a:solidFill>
                  <a:srgbClr val="C0392B"/>
                </a:solidFill>
                <a:latin typeface="Calibri" pitchFamily="34" charset="0"/>
                <a:ea typeface="Calibri" pitchFamily="34" charset="-122"/>
                <a:cs typeface="Calibri" pitchFamily="34" charset="-120"/>
              </a:rPr>
              <a:t>⚠</a:t>
            </a:r>
            <a:endParaRPr lang="en-US" sz="2000" dirty="0"/>
          </a:p>
        </p:txBody>
      </p:sp>
      <p:sp>
        <p:nvSpPr>
          <p:cNvPr id="31" name="Text 29"/>
          <p:cNvSpPr txBox="1"/>
          <p:nvPr/>
        </p:nvSpPr>
        <p:spPr>
          <a:xfrm>
            <a:off x="6720840" y="4434840"/>
            <a:ext cx="4846320" cy="384048"/>
          </a:xfrm>
          <a:prstGeom prst="rect">
            <a:avLst/>
          </a:prstGeom>
          <a:noFill/>
          <a:ln/>
        </p:spPr>
        <p:txBody>
          <a:bodyPr wrap="square" rtlCol="0" anchor="ctr"/>
          <a:lstStyle/>
          <a:p>
            <a:pPr marL="0" indent="0">
              <a:buNone/>
            </a:pPr>
            <a:r>
              <a:rPr lang="en-US" sz="1250" b="1" dirty="0">
                <a:solidFill>
                  <a:srgbClr val="C0392B"/>
                </a:solidFill>
                <a:latin typeface="Calibri" pitchFamily="34" charset="0"/>
                <a:ea typeface="Calibri" pitchFamily="34" charset="-122"/>
                <a:cs typeface="Calibri" pitchFamily="34" charset="-120"/>
              </a:rPr>
              <a:t>Correlación ≠ Causalidad</a:t>
            </a:r>
            <a:endParaRPr lang="en-US" sz="1250" dirty="0"/>
          </a:p>
        </p:txBody>
      </p:sp>
      <p:sp>
        <p:nvSpPr>
          <p:cNvPr id="32" name="Text 30"/>
          <p:cNvSpPr txBox="1"/>
          <p:nvPr/>
        </p:nvSpPr>
        <p:spPr>
          <a:xfrm>
            <a:off x="6720840" y="4846320"/>
            <a:ext cx="4846320" cy="804672"/>
          </a:xfrm>
          <a:prstGeom prst="rect">
            <a:avLst/>
          </a:prstGeom>
          <a:noFill/>
          <a:ln/>
        </p:spPr>
        <p:txBody>
          <a:bodyPr wrap="square" rtlCol="0" anchor="ctr"/>
          <a:lstStyle/>
          <a:p>
            <a:pPr marL="0" indent="0">
              <a:buNone/>
            </a:pPr>
            <a:r>
              <a:rPr lang="en-US" sz="1000" dirty="0">
                <a:solidFill>
                  <a:srgbClr val="C5D8EC"/>
                </a:solidFill>
                <a:latin typeface="Calibri" pitchFamily="34" charset="0"/>
                <a:ea typeface="Calibri" pitchFamily="34" charset="-122"/>
                <a:cs typeface="Calibri" pitchFamily="34" charset="-120"/>
              </a:rPr>
              <a:t>Siempre preguntar: ¿hay una variable confusora? El EDA genera hipótesis — la causalidad se prueba con diseño de investigación.</a:t>
            </a:r>
            <a:endParaRPr lang="en-US" sz="1000" dirty="0"/>
          </a:p>
        </p:txBody>
      </p:sp>
      <p:sp>
        <p:nvSpPr>
          <p:cNvPr id="33" name="Text 31"/>
          <p:cNvSpPr txBox="1"/>
          <p:nvPr/>
        </p:nvSpPr>
        <p:spPr>
          <a:xfrm>
            <a:off x="320040" y="5989320"/>
            <a:ext cx="11521440" cy="548640"/>
          </a:xfrm>
          <a:prstGeom prst="rect">
            <a:avLst/>
          </a:prstGeom>
          <a:noFill/>
          <a:ln/>
        </p:spPr>
        <p:txBody>
          <a:bodyPr wrap="square" rtlCol="0" anchor="ctr"/>
          <a:lstStyle/>
          <a:p>
            <a:pPr marL="0" indent="0">
              <a:buNone/>
            </a:pPr>
            <a:r>
              <a:rPr lang="en-US" sz="1100" b="1" dirty="0">
                <a:solidFill>
                  <a:srgbClr val="E8A020"/>
                </a:solidFill>
                <a:latin typeface="Calibri" pitchFamily="34" charset="0"/>
                <a:ea typeface="Calibri" pitchFamily="34" charset="-122"/>
                <a:cs typeface="Calibri" pitchFamily="34" charset="-120"/>
              </a:rPr>
              <a:t>Próxima sesión: Con las hipótesis del EDA en mano, pasamos a visualización avanzada — dashboards y comunicación de resultados.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554</TotalTime>
  <Words>4482</Words>
  <Application>Microsoft Office PowerPoint</Application>
  <PresentationFormat>Widescreen</PresentationFormat>
  <Paragraphs>570</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Natalia Cadavid Aguilar</cp:lastModifiedBy>
  <cp:revision>7</cp:revision>
  <dcterms:created xsi:type="dcterms:W3CDTF">2026-09-27T19:09:04Z</dcterms:created>
  <dcterms:modified xsi:type="dcterms:W3CDTF">2026-09-28T05:14:51Z</dcterms:modified>
</cp:coreProperties>
</file>