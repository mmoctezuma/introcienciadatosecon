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Sesión 4: introducción a series de tiempo desde una perspectiva de EDA temporal. No modelamos, analizamos la estructura. Puente entre Tema 2 (EDA) y Tema 3 (Visualización).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objetivos. Enfatizar que NO vamos a modelar (no ARIMA, no forecasting). El objetivo es aprender a leer la estructura temporal de los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punto clave: en EDA clásico podemos reordenar las filas y el análisis es igual. En series de tiempo el orden es la información. Esto viola el supuesto de independencia y requiere herramientas distintas.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descomposición aditiva (T+S+R) asume que los componentes se suman. La multiplicativa (T×S×R) se usa cuando la amplitud de la estacionalidad crece con el nivel de la serie. Para empezar, usamos siempre la aditiva.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Datos descargados con wbgapi: indicador FP.CPI.TOTL.ZG. La crisis de Rep. Dom. en 2003-2004 es un outlier extremo útil para mostrar cómo una serie de tiempo captura shocks históricos que un análisis de corte transversal podría perder.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resultado de seasonal_decompose es un objeto con cuatro series: .observed, .trend, .seasonal, .resid. El modelo aditivo asume Y = T+S+R. Si la variabilidad de la serie crece con el nivel, conviene usar model="multiplicative".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PIB trimestral de Colombia (indicador NY.GDP.MKTP.KD.ZG a frecuencia trimestral) es un ejemplo perfecto: la estacionalidad del T4 (gasto de fin de año) y el crash del T2 2020 son visibles de inmediato. Énfasis: los datos anuales PROMEDIABAN ese -10.2% con la recuperación del T3-T4 2020.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ACF del lag 0 siempre es 1 (la serie correlaciona perfectamente consigo misma sin desplazamiento). Un ACF que decae lentamente indica una tendencia fuerte. Un ACF con pico en lag 4 (datos trimestrales) indica estacionalidad anual.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código que los alumnos van a ejecutar en el notebook. El flujo de 4 pasos es el análisis temporal mínimo para cualquier variable económica antes de modelar.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comparación ACF entre países es una forma de EDA temporal multivariado. El objetivo no es modelar sino entender si los países comparten el mismo "comportamiento de memoria" en la inflación. Esto tiene implicaciones directas para política monetaria.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slide es el puente explícito. El mensaje: el análisis temporal que hicieron hoy crea preguntas de visualización que el Tema 3 va a responder sistemáticamente. Cada tipo de gráfico aquí tiene una motivación técnica que ya conocen.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ejercicio conecta lo visto en clase con trabajo autónomo. El indicador SL.UEM.TOTL.ZS es el desempleo total (% de la fuerza laboral) en WDI. La pregunta interpretativa del punto 5 es la más importante: queremos que los alumnos conecten la estadística con la economía.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61520" cy="6858000"/>
          </a:xfrm>
          <a:prstGeom prst="rect">
            <a:avLst/>
          </a:prstGeom>
          <a:solidFill>
            <a:srgbClr val="1B3A6B"/>
          </a:solidFill>
          <a:ln/>
        </p:spPr>
      </p:sp>
      <p:sp>
        <p:nvSpPr>
          <p:cNvPr id="3" name="Shape 1"/>
          <p:cNvSpPr/>
          <p:nvPr/>
        </p:nvSpPr>
        <p:spPr>
          <a:xfrm>
            <a:off x="8046720" y="-640080"/>
            <a:ext cx="4023360" cy="4023360"/>
          </a:xfrm>
          <a:prstGeom prst="ellipse">
            <a:avLst/>
          </a:prstGeom>
          <a:solidFill>
            <a:srgbClr val="FFFFFF">
              <a:alpha val="7000"/>
            </a:srgbClr>
          </a:solidFill>
          <a:ln w="12700">
            <a:solidFill>
              <a:srgbClr val="FFFFFF">
                <a:alpha val="7000"/>
              </a:srgbClr>
            </a:solidFill>
            <a:prstDash val="solid"/>
          </a:ln>
        </p:spPr>
      </p:sp>
      <p:sp>
        <p:nvSpPr>
          <p:cNvPr id="4" name="Shape 2"/>
          <p:cNvSpPr/>
          <p:nvPr/>
        </p:nvSpPr>
        <p:spPr>
          <a:xfrm>
            <a:off x="8686800" y="2286000"/>
            <a:ext cx="5486400" cy="5486400"/>
          </a:xfrm>
          <a:prstGeom prst="ellipse">
            <a:avLst/>
          </a:prstGeom>
          <a:solidFill>
            <a:srgbClr val="FFFFFF">
              <a:alpha val="5000"/>
            </a:srgbClr>
          </a:solidFill>
          <a:ln w="12700">
            <a:solidFill>
              <a:srgbClr val="FFFFFF">
                <a:alpha val="5000"/>
              </a:srgbClr>
            </a:solidFill>
            <a:prstDash val="solid"/>
          </a:ln>
        </p:spPr>
      </p:sp>
      <p:sp>
        <p:nvSpPr>
          <p:cNvPr id="5" name="Shape 3"/>
          <p:cNvSpPr/>
          <p:nvPr/>
        </p:nvSpPr>
        <p:spPr>
          <a:xfrm>
            <a:off x="-731520" y="4297680"/>
            <a:ext cx="3291840" cy="3291840"/>
          </a:xfrm>
          <a:prstGeom prst="ellipse">
            <a:avLst/>
          </a:prstGeom>
          <a:solidFill>
            <a:srgbClr val="FFFFFF">
              <a:alpha val="6000"/>
            </a:srgbClr>
          </a:solidFill>
          <a:ln w="12700">
            <a:solidFill>
              <a:srgbClr val="FFFFFF">
                <a:alpha val="6000"/>
              </a:srgbClr>
            </a:solidFill>
            <a:prstDash val="solid"/>
          </a:ln>
        </p:spPr>
      </p:sp>
      <p:sp>
        <p:nvSpPr>
          <p:cNvPr id="6" name="Text 4"/>
          <p:cNvSpPr txBox="1"/>
          <p:nvPr/>
        </p:nvSpPr>
        <p:spPr>
          <a:xfrm>
            <a:off x="640080" y="1463040"/>
            <a:ext cx="9144000" cy="457200"/>
          </a:xfrm>
          <a:prstGeom prst="rect">
            <a:avLst/>
          </a:prstGeom>
          <a:noFill/>
          <a:ln/>
        </p:spPr>
        <p:txBody>
          <a:bodyPr wrap="square" rtlCol="0" anchor="ctr"/>
          <a:lstStyle/>
          <a:p>
            <a:pPr indent="0" marL="0">
              <a:buNone/>
            </a:pPr>
            <a:r>
              <a:rPr lang="en-US" sz="1400" b="1" dirty="0">
                <a:solidFill>
                  <a:srgbClr val="E8A020"/>
                </a:solidFill>
                <a:latin typeface="Calibri" pitchFamily="34" charset="0"/>
                <a:ea typeface="Calibri" pitchFamily="34" charset="-122"/>
                <a:cs typeface="Calibri" pitchFamily="34" charset="-120"/>
              </a:rPr>
              <a:t>EO4040 — Introducción a la Ciencia de Datos para Economía</a:t>
            </a:r>
            <a:endParaRPr lang="en-US" sz="1400" dirty="0"/>
          </a:p>
        </p:txBody>
      </p:sp>
      <p:sp>
        <p:nvSpPr>
          <p:cNvPr id="7" name="Text 5"/>
          <p:cNvSpPr txBox="1"/>
          <p:nvPr/>
        </p:nvSpPr>
        <p:spPr>
          <a:xfrm>
            <a:off x="640080" y="2057400"/>
            <a:ext cx="3657600" cy="365760"/>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Sesión 4</a:t>
            </a:r>
            <a:endParaRPr lang="en-US" sz="1600" dirty="0"/>
          </a:p>
        </p:txBody>
      </p:sp>
      <p:sp>
        <p:nvSpPr>
          <p:cNvPr id="8" name="Text 6"/>
          <p:cNvSpPr txBox="1"/>
          <p:nvPr/>
        </p:nvSpPr>
        <p:spPr>
          <a:xfrm>
            <a:off x="640080" y="2468880"/>
            <a:ext cx="10058400" cy="1371600"/>
          </a:xfrm>
          <a:prstGeom prst="rect">
            <a:avLst/>
          </a:prstGeom>
          <a:noFill/>
          <a:ln/>
        </p:spPr>
        <p:txBody>
          <a:bodyPr wrap="square" rtlCol="0" anchor="ctr"/>
          <a:lstStyle/>
          <a:p>
            <a:pPr indent="0" marL="0">
              <a:lnSpc>
                <a:spcPct val="110000"/>
              </a:lnSpc>
              <a:buNone/>
            </a:pPr>
            <a:r>
              <a:rPr lang="en-US" sz="4400" b="1" dirty="0">
                <a:solidFill>
                  <a:srgbClr val="FFFFFF"/>
                </a:solidFill>
                <a:latin typeface="Calibri" pitchFamily="34" charset="0"/>
                <a:ea typeface="Calibri" pitchFamily="34" charset="-122"/>
                <a:cs typeface="Calibri" pitchFamily="34" charset="-120"/>
              </a:rPr>
              <a:t>Análisis de</a:t>
            </a:r>
            <a:endParaRPr lang="en-US" sz="4400" dirty="0"/>
          </a:p>
          <a:p>
            <a:pPr indent="0" marL="0">
              <a:lnSpc>
                <a:spcPct val="110000"/>
              </a:lnSpc>
              <a:buNone/>
            </a:pPr>
            <a:r>
              <a:rPr lang="en-US" sz="4400" b="1" dirty="0">
                <a:solidFill>
                  <a:srgbClr val="FFFFFF"/>
                </a:solidFill>
                <a:latin typeface="Calibri" pitchFamily="34" charset="0"/>
                <a:ea typeface="Calibri" pitchFamily="34" charset="-122"/>
                <a:cs typeface="Calibri" pitchFamily="34" charset="-120"/>
              </a:rPr>
              <a:t>Series de Tiempo</a:t>
            </a:r>
            <a:endParaRPr lang="en-US" sz="4400" dirty="0"/>
          </a:p>
        </p:txBody>
      </p:sp>
      <p:sp>
        <p:nvSpPr>
          <p:cNvPr id="9" name="Text 7"/>
          <p:cNvSpPr txBox="1"/>
          <p:nvPr/>
        </p:nvSpPr>
        <p:spPr>
          <a:xfrm>
            <a:off x="640080" y="4023360"/>
            <a:ext cx="10058400" cy="365760"/>
          </a:xfrm>
          <a:prstGeom prst="rect">
            <a:avLst/>
          </a:prstGeom>
          <a:noFill/>
          <a:ln/>
        </p:spPr>
        <p:txBody>
          <a:bodyPr wrap="square" rtlCol="0" anchor="ctr"/>
          <a:lstStyle/>
          <a:p>
            <a:pPr indent="0" marL="0">
              <a:buNone/>
            </a:pPr>
            <a:r>
              <a:rPr lang="en-US" sz="1200" dirty="0">
                <a:solidFill>
                  <a:srgbClr val="A0B4D0"/>
                </a:solidFill>
                <a:latin typeface="Calibri" pitchFamily="34" charset="0"/>
                <a:ea typeface="Calibri" pitchFamily="34" charset="-122"/>
                <a:cs typeface="Calibri" pitchFamily="34" charset="-120"/>
              </a:rPr>
              <a:t>Tendencia · Estacionalidad · Autocorrelación · Descomposición temporal</a:t>
            </a:r>
            <a:endParaRPr lang="en-US" sz="1200" dirty="0"/>
          </a:p>
        </p:txBody>
      </p:sp>
      <p:sp>
        <p:nvSpPr>
          <p:cNvPr id="10" name="Shape 8"/>
          <p:cNvSpPr/>
          <p:nvPr/>
        </p:nvSpPr>
        <p:spPr>
          <a:xfrm>
            <a:off x="640080" y="4434840"/>
            <a:ext cx="4572000" cy="0"/>
          </a:xfrm>
          <a:prstGeom prst="line">
            <a:avLst/>
          </a:prstGeom>
          <a:noFill/>
          <a:ln w="25400">
            <a:solidFill>
              <a:srgbClr val="E8A020"/>
            </a:solidFill>
            <a:prstDash val="solid"/>
          </a:ln>
        </p:spPr>
      </p:sp>
      <p:sp>
        <p:nvSpPr>
          <p:cNvPr id="11" name="Text 9"/>
          <p:cNvSpPr txBox="1"/>
          <p:nvPr/>
        </p:nvSpPr>
        <p:spPr>
          <a:xfrm>
            <a:off x="640080" y="4572000"/>
            <a:ext cx="7315200" cy="320040"/>
          </a:xfrm>
          <a:prstGeom prst="rect">
            <a:avLst/>
          </a:prstGeom>
          <a:noFill/>
          <a:ln/>
        </p:spPr>
        <p:txBody>
          <a:bodyPr wrap="square" rtlCol="0" anchor="ctr"/>
          <a:lstStyle/>
          <a:p>
            <a:pPr indent="0" marL="0">
              <a:buNone/>
            </a:pPr>
            <a:r>
              <a:rPr lang="en-US" sz="1100" dirty="0">
                <a:solidFill>
                  <a:srgbClr val="90A8C0"/>
                </a:solidFill>
                <a:latin typeface="Calibri" pitchFamily="34" charset="0"/>
                <a:ea typeface="Calibri" pitchFamily="34" charset="-122"/>
                <a:cs typeface="Calibri" pitchFamily="34" charset="-120"/>
              </a:rPr>
              <a:t>Tec de Monterrey  ·  Gobierno y Transformación Pública</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61520" cy="347472"/>
          </a:xfrm>
          <a:prstGeom prst="rect">
            <a:avLst/>
          </a:prstGeom>
          <a:solidFill>
            <a:srgbClr val="1B3A6B"/>
          </a:solidFill>
          <a:ln/>
        </p:spPr>
      </p:sp>
      <p:sp>
        <p:nvSpPr>
          <p:cNvPr id="3" name="Text 1"/>
          <p:cNvSpPr txBox="1"/>
          <p:nvPr/>
        </p:nvSpPr>
        <p:spPr>
          <a:xfrm>
            <a:off x="228600" y="36576"/>
            <a:ext cx="8229600" cy="27432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EO4040 — Introducción a la Ciencia de Datos para Economía</a:t>
            </a:r>
            <a:endParaRPr lang="en-US" sz="900" dirty="0"/>
          </a:p>
        </p:txBody>
      </p:sp>
      <p:sp>
        <p:nvSpPr>
          <p:cNvPr id="4" name="Text 2"/>
          <p:cNvSpPr txBox="1"/>
          <p:nvPr/>
        </p:nvSpPr>
        <p:spPr>
          <a:xfrm>
            <a:off x="8686800" y="36576"/>
            <a:ext cx="3291840" cy="274320"/>
          </a:xfrm>
          <a:prstGeom prst="rect">
            <a:avLst/>
          </a:prstGeom>
          <a:noFill/>
          <a:ln/>
        </p:spPr>
        <p:txBody>
          <a:bodyPr wrap="square" rtlCol="0" anchor="ctr"/>
          <a:lstStyle/>
          <a:p>
            <a:pPr algn="r" indent="0" marL="0">
              <a:buNone/>
            </a:pPr>
            <a:r>
              <a:rPr lang="en-US" sz="900" b="1" dirty="0">
                <a:solidFill>
                  <a:srgbClr val="E8A020"/>
                </a:solidFill>
                <a:latin typeface="Calibri" pitchFamily="34" charset="0"/>
                <a:ea typeface="Calibri" pitchFamily="34" charset="-122"/>
                <a:cs typeface="Calibri" pitchFamily="34" charset="-120"/>
              </a:rPr>
              <a:t>Sesión 4</a:t>
            </a:r>
            <a:endParaRPr lang="en-US" sz="900" dirty="0"/>
          </a:p>
        </p:txBody>
      </p:sp>
      <p:sp>
        <p:nvSpPr>
          <p:cNvPr id="5" name="Shape 3"/>
          <p:cNvSpPr/>
          <p:nvPr/>
        </p:nvSpPr>
        <p:spPr>
          <a:xfrm>
            <a:off x="320040" y="347472"/>
            <a:ext cx="1344168" cy="256032"/>
          </a:xfrm>
          <a:prstGeom prst="roundRect">
            <a:avLst>
              <a:gd name="adj" fmla="val 17857"/>
            </a:avLst>
          </a:prstGeom>
          <a:solidFill>
            <a:srgbClr val="2A7ABF"/>
          </a:solidFill>
          <a:ln/>
        </p:spPr>
      </p:sp>
      <p:sp>
        <p:nvSpPr>
          <p:cNvPr id="6" name="Text 4"/>
          <p:cNvSpPr txBox="1"/>
          <p:nvPr/>
        </p:nvSpPr>
        <p:spPr>
          <a:xfrm>
            <a:off x="365760" y="365760"/>
            <a:ext cx="1252728" cy="219456"/>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Objetivos</a:t>
            </a:r>
            <a:endParaRPr lang="en-US" sz="850" dirty="0"/>
          </a:p>
        </p:txBody>
      </p:sp>
      <p:sp>
        <p:nvSpPr>
          <p:cNvPr id="7" name="Text 5"/>
          <p:cNvSpPr txBox="1"/>
          <p:nvPr/>
        </p:nvSpPr>
        <p:spPr>
          <a:xfrm>
            <a:off x="320040" y="658368"/>
            <a:ext cx="10972800" cy="502920"/>
          </a:xfrm>
          <a:prstGeom prst="rect">
            <a:avLst/>
          </a:prstGeom>
          <a:noFill/>
          <a:ln/>
        </p:spPr>
        <p:txBody>
          <a:bodyPr wrap="square" rtlCol="0" anchor="ctr"/>
          <a:lstStyle/>
          <a:p>
            <a:pPr indent="0" marL="0">
              <a:buNone/>
            </a:pPr>
            <a:r>
              <a:rPr lang="en-US" sz="2600" b="1" dirty="0">
                <a:solidFill>
                  <a:srgbClr val="1B3A6B"/>
                </a:solidFill>
                <a:latin typeface="Calibri" pitchFamily="34" charset="0"/>
                <a:ea typeface="Calibri" pitchFamily="34" charset="-122"/>
                <a:cs typeface="Calibri" pitchFamily="34" charset="-120"/>
              </a:rPr>
              <a:t>¿Qué aprenderás hoy?</a:t>
            </a:r>
            <a:endParaRPr lang="en-US" sz="2600" dirty="0"/>
          </a:p>
        </p:txBody>
      </p:sp>
      <p:sp>
        <p:nvSpPr>
          <p:cNvPr id="8" name="Shape 6"/>
          <p:cNvSpPr/>
          <p:nvPr/>
        </p:nvSpPr>
        <p:spPr>
          <a:xfrm>
            <a:off x="320040" y="1325880"/>
            <a:ext cx="502920" cy="502920"/>
          </a:xfrm>
          <a:prstGeom prst="rect">
            <a:avLst/>
          </a:prstGeom>
          <a:solidFill>
            <a:srgbClr val="2A7ABF"/>
          </a:solidFill>
          <a:ln/>
        </p:spPr>
      </p:sp>
      <p:sp>
        <p:nvSpPr>
          <p:cNvPr id="9" name="Text 7"/>
          <p:cNvSpPr txBox="1"/>
          <p:nvPr/>
        </p:nvSpPr>
        <p:spPr>
          <a:xfrm>
            <a:off x="320040" y="1325880"/>
            <a:ext cx="50292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10" name="Text 8"/>
          <p:cNvSpPr txBox="1"/>
          <p:nvPr/>
        </p:nvSpPr>
        <p:spPr>
          <a:xfrm>
            <a:off x="960120" y="1344168"/>
            <a:ext cx="10789920" cy="256032"/>
          </a:xfrm>
          <a:prstGeom prst="rect">
            <a:avLst/>
          </a:prstGeom>
          <a:noFill/>
          <a:ln/>
        </p:spPr>
        <p:txBody>
          <a:bodyPr wrap="square" rtlCol="0" anchor="ctr"/>
          <a:lstStyle/>
          <a:p>
            <a:pPr indent="0" marL="0">
              <a:buNone/>
            </a:pPr>
            <a:r>
              <a:rPr lang="en-US" sz="1300" b="1" dirty="0">
                <a:solidFill>
                  <a:srgbClr val="1B3A6B"/>
                </a:solidFill>
                <a:latin typeface="Calibri" pitchFamily="34" charset="0"/>
                <a:ea typeface="Calibri" pitchFamily="34" charset="-122"/>
                <a:cs typeface="Calibri" pitchFamily="34" charset="-120"/>
              </a:rPr>
              <a:t>Entender por qué los datos económicos tienen memoria</a:t>
            </a:r>
            <a:endParaRPr lang="en-US" sz="1300" dirty="0"/>
          </a:p>
        </p:txBody>
      </p:sp>
      <p:sp>
        <p:nvSpPr>
          <p:cNvPr id="11" name="Text 9"/>
          <p:cNvSpPr txBox="1"/>
          <p:nvPr/>
        </p:nvSpPr>
        <p:spPr>
          <a:xfrm>
            <a:off x="960120" y="1600200"/>
            <a:ext cx="10789920" cy="256032"/>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Un PIB de 2023 aislado no dice lo mismo que dentro de una serie 2000–2023.</a:t>
            </a:r>
            <a:endParaRPr lang="en-US" sz="1100" dirty="0"/>
          </a:p>
        </p:txBody>
      </p:sp>
      <p:sp>
        <p:nvSpPr>
          <p:cNvPr id="12" name="Shape 10"/>
          <p:cNvSpPr/>
          <p:nvPr/>
        </p:nvSpPr>
        <p:spPr>
          <a:xfrm>
            <a:off x="320040" y="2514600"/>
            <a:ext cx="502920" cy="502920"/>
          </a:xfrm>
          <a:prstGeom prst="rect">
            <a:avLst/>
          </a:prstGeom>
          <a:solidFill>
            <a:srgbClr val="2A7ABF"/>
          </a:solidFill>
          <a:ln/>
        </p:spPr>
      </p:sp>
      <p:sp>
        <p:nvSpPr>
          <p:cNvPr id="13" name="Text 11"/>
          <p:cNvSpPr txBox="1"/>
          <p:nvPr/>
        </p:nvSpPr>
        <p:spPr>
          <a:xfrm>
            <a:off x="320040" y="2514600"/>
            <a:ext cx="50292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4" name="Text 12"/>
          <p:cNvSpPr txBox="1"/>
          <p:nvPr/>
        </p:nvSpPr>
        <p:spPr>
          <a:xfrm>
            <a:off x="960120" y="2532888"/>
            <a:ext cx="10789920" cy="256032"/>
          </a:xfrm>
          <a:prstGeom prst="rect">
            <a:avLst/>
          </a:prstGeom>
          <a:noFill/>
          <a:ln/>
        </p:spPr>
        <p:txBody>
          <a:bodyPr wrap="square" rtlCol="0" anchor="ctr"/>
          <a:lstStyle/>
          <a:p>
            <a:pPr indent="0" marL="0">
              <a:buNone/>
            </a:pPr>
            <a:r>
              <a:rPr lang="en-US" sz="1300" b="1" dirty="0">
                <a:solidFill>
                  <a:srgbClr val="1B3A6B"/>
                </a:solidFill>
                <a:latin typeface="Calibri" pitchFamily="34" charset="0"/>
                <a:ea typeface="Calibri" pitchFamily="34" charset="-122"/>
                <a:cs typeface="Calibri" pitchFamily="34" charset="-120"/>
              </a:rPr>
              <a:t>Identificar los tres componentes de una serie</a:t>
            </a:r>
            <a:endParaRPr lang="en-US" sz="1300" dirty="0"/>
          </a:p>
        </p:txBody>
      </p:sp>
      <p:sp>
        <p:nvSpPr>
          <p:cNvPr id="15" name="Text 13"/>
          <p:cNvSpPr txBox="1"/>
          <p:nvPr/>
        </p:nvSpPr>
        <p:spPr>
          <a:xfrm>
            <a:off x="960120" y="2788920"/>
            <a:ext cx="10789920" cy="256032"/>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Tendencia, estacionalidad y ruido — y cómo separarlos con Python.</a:t>
            </a:r>
            <a:endParaRPr lang="en-US" sz="1100" dirty="0"/>
          </a:p>
        </p:txBody>
      </p:sp>
      <p:sp>
        <p:nvSpPr>
          <p:cNvPr id="16" name="Shape 14"/>
          <p:cNvSpPr/>
          <p:nvPr/>
        </p:nvSpPr>
        <p:spPr>
          <a:xfrm>
            <a:off x="320040" y="3703320"/>
            <a:ext cx="502920" cy="502920"/>
          </a:xfrm>
          <a:prstGeom prst="rect">
            <a:avLst/>
          </a:prstGeom>
          <a:solidFill>
            <a:srgbClr val="2A7ABF"/>
          </a:solidFill>
          <a:ln/>
        </p:spPr>
      </p:sp>
      <p:sp>
        <p:nvSpPr>
          <p:cNvPr id="17" name="Text 15"/>
          <p:cNvSpPr txBox="1"/>
          <p:nvPr/>
        </p:nvSpPr>
        <p:spPr>
          <a:xfrm>
            <a:off x="320040" y="3703320"/>
            <a:ext cx="50292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18" name="Text 16"/>
          <p:cNvSpPr txBox="1"/>
          <p:nvPr/>
        </p:nvSpPr>
        <p:spPr>
          <a:xfrm>
            <a:off x="960120" y="3721608"/>
            <a:ext cx="10789920" cy="256032"/>
          </a:xfrm>
          <a:prstGeom prst="rect">
            <a:avLst/>
          </a:prstGeom>
          <a:noFill/>
          <a:ln/>
        </p:spPr>
        <p:txBody>
          <a:bodyPr wrap="square" rtlCol="0" anchor="ctr"/>
          <a:lstStyle/>
          <a:p>
            <a:pPr indent="0" marL="0">
              <a:buNone/>
            </a:pPr>
            <a:r>
              <a:rPr lang="en-US" sz="1300" b="1" dirty="0">
                <a:solidFill>
                  <a:srgbClr val="1B3A6B"/>
                </a:solidFill>
                <a:latin typeface="Calibri" pitchFamily="34" charset="0"/>
                <a:ea typeface="Calibri" pitchFamily="34" charset="-122"/>
                <a:cs typeface="Calibri" pitchFamily="34" charset="-120"/>
              </a:rPr>
              <a:t>Leer e interpretar el ACF</a:t>
            </a:r>
            <a:endParaRPr lang="en-US" sz="1300" dirty="0"/>
          </a:p>
        </p:txBody>
      </p:sp>
      <p:sp>
        <p:nvSpPr>
          <p:cNvPr id="19" name="Text 17"/>
          <p:cNvSpPr txBox="1"/>
          <p:nvPr/>
        </p:nvSpPr>
        <p:spPr>
          <a:xfrm>
            <a:off x="960120" y="3977640"/>
            <a:ext cx="10789920" cy="256032"/>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¿Cuánto depende el valor de hoy del de ayer? Implicaciones para el análisis de regresión.</a:t>
            </a:r>
            <a:endParaRPr lang="en-US" sz="1100" dirty="0"/>
          </a:p>
        </p:txBody>
      </p:sp>
      <p:sp>
        <p:nvSpPr>
          <p:cNvPr id="20" name="Shape 18"/>
          <p:cNvSpPr/>
          <p:nvPr/>
        </p:nvSpPr>
        <p:spPr>
          <a:xfrm>
            <a:off x="320040" y="4892040"/>
            <a:ext cx="502920" cy="502920"/>
          </a:xfrm>
          <a:prstGeom prst="rect">
            <a:avLst/>
          </a:prstGeom>
          <a:solidFill>
            <a:srgbClr val="2A7ABF"/>
          </a:solidFill>
          <a:ln/>
        </p:spPr>
      </p:sp>
      <p:sp>
        <p:nvSpPr>
          <p:cNvPr id="21" name="Text 19"/>
          <p:cNvSpPr txBox="1"/>
          <p:nvPr/>
        </p:nvSpPr>
        <p:spPr>
          <a:xfrm>
            <a:off x="320040" y="4892040"/>
            <a:ext cx="502920" cy="50292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22" name="Text 20"/>
          <p:cNvSpPr txBox="1"/>
          <p:nvPr/>
        </p:nvSpPr>
        <p:spPr>
          <a:xfrm>
            <a:off x="960120" y="4910328"/>
            <a:ext cx="10789920" cy="256032"/>
          </a:xfrm>
          <a:prstGeom prst="rect">
            <a:avLst/>
          </a:prstGeom>
          <a:noFill/>
          <a:ln/>
        </p:spPr>
        <p:txBody>
          <a:bodyPr wrap="square" rtlCol="0" anchor="ctr"/>
          <a:lstStyle/>
          <a:p>
            <a:pPr indent="0" marL="0">
              <a:buNone/>
            </a:pPr>
            <a:r>
              <a:rPr lang="en-US" sz="1300" b="1" dirty="0">
                <a:solidFill>
                  <a:srgbClr val="1B3A6B"/>
                </a:solidFill>
                <a:latin typeface="Calibri" pitchFamily="34" charset="0"/>
                <a:ea typeface="Calibri" pitchFamily="34" charset="-122"/>
                <a:cs typeface="Calibri" pitchFamily="34" charset="-120"/>
              </a:rPr>
              <a:t>Aplicar análisis temporal a datos reales</a:t>
            </a:r>
            <a:endParaRPr lang="en-US" sz="1300" dirty="0"/>
          </a:p>
        </p:txBody>
      </p:sp>
      <p:sp>
        <p:nvSpPr>
          <p:cNvPr id="23" name="Text 21"/>
          <p:cNvSpPr txBox="1"/>
          <p:nvPr/>
        </p:nvSpPr>
        <p:spPr>
          <a:xfrm>
            <a:off x="960120" y="5166360"/>
            <a:ext cx="10789920" cy="256032"/>
          </a:xfrm>
          <a:prstGeom prst="rect">
            <a:avLst/>
          </a:prstGeom>
          <a:noFill/>
          <a:ln/>
        </p:spPr>
        <p:txBody>
          <a:bodyPr wrap="square" rtlCol="0" anchor="ctr"/>
          <a:lstStyle/>
          <a:p>
            <a:pPr indent="0" marL="0">
              <a:buNone/>
            </a:pPr>
            <a:r>
              <a:rPr lang="en-US" sz="1100" dirty="0">
                <a:solidFill>
                  <a:srgbClr val="6B7280"/>
                </a:solidFill>
                <a:latin typeface="Calibri" pitchFamily="34" charset="0"/>
                <a:ea typeface="Calibri" pitchFamily="34" charset="-122"/>
                <a:cs typeface="Calibri" pitchFamily="34" charset="-120"/>
              </a:rPr>
              <a:t>Inflación y PIB de Colombia, Rep. Dominicana y Honduras vía World Bank API.</a:t>
            </a:r>
            <a:endParaRPr lang="en-US" sz="1100" dirty="0"/>
          </a:p>
        </p:txBody>
      </p:sp>
      <p:sp>
        <p:nvSpPr>
          <p:cNvPr id="24" name="Shape 22"/>
          <p:cNvSpPr/>
          <p:nvPr/>
        </p:nvSpPr>
        <p:spPr>
          <a:xfrm>
            <a:off x="0" y="6565392"/>
            <a:ext cx="12161520" cy="292608"/>
          </a:xfrm>
          <a:prstGeom prst="rect">
            <a:avLst/>
          </a:prstGeom>
          <a:solidFill>
            <a:srgbClr val="1B3A6B"/>
          </a:solidFill>
          <a:ln/>
        </p:spPr>
      </p:sp>
      <p:sp>
        <p:nvSpPr>
          <p:cNvPr id="25" name="Text 23"/>
          <p:cNvSpPr txBox="1"/>
          <p:nvPr/>
        </p:nvSpPr>
        <p:spPr>
          <a:xfrm>
            <a:off x="228600" y="6592824"/>
            <a:ext cx="7315200" cy="228600"/>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Tec de Monterrey · Gobierno y Transformación Pública</a:t>
            </a:r>
            <a:endParaRPr lang="en-US" sz="800" dirty="0"/>
          </a:p>
        </p:txBody>
      </p:sp>
      <p:sp>
        <p:nvSpPr>
          <p:cNvPr id="26" name="Text 24"/>
          <p:cNvSpPr txBox="1"/>
          <p:nvPr/>
        </p:nvSpPr>
        <p:spPr>
          <a:xfrm>
            <a:off x="8686800" y="6592824"/>
            <a:ext cx="3291840" cy="228600"/>
          </a:xfrm>
          <a:prstGeom prst="rect">
            <a:avLst/>
          </a:prstGeom>
          <a:noFill/>
          <a:ln/>
        </p:spPr>
        <p:txBody>
          <a:bodyPr wrap="square" rtlCol="0" anchor="ctr"/>
          <a:lstStyle/>
          <a:p>
            <a:pPr algn="r" indent="0" marL="0">
              <a:buNone/>
            </a:pPr>
            <a:r>
              <a:rPr lang="en-US" sz="800" dirty="0">
                <a:solidFill>
                  <a:srgbClr val="E8A020"/>
                </a:solidFill>
                <a:latin typeface="Calibri" pitchFamily="34" charset="0"/>
                <a:ea typeface="Calibri" pitchFamily="34" charset="-122"/>
                <a:cs typeface="Calibri" pitchFamily="34" charset="-120"/>
              </a:rPr>
              <a:t>Sesión 4 — Series de Tiempo</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61520" cy="347472"/>
          </a:xfrm>
          <a:prstGeom prst="rect">
            <a:avLst/>
          </a:prstGeom>
          <a:solidFill>
            <a:srgbClr val="1B3A6B"/>
          </a:solidFill>
          <a:ln/>
        </p:spPr>
      </p:sp>
      <p:sp>
        <p:nvSpPr>
          <p:cNvPr id="3" name="Text 1"/>
          <p:cNvSpPr txBox="1"/>
          <p:nvPr/>
        </p:nvSpPr>
        <p:spPr>
          <a:xfrm>
            <a:off x="228600" y="36576"/>
            <a:ext cx="8229600" cy="27432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EO4040 — Introducción a la Ciencia de Datos para Economía</a:t>
            </a:r>
            <a:endParaRPr lang="en-US" sz="900" dirty="0"/>
          </a:p>
        </p:txBody>
      </p:sp>
      <p:sp>
        <p:nvSpPr>
          <p:cNvPr id="4" name="Text 2"/>
          <p:cNvSpPr txBox="1"/>
          <p:nvPr/>
        </p:nvSpPr>
        <p:spPr>
          <a:xfrm>
            <a:off x="8686800" y="36576"/>
            <a:ext cx="3291840" cy="274320"/>
          </a:xfrm>
          <a:prstGeom prst="rect">
            <a:avLst/>
          </a:prstGeom>
          <a:noFill/>
          <a:ln/>
        </p:spPr>
        <p:txBody>
          <a:bodyPr wrap="square" rtlCol="0" anchor="ctr"/>
          <a:lstStyle/>
          <a:p>
            <a:pPr algn="r" indent="0" marL="0">
              <a:buNone/>
            </a:pPr>
            <a:r>
              <a:rPr lang="en-US" sz="900" b="1" dirty="0">
                <a:solidFill>
                  <a:srgbClr val="E8A020"/>
                </a:solidFill>
                <a:latin typeface="Calibri" pitchFamily="34" charset="0"/>
                <a:ea typeface="Calibri" pitchFamily="34" charset="-122"/>
                <a:cs typeface="Calibri" pitchFamily="34" charset="-120"/>
              </a:rPr>
              <a:t>Sesión 4</a:t>
            </a:r>
            <a:endParaRPr lang="en-US" sz="900" dirty="0"/>
          </a:p>
        </p:txBody>
      </p:sp>
      <p:sp>
        <p:nvSpPr>
          <p:cNvPr id="5" name="Shape 3"/>
          <p:cNvSpPr/>
          <p:nvPr/>
        </p:nvSpPr>
        <p:spPr>
          <a:xfrm>
            <a:off x="320040" y="347472"/>
            <a:ext cx="1463040" cy="256032"/>
          </a:xfrm>
          <a:prstGeom prst="roundRect">
            <a:avLst>
              <a:gd name="adj" fmla="val 17857"/>
            </a:avLst>
          </a:prstGeom>
          <a:solidFill>
            <a:srgbClr val="2A7ABF"/>
          </a:solidFill>
          <a:ln/>
        </p:spPr>
      </p:sp>
      <p:sp>
        <p:nvSpPr>
          <p:cNvPr id="6" name="Text 4"/>
          <p:cNvSpPr txBox="1"/>
          <p:nvPr/>
        </p:nvSpPr>
        <p:spPr>
          <a:xfrm>
            <a:off x="365760" y="365760"/>
            <a:ext cx="1371600" cy="219456"/>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Motivación</a:t>
            </a:r>
            <a:endParaRPr lang="en-US" sz="850" dirty="0"/>
          </a:p>
        </p:txBody>
      </p:sp>
      <p:sp>
        <p:nvSpPr>
          <p:cNvPr id="7" name="Text 5"/>
          <p:cNvSpPr txBox="1"/>
          <p:nvPr/>
        </p:nvSpPr>
        <p:spPr>
          <a:xfrm>
            <a:off x="320040" y="658368"/>
            <a:ext cx="10972800" cy="502920"/>
          </a:xfrm>
          <a:prstGeom prst="rect">
            <a:avLst/>
          </a:prstGeom>
          <a:noFill/>
          <a:ln/>
        </p:spPr>
        <p:txBody>
          <a:bodyPr wrap="square" rtlCol="0" anchor="ctr"/>
          <a:lstStyle/>
          <a:p>
            <a:pPr indent="0" marL="0">
              <a:buNone/>
            </a:pPr>
            <a:r>
              <a:rPr lang="en-US" sz="2600" b="1" dirty="0">
                <a:solidFill>
                  <a:srgbClr val="1B3A6B"/>
                </a:solidFill>
                <a:latin typeface="Calibri" pitchFamily="34" charset="0"/>
                <a:ea typeface="Calibri" pitchFamily="34" charset="-122"/>
                <a:cs typeface="Calibri" pitchFamily="34" charset="-120"/>
              </a:rPr>
              <a:t>Los datos económicos tienen memoria</a:t>
            </a:r>
            <a:endParaRPr lang="en-US" sz="2600" dirty="0"/>
          </a:p>
        </p:txBody>
      </p:sp>
      <p:sp>
        <p:nvSpPr>
          <p:cNvPr id="8" name="Shape 6"/>
          <p:cNvSpPr/>
          <p:nvPr/>
        </p:nvSpPr>
        <p:spPr>
          <a:xfrm>
            <a:off x="320040" y="1325880"/>
            <a:ext cx="5394960" cy="4389120"/>
          </a:xfrm>
          <a:prstGeom prst="rect">
            <a:avLst/>
          </a:prstGeom>
          <a:solidFill>
            <a:srgbClr val="EBF0F8"/>
          </a:solidFill>
          <a:ln w="12700">
            <a:solidFill>
              <a:srgbClr val="D1D5DB"/>
            </a:solidFill>
            <a:prstDash val="solid"/>
          </a:ln>
        </p:spPr>
      </p:sp>
      <p:sp>
        <p:nvSpPr>
          <p:cNvPr id="9" name="Text 7"/>
          <p:cNvSpPr txBox="1"/>
          <p:nvPr/>
        </p:nvSpPr>
        <p:spPr>
          <a:xfrm>
            <a:off x="502920" y="1417320"/>
            <a:ext cx="5029200" cy="320040"/>
          </a:xfrm>
          <a:prstGeom prst="rect">
            <a:avLst/>
          </a:prstGeom>
          <a:noFill/>
          <a:ln/>
        </p:spPr>
        <p:txBody>
          <a:bodyPr wrap="square" rtlCol="0" anchor="ctr"/>
          <a:lstStyle/>
          <a:p>
            <a:pPr indent="0" marL="0">
              <a:buNone/>
            </a:pPr>
            <a:r>
              <a:rPr lang="en-US" sz="1400" b="1" dirty="0">
                <a:solidFill>
                  <a:srgbClr val="6B7280"/>
                </a:solidFill>
                <a:latin typeface="Calibri" pitchFamily="34" charset="0"/>
                <a:ea typeface="Calibri" pitchFamily="34" charset="-122"/>
                <a:cs typeface="Calibri" pitchFamily="34" charset="-120"/>
              </a:rPr>
              <a:t>EDA clásico</a:t>
            </a:r>
            <a:endParaRPr lang="en-US" sz="1400" dirty="0"/>
          </a:p>
        </p:txBody>
      </p:sp>
      <p:sp>
        <p:nvSpPr>
          <p:cNvPr id="10" name="Text 8"/>
          <p:cNvSpPr txBox="1"/>
          <p:nvPr/>
        </p:nvSpPr>
        <p:spPr>
          <a:xfrm>
            <a:off x="502920" y="1783080"/>
            <a:ext cx="5029200" cy="502920"/>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Asume que las observaciones</a:t>
            </a:r>
            <a:endParaRPr lang="en-US" sz="1200" dirty="0"/>
          </a:p>
          <a:p>
            <a:pPr indent="0" marL="0">
              <a:buNone/>
            </a:pPr>
            <a:r>
              <a:rPr lang="en-US" sz="1200" dirty="0">
                <a:solidFill>
                  <a:srgbClr val="1E293B"/>
                </a:solidFill>
                <a:latin typeface="Calibri" pitchFamily="34" charset="0"/>
                <a:ea typeface="Calibri" pitchFamily="34" charset="-122"/>
                <a:cs typeface="Calibri" pitchFamily="34" charset="-120"/>
              </a:rPr>
              <a:t>son independientes entre sí</a:t>
            </a:r>
            <a:endParaRPr lang="en-US" sz="1200" dirty="0"/>
          </a:p>
        </p:txBody>
      </p:sp>
      <p:sp>
        <p:nvSpPr>
          <p:cNvPr id="11" name="Shape 9"/>
          <p:cNvSpPr/>
          <p:nvPr/>
        </p:nvSpPr>
        <p:spPr>
          <a:xfrm>
            <a:off x="914400" y="2423160"/>
            <a:ext cx="2011680" cy="347472"/>
          </a:xfrm>
          <a:prstGeom prst="rect">
            <a:avLst/>
          </a:prstGeom>
          <a:solidFill>
            <a:srgbClr val="1D4E8F"/>
          </a:solidFill>
          <a:ln/>
        </p:spPr>
      </p:sp>
      <p:sp>
        <p:nvSpPr>
          <p:cNvPr id="12" name="Shape 10"/>
          <p:cNvSpPr/>
          <p:nvPr/>
        </p:nvSpPr>
        <p:spPr>
          <a:xfrm>
            <a:off x="2926080" y="2423160"/>
            <a:ext cx="1645920" cy="347472"/>
          </a:xfrm>
          <a:prstGeom prst="rect">
            <a:avLst/>
          </a:prstGeom>
          <a:solidFill>
            <a:srgbClr val="1D4E8F"/>
          </a:solidFill>
          <a:ln/>
        </p:spPr>
      </p:sp>
      <p:sp>
        <p:nvSpPr>
          <p:cNvPr id="13" name="Text 11"/>
          <p:cNvSpPr txBox="1"/>
          <p:nvPr/>
        </p:nvSpPr>
        <p:spPr>
          <a:xfrm>
            <a:off x="914400" y="2423160"/>
            <a:ext cx="2011680" cy="347472"/>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Variable</a:t>
            </a:r>
            <a:endParaRPr lang="en-US" sz="1000" dirty="0"/>
          </a:p>
        </p:txBody>
      </p:sp>
      <p:sp>
        <p:nvSpPr>
          <p:cNvPr id="14" name="Text 12"/>
          <p:cNvSpPr txBox="1"/>
          <p:nvPr/>
        </p:nvSpPr>
        <p:spPr>
          <a:xfrm>
            <a:off x="2926080" y="2423160"/>
            <a:ext cx="1645920" cy="347472"/>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Valor</a:t>
            </a:r>
            <a:endParaRPr lang="en-US" sz="1000" dirty="0"/>
          </a:p>
        </p:txBody>
      </p:sp>
      <p:sp>
        <p:nvSpPr>
          <p:cNvPr id="15" name="Shape 13"/>
          <p:cNvSpPr/>
          <p:nvPr/>
        </p:nvSpPr>
        <p:spPr>
          <a:xfrm>
            <a:off x="914400" y="2807208"/>
            <a:ext cx="2011680" cy="347472"/>
          </a:xfrm>
          <a:prstGeom prst="rect">
            <a:avLst/>
          </a:prstGeom>
          <a:solidFill>
            <a:srgbClr val="EBF0F8"/>
          </a:solidFill>
          <a:ln/>
        </p:spPr>
      </p:sp>
      <p:sp>
        <p:nvSpPr>
          <p:cNvPr id="16" name="Shape 14"/>
          <p:cNvSpPr/>
          <p:nvPr/>
        </p:nvSpPr>
        <p:spPr>
          <a:xfrm>
            <a:off x="2926080" y="2807208"/>
            <a:ext cx="1645920" cy="347472"/>
          </a:xfrm>
          <a:prstGeom prst="rect">
            <a:avLst/>
          </a:prstGeom>
          <a:solidFill>
            <a:srgbClr val="EBF0F8"/>
          </a:solidFill>
          <a:ln/>
        </p:spPr>
      </p:sp>
      <p:sp>
        <p:nvSpPr>
          <p:cNvPr id="17" name="Text 15"/>
          <p:cNvSpPr txBox="1"/>
          <p:nvPr/>
        </p:nvSpPr>
        <p:spPr>
          <a:xfrm>
            <a:off x="914400" y="2807208"/>
            <a:ext cx="2011680" cy="347472"/>
          </a:xfrm>
          <a:prstGeom prst="rect">
            <a:avLst/>
          </a:prstGeom>
          <a:noFill/>
          <a:ln/>
        </p:spPr>
        <p:txBody>
          <a:bodyPr wrap="square"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País A, 2020</a:t>
            </a:r>
            <a:endParaRPr lang="en-US" sz="1000" dirty="0"/>
          </a:p>
        </p:txBody>
      </p:sp>
      <p:sp>
        <p:nvSpPr>
          <p:cNvPr id="18" name="Text 16"/>
          <p:cNvSpPr txBox="1"/>
          <p:nvPr/>
        </p:nvSpPr>
        <p:spPr>
          <a:xfrm>
            <a:off x="2926080" y="2807208"/>
            <a:ext cx="1645920" cy="347472"/>
          </a:xfrm>
          <a:prstGeom prst="rect">
            <a:avLst/>
          </a:prstGeom>
          <a:noFill/>
          <a:ln/>
        </p:spPr>
        <p:txBody>
          <a:bodyPr wrap="square"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3.2%</a:t>
            </a:r>
            <a:endParaRPr lang="en-US" sz="1000" dirty="0"/>
          </a:p>
        </p:txBody>
      </p:sp>
      <p:sp>
        <p:nvSpPr>
          <p:cNvPr id="19" name="Shape 17"/>
          <p:cNvSpPr/>
          <p:nvPr/>
        </p:nvSpPr>
        <p:spPr>
          <a:xfrm>
            <a:off x="914400" y="3191256"/>
            <a:ext cx="2011680" cy="347472"/>
          </a:xfrm>
          <a:prstGeom prst="rect">
            <a:avLst/>
          </a:prstGeom>
          <a:solidFill>
            <a:srgbClr val="FFFFFF"/>
          </a:solidFill>
          <a:ln/>
        </p:spPr>
      </p:sp>
      <p:sp>
        <p:nvSpPr>
          <p:cNvPr id="20" name="Shape 18"/>
          <p:cNvSpPr/>
          <p:nvPr/>
        </p:nvSpPr>
        <p:spPr>
          <a:xfrm>
            <a:off x="2926080" y="3191256"/>
            <a:ext cx="1645920" cy="347472"/>
          </a:xfrm>
          <a:prstGeom prst="rect">
            <a:avLst/>
          </a:prstGeom>
          <a:solidFill>
            <a:srgbClr val="FFFFFF"/>
          </a:solidFill>
          <a:ln/>
        </p:spPr>
      </p:sp>
      <p:sp>
        <p:nvSpPr>
          <p:cNvPr id="21" name="Text 19"/>
          <p:cNvSpPr txBox="1"/>
          <p:nvPr/>
        </p:nvSpPr>
        <p:spPr>
          <a:xfrm>
            <a:off x="914400" y="3191256"/>
            <a:ext cx="2011680" cy="347472"/>
          </a:xfrm>
          <a:prstGeom prst="rect">
            <a:avLst/>
          </a:prstGeom>
          <a:noFill/>
          <a:ln/>
        </p:spPr>
        <p:txBody>
          <a:bodyPr wrap="square"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País B, 2021</a:t>
            </a:r>
            <a:endParaRPr lang="en-US" sz="1000" dirty="0"/>
          </a:p>
        </p:txBody>
      </p:sp>
      <p:sp>
        <p:nvSpPr>
          <p:cNvPr id="22" name="Text 20"/>
          <p:cNvSpPr txBox="1"/>
          <p:nvPr/>
        </p:nvSpPr>
        <p:spPr>
          <a:xfrm>
            <a:off x="2926080" y="3191256"/>
            <a:ext cx="1645920" cy="347472"/>
          </a:xfrm>
          <a:prstGeom prst="rect">
            <a:avLst/>
          </a:prstGeom>
          <a:noFill/>
          <a:ln/>
        </p:spPr>
        <p:txBody>
          <a:bodyPr wrap="square"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5.1%</a:t>
            </a:r>
            <a:endParaRPr lang="en-US" sz="1000" dirty="0"/>
          </a:p>
        </p:txBody>
      </p:sp>
      <p:sp>
        <p:nvSpPr>
          <p:cNvPr id="23" name="Shape 21"/>
          <p:cNvSpPr/>
          <p:nvPr/>
        </p:nvSpPr>
        <p:spPr>
          <a:xfrm>
            <a:off x="914400" y="3575304"/>
            <a:ext cx="2011680" cy="347472"/>
          </a:xfrm>
          <a:prstGeom prst="rect">
            <a:avLst/>
          </a:prstGeom>
          <a:solidFill>
            <a:srgbClr val="EBF0F8"/>
          </a:solidFill>
          <a:ln/>
        </p:spPr>
      </p:sp>
      <p:sp>
        <p:nvSpPr>
          <p:cNvPr id="24" name="Shape 22"/>
          <p:cNvSpPr/>
          <p:nvPr/>
        </p:nvSpPr>
        <p:spPr>
          <a:xfrm>
            <a:off x="2926080" y="3575304"/>
            <a:ext cx="1645920" cy="347472"/>
          </a:xfrm>
          <a:prstGeom prst="rect">
            <a:avLst/>
          </a:prstGeom>
          <a:solidFill>
            <a:srgbClr val="EBF0F8"/>
          </a:solidFill>
          <a:ln/>
        </p:spPr>
      </p:sp>
      <p:sp>
        <p:nvSpPr>
          <p:cNvPr id="25" name="Text 23"/>
          <p:cNvSpPr txBox="1"/>
          <p:nvPr/>
        </p:nvSpPr>
        <p:spPr>
          <a:xfrm>
            <a:off x="914400" y="3575304"/>
            <a:ext cx="2011680" cy="347472"/>
          </a:xfrm>
          <a:prstGeom prst="rect">
            <a:avLst/>
          </a:prstGeom>
          <a:noFill/>
          <a:ln/>
        </p:spPr>
        <p:txBody>
          <a:bodyPr wrap="square"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País C, 2022</a:t>
            </a:r>
            <a:endParaRPr lang="en-US" sz="1000" dirty="0"/>
          </a:p>
        </p:txBody>
      </p:sp>
      <p:sp>
        <p:nvSpPr>
          <p:cNvPr id="26" name="Text 24"/>
          <p:cNvSpPr txBox="1"/>
          <p:nvPr/>
        </p:nvSpPr>
        <p:spPr>
          <a:xfrm>
            <a:off x="2926080" y="3575304"/>
            <a:ext cx="1645920" cy="347472"/>
          </a:xfrm>
          <a:prstGeom prst="rect">
            <a:avLst/>
          </a:prstGeom>
          <a:noFill/>
          <a:ln/>
        </p:spPr>
        <p:txBody>
          <a:bodyPr wrap="square"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2.8%</a:t>
            </a:r>
            <a:endParaRPr lang="en-US" sz="1000" dirty="0"/>
          </a:p>
        </p:txBody>
      </p:sp>
      <p:sp>
        <p:nvSpPr>
          <p:cNvPr id="27" name="Text 25"/>
          <p:cNvSpPr txBox="1"/>
          <p:nvPr/>
        </p:nvSpPr>
        <p:spPr>
          <a:xfrm>
            <a:off x="502920" y="4114800"/>
            <a:ext cx="5029200" cy="502920"/>
          </a:xfrm>
          <a:prstGeom prst="rect">
            <a:avLst/>
          </a:prstGeom>
          <a:noFill/>
          <a:ln/>
        </p:spPr>
        <p:txBody>
          <a:bodyPr wrap="square" rtlCol="0" anchor="ctr"/>
          <a:lstStyle/>
          <a:p>
            <a:pPr indent="0" marL="0">
              <a:buNone/>
            </a:pPr>
            <a:r>
              <a:rPr lang="en-US" sz="1000" i="1" dirty="0">
                <a:solidFill>
                  <a:srgbClr val="6B7280"/>
                </a:solidFill>
                <a:latin typeface="Calibri" pitchFamily="34" charset="0"/>
                <a:ea typeface="Calibri" pitchFamily="34" charset="-122"/>
                <a:cs typeface="Calibri" pitchFamily="34" charset="-120"/>
              </a:rPr>
              <a:t>Cada fila es independiente.</a:t>
            </a:r>
            <a:endParaRPr lang="en-US" sz="1000" dirty="0"/>
          </a:p>
          <a:p>
            <a:pPr indent="0" marL="0">
              <a:buNone/>
            </a:pPr>
            <a:r>
              <a:rPr lang="en-US" sz="1000" i="1" dirty="0">
                <a:solidFill>
                  <a:srgbClr val="6B7280"/>
                </a:solidFill>
                <a:latin typeface="Calibri" pitchFamily="34" charset="0"/>
                <a:ea typeface="Calibri" pitchFamily="34" charset="-122"/>
                <a:cs typeface="Calibri" pitchFamily="34" charset="-120"/>
              </a:rPr>
              <a:t>El orden no importa.</a:t>
            </a:r>
            <a:endParaRPr lang="en-US" sz="1000" dirty="0"/>
          </a:p>
        </p:txBody>
      </p:sp>
      <p:sp>
        <p:nvSpPr>
          <p:cNvPr id="28" name="Shape 26"/>
          <p:cNvSpPr/>
          <p:nvPr/>
        </p:nvSpPr>
        <p:spPr>
          <a:xfrm>
            <a:off x="6446520" y="1325880"/>
            <a:ext cx="5394960" cy="4389120"/>
          </a:xfrm>
          <a:prstGeom prst="rect">
            <a:avLst/>
          </a:prstGeom>
          <a:solidFill>
            <a:srgbClr val="EBF0F8"/>
          </a:solidFill>
          <a:ln w="25400">
            <a:solidFill>
              <a:srgbClr val="2A7ABF"/>
            </a:solidFill>
            <a:prstDash val="solid"/>
          </a:ln>
        </p:spPr>
      </p:sp>
      <p:sp>
        <p:nvSpPr>
          <p:cNvPr id="29" name="Text 27"/>
          <p:cNvSpPr txBox="1"/>
          <p:nvPr/>
        </p:nvSpPr>
        <p:spPr>
          <a:xfrm>
            <a:off x="6629400" y="1417320"/>
            <a:ext cx="5029200" cy="320040"/>
          </a:xfrm>
          <a:prstGeom prst="rect">
            <a:avLst/>
          </a:prstGeom>
          <a:noFill/>
          <a:ln/>
        </p:spPr>
        <p:txBody>
          <a:bodyPr wrap="square" rtlCol="0" anchor="ctr"/>
          <a:lstStyle/>
          <a:p>
            <a:pPr indent="0" marL="0">
              <a:buNone/>
            </a:pPr>
            <a:r>
              <a:rPr lang="en-US" sz="1400" b="1" dirty="0">
                <a:solidFill>
                  <a:srgbClr val="2A7ABF"/>
                </a:solidFill>
                <a:latin typeface="Calibri" pitchFamily="34" charset="0"/>
                <a:ea typeface="Calibri" pitchFamily="34" charset="-122"/>
                <a:cs typeface="Calibri" pitchFamily="34" charset="-120"/>
              </a:rPr>
              <a:t>Serie de tiempo</a:t>
            </a:r>
            <a:endParaRPr lang="en-US" sz="1400" dirty="0"/>
          </a:p>
        </p:txBody>
      </p:sp>
      <p:sp>
        <p:nvSpPr>
          <p:cNvPr id="30" name="Text 28"/>
          <p:cNvSpPr txBox="1"/>
          <p:nvPr/>
        </p:nvSpPr>
        <p:spPr>
          <a:xfrm>
            <a:off x="6629400" y="1783080"/>
            <a:ext cx="5029200" cy="502920"/>
          </a:xfrm>
          <a:prstGeom prst="rect">
            <a:avLst/>
          </a:prstGeom>
          <a:noFill/>
          <a:ln/>
        </p:spPr>
        <p:txBody>
          <a:bodyPr wrap="square" rtlCol="0" anchor="ctr"/>
          <a:lstStyle/>
          <a:p>
            <a:pPr indent="0" marL="0">
              <a:buNone/>
            </a:pPr>
            <a:r>
              <a:rPr lang="en-US" sz="1200" dirty="0">
                <a:solidFill>
                  <a:srgbClr val="1E293B"/>
                </a:solidFill>
                <a:latin typeface="Calibri" pitchFamily="34" charset="0"/>
                <a:ea typeface="Calibri" pitchFamily="34" charset="-122"/>
                <a:cs typeface="Calibri" pitchFamily="34" charset="-120"/>
              </a:rPr>
              <a:t>El valor de hoy depende</a:t>
            </a:r>
            <a:endParaRPr lang="en-US" sz="1200" dirty="0"/>
          </a:p>
          <a:p>
            <a:pPr indent="0" marL="0">
              <a:buNone/>
            </a:pPr>
            <a:r>
              <a:rPr lang="en-US" sz="1200" dirty="0">
                <a:solidFill>
                  <a:srgbClr val="1E293B"/>
                </a:solidFill>
                <a:latin typeface="Calibri" pitchFamily="34" charset="0"/>
                <a:ea typeface="Calibri" pitchFamily="34" charset="-122"/>
                <a:cs typeface="Calibri" pitchFamily="34" charset="-120"/>
              </a:rPr>
              <a:t>del de ayer (y del de antes)</a:t>
            </a:r>
            <a:endParaRPr lang="en-US" sz="1200" dirty="0"/>
          </a:p>
        </p:txBody>
      </p:sp>
      <p:sp>
        <p:nvSpPr>
          <p:cNvPr id="31" name="Shape 29"/>
          <p:cNvSpPr/>
          <p:nvPr/>
        </p:nvSpPr>
        <p:spPr>
          <a:xfrm>
            <a:off x="6949440" y="2423160"/>
            <a:ext cx="2194560" cy="310896"/>
          </a:xfrm>
          <a:prstGeom prst="rect">
            <a:avLst/>
          </a:prstGeom>
          <a:solidFill>
            <a:srgbClr val="2A7ABF"/>
          </a:solidFill>
          <a:ln/>
        </p:spPr>
      </p:sp>
      <p:sp>
        <p:nvSpPr>
          <p:cNvPr id="32" name="Shape 30"/>
          <p:cNvSpPr/>
          <p:nvPr/>
        </p:nvSpPr>
        <p:spPr>
          <a:xfrm>
            <a:off x="9144000" y="2423160"/>
            <a:ext cx="1828800" cy="310896"/>
          </a:xfrm>
          <a:prstGeom prst="rect">
            <a:avLst/>
          </a:prstGeom>
          <a:solidFill>
            <a:srgbClr val="2A7ABF"/>
          </a:solidFill>
          <a:ln/>
        </p:spPr>
      </p:sp>
      <p:sp>
        <p:nvSpPr>
          <p:cNvPr id="33" name="Text 31"/>
          <p:cNvSpPr txBox="1"/>
          <p:nvPr/>
        </p:nvSpPr>
        <p:spPr>
          <a:xfrm>
            <a:off x="6949440" y="2423160"/>
            <a:ext cx="2194560" cy="310896"/>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Mes</a:t>
            </a:r>
            <a:endParaRPr lang="en-US" sz="1000" dirty="0"/>
          </a:p>
        </p:txBody>
      </p:sp>
      <p:sp>
        <p:nvSpPr>
          <p:cNvPr id="34" name="Text 32"/>
          <p:cNvSpPr txBox="1"/>
          <p:nvPr/>
        </p:nvSpPr>
        <p:spPr>
          <a:xfrm>
            <a:off x="9144000" y="2423160"/>
            <a:ext cx="1828800" cy="310896"/>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Inflación Col.</a:t>
            </a:r>
            <a:endParaRPr lang="en-US" sz="1000" dirty="0"/>
          </a:p>
        </p:txBody>
      </p:sp>
      <p:sp>
        <p:nvSpPr>
          <p:cNvPr id="35" name="Shape 33"/>
          <p:cNvSpPr/>
          <p:nvPr/>
        </p:nvSpPr>
        <p:spPr>
          <a:xfrm>
            <a:off x="6949440" y="2770632"/>
            <a:ext cx="2194560" cy="310896"/>
          </a:xfrm>
          <a:prstGeom prst="rect">
            <a:avLst/>
          </a:prstGeom>
          <a:solidFill>
            <a:srgbClr val="EBF0F8"/>
          </a:solidFill>
          <a:ln/>
        </p:spPr>
      </p:sp>
      <p:sp>
        <p:nvSpPr>
          <p:cNvPr id="36" name="Shape 34"/>
          <p:cNvSpPr/>
          <p:nvPr/>
        </p:nvSpPr>
        <p:spPr>
          <a:xfrm>
            <a:off x="9144000" y="2770632"/>
            <a:ext cx="1828800" cy="310896"/>
          </a:xfrm>
          <a:prstGeom prst="rect">
            <a:avLst/>
          </a:prstGeom>
          <a:solidFill>
            <a:srgbClr val="EBF0F8"/>
          </a:solidFill>
          <a:ln/>
        </p:spPr>
      </p:sp>
      <p:sp>
        <p:nvSpPr>
          <p:cNvPr id="37" name="Text 35"/>
          <p:cNvSpPr txBox="1"/>
          <p:nvPr/>
        </p:nvSpPr>
        <p:spPr>
          <a:xfrm>
            <a:off x="6949440" y="2770632"/>
            <a:ext cx="2194560" cy="310896"/>
          </a:xfrm>
          <a:prstGeom prst="rect">
            <a:avLst/>
          </a:prstGeom>
          <a:noFill/>
          <a:ln/>
        </p:spPr>
        <p:txBody>
          <a:bodyPr wrap="square"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Ene 2023</a:t>
            </a:r>
            <a:endParaRPr lang="en-US" sz="1000" dirty="0"/>
          </a:p>
        </p:txBody>
      </p:sp>
      <p:sp>
        <p:nvSpPr>
          <p:cNvPr id="38" name="Text 36"/>
          <p:cNvSpPr txBox="1"/>
          <p:nvPr/>
        </p:nvSpPr>
        <p:spPr>
          <a:xfrm>
            <a:off x="9144000" y="2770632"/>
            <a:ext cx="1828800" cy="310896"/>
          </a:xfrm>
          <a:prstGeom prst="rect">
            <a:avLst/>
          </a:prstGeom>
          <a:noFill/>
          <a:ln/>
        </p:spPr>
        <p:txBody>
          <a:bodyPr wrap="square"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13.3%</a:t>
            </a:r>
            <a:endParaRPr lang="en-US" sz="1000" dirty="0"/>
          </a:p>
        </p:txBody>
      </p:sp>
      <p:sp>
        <p:nvSpPr>
          <p:cNvPr id="39" name="Shape 37"/>
          <p:cNvSpPr/>
          <p:nvPr/>
        </p:nvSpPr>
        <p:spPr>
          <a:xfrm>
            <a:off x="6949440" y="3118104"/>
            <a:ext cx="2194560" cy="310896"/>
          </a:xfrm>
          <a:prstGeom prst="rect">
            <a:avLst/>
          </a:prstGeom>
          <a:solidFill>
            <a:srgbClr val="FFFFFF"/>
          </a:solidFill>
          <a:ln/>
        </p:spPr>
      </p:sp>
      <p:sp>
        <p:nvSpPr>
          <p:cNvPr id="40" name="Shape 38"/>
          <p:cNvSpPr/>
          <p:nvPr/>
        </p:nvSpPr>
        <p:spPr>
          <a:xfrm>
            <a:off x="9144000" y="3118104"/>
            <a:ext cx="1828800" cy="310896"/>
          </a:xfrm>
          <a:prstGeom prst="rect">
            <a:avLst/>
          </a:prstGeom>
          <a:solidFill>
            <a:srgbClr val="FFFFFF"/>
          </a:solidFill>
          <a:ln/>
        </p:spPr>
      </p:sp>
      <p:sp>
        <p:nvSpPr>
          <p:cNvPr id="41" name="Text 39"/>
          <p:cNvSpPr txBox="1"/>
          <p:nvPr/>
        </p:nvSpPr>
        <p:spPr>
          <a:xfrm>
            <a:off x="6949440" y="3118104"/>
            <a:ext cx="2194560" cy="310896"/>
          </a:xfrm>
          <a:prstGeom prst="rect">
            <a:avLst/>
          </a:prstGeom>
          <a:noFill/>
          <a:ln/>
        </p:spPr>
        <p:txBody>
          <a:bodyPr wrap="square"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Feb 2023</a:t>
            </a:r>
            <a:endParaRPr lang="en-US" sz="1000" dirty="0"/>
          </a:p>
        </p:txBody>
      </p:sp>
      <p:sp>
        <p:nvSpPr>
          <p:cNvPr id="42" name="Text 40"/>
          <p:cNvSpPr txBox="1"/>
          <p:nvPr/>
        </p:nvSpPr>
        <p:spPr>
          <a:xfrm>
            <a:off x="9144000" y="3118104"/>
            <a:ext cx="1828800" cy="310896"/>
          </a:xfrm>
          <a:prstGeom prst="rect">
            <a:avLst/>
          </a:prstGeom>
          <a:noFill/>
          <a:ln/>
        </p:spPr>
        <p:txBody>
          <a:bodyPr wrap="square"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13.3%</a:t>
            </a:r>
            <a:endParaRPr lang="en-US" sz="1000" dirty="0"/>
          </a:p>
        </p:txBody>
      </p:sp>
      <p:sp>
        <p:nvSpPr>
          <p:cNvPr id="43" name="Shape 41"/>
          <p:cNvSpPr/>
          <p:nvPr/>
        </p:nvSpPr>
        <p:spPr>
          <a:xfrm>
            <a:off x="6949440" y="3465576"/>
            <a:ext cx="2194560" cy="310896"/>
          </a:xfrm>
          <a:prstGeom prst="rect">
            <a:avLst/>
          </a:prstGeom>
          <a:solidFill>
            <a:srgbClr val="EBF0F8"/>
          </a:solidFill>
          <a:ln/>
        </p:spPr>
      </p:sp>
      <p:sp>
        <p:nvSpPr>
          <p:cNvPr id="44" name="Shape 42"/>
          <p:cNvSpPr/>
          <p:nvPr/>
        </p:nvSpPr>
        <p:spPr>
          <a:xfrm>
            <a:off x="9144000" y="3465576"/>
            <a:ext cx="1828800" cy="310896"/>
          </a:xfrm>
          <a:prstGeom prst="rect">
            <a:avLst/>
          </a:prstGeom>
          <a:solidFill>
            <a:srgbClr val="EBF0F8"/>
          </a:solidFill>
          <a:ln/>
        </p:spPr>
      </p:sp>
      <p:sp>
        <p:nvSpPr>
          <p:cNvPr id="45" name="Text 43"/>
          <p:cNvSpPr txBox="1"/>
          <p:nvPr/>
        </p:nvSpPr>
        <p:spPr>
          <a:xfrm>
            <a:off x="6949440" y="3465576"/>
            <a:ext cx="2194560" cy="310896"/>
          </a:xfrm>
          <a:prstGeom prst="rect">
            <a:avLst/>
          </a:prstGeom>
          <a:noFill/>
          <a:ln/>
        </p:spPr>
        <p:txBody>
          <a:bodyPr wrap="square"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Mar 2023</a:t>
            </a:r>
            <a:endParaRPr lang="en-US" sz="1000" dirty="0"/>
          </a:p>
        </p:txBody>
      </p:sp>
      <p:sp>
        <p:nvSpPr>
          <p:cNvPr id="46" name="Text 44"/>
          <p:cNvSpPr txBox="1"/>
          <p:nvPr/>
        </p:nvSpPr>
        <p:spPr>
          <a:xfrm>
            <a:off x="9144000" y="3465576"/>
            <a:ext cx="1828800" cy="310896"/>
          </a:xfrm>
          <a:prstGeom prst="rect">
            <a:avLst/>
          </a:prstGeom>
          <a:noFill/>
          <a:ln/>
        </p:spPr>
        <p:txBody>
          <a:bodyPr wrap="square"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13.3%</a:t>
            </a:r>
            <a:endParaRPr lang="en-US" sz="1000" dirty="0"/>
          </a:p>
        </p:txBody>
      </p:sp>
      <p:sp>
        <p:nvSpPr>
          <p:cNvPr id="47" name="Shape 45"/>
          <p:cNvSpPr/>
          <p:nvPr/>
        </p:nvSpPr>
        <p:spPr>
          <a:xfrm>
            <a:off x="6949440" y="3813048"/>
            <a:ext cx="2194560" cy="310896"/>
          </a:xfrm>
          <a:prstGeom prst="rect">
            <a:avLst/>
          </a:prstGeom>
          <a:solidFill>
            <a:srgbClr val="FFFFFF"/>
          </a:solidFill>
          <a:ln/>
        </p:spPr>
      </p:sp>
      <p:sp>
        <p:nvSpPr>
          <p:cNvPr id="48" name="Shape 46"/>
          <p:cNvSpPr/>
          <p:nvPr/>
        </p:nvSpPr>
        <p:spPr>
          <a:xfrm>
            <a:off x="9144000" y="3813048"/>
            <a:ext cx="1828800" cy="310896"/>
          </a:xfrm>
          <a:prstGeom prst="rect">
            <a:avLst/>
          </a:prstGeom>
          <a:solidFill>
            <a:srgbClr val="FFFFFF"/>
          </a:solidFill>
          <a:ln/>
        </p:spPr>
      </p:sp>
      <p:sp>
        <p:nvSpPr>
          <p:cNvPr id="49" name="Text 47"/>
          <p:cNvSpPr txBox="1"/>
          <p:nvPr/>
        </p:nvSpPr>
        <p:spPr>
          <a:xfrm>
            <a:off x="6949440" y="3813048"/>
            <a:ext cx="2194560" cy="310896"/>
          </a:xfrm>
          <a:prstGeom prst="rect">
            <a:avLst/>
          </a:prstGeom>
          <a:noFill/>
          <a:ln/>
        </p:spPr>
        <p:txBody>
          <a:bodyPr wrap="square"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Abr 2023</a:t>
            </a:r>
            <a:endParaRPr lang="en-US" sz="1000" dirty="0"/>
          </a:p>
        </p:txBody>
      </p:sp>
      <p:sp>
        <p:nvSpPr>
          <p:cNvPr id="50" name="Text 48"/>
          <p:cNvSpPr txBox="1"/>
          <p:nvPr/>
        </p:nvSpPr>
        <p:spPr>
          <a:xfrm>
            <a:off x="9144000" y="3813048"/>
            <a:ext cx="1828800" cy="310896"/>
          </a:xfrm>
          <a:prstGeom prst="rect">
            <a:avLst/>
          </a:prstGeom>
          <a:noFill/>
          <a:ln/>
        </p:spPr>
        <p:txBody>
          <a:bodyPr wrap="square" rtlCol="0" anchor="ctr"/>
          <a:lstStyle/>
          <a:p>
            <a:pPr algn="ctr" indent="0" marL="0">
              <a:buNone/>
            </a:pPr>
            <a:r>
              <a:rPr lang="en-US" sz="1000" dirty="0">
                <a:solidFill>
                  <a:srgbClr val="1E293B"/>
                </a:solidFill>
                <a:latin typeface="Calibri" pitchFamily="34" charset="0"/>
                <a:ea typeface="Calibri" pitchFamily="34" charset="-122"/>
                <a:cs typeface="Calibri" pitchFamily="34" charset="-120"/>
              </a:rPr>
              <a:t>12.8%</a:t>
            </a:r>
            <a:endParaRPr lang="en-US" sz="1000" dirty="0"/>
          </a:p>
        </p:txBody>
      </p:sp>
      <p:sp>
        <p:nvSpPr>
          <p:cNvPr id="51" name="Shape 49"/>
          <p:cNvSpPr/>
          <p:nvPr/>
        </p:nvSpPr>
        <p:spPr>
          <a:xfrm>
            <a:off x="11064240" y="2587752"/>
            <a:ext cx="0" cy="347472"/>
          </a:xfrm>
          <a:prstGeom prst="line">
            <a:avLst/>
          </a:prstGeom>
          <a:noFill/>
          <a:ln w="19050">
            <a:solidFill>
              <a:srgbClr val="E8A020"/>
            </a:solidFill>
            <a:prstDash val="solid"/>
          </a:ln>
        </p:spPr>
      </p:sp>
      <p:sp>
        <p:nvSpPr>
          <p:cNvPr id="52" name="Shape 50"/>
          <p:cNvSpPr/>
          <p:nvPr/>
        </p:nvSpPr>
        <p:spPr>
          <a:xfrm>
            <a:off x="11064240" y="2935224"/>
            <a:ext cx="0" cy="347472"/>
          </a:xfrm>
          <a:prstGeom prst="line">
            <a:avLst/>
          </a:prstGeom>
          <a:noFill/>
          <a:ln w="19050">
            <a:solidFill>
              <a:srgbClr val="E8A020"/>
            </a:solidFill>
            <a:prstDash val="solid"/>
          </a:ln>
        </p:spPr>
      </p:sp>
      <p:sp>
        <p:nvSpPr>
          <p:cNvPr id="53" name="Shape 51"/>
          <p:cNvSpPr/>
          <p:nvPr/>
        </p:nvSpPr>
        <p:spPr>
          <a:xfrm>
            <a:off x="11064240" y="3282696"/>
            <a:ext cx="0" cy="347472"/>
          </a:xfrm>
          <a:prstGeom prst="line">
            <a:avLst/>
          </a:prstGeom>
          <a:noFill/>
          <a:ln w="19050">
            <a:solidFill>
              <a:srgbClr val="E8A020"/>
            </a:solidFill>
            <a:prstDash val="solid"/>
          </a:ln>
        </p:spPr>
      </p:sp>
      <p:sp>
        <p:nvSpPr>
          <p:cNvPr id="54" name="Text 52"/>
          <p:cNvSpPr txBox="1"/>
          <p:nvPr/>
        </p:nvSpPr>
        <p:spPr>
          <a:xfrm>
            <a:off x="6629400" y="4114800"/>
            <a:ext cx="5029200" cy="502920"/>
          </a:xfrm>
          <a:prstGeom prst="rect">
            <a:avLst/>
          </a:prstGeom>
          <a:noFill/>
          <a:ln/>
        </p:spPr>
        <p:txBody>
          <a:bodyPr wrap="square" rtlCol="0" anchor="ctr"/>
          <a:lstStyle/>
          <a:p>
            <a:pPr indent="0" marL="0">
              <a:buNone/>
            </a:pPr>
            <a:r>
              <a:rPr lang="en-US" sz="1000" i="1" dirty="0">
                <a:solidFill>
                  <a:srgbClr val="2A7ABF"/>
                </a:solidFill>
                <a:latin typeface="Calibri" pitchFamily="34" charset="0"/>
                <a:ea typeface="Calibri" pitchFamily="34" charset="-122"/>
                <a:cs typeface="Calibri" pitchFamily="34" charset="-120"/>
              </a:rPr>
              <a:t>↑ El orden importa.</a:t>
            </a:r>
            <a:endParaRPr lang="en-US" sz="1000" dirty="0"/>
          </a:p>
          <a:p>
            <a:pPr indent="0" marL="0">
              <a:buNone/>
            </a:pPr>
            <a:r>
              <a:rPr lang="en-US" sz="1000" i="1" dirty="0">
                <a:solidFill>
                  <a:srgbClr val="2A7ABF"/>
                </a:solidFill>
                <a:latin typeface="Calibri" pitchFamily="34" charset="0"/>
                <a:ea typeface="Calibri" pitchFamily="34" charset="-122"/>
                <a:cs typeface="Calibri" pitchFamily="34" charset="-120"/>
              </a:rPr>
              <a:t>Cada observación depende de las anteriores.</a:t>
            </a:r>
            <a:endParaRPr lang="en-US" sz="1000" dirty="0"/>
          </a:p>
        </p:txBody>
      </p:sp>
      <p:sp>
        <p:nvSpPr>
          <p:cNvPr id="55" name="Text 53"/>
          <p:cNvSpPr txBox="1"/>
          <p:nvPr/>
        </p:nvSpPr>
        <p:spPr>
          <a:xfrm>
            <a:off x="5623560" y="2926080"/>
            <a:ext cx="731520" cy="548640"/>
          </a:xfrm>
          <a:prstGeom prst="rect">
            <a:avLst/>
          </a:prstGeom>
          <a:noFill/>
          <a:ln/>
        </p:spPr>
        <p:txBody>
          <a:bodyPr wrap="square" rtlCol="0" anchor="ctr"/>
          <a:lstStyle/>
          <a:p>
            <a:pPr algn="ctr" indent="0" marL="0">
              <a:buNone/>
            </a:pPr>
            <a:r>
              <a:rPr lang="en-US" sz="2800" b="1" dirty="0">
                <a:solidFill>
                  <a:srgbClr val="C0392B"/>
                </a:solidFill>
                <a:latin typeface="Calibri" pitchFamily="34" charset="0"/>
                <a:ea typeface="Calibri" pitchFamily="34" charset="-122"/>
                <a:cs typeface="Calibri" pitchFamily="34" charset="-120"/>
              </a:rPr>
              <a:t>≠</a:t>
            </a:r>
            <a:endParaRPr lang="en-US" sz="2800" dirty="0"/>
          </a:p>
        </p:txBody>
      </p:sp>
      <p:sp>
        <p:nvSpPr>
          <p:cNvPr id="56" name="Shape 54"/>
          <p:cNvSpPr/>
          <p:nvPr/>
        </p:nvSpPr>
        <p:spPr>
          <a:xfrm>
            <a:off x="0" y="6565392"/>
            <a:ext cx="12161520" cy="292608"/>
          </a:xfrm>
          <a:prstGeom prst="rect">
            <a:avLst/>
          </a:prstGeom>
          <a:solidFill>
            <a:srgbClr val="1B3A6B"/>
          </a:solidFill>
          <a:ln/>
        </p:spPr>
      </p:sp>
      <p:sp>
        <p:nvSpPr>
          <p:cNvPr id="57" name="Text 55"/>
          <p:cNvSpPr txBox="1"/>
          <p:nvPr/>
        </p:nvSpPr>
        <p:spPr>
          <a:xfrm>
            <a:off x="228600" y="6592824"/>
            <a:ext cx="7315200" cy="228600"/>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Tec de Monterrey · Gobierno y Transformación Pública</a:t>
            </a:r>
            <a:endParaRPr lang="en-US" sz="800" dirty="0"/>
          </a:p>
        </p:txBody>
      </p:sp>
      <p:sp>
        <p:nvSpPr>
          <p:cNvPr id="58" name="Text 56"/>
          <p:cNvSpPr txBox="1"/>
          <p:nvPr/>
        </p:nvSpPr>
        <p:spPr>
          <a:xfrm>
            <a:off x="8686800" y="6592824"/>
            <a:ext cx="3291840" cy="228600"/>
          </a:xfrm>
          <a:prstGeom prst="rect">
            <a:avLst/>
          </a:prstGeom>
          <a:noFill/>
          <a:ln/>
        </p:spPr>
        <p:txBody>
          <a:bodyPr wrap="square" rtlCol="0" anchor="ctr"/>
          <a:lstStyle/>
          <a:p>
            <a:pPr algn="r" indent="0" marL="0">
              <a:buNone/>
            </a:pPr>
            <a:r>
              <a:rPr lang="en-US" sz="800" dirty="0">
                <a:solidFill>
                  <a:srgbClr val="E8A020"/>
                </a:solidFill>
                <a:latin typeface="Calibri" pitchFamily="34" charset="0"/>
                <a:ea typeface="Calibri" pitchFamily="34" charset="-122"/>
                <a:cs typeface="Calibri" pitchFamily="34" charset="-120"/>
              </a:rPr>
              <a:t>Sesión 4 — Series de Tiempo</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3A6B"/>
        </a:solidFill>
      </p:bgPr>
    </p:bg>
    <p:spTree>
      <p:nvGrpSpPr>
        <p:cNvPr id="1" name=""/>
        <p:cNvGrpSpPr/>
        <p:nvPr/>
      </p:nvGrpSpPr>
      <p:grpSpPr>
        <a:xfrm>
          <a:off x="0" y="0"/>
          <a:ext cx="0" cy="0"/>
          <a:chOff x="0" y="0"/>
          <a:chExt cx="0" cy="0"/>
        </a:xfrm>
      </p:grpSpPr>
      <p:sp>
        <p:nvSpPr>
          <p:cNvPr id="2" name="Shape 0"/>
          <p:cNvSpPr/>
          <p:nvPr/>
        </p:nvSpPr>
        <p:spPr>
          <a:xfrm>
            <a:off x="0" y="0"/>
            <a:ext cx="12161520" cy="347472"/>
          </a:xfrm>
          <a:prstGeom prst="rect">
            <a:avLst/>
          </a:prstGeom>
          <a:solidFill>
            <a:srgbClr val="1B3A6B"/>
          </a:solidFill>
          <a:ln/>
        </p:spPr>
      </p:sp>
      <p:sp>
        <p:nvSpPr>
          <p:cNvPr id="3" name="Text 1"/>
          <p:cNvSpPr txBox="1"/>
          <p:nvPr/>
        </p:nvSpPr>
        <p:spPr>
          <a:xfrm>
            <a:off x="228600" y="36576"/>
            <a:ext cx="8229600" cy="27432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EO4040 — Introducción a la Ciencia de Datos para Economía</a:t>
            </a:r>
            <a:endParaRPr lang="en-US" sz="900" dirty="0"/>
          </a:p>
        </p:txBody>
      </p:sp>
      <p:sp>
        <p:nvSpPr>
          <p:cNvPr id="4" name="Text 2"/>
          <p:cNvSpPr txBox="1"/>
          <p:nvPr/>
        </p:nvSpPr>
        <p:spPr>
          <a:xfrm>
            <a:off x="8686800" y="36576"/>
            <a:ext cx="3291840" cy="274320"/>
          </a:xfrm>
          <a:prstGeom prst="rect">
            <a:avLst/>
          </a:prstGeom>
          <a:noFill/>
          <a:ln/>
        </p:spPr>
        <p:txBody>
          <a:bodyPr wrap="square" rtlCol="0" anchor="ctr"/>
          <a:lstStyle/>
          <a:p>
            <a:pPr algn="r" indent="0" marL="0">
              <a:buNone/>
            </a:pPr>
            <a:r>
              <a:rPr lang="en-US" sz="900" b="1" dirty="0">
                <a:solidFill>
                  <a:srgbClr val="E8A020"/>
                </a:solidFill>
                <a:latin typeface="Calibri" pitchFamily="34" charset="0"/>
                <a:ea typeface="Calibri" pitchFamily="34" charset="-122"/>
                <a:cs typeface="Calibri" pitchFamily="34" charset="-120"/>
              </a:rPr>
              <a:t>Sesión 4</a:t>
            </a:r>
            <a:endParaRPr lang="en-US" sz="900" dirty="0"/>
          </a:p>
        </p:txBody>
      </p:sp>
      <p:sp>
        <p:nvSpPr>
          <p:cNvPr id="5" name="Text 3"/>
          <p:cNvSpPr txBox="1"/>
          <p:nvPr/>
        </p:nvSpPr>
        <p:spPr>
          <a:xfrm>
            <a:off x="320040" y="457200"/>
            <a:ext cx="11430000" cy="54864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Toda serie de tiempo tiene tres componentes</a:t>
            </a:r>
            <a:endParaRPr lang="en-US" sz="2600" dirty="0"/>
          </a:p>
        </p:txBody>
      </p:sp>
      <p:sp>
        <p:nvSpPr>
          <p:cNvPr id="6" name="Text 4"/>
          <p:cNvSpPr txBox="1"/>
          <p:nvPr/>
        </p:nvSpPr>
        <p:spPr>
          <a:xfrm>
            <a:off x="320040" y="1051560"/>
            <a:ext cx="11430000" cy="457200"/>
          </a:xfrm>
          <a:prstGeom prst="rect">
            <a:avLst/>
          </a:prstGeom>
          <a:noFill/>
          <a:ln/>
        </p:spPr>
        <p:txBody>
          <a:bodyPr wrap="square" rtlCol="0" anchor="ctr"/>
          <a:lstStyle/>
          <a:p>
            <a:pPr indent="0" marL="0">
              <a:buNone/>
            </a:pPr>
            <a:r>
              <a:rPr lang="en-US" sz="1800" b="1" dirty="0">
                <a:solidFill>
                  <a:srgbClr val="E8A020"/>
                </a:solidFill>
                <a:latin typeface="Courier New" pitchFamily="34" charset="0"/>
                <a:ea typeface="Courier New" pitchFamily="34" charset="-122"/>
                <a:cs typeface="Courier New" pitchFamily="34" charset="-120"/>
              </a:rPr>
              <a:t>Y(t)  =  Tendencia  +  Estacionalidad  +  Ruido</a:t>
            </a:r>
            <a:endParaRPr lang="en-US" sz="1800" dirty="0"/>
          </a:p>
        </p:txBody>
      </p:sp>
      <p:sp>
        <p:nvSpPr>
          <p:cNvPr id="7" name="Shape 5"/>
          <p:cNvSpPr/>
          <p:nvPr/>
        </p:nvSpPr>
        <p:spPr>
          <a:xfrm>
            <a:off x="320040" y="1691640"/>
            <a:ext cx="3566160" cy="4434840"/>
          </a:xfrm>
          <a:prstGeom prst="rect">
            <a:avLst/>
          </a:prstGeom>
          <a:solidFill>
            <a:srgbClr val="1D2E4A"/>
          </a:solidFill>
          <a:ln w="25400">
            <a:solidFill>
              <a:srgbClr val="2A7ABF"/>
            </a:solidFill>
            <a:prstDash val="solid"/>
          </a:ln>
        </p:spPr>
      </p:sp>
      <p:sp>
        <p:nvSpPr>
          <p:cNvPr id="8" name="Shape 6"/>
          <p:cNvSpPr/>
          <p:nvPr/>
        </p:nvSpPr>
        <p:spPr>
          <a:xfrm>
            <a:off x="1645920" y="1783080"/>
            <a:ext cx="914400" cy="914400"/>
          </a:xfrm>
          <a:prstGeom prst="ellipse">
            <a:avLst/>
          </a:prstGeom>
          <a:solidFill>
            <a:srgbClr val="2A7ABF"/>
          </a:solidFill>
          <a:ln/>
        </p:spPr>
      </p:sp>
      <p:sp>
        <p:nvSpPr>
          <p:cNvPr id="9" name="Text 7"/>
          <p:cNvSpPr txBox="1"/>
          <p:nvPr/>
        </p:nvSpPr>
        <p:spPr>
          <a:xfrm>
            <a:off x="1645920" y="1783080"/>
            <a:ext cx="914400" cy="914400"/>
          </a:xfrm>
          <a:prstGeom prst="rect">
            <a:avLst/>
          </a:prstGeom>
          <a:noFill/>
          <a:ln/>
        </p:spPr>
        <p:txBody>
          <a:bodyPr wrap="square" rtlCol="0" anchor="ctr"/>
          <a:lstStyle/>
          <a:p>
            <a:pPr algn="ctr" indent="0" marL="0">
              <a:buNone/>
            </a:pPr>
            <a:r>
              <a:rPr lang="en-US" sz="2200" dirty="0">
                <a:solidFill>
                  <a:srgbClr val="FFFFFF"/>
                </a:solidFill>
                <a:latin typeface="Calibri" pitchFamily="34" charset="0"/>
                <a:ea typeface="Calibri" pitchFamily="34" charset="-122"/>
                <a:cs typeface="Calibri" pitchFamily="34" charset="-120"/>
              </a:rPr>
              <a:t>↗</a:t>
            </a:r>
            <a:endParaRPr lang="en-US" sz="2200" dirty="0"/>
          </a:p>
        </p:txBody>
      </p:sp>
      <p:sp>
        <p:nvSpPr>
          <p:cNvPr id="10" name="Text 8"/>
          <p:cNvSpPr txBox="1"/>
          <p:nvPr/>
        </p:nvSpPr>
        <p:spPr>
          <a:xfrm>
            <a:off x="457200" y="2834640"/>
            <a:ext cx="3291840" cy="411480"/>
          </a:xfrm>
          <a:prstGeom prst="rect">
            <a:avLst/>
          </a:prstGeom>
          <a:noFill/>
          <a:ln/>
        </p:spPr>
        <p:txBody>
          <a:bodyPr wrap="square" rtlCol="0" anchor="ctr"/>
          <a:lstStyle/>
          <a:p>
            <a:pPr algn="ctr" indent="0" marL="0">
              <a:buNone/>
            </a:pPr>
            <a:r>
              <a:rPr lang="en-US" sz="1800" b="1" dirty="0">
                <a:solidFill>
                  <a:srgbClr val="2A7ABF"/>
                </a:solidFill>
                <a:latin typeface="Calibri" pitchFamily="34" charset="0"/>
                <a:ea typeface="Calibri" pitchFamily="34" charset="-122"/>
                <a:cs typeface="Calibri" pitchFamily="34" charset="-120"/>
              </a:rPr>
              <a:t>Tendencia</a:t>
            </a:r>
            <a:endParaRPr lang="en-US" sz="1800" dirty="0"/>
          </a:p>
        </p:txBody>
      </p:sp>
      <p:sp>
        <p:nvSpPr>
          <p:cNvPr id="11" name="Text 9"/>
          <p:cNvSpPr txBox="1"/>
          <p:nvPr/>
        </p:nvSpPr>
        <p:spPr>
          <a:xfrm>
            <a:off x="502920" y="3337560"/>
            <a:ext cx="3200400" cy="1005840"/>
          </a:xfrm>
          <a:prstGeom prst="rect">
            <a:avLst/>
          </a:prstGeom>
          <a:noFill/>
          <a:ln/>
        </p:spPr>
        <p:txBody>
          <a:bodyPr wrap="square" rtlCol="0" anchor="ctr"/>
          <a:lstStyle/>
          <a:p>
            <a:pPr indent="0" marL="0">
              <a:buNone/>
            </a:pPr>
            <a:r>
              <a:rPr lang="en-US" sz="1100" dirty="0">
                <a:solidFill>
                  <a:srgbClr val="C8D8F0"/>
                </a:solidFill>
                <a:latin typeface="Calibri" pitchFamily="34" charset="0"/>
                <a:ea typeface="Calibri" pitchFamily="34" charset="-122"/>
                <a:cs typeface="Calibri" pitchFamily="34" charset="-120"/>
              </a:rPr>
              <a:t>Movimiento de largo plazo de la serie. ¿Crece, cae o se mantiene estable a lo largo de años?</a:t>
            </a:r>
            <a:endParaRPr lang="en-US" sz="1100" dirty="0"/>
          </a:p>
        </p:txBody>
      </p:sp>
      <p:sp>
        <p:nvSpPr>
          <p:cNvPr id="12" name="Shape 10"/>
          <p:cNvSpPr/>
          <p:nvPr/>
        </p:nvSpPr>
        <p:spPr>
          <a:xfrm>
            <a:off x="502920" y="4389120"/>
            <a:ext cx="3200400" cy="0"/>
          </a:xfrm>
          <a:prstGeom prst="line">
            <a:avLst/>
          </a:prstGeom>
          <a:noFill/>
          <a:ln w="9525">
            <a:solidFill>
              <a:srgbClr val="2A7ABF"/>
            </a:solidFill>
            <a:prstDash val="solid"/>
          </a:ln>
        </p:spPr>
      </p:sp>
      <p:sp>
        <p:nvSpPr>
          <p:cNvPr id="13" name="Text 11"/>
          <p:cNvSpPr txBox="1"/>
          <p:nvPr/>
        </p:nvSpPr>
        <p:spPr>
          <a:xfrm>
            <a:off x="502920" y="4462272"/>
            <a:ext cx="3200400" cy="201168"/>
          </a:xfrm>
          <a:prstGeom prst="rect">
            <a:avLst/>
          </a:prstGeom>
          <a:noFill/>
          <a:ln/>
        </p:spPr>
        <p:txBody>
          <a:bodyPr wrap="square" rtlCol="0" anchor="ctr"/>
          <a:lstStyle/>
          <a:p>
            <a:pPr indent="0" marL="0">
              <a:buNone/>
            </a:pPr>
            <a:r>
              <a:rPr lang="en-US" sz="900" b="1" dirty="0">
                <a:solidFill>
                  <a:srgbClr val="E8A020"/>
                </a:solidFill>
                <a:latin typeface="Calibri" pitchFamily="34" charset="0"/>
                <a:ea typeface="Calibri" pitchFamily="34" charset="-122"/>
                <a:cs typeface="Calibri" pitchFamily="34" charset="-120"/>
              </a:rPr>
              <a:t>Ejemplo:</a:t>
            </a:r>
            <a:endParaRPr lang="en-US" sz="900" dirty="0"/>
          </a:p>
        </p:txBody>
      </p:sp>
      <p:sp>
        <p:nvSpPr>
          <p:cNvPr id="14" name="Text 12"/>
          <p:cNvSpPr txBox="1"/>
          <p:nvPr/>
        </p:nvSpPr>
        <p:spPr>
          <a:xfrm>
            <a:off x="502920" y="4663440"/>
            <a:ext cx="3200400" cy="1188720"/>
          </a:xfrm>
          <a:prstGeom prst="rect">
            <a:avLst/>
          </a:prstGeom>
          <a:noFill/>
          <a:ln/>
        </p:spPr>
        <p:txBody>
          <a:bodyPr wrap="square" rtlCol="0" anchor="ctr"/>
          <a:lstStyle/>
          <a:p>
            <a:pPr indent="0" marL="0">
              <a:buNone/>
            </a:pPr>
            <a:r>
              <a:rPr lang="en-US" sz="950" i="1" dirty="0">
                <a:solidFill>
                  <a:srgbClr val="A0B8D0"/>
                </a:solidFill>
                <a:latin typeface="Calibri" pitchFamily="34" charset="0"/>
                <a:ea typeface="Calibri" pitchFamily="34" charset="-122"/>
                <a:cs typeface="Calibri" pitchFamily="34" charset="-120"/>
              </a:rPr>
              <a:t>El PIB per cápita de Colombia ha crecido consistentemente de 2000 a 2023, con interrupciones en crisis.</a:t>
            </a:r>
            <a:endParaRPr lang="en-US" sz="950" dirty="0"/>
          </a:p>
        </p:txBody>
      </p:sp>
      <p:sp>
        <p:nvSpPr>
          <p:cNvPr id="15" name="Shape 13"/>
          <p:cNvSpPr/>
          <p:nvPr/>
        </p:nvSpPr>
        <p:spPr>
          <a:xfrm>
            <a:off x="4251960" y="1691640"/>
            <a:ext cx="3566160" cy="4434840"/>
          </a:xfrm>
          <a:prstGeom prst="rect">
            <a:avLst/>
          </a:prstGeom>
          <a:solidFill>
            <a:srgbClr val="1D2E4A"/>
          </a:solidFill>
          <a:ln w="25400">
            <a:solidFill>
              <a:srgbClr val="1A9641"/>
            </a:solidFill>
            <a:prstDash val="solid"/>
          </a:ln>
        </p:spPr>
      </p:sp>
      <p:sp>
        <p:nvSpPr>
          <p:cNvPr id="16" name="Shape 14"/>
          <p:cNvSpPr/>
          <p:nvPr/>
        </p:nvSpPr>
        <p:spPr>
          <a:xfrm>
            <a:off x="5577840" y="1783080"/>
            <a:ext cx="914400" cy="914400"/>
          </a:xfrm>
          <a:prstGeom prst="ellipse">
            <a:avLst/>
          </a:prstGeom>
          <a:solidFill>
            <a:srgbClr val="1A9641"/>
          </a:solidFill>
          <a:ln/>
        </p:spPr>
      </p:sp>
      <p:sp>
        <p:nvSpPr>
          <p:cNvPr id="17" name="Text 15"/>
          <p:cNvSpPr txBox="1"/>
          <p:nvPr/>
        </p:nvSpPr>
        <p:spPr>
          <a:xfrm>
            <a:off x="5577840" y="1783080"/>
            <a:ext cx="914400" cy="914400"/>
          </a:xfrm>
          <a:prstGeom prst="rect">
            <a:avLst/>
          </a:prstGeom>
          <a:noFill/>
          <a:ln/>
        </p:spPr>
        <p:txBody>
          <a:bodyPr wrap="square" rtlCol="0" anchor="ctr"/>
          <a:lstStyle/>
          <a:p>
            <a:pPr algn="ctr" indent="0" marL="0">
              <a:buNone/>
            </a:pPr>
            <a:r>
              <a:rPr lang="en-US" sz="2200" dirty="0">
                <a:solidFill>
                  <a:srgbClr val="FFFFFF"/>
                </a:solidFill>
                <a:latin typeface="Calibri" pitchFamily="34" charset="0"/>
                <a:ea typeface="Calibri" pitchFamily="34" charset="-122"/>
                <a:cs typeface="Calibri" pitchFamily="34" charset="-120"/>
              </a:rPr>
              <a:t>〜</a:t>
            </a:r>
            <a:endParaRPr lang="en-US" sz="2200" dirty="0"/>
          </a:p>
        </p:txBody>
      </p:sp>
      <p:sp>
        <p:nvSpPr>
          <p:cNvPr id="18" name="Text 16"/>
          <p:cNvSpPr txBox="1"/>
          <p:nvPr/>
        </p:nvSpPr>
        <p:spPr>
          <a:xfrm>
            <a:off x="4389120" y="2834640"/>
            <a:ext cx="3291840" cy="411480"/>
          </a:xfrm>
          <a:prstGeom prst="rect">
            <a:avLst/>
          </a:prstGeom>
          <a:noFill/>
          <a:ln/>
        </p:spPr>
        <p:txBody>
          <a:bodyPr wrap="square" rtlCol="0" anchor="ctr"/>
          <a:lstStyle/>
          <a:p>
            <a:pPr algn="ctr" indent="0" marL="0">
              <a:buNone/>
            </a:pPr>
            <a:r>
              <a:rPr lang="en-US" sz="1800" b="1" dirty="0">
                <a:solidFill>
                  <a:srgbClr val="1A9641"/>
                </a:solidFill>
                <a:latin typeface="Calibri" pitchFamily="34" charset="0"/>
                <a:ea typeface="Calibri" pitchFamily="34" charset="-122"/>
                <a:cs typeface="Calibri" pitchFamily="34" charset="-120"/>
              </a:rPr>
              <a:t>Estacionalidad</a:t>
            </a:r>
            <a:endParaRPr lang="en-US" sz="1800" dirty="0"/>
          </a:p>
        </p:txBody>
      </p:sp>
      <p:sp>
        <p:nvSpPr>
          <p:cNvPr id="19" name="Text 17"/>
          <p:cNvSpPr txBox="1"/>
          <p:nvPr/>
        </p:nvSpPr>
        <p:spPr>
          <a:xfrm>
            <a:off x="4434840" y="3337560"/>
            <a:ext cx="3200400" cy="1005840"/>
          </a:xfrm>
          <a:prstGeom prst="rect">
            <a:avLst/>
          </a:prstGeom>
          <a:noFill/>
          <a:ln/>
        </p:spPr>
        <p:txBody>
          <a:bodyPr wrap="square" rtlCol="0" anchor="ctr"/>
          <a:lstStyle/>
          <a:p>
            <a:pPr indent="0" marL="0">
              <a:buNone/>
            </a:pPr>
            <a:r>
              <a:rPr lang="en-US" sz="1100" dirty="0">
                <a:solidFill>
                  <a:srgbClr val="C8D8F0"/>
                </a:solidFill>
                <a:latin typeface="Calibri" pitchFamily="34" charset="0"/>
                <a:ea typeface="Calibri" pitchFamily="34" charset="-122"/>
                <a:cs typeface="Calibri" pitchFamily="34" charset="-120"/>
              </a:rPr>
              <a:t>Patrones que se repiten en intervalos regulares: meses, trimestres, semanas.</a:t>
            </a:r>
            <a:endParaRPr lang="en-US" sz="1100" dirty="0"/>
          </a:p>
        </p:txBody>
      </p:sp>
      <p:sp>
        <p:nvSpPr>
          <p:cNvPr id="20" name="Shape 18"/>
          <p:cNvSpPr/>
          <p:nvPr/>
        </p:nvSpPr>
        <p:spPr>
          <a:xfrm>
            <a:off x="4434840" y="4389120"/>
            <a:ext cx="3200400" cy="0"/>
          </a:xfrm>
          <a:prstGeom prst="line">
            <a:avLst/>
          </a:prstGeom>
          <a:noFill/>
          <a:ln w="9525">
            <a:solidFill>
              <a:srgbClr val="1A9641"/>
            </a:solidFill>
            <a:prstDash val="solid"/>
          </a:ln>
        </p:spPr>
      </p:sp>
      <p:sp>
        <p:nvSpPr>
          <p:cNvPr id="21" name="Text 19"/>
          <p:cNvSpPr txBox="1"/>
          <p:nvPr/>
        </p:nvSpPr>
        <p:spPr>
          <a:xfrm>
            <a:off x="4434840" y="4462272"/>
            <a:ext cx="3200400" cy="201168"/>
          </a:xfrm>
          <a:prstGeom prst="rect">
            <a:avLst/>
          </a:prstGeom>
          <a:noFill/>
          <a:ln/>
        </p:spPr>
        <p:txBody>
          <a:bodyPr wrap="square" rtlCol="0" anchor="ctr"/>
          <a:lstStyle/>
          <a:p>
            <a:pPr indent="0" marL="0">
              <a:buNone/>
            </a:pPr>
            <a:r>
              <a:rPr lang="en-US" sz="900" b="1" dirty="0">
                <a:solidFill>
                  <a:srgbClr val="E8A020"/>
                </a:solidFill>
                <a:latin typeface="Calibri" pitchFamily="34" charset="0"/>
                <a:ea typeface="Calibri" pitchFamily="34" charset="-122"/>
                <a:cs typeface="Calibri" pitchFamily="34" charset="-120"/>
              </a:rPr>
              <a:t>Ejemplo:</a:t>
            </a:r>
            <a:endParaRPr lang="en-US" sz="900" dirty="0"/>
          </a:p>
        </p:txBody>
      </p:sp>
      <p:sp>
        <p:nvSpPr>
          <p:cNvPr id="22" name="Text 20"/>
          <p:cNvSpPr txBox="1"/>
          <p:nvPr/>
        </p:nvSpPr>
        <p:spPr>
          <a:xfrm>
            <a:off x="4434840" y="4663440"/>
            <a:ext cx="3200400" cy="1188720"/>
          </a:xfrm>
          <a:prstGeom prst="rect">
            <a:avLst/>
          </a:prstGeom>
          <a:noFill/>
          <a:ln/>
        </p:spPr>
        <p:txBody>
          <a:bodyPr wrap="square" rtlCol="0" anchor="ctr"/>
          <a:lstStyle/>
          <a:p>
            <a:pPr indent="0" marL="0">
              <a:buNone/>
            </a:pPr>
            <a:r>
              <a:rPr lang="en-US" sz="950" i="1" dirty="0">
                <a:solidFill>
                  <a:srgbClr val="A0B8D0"/>
                </a:solidFill>
                <a:latin typeface="Calibri" pitchFamily="34" charset="0"/>
                <a:ea typeface="Calibri" pitchFamily="34" charset="-122"/>
                <a:cs typeface="Calibri" pitchFamily="34" charset="-120"/>
              </a:rPr>
              <a:t>El desempleo en Rep. Dominicana sube en enero (fin de turismo) y baja en diciembre.</a:t>
            </a:r>
            <a:endParaRPr lang="en-US" sz="950" dirty="0"/>
          </a:p>
        </p:txBody>
      </p:sp>
      <p:sp>
        <p:nvSpPr>
          <p:cNvPr id="23" name="Shape 21"/>
          <p:cNvSpPr/>
          <p:nvPr/>
        </p:nvSpPr>
        <p:spPr>
          <a:xfrm>
            <a:off x="8183880" y="1691640"/>
            <a:ext cx="3566160" cy="4434840"/>
          </a:xfrm>
          <a:prstGeom prst="rect">
            <a:avLst/>
          </a:prstGeom>
          <a:solidFill>
            <a:srgbClr val="1D2E4A"/>
          </a:solidFill>
          <a:ln w="25400">
            <a:solidFill>
              <a:srgbClr val="C0392B"/>
            </a:solidFill>
            <a:prstDash val="solid"/>
          </a:ln>
        </p:spPr>
      </p:sp>
      <p:sp>
        <p:nvSpPr>
          <p:cNvPr id="24" name="Shape 22"/>
          <p:cNvSpPr/>
          <p:nvPr/>
        </p:nvSpPr>
        <p:spPr>
          <a:xfrm>
            <a:off x="9509760" y="1783080"/>
            <a:ext cx="914400" cy="914400"/>
          </a:xfrm>
          <a:prstGeom prst="ellipse">
            <a:avLst/>
          </a:prstGeom>
          <a:solidFill>
            <a:srgbClr val="C0392B"/>
          </a:solidFill>
          <a:ln/>
        </p:spPr>
      </p:sp>
      <p:sp>
        <p:nvSpPr>
          <p:cNvPr id="25" name="Text 23"/>
          <p:cNvSpPr txBox="1"/>
          <p:nvPr/>
        </p:nvSpPr>
        <p:spPr>
          <a:xfrm>
            <a:off x="9509760" y="1783080"/>
            <a:ext cx="914400" cy="914400"/>
          </a:xfrm>
          <a:prstGeom prst="rect">
            <a:avLst/>
          </a:prstGeom>
          <a:noFill/>
          <a:ln/>
        </p:spPr>
        <p:txBody>
          <a:bodyPr wrap="square" rtlCol="0" anchor="ctr"/>
          <a:lstStyle/>
          <a:p>
            <a:pPr algn="ctr" indent="0" marL="0">
              <a:buNone/>
            </a:pPr>
            <a:r>
              <a:rPr lang="en-US" sz="2200" dirty="0">
                <a:solidFill>
                  <a:srgbClr val="FFFFFF"/>
                </a:solidFill>
                <a:latin typeface="Calibri" pitchFamily="34" charset="0"/>
                <a:ea typeface="Calibri" pitchFamily="34" charset="-122"/>
                <a:cs typeface="Calibri" pitchFamily="34" charset="-120"/>
              </a:rPr>
              <a:t>⚡</a:t>
            </a:r>
            <a:endParaRPr lang="en-US" sz="2200" dirty="0"/>
          </a:p>
        </p:txBody>
      </p:sp>
      <p:sp>
        <p:nvSpPr>
          <p:cNvPr id="26" name="Text 24"/>
          <p:cNvSpPr txBox="1"/>
          <p:nvPr/>
        </p:nvSpPr>
        <p:spPr>
          <a:xfrm>
            <a:off x="8321040" y="2834640"/>
            <a:ext cx="3291840" cy="411480"/>
          </a:xfrm>
          <a:prstGeom prst="rect">
            <a:avLst/>
          </a:prstGeom>
          <a:noFill/>
          <a:ln/>
        </p:spPr>
        <p:txBody>
          <a:bodyPr wrap="square" rtlCol="0" anchor="ctr"/>
          <a:lstStyle/>
          <a:p>
            <a:pPr algn="ctr" indent="0" marL="0">
              <a:buNone/>
            </a:pPr>
            <a:r>
              <a:rPr lang="en-US" sz="1800" b="1" dirty="0">
                <a:solidFill>
                  <a:srgbClr val="C0392B"/>
                </a:solidFill>
                <a:latin typeface="Calibri" pitchFamily="34" charset="0"/>
                <a:ea typeface="Calibri" pitchFamily="34" charset="-122"/>
                <a:cs typeface="Calibri" pitchFamily="34" charset="-120"/>
              </a:rPr>
              <a:t>Ruido</a:t>
            </a:r>
            <a:endParaRPr lang="en-US" sz="1800" dirty="0"/>
          </a:p>
        </p:txBody>
      </p:sp>
      <p:sp>
        <p:nvSpPr>
          <p:cNvPr id="27" name="Text 25"/>
          <p:cNvSpPr txBox="1"/>
          <p:nvPr/>
        </p:nvSpPr>
        <p:spPr>
          <a:xfrm>
            <a:off x="8366760" y="3337560"/>
            <a:ext cx="3200400" cy="1005840"/>
          </a:xfrm>
          <a:prstGeom prst="rect">
            <a:avLst/>
          </a:prstGeom>
          <a:noFill/>
          <a:ln/>
        </p:spPr>
        <p:txBody>
          <a:bodyPr wrap="square" rtlCol="0" anchor="ctr"/>
          <a:lstStyle/>
          <a:p>
            <a:pPr indent="0" marL="0">
              <a:buNone/>
            </a:pPr>
            <a:r>
              <a:rPr lang="en-US" sz="1100" dirty="0">
                <a:solidFill>
                  <a:srgbClr val="C8D8F0"/>
                </a:solidFill>
                <a:latin typeface="Calibri" pitchFamily="34" charset="0"/>
                <a:ea typeface="Calibri" pitchFamily="34" charset="-122"/>
                <a:cs typeface="Calibri" pitchFamily="34" charset="-120"/>
              </a:rPr>
              <a:t>Variaciones aleatorias no explicadas por tendencia ni estacionalidad.</a:t>
            </a:r>
            <a:endParaRPr lang="en-US" sz="1100" dirty="0"/>
          </a:p>
        </p:txBody>
      </p:sp>
      <p:sp>
        <p:nvSpPr>
          <p:cNvPr id="28" name="Shape 26"/>
          <p:cNvSpPr/>
          <p:nvPr/>
        </p:nvSpPr>
        <p:spPr>
          <a:xfrm>
            <a:off x="8366760" y="4389120"/>
            <a:ext cx="3200400" cy="0"/>
          </a:xfrm>
          <a:prstGeom prst="line">
            <a:avLst/>
          </a:prstGeom>
          <a:noFill/>
          <a:ln w="9525">
            <a:solidFill>
              <a:srgbClr val="C0392B"/>
            </a:solidFill>
            <a:prstDash val="solid"/>
          </a:ln>
        </p:spPr>
      </p:sp>
      <p:sp>
        <p:nvSpPr>
          <p:cNvPr id="29" name="Text 27"/>
          <p:cNvSpPr txBox="1"/>
          <p:nvPr/>
        </p:nvSpPr>
        <p:spPr>
          <a:xfrm>
            <a:off x="8366760" y="4462272"/>
            <a:ext cx="3200400" cy="201168"/>
          </a:xfrm>
          <a:prstGeom prst="rect">
            <a:avLst/>
          </a:prstGeom>
          <a:noFill/>
          <a:ln/>
        </p:spPr>
        <p:txBody>
          <a:bodyPr wrap="square" rtlCol="0" anchor="ctr"/>
          <a:lstStyle/>
          <a:p>
            <a:pPr indent="0" marL="0">
              <a:buNone/>
            </a:pPr>
            <a:r>
              <a:rPr lang="en-US" sz="900" b="1" dirty="0">
                <a:solidFill>
                  <a:srgbClr val="E8A020"/>
                </a:solidFill>
                <a:latin typeface="Calibri" pitchFamily="34" charset="0"/>
                <a:ea typeface="Calibri" pitchFamily="34" charset="-122"/>
                <a:cs typeface="Calibri" pitchFamily="34" charset="-120"/>
              </a:rPr>
              <a:t>Ejemplo:</a:t>
            </a:r>
            <a:endParaRPr lang="en-US" sz="900" dirty="0"/>
          </a:p>
        </p:txBody>
      </p:sp>
      <p:sp>
        <p:nvSpPr>
          <p:cNvPr id="30" name="Text 28"/>
          <p:cNvSpPr txBox="1"/>
          <p:nvPr/>
        </p:nvSpPr>
        <p:spPr>
          <a:xfrm>
            <a:off x="8366760" y="4663440"/>
            <a:ext cx="3200400" cy="1188720"/>
          </a:xfrm>
          <a:prstGeom prst="rect">
            <a:avLst/>
          </a:prstGeom>
          <a:noFill/>
          <a:ln/>
        </p:spPr>
        <p:txBody>
          <a:bodyPr wrap="square" rtlCol="0" anchor="ctr"/>
          <a:lstStyle/>
          <a:p>
            <a:pPr indent="0" marL="0">
              <a:buNone/>
            </a:pPr>
            <a:r>
              <a:rPr lang="en-US" sz="950" i="1" dirty="0">
                <a:solidFill>
                  <a:srgbClr val="A0B8D0"/>
                </a:solidFill>
                <a:latin typeface="Calibri" pitchFamily="34" charset="0"/>
                <a:ea typeface="Calibri" pitchFamily="34" charset="-122"/>
                <a:cs typeface="Calibri" pitchFamily="34" charset="-120"/>
              </a:rPr>
              <a:t>El "ruido" en inflación de Honduras 2022 captura shocks de precios de combustible.</a:t>
            </a:r>
            <a:endParaRPr lang="en-US" sz="950" dirty="0"/>
          </a:p>
        </p:txBody>
      </p:sp>
      <p:sp>
        <p:nvSpPr>
          <p:cNvPr id="31" name="Shape 29"/>
          <p:cNvSpPr/>
          <p:nvPr/>
        </p:nvSpPr>
        <p:spPr>
          <a:xfrm>
            <a:off x="0" y="6565392"/>
            <a:ext cx="12161520" cy="292608"/>
          </a:xfrm>
          <a:prstGeom prst="rect">
            <a:avLst/>
          </a:prstGeom>
          <a:solidFill>
            <a:srgbClr val="1B3A6B"/>
          </a:solidFill>
          <a:ln/>
        </p:spPr>
      </p:sp>
      <p:sp>
        <p:nvSpPr>
          <p:cNvPr id="32" name="Text 30"/>
          <p:cNvSpPr txBox="1"/>
          <p:nvPr/>
        </p:nvSpPr>
        <p:spPr>
          <a:xfrm>
            <a:off x="228600" y="6592824"/>
            <a:ext cx="7315200" cy="228600"/>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Tec de Monterrey · Gobierno y Transformación Pública</a:t>
            </a:r>
            <a:endParaRPr lang="en-US" sz="800" dirty="0"/>
          </a:p>
        </p:txBody>
      </p:sp>
      <p:sp>
        <p:nvSpPr>
          <p:cNvPr id="33" name="Text 31"/>
          <p:cNvSpPr txBox="1"/>
          <p:nvPr/>
        </p:nvSpPr>
        <p:spPr>
          <a:xfrm>
            <a:off x="8686800" y="6592824"/>
            <a:ext cx="3291840" cy="228600"/>
          </a:xfrm>
          <a:prstGeom prst="rect">
            <a:avLst/>
          </a:prstGeom>
          <a:noFill/>
          <a:ln/>
        </p:spPr>
        <p:txBody>
          <a:bodyPr wrap="square" rtlCol="0" anchor="ctr"/>
          <a:lstStyle/>
          <a:p>
            <a:pPr algn="r" indent="0" marL="0">
              <a:buNone/>
            </a:pPr>
            <a:r>
              <a:rPr lang="en-US" sz="800" dirty="0">
                <a:solidFill>
                  <a:srgbClr val="E8A020"/>
                </a:solidFill>
                <a:latin typeface="Calibri" pitchFamily="34" charset="0"/>
                <a:ea typeface="Calibri" pitchFamily="34" charset="-122"/>
                <a:cs typeface="Calibri" pitchFamily="34" charset="-120"/>
              </a:rPr>
              <a:t>Sesión 4 — Series de Tiempo</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61520" cy="347472"/>
          </a:xfrm>
          <a:prstGeom prst="rect">
            <a:avLst/>
          </a:prstGeom>
          <a:solidFill>
            <a:srgbClr val="1B3A6B"/>
          </a:solidFill>
          <a:ln/>
        </p:spPr>
      </p:sp>
      <p:sp>
        <p:nvSpPr>
          <p:cNvPr id="3" name="Text 1"/>
          <p:cNvSpPr txBox="1"/>
          <p:nvPr/>
        </p:nvSpPr>
        <p:spPr>
          <a:xfrm>
            <a:off x="228600" y="36576"/>
            <a:ext cx="8229600" cy="27432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EO4040 — Introducción a la Ciencia de Datos para Economía</a:t>
            </a:r>
            <a:endParaRPr lang="en-US" sz="900" dirty="0"/>
          </a:p>
        </p:txBody>
      </p:sp>
      <p:sp>
        <p:nvSpPr>
          <p:cNvPr id="4" name="Text 2"/>
          <p:cNvSpPr txBox="1"/>
          <p:nvPr/>
        </p:nvSpPr>
        <p:spPr>
          <a:xfrm>
            <a:off x="8686800" y="36576"/>
            <a:ext cx="3291840" cy="274320"/>
          </a:xfrm>
          <a:prstGeom prst="rect">
            <a:avLst/>
          </a:prstGeom>
          <a:noFill/>
          <a:ln/>
        </p:spPr>
        <p:txBody>
          <a:bodyPr wrap="square" rtlCol="0" anchor="ctr"/>
          <a:lstStyle/>
          <a:p>
            <a:pPr algn="r" indent="0" marL="0">
              <a:buNone/>
            </a:pPr>
            <a:r>
              <a:rPr lang="en-US" sz="900" b="1" dirty="0">
                <a:solidFill>
                  <a:srgbClr val="E8A020"/>
                </a:solidFill>
                <a:latin typeface="Calibri" pitchFamily="34" charset="0"/>
                <a:ea typeface="Calibri" pitchFamily="34" charset="-122"/>
                <a:cs typeface="Calibri" pitchFamily="34" charset="-120"/>
              </a:rPr>
              <a:t>Sesión 4</a:t>
            </a:r>
            <a:endParaRPr lang="en-US" sz="900" dirty="0"/>
          </a:p>
        </p:txBody>
      </p:sp>
      <p:sp>
        <p:nvSpPr>
          <p:cNvPr id="5" name="Shape 3"/>
          <p:cNvSpPr/>
          <p:nvPr/>
        </p:nvSpPr>
        <p:spPr>
          <a:xfrm>
            <a:off x="320040" y="347472"/>
            <a:ext cx="1700784" cy="256032"/>
          </a:xfrm>
          <a:prstGeom prst="roundRect">
            <a:avLst>
              <a:gd name="adj" fmla="val 17857"/>
            </a:avLst>
          </a:prstGeom>
          <a:solidFill>
            <a:srgbClr val="2A7ABF"/>
          </a:solidFill>
          <a:ln/>
        </p:spPr>
      </p:sp>
      <p:sp>
        <p:nvSpPr>
          <p:cNvPr id="6" name="Text 4"/>
          <p:cNvSpPr txBox="1"/>
          <p:nvPr/>
        </p:nvSpPr>
        <p:spPr>
          <a:xfrm>
            <a:off x="365760" y="365760"/>
            <a:ext cx="1609344" cy="219456"/>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Datos reales</a:t>
            </a:r>
            <a:endParaRPr lang="en-US" sz="850" dirty="0"/>
          </a:p>
        </p:txBody>
      </p:sp>
      <p:sp>
        <p:nvSpPr>
          <p:cNvPr id="7" name="Text 5"/>
          <p:cNvSpPr txBox="1"/>
          <p:nvPr/>
        </p:nvSpPr>
        <p:spPr>
          <a:xfrm>
            <a:off x="320040" y="658368"/>
            <a:ext cx="10972800" cy="457200"/>
          </a:xfrm>
          <a:prstGeom prst="rect">
            <a:avLst/>
          </a:prstGeom>
          <a:noFill/>
          <a:ln/>
        </p:spPr>
        <p:txBody>
          <a:bodyPr wrap="square" rtlCol="0" anchor="ctr"/>
          <a:lstStyle/>
          <a:p>
            <a:pPr indent="0" marL="0">
              <a:buNone/>
            </a:pPr>
            <a:r>
              <a:rPr lang="en-US" sz="2400" b="1" dirty="0">
                <a:solidFill>
                  <a:srgbClr val="1B3A6B"/>
                </a:solidFill>
                <a:latin typeface="Calibri" pitchFamily="34" charset="0"/>
                <a:ea typeface="Calibri" pitchFamily="34" charset="-122"/>
                <a:cs typeface="Calibri" pitchFamily="34" charset="-120"/>
              </a:rPr>
              <a:t>Inflación anual en América Latina: 2000–2023</a:t>
            </a:r>
            <a:endParaRPr lang="en-US" sz="2400" dirty="0"/>
          </a:p>
        </p:txBody>
      </p:sp>
      <p:sp>
        <p:nvSpPr>
          <p:cNvPr id="8" name="Shape 6"/>
          <p:cNvSpPr/>
          <p:nvPr/>
        </p:nvSpPr>
        <p:spPr>
          <a:xfrm>
            <a:off x="365760" y="1325880"/>
            <a:ext cx="7132320" cy="4206240"/>
          </a:xfrm>
          <a:prstGeom prst="rect">
            <a:avLst/>
          </a:prstGeom>
          <a:solidFill>
            <a:srgbClr val="FFFFFF"/>
          </a:solidFill>
          <a:ln w="12700">
            <a:solidFill>
              <a:srgbClr val="D1D5DB"/>
            </a:solidFill>
            <a:prstDash val="solid"/>
          </a:ln>
        </p:spPr>
      </p:sp>
      <p:sp>
        <p:nvSpPr>
          <p:cNvPr id="9" name="Shape 7"/>
          <p:cNvSpPr/>
          <p:nvPr/>
        </p:nvSpPr>
        <p:spPr>
          <a:xfrm>
            <a:off x="365760" y="5532120"/>
            <a:ext cx="7132320" cy="0"/>
          </a:xfrm>
          <a:prstGeom prst="line">
            <a:avLst/>
          </a:prstGeom>
          <a:noFill/>
          <a:ln w="6350">
            <a:solidFill>
              <a:srgbClr val="D1D5DB"/>
            </a:solidFill>
            <a:prstDash val="dash"/>
          </a:ln>
        </p:spPr>
      </p:sp>
      <p:sp>
        <p:nvSpPr>
          <p:cNvPr id="10" name="Text 8"/>
          <p:cNvSpPr txBox="1"/>
          <p:nvPr/>
        </p:nvSpPr>
        <p:spPr>
          <a:xfrm>
            <a:off x="-18288" y="5422392"/>
            <a:ext cx="347472" cy="219456"/>
          </a:xfrm>
          <a:prstGeom prst="rect">
            <a:avLst/>
          </a:prstGeom>
          <a:noFill/>
          <a:ln/>
        </p:spPr>
        <p:txBody>
          <a:bodyPr wrap="square" rtlCol="0" anchor="ctr"/>
          <a:lstStyle/>
          <a:p>
            <a:pPr algn="r" indent="0" marL="0">
              <a:buNone/>
            </a:pPr>
            <a:r>
              <a:rPr lang="en-US" sz="750" dirty="0">
                <a:solidFill>
                  <a:srgbClr val="6B7280"/>
                </a:solidFill>
                <a:latin typeface="Calibri" pitchFamily="34" charset="0"/>
                <a:ea typeface="Calibri" pitchFamily="34" charset="-122"/>
                <a:cs typeface="Calibri" pitchFamily="34" charset="-120"/>
              </a:rPr>
              <a:t>0%</a:t>
            </a:r>
            <a:endParaRPr lang="en-US" sz="750" dirty="0"/>
          </a:p>
        </p:txBody>
      </p:sp>
      <p:sp>
        <p:nvSpPr>
          <p:cNvPr id="11" name="Shape 9"/>
          <p:cNvSpPr/>
          <p:nvPr/>
        </p:nvSpPr>
        <p:spPr>
          <a:xfrm>
            <a:off x="365760" y="4767349"/>
            <a:ext cx="7132320" cy="0"/>
          </a:xfrm>
          <a:prstGeom prst="line">
            <a:avLst/>
          </a:prstGeom>
          <a:noFill/>
          <a:ln w="6350">
            <a:solidFill>
              <a:srgbClr val="D1D5DB"/>
            </a:solidFill>
            <a:prstDash val="dash"/>
          </a:ln>
        </p:spPr>
      </p:sp>
      <p:sp>
        <p:nvSpPr>
          <p:cNvPr id="12" name="Text 10"/>
          <p:cNvSpPr txBox="1"/>
          <p:nvPr/>
        </p:nvSpPr>
        <p:spPr>
          <a:xfrm>
            <a:off x="-18288" y="4657621"/>
            <a:ext cx="347472" cy="219456"/>
          </a:xfrm>
          <a:prstGeom prst="rect">
            <a:avLst/>
          </a:prstGeom>
          <a:noFill/>
          <a:ln/>
        </p:spPr>
        <p:txBody>
          <a:bodyPr wrap="square" rtlCol="0" anchor="ctr"/>
          <a:lstStyle/>
          <a:p>
            <a:pPr algn="r" indent="0" marL="0">
              <a:buNone/>
            </a:pPr>
            <a:r>
              <a:rPr lang="en-US" sz="750" dirty="0">
                <a:solidFill>
                  <a:srgbClr val="6B7280"/>
                </a:solidFill>
                <a:latin typeface="Calibri" pitchFamily="34" charset="0"/>
                <a:ea typeface="Calibri" pitchFamily="34" charset="-122"/>
                <a:cs typeface="Calibri" pitchFamily="34" charset="-120"/>
              </a:rPr>
              <a:t>10%</a:t>
            </a:r>
            <a:endParaRPr lang="en-US" sz="750" dirty="0"/>
          </a:p>
        </p:txBody>
      </p:sp>
      <p:sp>
        <p:nvSpPr>
          <p:cNvPr id="13" name="Shape 11"/>
          <p:cNvSpPr/>
          <p:nvPr/>
        </p:nvSpPr>
        <p:spPr>
          <a:xfrm>
            <a:off x="365760" y="4002578"/>
            <a:ext cx="7132320" cy="0"/>
          </a:xfrm>
          <a:prstGeom prst="line">
            <a:avLst/>
          </a:prstGeom>
          <a:noFill/>
          <a:ln w="6350">
            <a:solidFill>
              <a:srgbClr val="D1D5DB"/>
            </a:solidFill>
            <a:prstDash val="dash"/>
          </a:ln>
        </p:spPr>
      </p:sp>
      <p:sp>
        <p:nvSpPr>
          <p:cNvPr id="14" name="Text 12"/>
          <p:cNvSpPr txBox="1"/>
          <p:nvPr/>
        </p:nvSpPr>
        <p:spPr>
          <a:xfrm>
            <a:off x="-18288" y="3892850"/>
            <a:ext cx="347472" cy="219456"/>
          </a:xfrm>
          <a:prstGeom prst="rect">
            <a:avLst/>
          </a:prstGeom>
          <a:noFill/>
          <a:ln/>
        </p:spPr>
        <p:txBody>
          <a:bodyPr wrap="square" rtlCol="0" anchor="ctr"/>
          <a:lstStyle/>
          <a:p>
            <a:pPr algn="r" indent="0" marL="0">
              <a:buNone/>
            </a:pPr>
            <a:r>
              <a:rPr lang="en-US" sz="750" dirty="0">
                <a:solidFill>
                  <a:srgbClr val="6B7280"/>
                </a:solidFill>
                <a:latin typeface="Calibri" pitchFamily="34" charset="0"/>
                <a:ea typeface="Calibri" pitchFamily="34" charset="-122"/>
                <a:cs typeface="Calibri" pitchFamily="34" charset="-120"/>
              </a:rPr>
              <a:t>20%</a:t>
            </a:r>
            <a:endParaRPr lang="en-US" sz="750" dirty="0"/>
          </a:p>
        </p:txBody>
      </p:sp>
      <p:sp>
        <p:nvSpPr>
          <p:cNvPr id="15" name="Shape 13"/>
          <p:cNvSpPr/>
          <p:nvPr/>
        </p:nvSpPr>
        <p:spPr>
          <a:xfrm>
            <a:off x="365760" y="3237807"/>
            <a:ext cx="7132320" cy="0"/>
          </a:xfrm>
          <a:prstGeom prst="line">
            <a:avLst/>
          </a:prstGeom>
          <a:noFill/>
          <a:ln w="6350">
            <a:solidFill>
              <a:srgbClr val="D1D5DB"/>
            </a:solidFill>
            <a:prstDash val="dash"/>
          </a:ln>
        </p:spPr>
      </p:sp>
      <p:sp>
        <p:nvSpPr>
          <p:cNvPr id="16" name="Text 14"/>
          <p:cNvSpPr txBox="1"/>
          <p:nvPr/>
        </p:nvSpPr>
        <p:spPr>
          <a:xfrm>
            <a:off x="-18288" y="3128079"/>
            <a:ext cx="347472" cy="219456"/>
          </a:xfrm>
          <a:prstGeom prst="rect">
            <a:avLst/>
          </a:prstGeom>
          <a:noFill/>
          <a:ln/>
        </p:spPr>
        <p:txBody>
          <a:bodyPr wrap="square" rtlCol="0" anchor="ctr"/>
          <a:lstStyle/>
          <a:p>
            <a:pPr algn="r" indent="0" marL="0">
              <a:buNone/>
            </a:pPr>
            <a:r>
              <a:rPr lang="en-US" sz="750" dirty="0">
                <a:solidFill>
                  <a:srgbClr val="6B7280"/>
                </a:solidFill>
                <a:latin typeface="Calibri" pitchFamily="34" charset="0"/>
                <a:ea typeface="Calibri" pitchFamily="34" charset="-122"/>
                <a:cs typeface="Calibri" pitchFamily="34" charset="-120"/>
              </a:rPr>
              <a:t>30%</a:t>
            </a:r>
            <a:endParaRPr lang="en-US" sz="750" dirty="0"/>
          </a:p>
        </p:txBody>
      </p:sp>
      <p:sp>
        <p:nvSpPr>
          <p:cNvPr id="17" name="Shape 15"/>
          <p:cNvSpPr/>
          <p:nvPr/>
        </p:nvSpPr>
        <p:spPr>
          <a:xfrm>
            <a:off x="365760" y="2473036"/>
            <a:ext cx="7132320" cy="0"/>
          </a:xfrm>
          <a:prstGeom prst="line">
            <a:avLst/>
          </a:prstGeom>
          <a:noFill/>
          <a:ln w="6350">
            <a:solidFill>
              <a:srgbClr val="D1D5DB"/>
            </a:solidFill>
            <a:prstDash val="dash"/>
          </a:ln>
        </p:spPr>
      </p:sp>
      <p:sp>
        <p:nvSpPr>
          <p:cNvPr id="18" name="Text 16"/>
          <p:cNvSpPr txBox="1"/>
          <p:nvPr/>
        </p:nvSpPr>
        <p:spPr>
          <a:xfrm>
            <a:off x="-18288" y="2363308"/>
            <a:ext cx="347472" cy="219456"/>
          </a:xfrm>
          <a:prstGeom prst="rect">
            <a:avLst/>
          </a:prstGeom>
          <a:noFill/>
          <a:ln/>
        </p:spPr>
        <p:txBody>
          <a:bodyPr wrap="square" rtlCol="0" anchor="ctr"/>
          <a:lstStyle/>
          <a:p>
            <a:pPr algn="r" indent="0" marL="0">
              <a:buNone/>
            </a:pPr>
            <a:r>
              <a:rPr lang="en-US" sz="750" dirty="0">
                <a:solidFill>
                  <a:srgbClr val="6B7280"/>
                </a:solidFill>
                <a:latin typeface="Calibri" pitchFamily="34" charset="0"/>
                <a:ea typeface="Calibri" pitchFamily="34" charset="-122"/>
                <a:cs typeface="Calibri" pitchFamily="34" charset="-120"/>
              </a:rPr>
              <a:t>40%</a:t>
            </a:r>
            <a:endParaRPr lang="en-US" sz="750" dirty="0"/>
          </a:p>
        </p:txBody>
      </p:sp>
      <p:sp>
        <p:nvSpPr>
          <p:cNvPr id="19" name="Shape 17"/>
          <p:cNvSpPr/>
          <p:nvPr/>
        </p:nvSpPr>
        <p:spPr>
          <a:xfrm>
            <a:off x="365760" y="1708265"/>
            <a:ext cx="7132320" cy="0"/>
          </a:xfrm>
          <a:prstGeom prst="line">
            <a:avLst/>
          </a:prstGeom>
          <a:noFill/>
          <a:ln w="6350">
            <a:solidFill>
              <a:srgbClr val="D1D5DB"/>
            </a:solidFill>
            <a:prstDash val="dash"/>
          </a:ln>
        </p:spPr>
      </p:sp>
      <p:sp>
        <p:nvSpPr>
          <p:cNvPr id="20" name="Text 18"/>
          <p:cNvSpPr txBox="1"/>
          <p:nvPr/>
        </p:nvSpPr>
        <p:spPr>
          <a:xfrm>
            <a:off x="-18288" y="1598537"/>
            <a:ext cx="347472" cy="219456"/>
          </a:xfrm>
          <a:prstGeom prst="rect">
            <a:avLst/>
          </a:prstGeom>
          <a:noFill/>
          <a:ln/>
        </p:spPr>
        <p:txBody>
          <a:bodyPr wrap="square" rtlCol="0" anchor="ctr"/>
          <a:lstStyle/>
          <a:p>
            <a:pPr algn="r" indent="0" marL="0">
              <a:buNone/>
            </a:pPr>
            <a:r>
              <a:rPr lang="en-US" sz="750" dirty="0">
                <a:solidFill>
                  <a:srgbClr val="6B7280"/>
                </a:solidFill>
                <a:latin typeface="Calibri" pitchFamily="34" charset="0"/>
                <a:ea typeface="Calibri" pitchFamily="34" charset="-122"/>
                <a:cs typeface="Calibri" pitchFamily="34" charset="-120"/>
              </a:rPr>
              <a:t>50%</a:t>
            </a:r>
            <a:endParaRPr lang="en-US" sz="750" dirty="0"/>
          </a:p>
        </p:txBody>
      </p:sp>
      <p:sp>
        <p:nvSpPr>
          <p:cNvPr id="21" name="Text 19"/>
          <p:cNvSpPr txBox="1"/>
          <p:nvPr/>
        </p:nvSpPr>
        <p:spPr>
          <a:xfrm>
            <a:off x="91440" y="5577840"/>
            <a:ext cx="548640" cy="201168"/>
          </a:xfrm>
          <a:prstGeom prst="rect">
            <a:avLst/>
          </a:prstGeom>
          <a:noFill/>
          <a:ln/>
        </p:spPr>
        <p:txBody>
          <a:bodyPr wrap="square"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2000</a:t>
            </a:r>
            <a:endParaRPr lang="en-US" sz="750" dirty="0"/>
          </a:p>
        </p:txBody>
      </p:sp>
      <p:sp>
        <p:nvSpPr>
          <p:cNvPr id="22" name="Text 20"/>
          <p:cNvSpPr txBox="1"/>
          <p:nvPr/>
        </p:nvSpPr>
        <p:spPr>
          <a:xfrm>
            <a:off x="1331843" y="5577840"/>
            <a:ext cx="548640" cy="201168"/>
          </a:xfrm>
          <a:prstGeom prst="rect">
            <a:avLst/>
          </a:prstGeom>
          <a:noFill/>
          <a:ln/>
        </p:spPr>
        <p:txBody>
          <a:bodyPr wrap="square"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2004</a:t>
            </a:r>
            <a:endParaRPr lang="en-US" sz="750" dirty="0"/>
          </a:p>
        </p:txBody>
      </p:sp>
      <p:sp>
        <p:nvSpPr>
          <p:cNvPr id="23" name="Text 21"/>
          <p:cNvSpPr txBox="1"/>
          <p:nvPr/>
        </p:nvSpPr>
        <p:spPr>
          <a:xfrm>
            <a:off x="2572247" y="5577840"/>
            <a:ext cx="548640" cy="201168"/>
          </a:xfrm>
          <a:prstGeom prst="rect">
            <a:avLst/>
          </a:prstGeom>
          <a:noFill/>
          <a:ln/>
        </p:spPr>
        <p:txBody>
          <a:bodyPr wrap="square"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2008</a:t>
            </a:r>
            <a:endParaRPr lang="en-US" sz="750" dirty="0"/>
          </a:p>
        </p:txBody>
      </p:sp>
      <p:sp>
        <p:nvSpPr>
          <p:cNvPr id="24" name="Text 22"/>
          <p:cNvSpPr txBox="1"/>
          <p:nvPr/>
        </p:nvSpPr>
        <p:spPr>
          <a:xfrm>
            <a:off x="3812650" y="5577840"/>
            <a:ext cx="548640" cy="201168"/>
          </a:xfrm>
          <a:prstGeom prst="rect">
            <a:avLst/>
          </a:prstGeom>
          <a:noFill/>
          <a:ln/>
        </p:spPr>
        <p:txBody>
          <a:bodyPr wrap="square"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2012</a:t>
            </a:r>
            <a:endParaRPr lang="en-US" sz="750" dirty="0"/>
          </a:p>
        </p:txBody>
      </p:sp>
      <p:sp>
        <p:nvSpPr>
          <p:cNvPr id="25" name="Text 23"/>
          <p:cNvSpPr txBox="1"/>
          <p:nvPr/>
        </p:nvSpPr>
        <p:spPr>
          <a:xfrm>
            <a:off x="5053054" y="5577840"/>
            <a:ext cx="548640" cy="201168"/>
          </a:xfrm>
          <a:prstGeom prst="rect">
            <a:avLst/>
          </a:prstGeom>
          <a:noFill/>
          <a:ln/>
        </p:spPr>
        <p:txBody>
          <a:bodyPr wrap="square"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2016</a:t>
            </a:r>
            <a:endParaRPr lang="en-US" sz="750" dirty="0"/>
          </a:p>
        </p:txBody>
      </p:sp>
      <p:sp>
        <p:nvSpPr>
          <p:cNvPr id="26" name="Text 24"/>
          <p:cNvSpPr txBox="1"/>
          <p:nvPr/>
        </p:nvSpPr>
        <p:spPr>
          <a:xfrm>
            <a:off x="6293457" y="5577840"/>
            <a:ext cx="548640" cy="201168"/>
          </a:xfrm>
          <a:prstGeom prst="rect">
            <a:avLst/>
          </a:prstGeom>
          <a:noFill/>
          <a:ln/>
        </p:spPr>
        <p:txBody>
          <a:bodyPr wrap="square"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2020</a:t>
            </a:r>
            <a:endParaRPr lang="en-US" sz="750" dirty="0"/>
          </a:p>
        </p:txBody>
      </p:sp>
      <p:sp>
        <p:nvSpPr>
          <p:cNvPr id="27" name="Text 25"/>
          <p:cNvSpPr txBox="1"/>
          <p:nvPr/>
        </p:nvSpPr>
        <p:spPr>
          <a:xfrm>
            <a:off x="7223760" y="5577840"/>
            <a:ext cx="548640" cy="201168"/>
          </a:xfrm>
          <a:prstGeom prst="rect">
            <a:avLst/>
          </a:prstGeom>
          <a:noFill/>
          <a:ln/>
        </p:spPr>
        <p:txBody>
          <a:bodyPr wrap="square"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2023</a:t>
            </a:r>
            <a:endParaRPr lang="en-US" sz="750" dirty="0"/>
          </a:p>
        </p:txBody>
      </p:sp>
      <p:sp>
        <p:nvSpPr>
          <p:cNvPr id="28" name="Shape 26"/>
          <p:cNvSpPr/>
          <p:nvPr/>
        </p:nvSpPr>
        <p:spPr>
          <a:xfrm>
            <a:off x="7050819" y="1325880"/>
            <a:ext cx="447261" cy="4206240"/>
          </a:xfrm>
          <a:prstGeom prst="rect">
            <a:avLst/>
          </a:prstGeom>
          <a:solidFill>
            <a:srgbClr val="FFE0CC">
              <a:alpha val="70000"/>
            </a:srgbClr>
          </a:solidFill>
          <a:ln w="12700">
            <a:solidFill>
              <a:srgbClr val="000000">
                <a:alpha val="0"/>
              </a:srgbClr>
            </a:solidFill>
            <a:prstDash val="solid"/>
          </a:ln>
        </p:spPr>
      </p:sp>
      <p:sp>
        <p:nvSpPr>
          <p:cNvPr id="29" name="Text 27"/>
          <p:cNvSpPr txBox="1"/>
          <p:nvPr/>
        </p:nvSpPr>
        <p:spPr>
          <a:xfrm>
            <a:off x="6959379" y="1417320"/>
            <a:ext cx="1005840" cy="457200"/>
          </a:xfrm>
          <a:prstGeom prst="rect">
            <a:avLst/>
          </a:prstGeom>
          <a:noFill/>
          <a:ln/>
        </p:spPr>
        <p:txBody>
          <a:bodyPr wrap="square" rtlCol="0" anchor="ctr"/>
          <a:lstStyle/>
          <a:p>
            <a:pPr indent="0" marL="0">
              <a:buNone/>
            </a:pPr>
            <a:r>
              <a:rPr lang="en-US" sz="700" i="1" dirty="0">
                <a:solidFill>
                  <a:srgbClr val="C0392B"/>
                </a:solidFill>
                <a:latin typeface="Calibri" pitchFamily="34" charset="0"/>
                <a:ea typeface="Calibri" pitchFamily="34" charset="-122"/>
                <a:cs typeface="Calibri" pitchFamily="34" charset="-120"/>
              </a:rPr>
              <a:t>Pico</a:t>
            </a:r>
            <a:endParaRPr lang="en-US" sz="700" dirty="0"/>
          </a:p>
          <a:p>
            <a:pPr indent="0" marL="0">
              <a:buNone/>
            </a:pPr>
            <a:r>
              <a:rPr lang="en-US" sz="700" i="1" dirty="0">
                <a:solidFill>
                  <a:srgbClr val="C0392B"/>
                </a:solidFill>
                <a:latin typeface="Calibri" pitchFamily="34" charset="0"/>
                <a:ea typeface="Calibri" pitchFamily="34" charset="-122"/>
                <a:cs typeface="Calibri" pitchFamily="34" charset="-120"/>
              </a:rPr>
              <a:t>2022-23</a:t>
            </a:r>
            <a:endParaRPr lang="en-US" sz="700" dirty="0"/>
          </a:p>
        </p:txBody>
      </p:sp>
      <p:sp>
        <p:nvSpPr>
          <p:cNvPr id="30" name="Shape 28"/>
          <p:cNvSpPr/>
          <p:nvPr/>
        </p:nvSpPr>
        <p:spPr>
          <a:xfrm>
            <a:off x="1296063" y="1325880"/>
            <a:ext cx="620202" cy="4206240"/>
          </a:xfrm>
          <a:prstGeom prst="rect">
            <a:avLst/>
          </a:prstGeom>
          <a:solidFill>
            <a:srgbClr val="E0EEFF">
              <a:alpha val="60000"/>
            </a:srgbClr>
          </a:solidFill>
          <a:ln w="12700">
            <a:solidFill>
              <a:srgbClr val="000000">
                <a:alpha val="0"/>
              </a:srgbClr>
            </a:solidFill>
            <a:prstDash val="solid"/>
          </a:ln>
        </p:spPr>
      </p:sp>
      <p:sp>
        <p:nvSpPr>
          <p:cNvPr id="31" name="Text 29"/>
          <p:cNvSpPr txBox="1"/>
          <p:nvPr/>
        </p:nvSpPr>
        <p:spPr>
          <a:xfrm>
            <a:off x="1250343" y="1417320"/>
            <a:ext cx="914400" cy="411480"/>
          </a:xfrm>
          <a:prstGeom prst="rect">
            <a:avLst/>
          </a:prstGeom>
          <a:noFill/>
          <a:ln/>
        </p:spPr>
        <p:txBody>
          <a:bodyPr wrap="square" rtlCol="0" anchor="ctr"/>
          <a:lstStyle/>
          <a:p>
            <a:pPr indent="0" marL="0">
              <a:buNone/>
            </a:pPr>
            <a:r>
              <a:rPr lang="en-US" sz="700" i="1" dirty="0">
                <a:solidFill>
                  <a:srgbClr val="2A7ABF"/>
                </a:solidFill>
                <a:latin typeface="Calibri" pitchFamily="34" charset="0"/>
                <a:ea typeface="Calibri" pitchFamily="34" charset="-122"/>
                <a:cs typeface="Calibri" pitchFamily="34" charset="-120"/>
              </a:rPr>
              <a:t>Crisis RD</a:t>
            </a:r>
            <a:endParaRPr lang="en-US" sz="700" dirty="0"/>
          </a:p>
          <a:p>
            <a:pPr indent="0" marL="0">
              <a:buNone/>
            </a:pPr>
            <a:r>
              <a:rPr lang="en-US" sz="700" i="1" dirty="0">
                <a:solidFill>
                  <a:srgbClr val="2A7ABF"/>
                </a:solidFill>
                <a:latin typeface="Calibri" pitchFamily="34" charset="0"/>
                <a:ea typeface="Calibri" pitchFamily="34" charset="-122"/>
                <a:cs typeface="Calibri" pitchFamily="34" charset="-120"/>
              </a:rPr>
              <a:t>2003-04</a:t>
            </a:r>
            <a:endParaRPr lang="en-US" sz="700" dirty="0"/>
          </a:p>
        </p:txBody>
      </p:sp>
      <p:sp>
        <p:nvSpPr>
          <p:cNvPr id="32" name="Shape 30"/>
          <p:cNvSpPr/>
          <p:nvPr/>
        </p:nvSpPr>
        <p:spPr>
          <a:xfrm>
            <a:off x="365760" y="4862945"/>
            <a:ext cx="315786" cy="0"/>
          </a:xfrm>
          <a:prstGeom prst="line">
            <a:avLst/>
          </a:prstGeom>
          <a:noFill/>
          <a:ln w="25400">
            <a:solidFill>
              <a:srgbClr val="2A7ABF"/>
            </a:solidFill>
            <a:prstDash val="solid"/>
          </a:ln>
        </p:spPr>
      </p:sp>
      <p:sp>
        <p:nvSpPr>
          <p:cNvPr id="33" name="Shape 31"/>
          <p:cNvSpPr/>
          <p:nvPr/>
        </p:nvSpPr>
        <p:spPr>
          <a:xfrm>
            <a:off x="675861" y="4922598"/>
            <a:ext cx="319029" cy="0"/>
          </a:xfrm>
          <a:prstGeom prst="line">
            <a:avLst/>
          </a:prstGeom>
          <a:noFill/>
          <a:ln w="25400">
            <a:solidFill>
              <a:srgbClr val="2A7ABF"/>
            </a:solidFill>
            <a:prstDash val="solid"/>
          </a:ln>
        </p:spPr>
      </p:sp>
      <p:sp>
        <p:nvSpPr>
          <p:cNvPr id="34" name="Shape 32"/>
          <p:cNvSpPr/>
          <p:nvPr/>
        </p:nvSpPr>
        <p:spPr>
          <a:xfrm>
            <a:off x="985962" y="4997545"/>
            <a:ext cx="310286" cy="0"/>
          </a:xfrm>
          <a:prstGeom prst="line">
            <a:avLst/>
          </a:prstGeom>
          <a:noFill/>
          <a:ln w="25400">
            <a:solidFill>
              <a:srgbClr val="2A7ABF"/>
            </a:solidFill>
            <a:prstDash val="solid"/>
          </a:ln>
        </p:spPr>
      </p:sp>
      <p:sp>
        <p:nvSpPr>
          <p:cNvPr id="35" name="Shape 33"/>
          <p:cNvSpPr/>
          <p:nvPr/>
        </p:nvSpPr>
        <p:spPr>
          <a:xfrm>
            <a:off x="1296063" y="4986838"/>
            <a:ext cx="324054" cy="0"/>
          </a:xfrm>
          <a:prstGeom prst="line">
            <a:avLst/>
          </a:prstGeom>
          <a:noFill/>
          <a:ln w="25400">
            <a:solidFill>
              <a:srgbClr val="2A7ABF"/>
            </a:solidFill>
            <a:prstDash val="solid"/>
          </a:ln>
        </p:spPr>
      </p:sp>
      <p:sp>
        <p:nvSpPr>
          <p:cNvPr id="36" name="Shape 34"/>
          <p:cNvSpPr/>
          <p:nvPr/>
        </p:nvSpPr>
        <p:spPr>
          <a:xfrm>
            <a:off x="1606163" y="5080905"/>
            <a:ext cx="316841" cy="0"/>
          </a:xfrm>
          <a:prstGeom prst="line">
            <a:avLst/>
          </a:prstGeom>
          <a:noFill/>
          <a:ln w="25400">
            <a:solidFill>
              <a:srgbClr val="2A7ABF"/>
            </a:solidFill>
            <a:prstDash val="solid"/>
          </a:ln>
        </p:spPr>
      </p:sp>
      <p:sp>
        <p:nvSpPr>
          <p:cNvPr id="37" name="Shape 35"/>
          <p:cNvSpPr/>
          <p:nvPr/>
        </p:nvSpPr>
        <p:spPr>
          <a:xfrm>
            <a:off x="1916264" y="5145911"/>
            <a:ext cx="315361" cy="0"/>
          </a:xfrm>
          <a:prstGeom prst="line">
            <a:avLst/>
          </a:prstGeom>
          <a:noFill/>
          <a:ln w="25400">
            <a:solidFill>
              <a:srgbClr val="2A7ABF"/>
            </a:solidFill>
            <a:prstDash val="solid"/>
          </a:ln>
        </p:spPr>
      </p:sp>
      <p:sp>
        <p:nvSpPr>
          <p:cNvPr id="38" name="Shape 36"/>
          <p:cNvSpPr/>
          <p:nvPr/>
        </p:nvSpPr>
        <p:spPr>
          <a:xfrm>
            <a:off x="2226365" y="5203269"/>
            <a:ext cx="324277" cy="0"/>
          </a:xfrm>
          <a:prstGeom prst="line">
            <a:avLst/>
          </a:prstGeom>
          <a:noFill/>
          <a:ln w="25400">
            <a:solidFill>
              <a:srgbClr val="2A7ABF"/>
            </a:solidFill>
            <a:prstDash val="solid"/>
          </a:ln>
        </p:spPr>
      </p:sp>
      <p:sp>
        <p:nvSpPr>
          <p:cNvPr id="39" name="Shape 37"/>
          <p:cNvSpPr/>
          <p:nvPr/>
        </p:nvSpPr>
        <p:spPr>
          <a:xfrm>
            <a:off x="2536466" y="5108437"/>
            <a:ext cx="350282" cy="0"/>
          </a:xfrm>
          <a:prstGeom prst="line">
            <a:avLst/>
          </a:prstGeom>
          <a:noFill/>
          <a:ln w="25400">
            <a:solidFill>
              <a:srgbClr val="2A7ABF"/>
            </a:solidFill>
            <a:prstDash val="solid"/>
          </a:ln>
        </p:spPr>
      </p:sp>
      <p:sp>
        <p:nvSpPr>
          <p:cNvPr id="40" name="Shape 38"/>
          <p:cNvSpPr/>
          <p:nvPr/>
        </p:nvSpPr>
        <p:spPr>
          <a:xfrm>
            <a:off x="2846567" y="4945541"/>
            <a:ext cx="408150" cy="0"/>
          </a:xfrm>
          <a:prstGeom prst="line">
            <a:avLst/>
          </a:prstGeom>
          <a:noFill/>
          <a:ln w="25400">
            <a:solidFill>
              <a:srgbClr val="2A7ABF"/>
            </a:solidFill>
            <a:prstDash val="solid"/>
          </a:ln>
        </p:spPr>
      </p:sp>
      <p:sp>
        <p:nvSpPr>
          <p:cNvPr id="41" name="Shape 39"/>
          <p:cNvSpPr/>
          <p:nvPr/>
        </p:nvSpPr>
        <p:spPr>
          <a:xfrm>
            <a:off x="3156668" y="5210916"/>
            <a:ext cx="319949" cy="0"/>
          </a:xfrm>
          <a:prstGeom prst="line">
            <a:avLst/>
          </a:prstGeom>
          <a:noFill/>
          <a:ln w="25400">
            <a:solidFill>
              <a:srgbClr val="2A7ABF"/>
            </a:solidFill>
            <a:prstDash val="solid"/>
          </a:ln>
        </p:spPr>
      </p:sp>
      <p:sp>
        <p:nvSpPr>
          <p:cNvPr id="42" name="Shape 40"/>
          <p:cNvSpPr/>
          <p:nvPr/>
        </p:nvSpPr>
        <p:spPr>
          <a:xfrm>
            <a:off x="3466769" y="5289688"/>
            <a:ext cx="313044" cy="0"/>
          </a:xfrm>
          <a:prstGeom prst="line">
            <a:avLst/>
          </a:prstGeom>
          <a:noFill/>
          <a:ln w="25400">
            <a:solidFill>
              <a:srgbClr val="2A7ABF"/>
            </a:solidFill>
            <a:prstDash val="solid"/>
          </a:ln>
        </p:spPr>
      </p:sp>
      <p:sp>
        <p:nvSpPr>
          <p:cNvPr id="43" name="Shape 41"/>
          <p:cNvSpPr/>
          <p:nvPr/>
        </p:nvSpPr>
        <p:spPr>
          <a:xfrm>
            <a:off x="3776870" y="5246860"/>
            <a:ext cx="310147" cy="0"/>
          </a:xfrm>
          <a:prstGeom prst="line">
            <a:avLst/>
          </a:prstGeom>
          <a:noFill/>
          <a:ln w="25400">
            <a:solidFill>
              <a:srgbClr val="2A7ABF"/>
            </a:solidFill>
            <a:prstDash val="solid"/>
          </a:ln>
        </p:spPr>
      </p:sp>
      <p:sp>
        <p:nvSpPr>
          <p:cNvPr id="44" name="Shape 42"/>
          <p:cNvSpPr/>
          <p:nvPr/>
        </p:nvSpPr>
        <p:spPr>
          <a:xfrm>
            <a:off x="4086970" y="5252214"/>
            <a:ext cx="315643" cy="0"/>
          </a:xfrm>
          <a:prstGeom prst="line">
            <a:avLst/>
          </a:prstGeom>
          <a:noFill/>
          <a:ln w="25400">
            <a:solidFill>
              <a:srgbClr val="2A7ABF"/>
            </a:solidFill>
            <a:prstDash val="solid"/>
          </a:ln>
        </p:spPr>
      </p:sp>
      <p:sp>
        <p:nvSpPr>
          <p:cNvPr id="45" name="Shape 43"/>
          <p:cNvSpPr/>
          <p:nvPr/>
        </p:nvSpPr>
        <p:spPr>
          <a:xfrm>
            <a:off x="4397071" y="5311101"/>
            <a:ext cx="310102" cy="0"/>
          </a:xfrm>
          <a:prstGeom prst="line">
            <a:avLst/>
          </a:prstGeom>
          <a:noFill/>
          <a:ln w="25400">
            <a:solidFill>
              <a:srgbClr val="2A7ABF"/>
            </a:solidFill>
            <a:prstDash val="solid"/>
          </a:ln>
        </p:spPr>
      </p:sp>
      <p:sp>
        <p:nvSpPr>
          <p:cNvPr id="46" name="Shape 44"/>
          <p:cNvSpPr/>
          <p:nvPr/>
        </p:nvSpPr>
        <p:spPr>
          <a:xfrm>
            <a:off x="4707172" y="5310336"/>
            <a:ext cx="349221" cy="0"/>
          </a:xfrm>
          <a:prstGeom prst="line">
            <a:avLst/>
          </a:prstGeom>
          <a:noFill/>
          <a:ln w="25400">
            <a:solidFill>
              <a:srgbClr val="2A7ABF"/>
            </a:solidFill>
            <a:prstDash val="solid"/>
          </a:ln>
        </p:spPr>
      </p:sp>
      <p:sp>
        <p:nvSpPr>
          <p:cNvPr id="47" name="Shape 45"/>
          <p:cNvSpPr/>
          <p:nvPr/>
        </p:nvSpPr>
        <p:spPr>
          <a:xfrm>
            <a:off x="5017273" y="5149735"/>
            <a:ext cx="339906" cy="0"/>
          </a:xfrm>
          <a:prstGeom prst="line">
            <a:avLst/>
          </a:prstGeom>
          <a:noFill/>
          <a:ln w="25400">
            <a:solidFill>
              <a:srgbClr val="2A7ABF"/>
            </a:solidFill>
            <a:prstDash val="solid"/>
          </a:ln>
        </p:spPr>
      </p:sp>
      <p:sp>
        <p:nvSpPr>
          <p:cNvPr id="48" name="Shape 46"/>
          <p:cNvSpPr/>
          <p:nvPr/>
        </p:nvSpPr>
        <p:spPr>
          <a:xfrm>
            <a:off x="5327374" y="5288923"/>
            <a:ext cx="317814" cy="0"/>
          </a:xfrm>
          <a:prstGeom prst="line">
            <a:avLst/>
          </a:prstGeom>
          <a:noFill/>
          <a:ln w="25400">
            <a:solidFill>
              <a:srgbClr val="2A7ABF"/>
            </a:solidFill>
            <a:prstDash val="solid"/>
          </a:ln>
        </p:spPr>
      </p:sp>
      <p:sp>
        <p:nvSpPr>
          <p:cNvPr id="49" name="Shape 47"/>
          <p:cNvSpPr/>
          <p:nvPr/>
        </p:nvSpPr>
        <p:spPr>
          <a:xfrm>
            <a:off x="5637475" y="5219329"/>
            <a:ext cx="316841" cy="0"/>
          </a:xfrm>
          <a:prstGeom prst="line">
            <a:avLst/>
          </a:prstGeom>
          <a:noFill/>
          <a:ln w="25400">
            <a:solidFill>
              <a:srgbClr val="2A7ABF"/>
            </a:solidFill>
            <a:prstDash val="solid"/>
          </a:ln>
        </p:spPr>
      </p:sp>
      <p:sp>
        <p:nvSpPr>
          <p:cNvPr id="50" name="Shape 48"/>
          <p:cNvSpPr/>
          <p:nvPr/>
        </p:nvSpPr>
        <p:spPr>
          <a:xfrm>
            <a:off x="5947576" y="5284334"/>
            <a:ext cx="313044" cy="0"/>
          </a:xfrm>
          <a:prstGeom prst="line">
            <a:avLst/>
          </a:prstGeom>
          <a:noFill/>
          <a:ln w="25400">
            <a:solidFill>
              <a:srgbClr val="2A7ABF"/>
            </a:solidFill>
            <a:prstDash val="solid"/>
          </a:ln>
        </p:spPr>
      </p:sp>
      <p:sp>
        <p:nvSpPr>
          <p:cNvPr id="51" name="Shape 49"/>
          <p:cNvSpPr/>
          <p:nvPr/>
        </p:nvSpPr>
        <p:spPr>
          <a:xfrm>
            <a:off x="6257677" y="5241507"/>
            <a:ext cx="352440" cy="0"/>
          </a:xfrm>
          <a:prstGeom prst="line">
            <a:avLst/>
          </a:prstGeom>
          <a:noFill/>
          <a:ln w="25400">
            <a:solidFill>
              <a:srgbClr val="2A7ABF"/>
            </a:solidFill>
            <a:prstDash val="solid"/>
          </a:ln>
        </p:spPr>
      </p:sp>
      <p:sp>
        <p:nvSpPr>
          <p:cNvPr id="52" name="Shape 50"/>
          <p:cNvSpPr/>
          <p:nvPr/>
        </p:nvSpPr>
        <p:spPr>
          <a:xfrm>
            <a:off x="6567777" y="5408992"/>
            <a:ext cx="327815" cy="0"/>
          </a:xfrm>
          <a:prstGeom prst="line">
            <a:avLst/>
          </a:prstGeom>
          <a:noFill/>
          <a:ln w="25400">
            <a:solidFill>
              <a:srgbClr val="2A7ABF"/>
            </a:solidFill>
            <a:prstDash val="solid"/>
          </a:ln>
        </p:spPr>
      </p:sp>
      <p:sp>
        <p:nvSpPr>
          <p:cNvPr id="53" name="Shape 51"/>
          <p:cNvSpPr/>
          <p:nvPr/>
        </p:nvSpPr>
        <p:spPr>
          <a:xfrm>
            <a:off x="6877878" y="5302689"/>
            <a:ext cx="597618" cy="0"/>
          </a:xfrm>
          <a:prstGeom prst="line">
            <a:avLst/>
          </a:prstGeom>
          <a:noFill/>
          <a:ln w="25400">
            <a:solidFill>
              <a:srgbClr val="2A7ABF"/>
            </a:solidFill>
            <a:prstDash val="solid"/>
          </a:ln>
        </p:spPr>
      </p:sp>
      <p:sp>
        <p:nvSpPr>
          <p:cNvPr id="54" name="Shape 52"/>
          <p:cNvSpPr/>
          <p:nvPr/>
        </p:nvSpPr>
        <p:spPr>
          <a:xfrm>
            <a:off x="7187979" y="4791822"/>
            <a:ext cx="346450" cy="0"/>
          </a:xfrm>
          <a:prstGeom prst="line">
            <a:avLst/>
          </a:prstGeom>
          <a:noFill/>
          <a:ln w="25400">
            <a:solidFill>
              <a:srgbClr val="2A7ABF"/>
            </a:solidFill>
            <a:prstDash val="solid"/>
          </a:ln>
        </p:spPr>
      </p:sp>
      <p:sp>
        <p:nvSpPr>
          <p:cNvPr id="55" name="Shape 53"/>
          <p:cNvSpPr/>
          <p:nvPr/>
        </p:nvSpPr>
        <p:spPr>
          <a:xfrm>
            <a:off x="365760" y="4941717"/>
            <a:ext cx="322541" cy="0"/>
          </a:xfrm>
          <a:prstGeom prst="line">
            <a:avLst/>
          </a:prstGeom>
          <a:noFill/>
          <a:ln w="25400">
            <a:solidFill>
              <a:srgbClr val="1A9641"/>
            </a:solidFill>
            <a:prstDash val="solid"/>
          </a:ln>
        </p:spPr>
      </p:sp>
      <p:sp>
        <p:nvSpPr>
          <p:cNvPr id="56" name="Shape 54"/>
          <p:cNvSpPr/>
          <p:nvPr/>
        </p:nvSpPr>
        <p:spPr>
          <a:xfrm>
            <a:off x="675861" y="4853003"/>
            <a:ext cx="419285" cy="0"/>
          </a:xfrm>
          <a:prstGeom prst="line">
            <a:avLst/>
          </a:prstGeom>
          <a:noFill/>
          <a:ln w="25400">
            <a:solidFill>
              <a:srgbClr val="1A9641"/>
            </a:solidFill>
            <a:prstDash val="solid"/>
          </a:ln>
        </p:spPr>
      </p:sp>
      <p:sp>
        <p:nvSpPr>
          <p:cNvPr id="57" name="Shape 55"/>
          <p:cNvSpPr/>
          <p:nvPr/>
        </p:nvSpPr>
        <p:spPr>
          <a:xfrm>
            <a:off x="985962" y="5135204"/>
            <a:ext cx="1730393" cy="0"/>
          </a:xfrm>
          <a:prstGeom prst="line">
            <a:avLst/>
          </a:prstGeom>
          <a:noFill/>
          <a:ln w="25400">
            <a:solidFill>
              <a:srgbClr val="1A9641"/>
            </a:solidFill>
            <a:prstDash val="solid"/>
          </a:ln>
        </p:spPr>
      </p:sp>
      <p:sp>
        <p:nvSpPr>
          <p:cNvPr id="58" name="Shape 56"/>
          <p:cNvSpPr/>
          <p:nvPr/>
        </p:nvSpPr>
        <p:spPr>
          <a:xfrm>
            <a:off x="1296063" y="3432824"/>
            <a:ext cx="1864478" cy="0"/>
          </a:xfrm>
          <a:prstGeom prst="line">
            <a:avLst/>
          </a:prstGeom>
          <a:noFill/>
          <a:ln w="25400">
            <a:solidFill>
              <a:srgbClr val="1A9641"/>
            </a:solidFill>
            <a:prstDash val="solid"/>
          </a:ln>
        </p:spPr>
      </p:sp>
      <p:sp>
        <p:nvSpPr>
          <p:cNvPr id="59" name="Shape 57"/>
          <p:cNvSpPr/>
          <p:nvPr/>
        </p:nvSpPr>
        <p:spPr>
          <a:xfrm>
            <a:off x="1606163" y="1594315"/>
            <a:ext cx="3632158" cy="0"/>
          </a:xfrm>
          <a:prstGeom prst="line">
            <a:avLst/>
          </a:prstGeom>
          <a:noFill/>
          <a:ln w="25400">
            <a:solidFill>
              <a:srgbClr val="1A9641"/>
            </a:solidFill>
            <a:prstDash val="solid"/>
          </a:ln>
        </p:spPr>
      </p:sp>
      <p:sp>
        <p:nvSpPr>
          <p:cNvPr id="60" name="Shape 58"/>
          <p:cNvSpPr/>
          <p:nvPr/>
        </p:nvSpPr>
        <p:spPr>
          <a:xfrm>
            <a:off x="1916264" y="5213211"/>
            <a:ext cx="404690" cy="0"/>
          </a:xfrm>
          <a:prstGeom prst="line">
            <a:avLst/>
          </a:prstGeom>
          <a:noFill/>
          <a:ln w="25400">
            <a:solidFill>
              <a:srgbClr val="1A9641"/>
            </a:solidFill>
            <a:prstDash val="solid"/>
          </a:ln>
        </p:spPr>
      </p:sp>
      <p:sp>
        <p:nvSpPr>
          <p:cNvPr id="61" name="Shape 59"/>
          <p:cNvSpPr/>
          <p:nvPr/>
        </p:nvSpPr>
        <p:spPr>
          <a:xfrm>
            <a:off x="2226365" y="4953188"/>
            <a:ext cx="330112" cy="0"/>
          </a:xfrm>
          <a:prstGeom prst="line">
            <a:avLst/>
          </a:prstGeom>
          <a:noFill/>
          <a:ln w="25400">
            <a:solidFill>
              <a:srgbClr val="1A9641"/>
            </a:solidFill>
            <a:prstDash val="solid"/>
          </a:ln>
        </p:spPr>
      </p:sp>
      <p:sp>
        <p:nvSpPr>
          <p:cNvPr id="62" name="Shape 60"/>
          <p:cNvSpPr/>
          <p:nvPr/>
        </p:nvSpPr>
        <p:spPr>
          <a:xfrm>
            <a:off x="2536466" y="5066375"/>
            <a:ext cx="466097" cy="0"/>
          </a:xfrm>
          <a:prstGeom prst="line">
            <a:avLst/>
          </a:prstGeom>
          <a:noFill/>
          <a:ln w="25400">
            <a:solidFill>
              <a:srgbClr val="1A9641"/>
            </a:solidFill>
            <a:prstDash val="solid"/>
          </a:ln>
        </p:spPr>
      </p:sp>
      <p:sp>
        <p:nvSpPr>
          <p:cNvPr id="63" name="Shape 61"/>
          <p:cNvSpPr/>
          <p:nvPr/>
        </p:nvSpPr>
        <p:spPr>
          <a:xfrm>
            <a:off x="2846567" y="4718404"/>
            <a:ext cx="769595" cy="0"/>
          </a:xfrm>
          <a:prstGeom prst="line">
            <a:avLst/>
          </a:prstGeom>
          <a:noFill/>
          <a:ln w="25400">
            <a:solidFill>
              <a:srgbClr val="1A9641"/>
            </a:solidFill>
            <a:prstDash val="solid"/>
          </a:ln>
        </p:spPr>
      </p:sp>
      <p:sp>
        <p:nvSpPr>
          <p:cNvPr id="64" name="Shape 62"/>
          <p:cNvSpPr/>
          <p:nvPr/>
        </p:nvSpPr>
        <p:spPr>
          <a:xfrm>
            <a:off x="3156668" y="5422758"/>
            <a:ext cx="485817" cy="0"/>
          </a:xfrm>
          <a:prstGeom prst="line">
            <a:avLst/>
          </a:prstGeom>
          <a:noFill/>
          <a:ln w="25400">
            <a:solidFill>
              <a:srgbClr val="1A9641"/>
            </a:solidFill>
            <a:prstDash val="solid"/>
          </a:ln>
        </p:spPr>
      </p:sp>
      <p:sp>
        <p:nvSpPr>
          <p:cNvPr id="65" name="Shape 63"/>
          <p:cNvSpPr/>
          <p:nvPr/>
        </p:nvSpPr>
        <p:spPr>
          <a:xfrm>
            <a:off x="3466769" y="5048785"/>
            <a:ext cx="350639" cy="0"/>
          </a:xfrm>
          <a:prstGeom prst="line">
            <a:avLst/>
          </a:prstGeom>
          <a:noFill/>
          <a:ln w="25400">
            <a:solidFill>
              <a:srgbClr val="1A9641"/>
            </a:solidFill>
            <a:prstDash val="solid"/>
          </a:ln>
        </p:spPr>
      </p:sp>
      <p:sp>
        <p:nvSpPr>
          <p:cNvPr id="66" name="Shape 64"/>
          <p:cNvSpPr/>
          <p:nvPr/>
        </p:nvSpPr>
        <p:spPr>
          <a:xfrm>
            <a:off x="3776870" y="4885124"/>
            <a:ext cx="480539" cy="0"/>
          </a:xfrm>
          <a:prstGeom prst="line">
            <a:avLst/>
          </a:prstGeom>
          <a:noFill/>
          <a:ln w="25400">
            <a:solidFill>
              <a:srgbClr val="1A9641"/>
            </a:solidFill>
            <a:prstDash val="solid"/>
          </a:ln>
        </p:spPr>
      </p:sp>
      <p:sp>
        <p:nvSpPr>
          <p:cNvPr id="67" name="Shape 65"/>
          <p:cNvSpPr/>
          <p:nvPr/>
        </p:nvSpPr>
        <p:spPr>
          <a:xfrm>
            <a:off x="4086970" y="5252214"/>
            <a:ext cx="310441" cy="0"/>
          </a:xfrm>
          <a:prstGeom prst="line">
            <a:avLst/>
          </a:prstGeom>
          <a:noFill/>
          <a:ln w="25400">
            <a:solidFill>
              <a:srgbClr val="1A9641"/>
            </a:solidFill>
            <a:prstDash val="solid"/>
          </a:ln>
        </p:spPr>
      </p:sp>
      <p:sp>
        <p:nvSpPr>
          <p:cNvPr id="68" name="Shape 66"/>
          <p:cNvSpPr/>
          <p:nvPr/>
        </p:nvSpPr>
        <p:spPr>
          <a:xfrm>
            <a:off x="4397071" y="5237683"/>
            <a:ext cx="386659" cy="0"/>
          </a:xfrm>
          <a:prstGeom prst="line">
            <a:avLst/>
          </a:prstGeom>
          <a:noFill/>
          <a:ln w="25400">
            <a:solidFill>
              <a:srgbClr val="1A9641"/>
            </a:solidFill>
            <a:prstDash val="solid"/>
          </a:ln>
        </p:spPr>
      </p:sp>
      <p:sp>
        <p:nvSpPr>
          <p:cNvPr id="69" name="Shape 67"/>
          <p:cNvSpPr/>
          <p:nvPr/>
        </p:nvSpPr>
        <p:spPr>
          <a:xfrm>
            <a:off x="4707172" y="5468644"/>
            <a:ext cx="310738" cy="0"/>
          </a:xfrm>
          <a:prstGeom prst="line">
            <a:avLst/>
          </a:prstGeom>
          <a:noFill/>
          <a:ln w="25400">
            <a:solidFill>
              <a:srgbClr val="1A9641"/>
            </a:solidFill>
            <a:prstDash val="solid"/>
          </a:ln>
        </p:spPr>
      </p:sp>
      <p:sp>
        <p:nvSpPr>
          <p:cNvPr id="70" name="Shape 68"/>
          <p:cNvSpPr/>
          <p:nvPr/>
        </p:nvSpPr>
        <p:spPr>
          <a:xfrm>
            <a:off x="5017273" y="5488528"/>
            <a:ext cx="321510" cy="0"/>
          </a:xfrm>
          <a:prstGeom prst="line">
            <a:avLst/>
          </a:prstGeom>
          <a:noFill/>
          <a:ln w="25400">
            <a:solidFill>
              <a:srgbClr val="1A9641"/>
            </a:solidFill>
            <a:prstDash val="solid"/>
          </a:ln>
        </p:spPr>
      </p:sp>
      <p:sp>
        <p:nvSpPr>
          <p:cNvPr id="71" name="Shape 69"/>
          <p:cNvSpPr/>
          <p:nvPr/>
        </p:nvSpPr>
        <p:spPr>
          <a:xfrm>
            <a:off x="5327374" y="5403638"/>
            <a:ext cx="334219" cy="0"/>
          </a:xfrm>
          <a:prstGeom prst="line">
            <a:avLst/>
          </a:prstGeom>
          <a:noFill/>
          <a:ln w="25400">
            <a:solidFill>
              <a:srgbClr val="1A9641"/>
            </a:solidFill>
            <a:prstDash val="solid"/>
          </a:ln>
        </p:spPr>
      </p:sp>
      <p:sp>
        <p:nvSpPr>
          <p:cNvPr id="72" name="Shape 70"/>
          <p:cNvSpPr/>
          <p:nvPr/>
        </p:nvSpPr>
        <p:spPr>
          <a:xfrm>
            <a:off x="5637475" y="5278981"/>
            <a:ext cx="310644" cy="0"/>
          </a:xfrm>
          <a:prstGeom prst="line">
            <a:avLst/>
          </a:prstGeom>
          <a:noFill/>
          <a:ln w="25400">
            <a:solidFill>
              <a:srgbClr val="1A9641"/>
            </a:solidFill>
            <a:prstDash val="solid"/>
          </a:ln>
        </p:spPr>
      </p:sp>
      <p:sp>
        <p:nvSpPr>
          <p:cNvPr id="73" name="Shape 71"/>
          <p:cNvSpPr/>
          <p:nvPr/>
        </p:nvSpPr>
        <p:spPr>
          <a:xfrm>
            <a:off x="5947576" y="5260626"/>
            <a:ext cx="337447" cy="0"/>
          </a:xfrm>
          <a:prstGeom prst="line">
            <a:avLst/>
          </a:prstGeom>
          <a:noFill/>
          <a:ln w="25400">
            <a:solidFill>
              <a:srgbClr val="1A9641"/>
            </a:solidFill>
            <a:prstDash val="solid"/>
          </a:ln>
        </p:spPr>
      </p:sp>
      <p:sp>
        <p:nvSpPr>
          <p:cNvPr id="74" name="Shape 72"/>
          <p:cNvSpPr/>
          <p:nvPr/>
        </p:nvSpPr>
        <p:spPr>
          <a:xfrm>
            <a:off x="6257677" y="5393696"/>
            <a:ext cx="344762" cy="0"/>
          </a:xfrm>
          <a:prstGeom prst="line">
            <a:avLst/>
          </a:prstGeom>
          <a:noFill/>
          <a:ln w="25400">
            <a:solidFill>
              <a:srgbClr val="1A9641"/>
            </a:solidFill>
            <a:prstDash val="solid"/>
          </a:ln>
        </p:spPr>
      </p:sp>
      <p:sp>
        <p:nvSpPr>
          <p:cNvPr id="75" name="Shape 73"/>
          <p:cNvSpPr/>
          <p:nvPr/>
        </p:nvSpPr>
        <p:spPr>
          <a:xfrm>
            <a:off x="6567777" y="5243037"/>
            <a:ext cx="460981" cy="0"/>
          </a:xfrm>
          <a:prstGeom prst="line">
            <a:avLst/>
          </a:prstGeom>
          <a:noFill/>
          <a:ln w="25400">
            <a:solidFill>
              <a:srgbClr val="1A9641"/>
            </a:solidFill>
            <a:prstDash val="solid"/>
          </a:ln>
        </p:spPr>
      </p:sp>
      <p:sp>
        <p:nvSpPr>
          <p:cNvPr id="76" name="Shape 74"/>
          <p:cNvSpPr/>
          <p:nvPr/>
        </p:nvSpPr>
        <p:spPr>
          <a:xfrm>
            <a:off x="6877878" y="4901949"/>
            <a:ext cx="313150" cy="0"/>
          </a:xfrm>
          <a:prstGeom prst="line">
            <a:avLst/>
          </a:prstGeom>
          <a:noFill/>
          <a:ln w="25400">
            <a:solidFill>
              <a:srgbClr val="1A9641"/>
            </a:solidFill>
            <a:prstDash val="solid"/>
          </a:ln>
        </p:spPr>
      </p:sp>
      <p:sp>
        <p:nvSpPr>
          <p:cNvPr id="77" name="Shape 75"/>
          <p:cNvSpPr/>
          <p:nvPr/>
        </p:nvSpPr>
        <p:spPr>
          <a:xfrm>
            <a:off x="7187979" y="4858357"/>
            <a:ext cx="438829" cy="0"/>
          </a:xfrm>
          <a:prstGeom prst="line">
            <a:avLst/>
          </a:prstGeom>
          <a:noFill/>
          <a:ln w="25400">
            <a:solidFill>
              <a:srgbClr val="1A9641"/>
            </a:solidFill>
            <a:prstDash val="solid"/>
          </a:ln>
        </p:spPr>
      </p:sp>
      <p:sp>
        <p:nvSpPr>
          <p:cNvPr id="78" name="Shape 76"/>
          <p:cNvSpPr/>
          <p:nvPr/>
        </p:nvSpPr>
        <p:spPr>
          <a:xfrm>
            <a:off x="365760" y="4757407"/>
            <a:ext cx="312005" cy="0"/>
          </a:xfrm>
          <a:prstGeom prst="line">
            <a:avLst/>
          </a:prstGeom>
          <a:noFill/>
          <a:ln w="25400">
            <a:solidFill>
              <a:srgbClr val="6A3D9A"/>
            </a:solidFill>
            <a:prstDash val="solid"/>
          </a:ln>
        </p:spPr>
      </p:sp>
      <p:sp>
        <p:nvSpPr>
          <p:cNvPr id="79" name="Shape 77"/>
          <p:cNvSpPr/>
          <p:nvPr/>
        </p:nvSpPr>
        <p:spPr>
          <a:xfrm>
            <a:off x="675861" y="4791822"/>
            <a:ext cx="344097" cy="0"/>
          </a:xfrm>
          <a:prstGeom prst="line">
            <a:avLst/>
          </a:prstGeom>
          <a:noFill/>
          <a:ln w="25400">
            <a:solidFill>
              <a:srgbClr val="6A3D9A"/>
            </a:solidFill>
            <a:prstDash val="solid"/>
          </a:ln>
        </p:spPr>
      </p:sp>
      <p:sp>
        <p:nvSpPr>
          <p:cNvPr id="80" name="Shape 78"/>
          <p:cNvSpPr/>
          <p:nvPr/>
        </p:nvSpPr>
        <p:spPr>
          <a:xfrm>
            <a:off x="985962" y="4940952"/>
            <a:ext cx="318850" cy="0"/>
          </a:xfrm>
          <a:prstGeom prst="line">
            <a:avLst/>
          </a:prstGeom>
          <a:noFill/>
          <a:ln w="25400">
            <a:solidFill>
              <a:srgbClr val="6A3D9A"/>
            </a:solidFill>
            <a:prstDash val="solid"/>
          </a:ln>
        </p:spPr>
      </p:sp>
      <p:sp>
        <p:nvSpPr>
          <p:cNvPr id="81" name="Shape 79"/>
          <p:cNvSpPr/>
          <p:nvPr/>
        </p:nvSpPr>
        <p:spPr>
          <a:xfrm>
            <a:off x="1296063" y="5015135"/>
            <a:ext cx="325185" cy="0"/>
          </a:xfrm>
          <a:prstGeom prst="line">
            <a:avLst/>
          </a:prstGeom>
          <a:noFill/>
          <a:ln w="25400">
            <a:solidFill>
              <a:srgbClr val="6A3D9A"/>
            </a:solidFill>
            <a:prstDash val="solid"/>
          </a:ln>
        </p:spPr>
      </p:sp>
      <p:sp>
        <p:nvSpPr>
          <p:cNvPr id="82" name="Shape 80"/>
          <p:cNvSpPr/>
          <p:nvPr/>
        </p:nvSpPr>
        <p:spPr>
          <a:xfrm>
            <a:off x="1606163" y="4917244"/>
            <a:ext cx="311460" cy="0"/>
          </a:xfrm>
          <a:prstGeom prst="line">
            <a:avLst/>
          </a:prstGeom>
          <a:noFill/>
          <a:ln w="25400">
            <a:solidFill>
              <a:srgbClr val="6A3D9A"/>
            </a:solidFill>
            <a:prstDash val="solid"/>
          </a:ln>
        </p:spPr>
      </p:sp>
      <p:sp>
        <p:nvSpPr>
          <p:cNvPr id="83" name="Shape 81"/>
          <p:cNvSpPr/>
          <p:nvPr/>
        </p:nvSpPr>
        <p:spPr>
          <a:xfrm>
            <a:off x="1916264" y="4946305"/>
            <a:ext cx="346792" cy="0"/>
          </a:xfrm>
          <a:prstGeom prst="line">
            <a:avLst/>
          </a:prstGeom>
          <a:noFill/>
          <a:ln w="25400">
            <a:solidFill>
              <a:srgbClr val="6A3D9A"/>
            </a:solidFill>
            <a:prstDash val="solid"/>
          </a:ln>
        </p:spPr>
      </p:sp>
      <p:sp>
        <p:nvSpPr>
          <p:cNvPr id="84" name="Shape 82"/>
          <p:cNvSpPr/>
          <p:nvPr/>
        </p:nvSpPr>
        <p:spPr>
          <a:xfrm>
            <a:off x="2226365" y="5101554"/>
            <a:ext cx="396939" cy="0"/>
          </a:xfrm>
          <a:prstGeom prst="line">
            <a:avLst/>
          </a:prstGeom>
          <a:noFill/>
          <a:ln w="25400">
            <a:solidFill>
              <a:srgbClr val="6A3D9A"/>
            </a:solidFill>
            <a:prstDash val="solid"/>
          </a:ln>
        </p:spPr>
      </p:sp>
      <p:sp>
        <p:nvSpPr>
          <p:cNvPr id="85" name="Shape 83"/>
          <p:cNvSpPr/>
          <p:nvPr/>
        </p:nvSpPr>
        <p:spPr>
          <a:xfrm>
            <a:off x="2536466" y="4853768"/>
            <a:ext cx="365513" cy="0"/>
          </a:xfrm>
          <a:prstGeom prst="line">
            <a:avLst/>
          </a:prstGeom>
          <a:noFill/>
          <a:ln w="25400">
            <a:solidFill>
              <a:srgbClr val="6A3D9A"/>
            </a:solidFill>
            <a:prstDash val="solid"/>
          </a:ln>
        </p:spPr>
      </p:sp>
      <p:sp>
        <p:nvSpPr>
          <p:cNvPr id="86" name="Shape 84"/>
          <p:cNvSpPr/>
          <p:nvPr/>
        </p:nvSpPr>
        <p:spPr>
          <a:xfrm>
            <a:off x="2846567" y="4660281"/>
            <a:ext cx="549393" cy="0"/>
          </a:xfrm>
          <a:prstGeom prst="line">
            <a:avLst/>
          </a:prstGeom>
          <a:noFill/>
          <a:ln w="25400">
            <a:solidFill>
              <a:srgbClr val="6A3D9A"/>
            </a:solidFill>
            <a:prstDash val="solid"/>
          </a:ln>
        </p:spPr>
      </p:sp>
      <p:sp>
        <p:nvSpPr>
          <p:cNvPr id="87" name="Shape 85"/>
          <p:cNvSpPr/>
          <p:nvPr/>
        </p:nvSpPr>
        <p:spPr>
          <a:xfrm>
            <a:off x="3156668" y="5113790"/>
            <a:ext cx="315086" cy="0"/>
          </a:xfrm>
          <a:prstGeom prst="line">
            <a:avLst/>
          </a:prstGeom>
          <a:noFill/>
          <a:ln w="25400">
            <a:solidFill>
              <a:srgbClr val="6A3D9A"/>
            </a:solidFill>
            <a:prstDash val="solid"/>
          </a:ln>
        </p:spPr>
      </p:sp>
      <p:sp>
        <p:nvSpPr>
          <p:cNvPr id="88" name="Shape 86"/>
          <p:cNvSpPr/>
          <p:nvPr/>
        </p:nvSpPr>
        <p:spPr>
          <a:xfrm>
            <a:off x="3466769" y="5169619"/>
            <a:ext cx="348870" cy="0"/>
          </a:xfrm>
          <a:prstGeom prst="line">
            <a:avLst/>
          </a:prstGeom>
          <a:noFill/>
          <a:ln w="25400">
            <a:solidFill>
              <a:srgbClr val="6A3D9A"/>
            </a:solidFill>
            <a:prstDash val="solid"/>
          </a:ln>
        </p:spPr>
      </p:sp>
      <p:sp>
        <p:nvSpPr>
          <p:cNvPr id="89" name="Shape 87"/>
          <p:cNvSpPr/>
          <p:nvPr/>
        </p:nvSpPr>
        <p:spPr>
          <a:xfrm>
            <a:off x="3776870" y="5009781"/>
            <a:ext cx="334792" cy="0"/>
          </a:xfrm>
          <a:prstGeom prst="line">
            <a:avLst/>
          </a:prstGeom>
          <a:noFill/>
          <a:ln w="25400">
            <a:solidFill>
              <a:srgbClr val="6A3D9A"/>
            </a:solidFill>
            <a:prstDash val="solid"/>
          </a:ln>
        </p:spPr>
      </p:sp>
      <p:sp>
        <p:nvSpPr>
          <p:cNvPr id="90" name="Shape 88"/>
          <p:cNvSpPr/>
          <p:nvPr/>
        </p:nvSpPr>
        <p:spPr>
          <a:xfrm>
            <a:off x="4086970" y="5135969"/>
            <a:ext cx="310690" cy="0"/>
          </a:xfrm>
          <a:prstGeom prst="line">
            <a:avLst/>
          </a:prstGeom>
          <a:noFill/>
          <a:ln w="25400">
            <a:solidFill>
              <a:srgbClr val="6A3D9A"/>
            </a:solidFill>
            <a:prstDash val="solid"/>
          </a:ln>
        </p:spPr>
      </p:sp>
      <p:sp>
        <p:nvSpPr>
          <p:cNvPr id="91" name="Shape 89"/>
          <p:cNvSpPr/>
          <p:nvPr/>
        </p:nvSpPr>
        <p:spPr>
          <a:xfrm>
            <a:off x="4397071" y="5155088"/>
            <a:ext cx="325416" cy="0"/>
          </a:xfrm>
          <a:prstGeom prst="line">
            <a:avLst/>
          </a:prstGeom>
          <a:noFill/>
          <a:ln w="25400">
            <a:solidFill>
              <a:srgbClr val="6A3D9A"/>
            </a:solidFill>
            <a:prstDash val="solid"/>
          </a:ln>
        </p:spPr>
      </p:sp>
      <p:sp>
        <p:nvSpPr>
          <p:cNvPr id="92" name="Shape 90"/>
          <p:cNvSpPr/>
          <p:nvPr/>
        </p:nvSpPr>
        <p:spPr>
          <a:xfrm>
            <a:off x="4707172" y="5056432"/>
            <a:ext cx="385748" cy="0"/>
          </a:xfrm>
          <a:prstGeom prst="line">
            <a:avLst/>
          </a:prstGeom>
          <a:noFill/>
          <a:ln w="25400">
            <a:solidFill>
              <a:srgbClr val="6A3D9A"/>
            </a:solidFill>
            <a:prstDash val="solid"/>
          </a:ln>
        </p:spPr>
      </p:sp>
      <p:sp>
        <p:nvSpPr>
          <p:cNvPr id="93" name="Shape 91"/>
          <p:cNvSpPr/>
          <p:nvPr/>
        </p:nvSpPr>
        <p:spPr>
          <a:xfrm>
            <a:off x="5017273" y="5285864"/>
            <a:ext cx="311921" cy="0"/>
          </a:xfrm>
          <a:prstGeom prst="line">
            <a:avLst/>
          </a:prstGeom>
          <a:noFill/>
          <a:ln w="25400">
            <a:solidFill>
              <a:srgbClr val="6A3D9A"/>
            </a:solidFill>
            <a:prstDash val="solid"/>
          </a:ln>
        </p:spPr>
      </p:sp>
      <p:sp>
        <p:nvSpPr>
          <p:cNvPr id="94" name="Shape 92"/>
          <p:cNvSpPr/>
          <p:nvPr/>
        </p:nvSpPr>
        <p:spPr>
          <a:xfrm>
            <a:off x="5327374" y="5319514"/>
            <a:ext cx="324501" cy="0"/>
          </a:xfrm>
          <a:prstGeom prst="line">
            <a:avLst/>
          </a:prstGeom>
          <a:noFill/>
          <a:ln w="25400">
            <a:solidFill>
              <a:srgbClr val="6A3D9A"/>
            </a:solidFill>
            <a:prstDash val="solid"/>
          </a:ln>
        </p:spPr>
      </p:sp>
      <p:sp>
        <p:nvSpPr>
          <p:cNvPr id="95" name="Shape 93"/>
          <p:cNvSpPr/>
          <p:nvPr/>
        </p:nvSpPr>
        <p:spPr>
          <a:xfrm>
            <a:off x="5637475" y="5223917"/>
            <a:ext cx="310948" cy="0"/>
          </a:xfrm>
          <a:prstGeom prst="line">
            <a:avLst/>
          </a:prstGeom>
          <a:noFill/>
          <a:ln w="25400">
            <a:solidFill>
              <a:srgbClr val="6A3D9A"/>
            </a:solidFill>
            <a:prstDash val="solid"/>
          </a:ln>
        </p:spPr>
      </p:sp>
      <p:sp>
        <p:nvSpPr>
          <p:cNvPr id="96" name="Shape 94"/>
          <p:cNvSpPr/>
          <p:nvPr/>
        </p:nvSpPr>
        <p:spPr>
          <a:xfrm>
            <a:off x="5947576" y="5200974"/>
            <a:ext cx="310116" cy="0"/>
          </a:xfrm>
          <a:prstGeom prst="line">
            <a:avLst/>
          </a:prstGeom>
          <a:noFill/>
          <a:ln w="25400">
            <a:solidFill>
              <a:srgbClr val="6A3D9A"/>
            </a:solidFill>
            <a:prstDash val="solid"/>
          </a:ln>
        </p:spPr>
      </p:sp>
      <p:sp>
        <p:nvSpPr>
          <p:cNvPr id="97" name="Shape 95"/>
          <p:cNvSpPr/>
          <p:nvPr/>
        </p:nvSpPr>
        <p:spPr>
          <a:xfrm>
            <a:off x="6257677" y="5197915"/>
            <a:ext cx="320912" cy="0"/>
          </a:xfrm>
          <a:prstGeom prst="line">
            <a:avLst/>
          </a:prstGeom>
          <a:noFill/>
          <a:ln w="25400">
            <a:solidFill>
              <a:srgbClr val="6A3D9A"/>
            </a:solidFill>
            <a:prstDash val="solid"/>
          </a:ln>
        </p:spPr>
      </p:sp>
      <p:sp>
        <p:nvSpPr>
          <p:cNvPr id="98" name="Shape 96"/>
          <p:cNvSpPr/>
          <p:nvPr/>
        </p:nvSpPr>
        <p:spPr>
          <a:xfrm>
            <a:off x="6567777" y="5280510"/>
            <a:ext cx="323179" cy="0"/>
          </a:xfrm>
          <a:prstGeom prst="line">
            <a:avLst/>
          </a:prstGeom>
          <a:noFill/>
          <a:ln w="25400">
            <a:solidFill>
              <a:srgbClr val="6A3D9A"/>
            </a:solidFill>
            <a:prstDash val="solid"/>
          </a:ln>
        </p:spPr>
      </p:sp>
      <p:sp>
        <p:nvSpPr>
          <p:cNvPr id="99" name="Shape 97"/>
          <p:cNvSpPr/>
          <p:nvPr/>
        </p:nvSpPr>
        <p:spPr>
          <a:xfrm>
            <a:off x="6877878" y="5189503"/>
            <a:ext cx="468385" cy="0"/>
          </a:xfrm>
          <a:prstGeom prst="line">
            <a:avLst/>
          </a:prstGeom>
          <a:noFill/>
          <a:ln w="25400">
            <a:solidFill>
              <a:srgbClr val="6A3D9A"/>
            </a:solidFill>
            <a:prstDash val="solid"/>
          </a:ln>
        </p:spPr>
      </p:sp>
      <p:sp>
        <p:nvSpPr>
          <p:cNvPr id="100" name="Shape 98"/>
          <p:cNvSpPr/>
          <p:nvPr/>
        </p:nvSpPr>
        <p:spPr>
          <a:xfrm>
            <a:off x="7187979" y="4838473"/>
            <a:ext cx="359960" cy="0"/>
          </a:xfrm>
          <a:prstGeom prst="line">
            <a:avLst/>
          </a:prstGeom>
          <a:noFill/>
          <a:ln w="25400">
            <a:solidFill>
              <a:srgbClr val="6A3D9A"/>
            </a:solidFill>
            <a:prstDash val="solid"/>
          </a:ln>
        </p:spPr>
      </p:sp>
      <p:sp>
        <p:nvSpPr>
          <p:cNvPr id="101" name="Shape 99"/>
          <p:cNvSpPr/>
          <p:nvPr/>
        </p:nvSpPr>
        <p:spPr>
          <a:xfrm>
            <a:off x="7772400" y="1417320"/>
            <a:ext cx="274320" cy="164592"/>
          </a:xfrm>
          <a:prstGeom prst="rect">
            <a:avLst/>
          </a:prstGeom>
          <a:solidFill>
            <a:srgbClr val="2A7ABF"/>
          </a:solidFill>
          <a:ln w="12700">
            <a:solidFill>
              <a:srgbClr val="2A7ABF"/>
            </a:solidFill>
            <a:prstDash val="solid"/>
          </a:ln>
        </p:spPr>
      </p:sp>
      <p:sp>
        <p:nvSpPr>
          <p:cNvPr id="102" name="Text 100"/>
          <p:cNvSpPr txBox="1"/>
          <p:nvPr/>
        </p:nvSpPr>
        <p:spPr>
          <a:xfrm>
            <a:off x="8119872" y="1389888"/>
            <a:ext cx="2286000" cy="219456"/>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Colombia</a:t>
            </a:r>
            <a:endParaRPr lang="en-US" sz="1100" dirty="0"/>
          </a:p>
        </p:txBody>
      </p:sp>
      <p:sp>
        <p:nvSpPr>
          <p:cNvPr id="103" name="Shape 101"/>
          <p:cNvSpPr/>
          <p:nvPr/>
        </p:nvSpPr>
        <p:spPr>
          <a:xfrm>
            <a:off x="7772400" y="1737360"/>
            <a:ext cx="274320" cy="164592"/>
          </a:xfrm>
          <a:prstGeom prst="rect">
            <a:avLst/>
          </a:prstGeom>
          <a:solidFill>
            <a:srgbClr val="1A9641"/>
          </a:solidFill>
          <a:ln w="12700">
            <a:solidFill>
              <a:srgbClr val="1A9641"/>
            </a:solidFill>
            <a:prstDash val="solid"/>
          </a:ln>
        </p:spPr>
      </p:sp>
      <p:sp>
        <p:nvSpPr>
          <p:cNvPr id="104" name="Text 102"/>
          <p:cNvSpPr txBox="1"/>
          <p:nvPr/>
        </p:nvSpPr>
        <p:spPr>
          <a:xfrm>
            <a:off x="8119872" y="1709928"/>
            <a:ext cx="2286000" cy="219456"/>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Rep. Dominicana</a:t>
            </a:r>
            <a:endParaRPr lang="en-US" sz="1100" dirty="0"/>
          </a:p>
        </p:txBody>
      </p:sp>
      <p:sp>
        <p:nvSpPr>
          <p:cNvPr id="105" name="Shape 103"/>
          <p:cNvSpPr/>
          <p:nvPr/>
        </p:nvSpPr>
        <p:spPr>
          <a:xfrm>
            <a:off x="7772400" y="2057400"/>
            <a:ext cx="274320" cy="164592"/>
          </a:xfrm>
          <a:prstGeom prst="rect">
            <a:avLst/>
          </a:prstGeom>
          <a:solidFill>
            <a:srgbClr val="6A3D9A"/>
          </a:solidFill>
          <a:ln w="12700">
            <a:solidFill>
              <a:srgbClr val="6A3D9A"/>
            </a:solidFill>
            <a:prstDash val="solid"/>
          </a:ln>
        </p:spPr>
      </p:sp>
      <p:sp>
        <p:nvSpPr>
          <p:cNvPr id="106" name="Text 104"/>
          <p:cNvSpPr txBox="1"/>
          <p:nvPr/>
        </p:nvSpPr>
        <p:spPr>
          <a:xfrm>
            <a:off x="8119872" y="2029968"/>
            <a:ext cx="2286000" cy="219456"/>
          </a:xfrm>
          <a:prstGeom prst="rect">
            <a:avLst/>
          </a:prstGeom>
          <a:noFill/>
          <a:ln/>
        </p:spPr>
        <p:txBody>
          <a:bodyPr wrap="square" rtlCol="0" anchor="ctr"/>
          <a:lstStyle/>
          <a:p>
            <a:pPr indent="0" marL="0">
              <a:buNone/>
            </a:pPr>
            <a:r>
              <a:rPr lang="en-US" sz="1100" dirty="0">
                <a:solidFill>
                  <a:srgbClr val="1E293B"/>
                </a:solidFill>
                <a:latin typeface="Calibri" pitchFamily="34" charset="0"/>
                <a:ea typeface="Calibri" pitchFamily="34" charset="-122"/>
                <a:cs typeface="Calibri" pitchFamily="34" charset="-120"/>
              </a:rPr>
              <a:t>Honduras</a:t>
            </a:r>
            <a:endParaRPr lang="en-US" sz="1100" dirty="0"/>
          </a:p>
        </p:txBody>
      </p:sp>
      <p:sp>
        <p:nvSpPr>
          <p:cNvPr id="107" name="Shape 105"/>
          <p:cNvSpPr/>
          <p:nvPr/>
        </p:nvSpPr>
        <p:spPr>
          <a:xfrm>
            <a:off x="7772400" y="2606040"/>
            <a:ext cx="4069080" cy="1188720"/>
          </a:xfrm>
          <a:prstGeom prst="rect">
            <a:avLst/>
          </a:prstGeom>
          <a:solidFill>
            <a:srgbClr val="EBF0F8"/>
          </a:solidFill>
          <a:ln w="12700">
            <a:solidFill>
              <a:srgbClr val="D1D5DB"/>
            </a:solidFill>
            <a:prstDash val="solid"/>
          </a:ln>
        </p:spPr>
      </p:sp>
      <p:sp>
        <p:nvSpPr>
          <p:cNvPr id="108" name="Text 106"/>
          <p:cNvSpPr txBox="1"/>
          <p:nvPr/>
        </p:nvSpPr>
        <p:spPr>
          <a:xfrm>
            <a:off x="7909560" y="2679192"/>
            <a:ext cx="3794760" cy="274320"/>
          </a:xfrm>
          <a:prstGeom prst="rect">
            <a:avLst/>
          </a:prstGeom>
          <a:noFill/>
          <a:ln/>
        </p:spPr>
        <p:txBody>
          <a:bodyPr wrap="square" rtlCol="0" anchor="ctr"/>
          <a:lstStyle/>
          <a:p>
            <a:pPr indent="0" marL="0">
              <a:buNone/>
            </a:pPr>
            <a:r>
              <a:rPr lang="en-US" sz="1100" b="1" dirty="0">
                <a:solidFill>
                  <a:srgbClr val="1B3A6B"/>
                </a:solidFill>
                <a:latin typeface="Calibri" pitchFamily="34" charset="0"/>
                <a:ea typeface="Calibri" pitchFamily="34" charset="-122"/>
                <a:cs typeface="Calibri" pitchFamily="34" charset="-120"/>
              </a:rPr>
              <a:t>Pico regional 2022</a:t>
            </a:r>
            <a:endParaRPr lang="en-US" sz="1100" dirty="0"/>
          </a:p>
        </p:txBody>
      </p:sp>
      <p:sp>
        <p:nvSpPr>
          <p:cNvPr id="109" name="Text 107"/>
          <p:cNvSpPr txBox="1"/>
          <p:nvPr/>
        </p:nvSpPr>
        <p:spPr>
          <a:xfrm>
            <a:off x="7909560" y="2971800"/>
            <a:ext cx="3794760" cy="731520"/>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La inflación post-pandemia golpeó toda la región. Colombia llegó a 11.7%, Honduras a 9.1%.</a:t>
            </a:r>
            <a:endParaRPr lang="en-US" sz="1000" dirty="0"/>
          </a:p>
        </p:txBody>
      </p:sp>
      <p:sp>
        <p:nvSpPr>
          <p:cNvPr id="110" name="Shape 108"/>
          <p:cNvSpPr/>
          <p:nvPr/>
        </p:nvSpPr>
        <p:spPr>
          <a:xfrm>
            <a:off x="7772400" y="3977640"/>
            <a:ext cx="4069080" cy="1188720"/>
          </a:xfrm>
          <a:prstGeom prst="rect">
            <a:avLst/>
          </a:prstGeom>
          <a:solidFill>
            <a:srgbClr val="EBF0F8"/>
          </a:solidFill>
          <a:ln w="12700">
            <a:solidFill>
              <a:srgbClr val="D1D5DB"/>
            </a:solidFill>
            <a:prstDash val="solid"/>
          </a:ln>
        </p:spPr>
      </p:sp>
      <p:sp>
        <p:nvSpPr>
          <p:cNvPr id="111" name="Text 109"/>
          <p:cNvSpPr txBox="1"/>
          <p:nvPr/>
        </p:nvSpPr>
        <p:spPr>
          <a:xfrm>
            <a:off x="7909560" y="4050792"/>
            <a:ext cx="3794760" cy="274320"/>
          </a:xfrm>
          <a:prstGeom prst="rect">
            <a:avLst/>
          </a:prstGeom>
          <a:noFill/>
          <a:ln/>
        </p:spPr>
        <p:txBody>
          <a:bodyPr wrap="square" rtlCol="0" anchor="ctr"/>
          <a:lstStyle/>
          <a:p>
            <a:pPr indent="0" marL="0">
              <a:buNone/>
            </a:pPr>
            <a:r>
              <a:rPr lang="en-US" sz="1100" b="1" dirty="0">
                <a:solidFill>
                  <a:srgbClr val="1B3A6B"/>
                </a:solidFill>
                <a:latin typeface="Calibri" pitchFamily="34" charset="0"/>
                <a:ea typeface="Calibri" pitchFamily="34" charset="-122"/>
                <a:cs typeface="Calibri" pitchFamily="34" charset="-120"/>
              </a:rPr>
              <a:t>Crisis Rep. Dom. 2003–04</a:t>
            </a:r>
            <a:endParaRPr lang="en-US" sz="1100" dirty="0"/>
          </a:p>
        </p:txBody>
      </p:sp>
      <p:sp>
        <p:nvSpPr>
          <p:cNvPr id="112" name="Text 110"/>
          <p:cNvSpPr txBox="1"/>
          <p:nvPr/>
        </p:nvSpPr>
        <p:spPr>
          <a:xfrm>
            <a:off x="7909560" y="4343400"/>
            <a:ext cx="3794760" cy="731520"/>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La inflación superó el 50% tras el colapso bancario. Caso extremo de volatilidad macroeconómica.</a:t>
            </a:r>
            <a:endParaRPr lang="en-US" sz="1000" dirty="0"/>
          </a:p>
        </p:txBody>
      </p:sp>
      <p:sp>
        <p:nvSpPr>
          <p:cNvPr id="113" name="Shape 111"/>
          <p:cNvSpPr/>
          <p:nvPr/>
        </p:nvSpPr>
        <p:spPr>
          <a:xfrm>
            <a:off x="7772400" y="5349240"/>
            <a:ext cx="4069080" cy="1188720"/>
          </a:xfrm>
          <a:prstGeom prst="rect">
            <a:avLst/>
          </a:prstGeom>
          <a:solidFill>
            <a:srgbClr val="EBF0F8"/>
          </a:solidFill>
          <a:ln w="12700">
            <a:solidFill>
              <a:srgbClr val="D1D5DB"/>
            </a:solidFill>
            <a:prstDash val="solid"/>
          </a:ln>
        </p:spPr>
      </p:sp>
      <p:sp>
        <p:nvSpPr>
          <p:cNvPr id="114" name="Text 112"/>
          <p:cNvSpPr txBox="1"/>
          <p:nvPr/>
        </p:nvSpPr>
        <p:spPr>
          <a:xfrm>
            <a:off x="7909560" y="5422392"/>
            <a:ext cx="3794760" cy="274320"/>
          </a:xfrm>
          <a:prstGeom prst="rect">
            <a:avLst/>
          </a:prstGeom>
          <a:noFill/>
          <a:ln/>
        </p:spPr>
        <p:txBody>
          <a:bodyPr wrap="square" rtlCol="0" anchor="ctr"/>
          <a:lstStyle/>
          <a:p>
            <a:pPr indent="0" marL="0">
              <a:buNone/>
            </a:pPr>
            <a:r>
              <a:rPr lang="en-US" sz="1100" b="1" dirty="0">
                <a:solidFill>
                  <a:srgbClr val="1B3A6B"/>
                </a:solidFill>
                <a:latin typeface="Calibri" pitchFamily="34" charset="0"/>
                <a:ea typeface="Calibri" pitchFamily="34" charset="-122"/>
                <a:cs typeface="Calibri" pitchFamily="34" charset="-120"/>
              </a:rPr>
              <a:t>Convergencia 2015–19</a:t>
            </a:r>
            <a:endParaRPr lang="en-US" sz="1100" dirty="0"/>
          </a:p>
        </p:txBody>
      </p:sp>
      <p:sp>
        <p:nvSpPr>
          <p:cNvPr id="115" name="Text 113"/>
          <p:cNvSpPr txBox="1"/>
          <p:nvPr/>
        </p:nvSpPr>
        <p:spPr>
          <a:xfrm>
            <a:off x="7909560" y="5715000"/>
            <a:ext cx="3794760" cy="731520"/>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Período de estabilidad regional antes del choque de 2020–2022.</a:t>
            </a:r>
            <a:endParaRPr lang="en-US" sz="1000" dirty="0"/>
          </a:p>
        </p:txBody>
      </p:sp>
      <p:sp>
        <p:nvSpPr>
          <p:cNvPr id="116" name="Shape 114"/>
          <p:cNvSpPr/>
          <p:nvPr/>
        </p:nvSpPr>
        <p:spPr>
          <a:xfrm>
            <a:off x="0" y="6565392"/>
            <a:ext cx="12161520" cy="292608"/>
          </a:xfrm>
          <a:prstGeom prst="rect">
            <a:avLst/>
          </a:prstGeom>
          <a:solidFill>
            <a:srgbClr val="1B3A6B"/>
          </a:solidFill>
          <a:ln/>
        </p:spPr>
      </p:sp>
      <p:sp>
        <p:nvSpPr>
          <p:cNvPr id="117" name="Text 115"/>
          <p:cNvSpPr txBox="1"/>
          <p:nvPr/>
        </p:nvSpPr>
        <p:spPr>
          <a:xfrm>
            <a:off x="228600" y="6592824"/>
            <a:ext cx="7315200" cy="228600"/>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Tec de Monterrey · Gobierno y Transformación Pública</a:t>
            </a:r>
            <a:endParaRPr lang="en-US" sz="800" dirty="0"/>
          </a:p>
        </p:txBody>
      </p:sp>
      <p:sp>
        <p:nvSpPr>
          <p:cNvPr id="118" name="Text 116"/>
          <p:cNvSpPr txBox="1"/>
          <p:nvPr/>
        </p:nvSpPr>
        <p:spPr>
          <a:xfrm>
            <a:off x="8686800" y="6592824"/>
            <a:ext cx="3291840" cy="228600"/>
          </a:xfrm>
          <a:prstGeom prst="rect">
            <a:avLst/>
          </a:prstGeom>
          <a:noFill/>
          <a:ln/>
        </p:spPr>
        <p:txBody>
          <a:bodyPr wrap="square" rtlCol="0" anchor="ctr"/>
          <a:lstStyle/>
          <a:p>
            <a:pPr algn="r" indent="0" marL="0">
              <a:buNone/>
            </a:pPr>
            <a:r>
              <a:rPr lang="en-US" sz="800" dirty="0">
                <a:solidFill>
                  <a:srgbClr val="E8A020"/>
                </a:solidFill>
                <a:latin typeface="Calibri" pitchFamily="34" charset="0"/>
                <a:ea typeface="Calibri" pitchFamily="34" charset="-122"/>
                <a:cs typeface="Calibri" pitchFamily="34" charset="-120"/>
              </a:rPr>
              <a:t>Fuente: World Bank WDI · wbgapi</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61520" cy="347472"/>
          </a:xfrm>
          <a:prstGeom prst="rect">
            <a:avLst/>
          </a:prstGeom>
          <a:solidFill>
            <a:srgbClr val="1B3A6B"/>
          </a:solidFill>
          <a:ln/>
        </p:spPr>
      </p:sp>
      <p:sp>
        <p:nvSpPr>
          <p:cNvPr id="3" name="Text 1"/>
          <p:cNvSpPr txBox="1"/>
          <p:nvPr/>
        </p:nvSpPr>
        <p:spPr>
          <a:xfrm>
            <a:off x="228600" y="36576"/>
            <a:ext cx="8229600" cy="27432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EO4040 — Introducción a la Ciencia de Datos para Economía</a:t>
            </a:r>
            <a:endParaRPr lang="en-US" sz="900" dirty="0"/>
          </a:p>
        </p:txBody>
      </p:sp>
      <p:sp>
        <p:nvSpPr>
          <p:cNvPr id="4" name="Text 2"/>
          <p:cNvSpPr txBox="1"/>
          <p:nvPr/>
        </p:nvSpPr>
        <p:spPr>
          <a:xfrm>
            <a:off x="8686800" y="36576"/>
            <a:ext cx="3291840" cy="274320"/>
          </a:xfrm>
          <a:prstGeom prst="rect">
            <a:avLst/>
          </a:prstGeom>
          <a:noFill/>
          <a:ln/>
        </p:spPr>
        <p:txBody>
          <a:bodyPr wrap="square" rtlCol="0" anchor="ctr"/>
          <a:lstStyle/>
          <a:p>
            <a:pPr algn="r" indent="0" marL="0">
              <a:buNone/>
            </a:pPr>
            <a:r>
              <a:rPr lang="en-US" sz="900" b="1" dirty="0">
                <a:solidFill>
                  <a:srgbClr val="E8A020"/>
                </a:solidFill>
                <a:latin typeface="Calibri" pitchFamily="34" charset="0"/>
                <a:ea typeface="Calibri" pitchFamily="34" charset="-122"/>
                <a:cs typeface="Calibri" pitchFamily="34" charset="-120"/>
              </a:rPr>
              <a:t>Sesión 4</a:t>
            </a:r>
            <a:endParaRPr lang="en-US" sz="900" dirty="0"/>
          </a:p>
        </p:txBody>
      </p:sp>
      <p:sp>
        <p:nvSpPr>
          <p:cNvPr id="5" name="Shape 3"/>
          <p:cNvSpPr/>
          <p:nvPr/>
        </p:nvSpPr>
        <p:spPr>
          <a:xfrm>
            <a:off x="320040" y="347472"/>
            <a:ext cx="1938528" cy="256032"/>
          </a:xfrm>
          <a:prstGeom prst="roundRect">
            <a:avLst>
              <a:gd name="adj" fmla="val 17857"/>
            </a:avLst>
          </a:prstGeom>
          <a:solidFill>
            <a:srgbClr val="2A7ABF"/>
          </a:solidFill>
          <a:ln/>
        </p:spPr>
      </p:sp>
      <p:sp>
        <p:nvSpPr>
          <p:cNvPr id="6" name="Text 4"/>
          <p:cNvSpPr txBox="1"/>
          <p:nvPr/>
        </p:nvSpPr>
        <p:spPr>
          <a:xfrm>
            <a:off x="365760" y="365760"/>
            <a:ext cx="1847088" cy="219456"/>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Descomposición</a:t>
            </a:r>
            <a:endParaRPr lang="en-US" sz="850" dirty="0"/>
          </a:p>
        </p:txBody>
      </p:sp>
      <p:sp>
        <p:nvSpPr>
          <p:cNvPr id="7" name="Text 5"/>
          <p:cNvSpPr txBox="1"/>
          <p:nvPr/>
        </p:nvSpPr>
        <p:spPr>
          <a:xfrm>
            <a:off x="320040" y="658368"/>
            <a:ext cx="10972800" cy="457200"/>
          </a:xfrm>
          <a:prstGeom prst="rect">
            <a:avLst/>
          </a:prstGeom>
          <a:noFill/>
          <a:ln/>
        </p:spPr>
        <p:txBody>
          <a:bodyPr wrap="square" rtlCol="0" anchor="ctr"/>
          <a:lstStyle/>
          <a:p>
            <a:pPr indent="0" marL="0">
              <a:buNone/>
            </a:pPr>
            <a:r>
              <a:rPr lang="en-US" sz="2400" b="1" dirty="0">
                <a:solidFill>
                  <a:srgbClr val="1B3A6B"/>
                </a:solidFill>
                <a:latin typeface="Calibri" pitchFamily="34" charset="0"/>
                <a:ea typeface="Calibri" pitchFamily="34" charset="-122"/>
                <a:cs typeface="Calibri" pitchFamily="34" charset="-120"/>
              </a:rPr>
              <a:t>Separar los componentes: seasonal_decompose</a:t>
            </a:r>
            <a:endParaRPr lang="en-US" sz="2400" dirty="0"/>
          </a:p>
        </p:txBody>
      </p:sp>
      <p:sp>
        <p:nvSpPr>
          <p:cNvPr id="8" name="Shape 6"/>
          <p:cNvSpPr/>
          <p:nvPr/>
        </p:nvSpPr>
        <p:spPr>
          <a:xfrm>
            <a:off x="320040" y="1298448"/>
            <a:ext cx="5943600" cy="4251960"/>
          </a:xfrm>
          <a:prstGeom prst="rect">
            <a:avLst/>
          </a:prstGeom>
          <a:solidFill>
            <a:srgbClr val="1E2D40"/>
          </a:solidFill>
          <a:ln w="12700">
            <a:solidFill>
              <a:srgbClr val="2A7ABF"/>
            </a:solidFill>
            <a:prstDash val="solid"/>
          </a:ln>
        </p:spPr>
      </p:sp>
      <p:sp>
        <p:nvSpPr>
          <p:cNvPr id="9" name="Text 7"/>
          <p:cNvSpPr txBox="1"/>
          <p:nvPr/>
        </p:nvSpPr>
        <p:spPr>
          <a:xfrm>
            <a:off x="429768" y="1389888"/>
            <a:ext cx="5724144" cy="4069080"/>
          </a:xfrm>
          <a:prstGeom prst="rect">
            <a:avLst/>
          </a:prstGeom>
          <a:noFill/>
          <a:ln/>
        </p:spPr>
        <p:txBody>
          <a:bodyPr wrap="square" rtlCol="0" anchor="t"/>
          <a:lstStyle/>
          <a:p>
            <a:pPr indent="0" marL="0">
              <a:buNone/>
            </a:pPr>
            <a:r>
              <a:rPr lang="en-US" sz="850" dirty="0">
                <a:solidFill>
                  <a:srgbClr val="A8D8F0"/>
                </a:solidFill>
                <a:latin typeface="Courier New" pitchFamily="34" charset="0"/>
                <a:ea typeface="Courier New" pitchFamily="34" charset="-122"/>
                <a:cs typeface="Courier New" pitchFamily="34" charset="-120"/>
              </a:rPr>
              <a:t>import wbgapi as wb</a:t>
            </a: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import pandas as pd</a:t>
            </a: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from statsmodels.tsa.seasonal import seasonal_decompose</a:t>
            </a: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import matplotlib.pyplot as plt</a:t>
            </a:r>
            <a:endParaRPr lang="en-US" sz="850" dirty="0"/>
          </a:p>
          <a:p>
            <a:pPr indent="0" marL="0">
              <a:buNone/>
            </a:pP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 Descargar inflación mensual Colombia (IPC mensual)</a:t>
            </a: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df = wb.data.DataFrame('FP.CPI.TOTL.ZG',</a:t>
            </a: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                        economy='COL',</a:t>
            </a: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                        time=range(2005, 2024))</a:t>
            </a: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df = df.T.squeeze().dropna()</a:t>
            </a: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df.index = pd.period_range(start='2005', periods=len(df), freq='A')</a:t>
            </a: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series = df.astype(float)</a:t>
            </a:r>
            <a:endParaRPr lang="en-US" sz="850" dirty="0"/>
          </a:p>
          <a:p>
            <a:pPr indent="0" marL="0">
              <a:buNone/>
            </a:pP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 Descomposición aditiva</a:t>
            </a: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result = seasonal_decompose(series, model='additive', period=1)</a:t>
            </a:r>
            <a:endParaRPr lang="en-US" sz="850" dirty="0"/>
          </a:p>
          <a:p>
            <a:pPr indent="0" marL="0">
              <a:buNone/>
            </a:pP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fig, axes = plt.subplots(4, 1, figsize=(10, 8), sharex=True)</a:t>
            </a: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result.observed.plot(ax=axes[0], title='Serie original',   color='#1B3A6B')</a:t>
            </a: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result.trend.plot(ax=axes[1],    title='Tendencia',        color='#2A7ABF')</a:t>
            </a: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result.seasonal.plot(ax=axes[2], title='Estacionalidad',   color='#1A9641')</a:t>
            </a: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result.resid.plot(ax=axes[3],    title='Residuo (ruido)',  color='#C0392B')</a:t>
            </a: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plt.tight_layout()</a:t>
            </a: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plt.show()</a:t>
            </a:r>
            <a:endParaRPr lang="en-US" sz="850" dirty="0"/>
          </a:p>
        </p:txBody>
      </p:sp>
      <p:sp>
        <p:nvSpPr>
          <p:cNvPr id="10" name="Text 8"/>
          <p:cNvSpPr txBox="1"/>
          <p:nvPr/>
        </p:nvSpPr>
        <p:spPr>
          <a:xfrm>
            <a:off x="6492240" y="1298448"/>
            <a:ext cx="5349240" cy="320040"/>
          </a:xfrm>
          <a:prstGeom prst="rect">
            <a:avLst/>
          </a:prstGeom>
          <a:noFill/>
          <a:ln/>
        </p:spPr>
        <p:txBody>
          <a:bodyPr wrap="square" rtlCol="0" anchor="ctr"/>
          <a:lstStyle/>
          <a:p>
            <a:pPr indent="0" marL="0">
              <a:buNone/>
            </a:pPr>
            <a:r>
              <a:rPr lang="en-US" sz="1300" b="1" dirty="0">
                <a:solidFill>
                  <a:srgbClr val="1B3A6B"/>
                </a:solidFill>
                <a:latin typeface="Calibri" pitchFamily="34" charset="0"/>
                <a:ea typeface="Calibri" pitchFamily="34" charset="-122"/>
                <a:cs typeface="Calibri" pitchFamily="34" charset="-120"/>
              </a:rPr>
              <a:t>¿Qué devuelve seasonal_decompose?</a:t>
            </a:r>
            <a:endParaRPr lang="en-US" sz="1300" dirty="0"/>
          </a:p>
        </p:txBody>
      </p:sp>
      <p:sp>
        <p:nvSpPr>
          <p:cNvPr id="11" name="Shape 9"/>
          <p:cNvSpPr/>
          <p:nvPr/>
        </p:nvSpPr>
        <p:spPr>
          <a:xfrm>
            <a:off x="6492240" y="1737360"/>
            <a:ext cx="182880" cy="640080"/>
          </a:xfrm>
          <a:prstGeom prst="rect">
            <a:avLst/>
          </a:prstGeom>
          <a:solidFill>
            <a:srgbClr val="1B3A6B"/>
          </a:solidFill>
          <a:ln w="12700">
            <a:solidFill>
              <a:srgbClr val="1B3A6B"/>
            </a:solidFill>
            <a:prstDash val="solid"/>
          </a:ln>
        </p:spPr>
      </p:sp>
      <p:sp>
        <p:nvSpPr>
          <p:cNvPr id="12" name="Text 10"/>
          <p:cNvSpPr txBox="1"/>
          <p:nvPr/>
        </p:nvSpPr>
        <p:spPr>
          <a:xfrm>
            <a:off x="6784848" y="1737360"/>
            <a:ext cx="5029200" cy="256032"/>
          </a:xfrm>
          <a:prstGeom prst="rect">
            <a:avLst/>
          </a:prstGeom>
          <a:noFill/>
          <a:ln/>
        </p:spPr>
        <p:txBody>
          <a:bodyPr wrap="square" rtlCol="0" anchor="ctr"/>
          <a:lstStyle/>
          <a:p>
            <a:pPr indent="0" marL="0">
              <a:buNone/>
            </a:pPr>
            <a:r>
              <a:rPr lang="en-US" sz="1200" b="1" dirty="0">
                <a:solidFill>
                  <a:srgbClr val="1B3A6B"/>
                </a:solidFill>
                <a:latin typeface="Calibri" pitchFamily="34" charset="0"/>
                <a:ea typeface="Calibri" pitchFamily="34" charset="-122"/>
                <a:cs typeface="Calibri" pitchFamily="34" charset="-120"/>
              </a:rPr>
              <a:t>Serie original</a:t>
            </a:r>
            <a:endParaRPr lang="en-US" sz="1200" dirty="0"/>
          </a:p>
        </p:txBody>
      </p:sp>
      <p:sp>
        <p:nvSpPr>
          <p:cNvPr id="13" name="Text 11"/>
          <p:cNvSpPr txBox="1"/>
          <p:nvPr/>
        </p:nvSpPr>
        <p:spPr>
          <a:xfrm>
            <a:off x="6784848" y="2011680"/>
            <a:ext cx="5029200" cy="329184"/>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La serie completa tal como viene de los datos.</a:t>
            </a:r>
            <a:endParaRPr lang="en-US" sz="1000" dirty="0"/>
          </a:p>
        </p:txBody>
      </p:sp>
      <p:sp>
        <p:nvSpPr>
          <p:cNvPr id="14" name="Shape 12"/>
          <p:cNvSpPr/>
          <p:nvPr/>
        </p:nvSpPr>
        <p:spPr>
          <a:xfrm>
            <a:off x="6492240" y="2697480"/>
            <a:ext cx="182880" cy="640080"/>
          </a:xfrm>
          <a:prstGeom prst="rect">
            <a:avLst/>
          </a:prstGeom>
          <a:solidFill>
            <a:srgbClr val="2A7ABF"/>
          </a:solidFill>
          <a:ln w="12700">
            <a:solidFill>
              <a:srgbClr val="2A7ABF"/>
            </a:solidFill>
            <a:prstDash val="solid"/>
          </a:ln>
        </p:spPr>
      </p:sp>
      <p:sp>
        <p:nvSpPr>
          <p:cNvPr id="15" name="Text 13"/>
          <p:cNvSpPr txBox="1"/>
          <p:nvPr/>
        </p:nvSpPr>
        <p:spPr>
          <a:xfrm>
            <a:off x="6784848" y="2697480"/>
            <a:ext cx="5029200" cy="256032"/>
          </a:xfrm>
          <a:prstGeom prst="rect">
            <a:avLst/>
          </a:prstGeom>
          <a:noFill/>
          <a:ln/>
        </p:spPr>
        <p:txBody>
          <a:bodyPr wrap="square" rtlCol="0" anchor="ctr"/>
          <a:lstStyle/>
          <a:p>
            <a:pPr indent="0" marL="0">
              <a:buNone/>
            </a:pPr>
            <a:r>
              <a:rPr lang="en-US" sz="1200" b="1" dirty="0">
                <a:solidFill>
                  <a:srgbClr val="2A7ABF"/>
                </a:solidFill>
                <a:latin typeface="Calibri" pitchFamily="34" charset="0"/>
                <a:ea typeface="Calibri" pitchFamily="34" charset="-122"/>
                <a:cs typeface="Calibri" pitchFamily="34" charset="-120"/>
              </a:rPr>
              <a:t>Tendencia</a:t>
            </a:r>
            <a:endParaRPr lang="en-US" sz="1200" dirty="0"/>
          </a:p>
        </p:txBody>
      </p:sp>
      <p:sp>
        <p:nvSpPr>
          <p:cNvPr id="16" name="Text 14"/>
          <p:cNvSpPr txBox="1"/>
          <p:nvPr/>
        </p:nvSpPr>
        <p:spPr>
          <a:xfrm>
            <a:off x="6784848" y="2971800"/>
            <a:ext cx="5029200" cy="329184"/>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El movimiento suavizado de largo plazo. Sube, baja o es estable.</a:t>
            </a:r>
            <a:endParaRPr lang="en-US" sz="1000" dirty="0"/>
          </a:p>
        </p:txBody>
      </p:sp>
      <p:sp>
        <p:nvSpPr>
          <p:cNvPr id="17" name="Shape 15"/>
          <p:cNvSpPr/>
          <p:nvPr/>
        </p:nvSpPr>
        <p:spPr>
          <a:xfrm>
            <a:off x="6492240" y="3657600"/>
            <a:ext cx="182880" cy="640080"/>
          </a:xfrm>
          <a:prstGeom prst="rect">
            <a:avLst/>
          </a:prstGeom>
          <a:solidFill>
            <a:srgbClr val="1A9641"/>
          </a:solidFill>
          <a:ln w="12700">
            <a:solidFill>
              <a:srgbClr val="1A9641"/>
            </a:solidFill>
            <a:prstDash val="solid"/>
          </a:ln>
        </p:spPr>
      </p:sp>
      <p:sp>
        <p:nvSpPr>
          <p:cNvPr id="18" name="Text 16"/>
          <p:cNvSpPr txBox="1"/>
          <p:nvPr/>
        </p:nvSpPr>
        <p:spPr>
          <a:xfrm>
            <a:off x="6784848" y="3657600"/>
            <a:ext cx="5029200" cy="256032"/>
          </a:xfrm>
          <a:prstGeom prst="rect">
            <a:avLst/>
          </a:prstGeom>
          <a:noFill/>
          <a:ln/>
        </p:spPr>
        <p:txBody>
          <a:bodyPr wrap="square" rtlCol="0" anchor="ctr"/>
          <a:lstStyle/>
          <a:p>
            <a:pPr indent="0" marL="0">
              <a:buNone/>
            </a:pPr>
            <a:r>
              <a:rPr lang="en-US" sz="1200" b="1" dirty="0">
                <a:solidFill>
                  <a:srgbClr val="1A9641"/>
                </a:solidFill>
                <a:latin typeface="Calibri" pitchFamily="34" charset="0"/>
                <a:ea typeface="Calibri" pitchFamily="34" charset="-122"/>
                <a:cs typeface="Calibri" pitchFamily="34" charset="-120"/>
              </a:rPr>
              <a:t>Estacionalidad</a:t>
            </a:r>
            <a:endParaRPr lang="en-US" sz="1200" dirty="0"/>
          </a:p>
        </p:txBody>
      </p:sp>
      <p:sp>
        <p:nvSpPr>
          <p:cNvPr id="19" name="Text 17"/>
          <p:cNvSpPr txBox="1"/>
          <p:nvPr/>
        </p:nvSpPr>
        <p:spPr>
          <a:xfrm>
            <a:off x="6784848" y="3931920"/>
            <a:ext cx="5029200" cy="329184"/>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Patrón periódico que se repite (anual, trimestral, etc.).</a:t>
            </a:r>
            <a:endParaRPr lang="en-US" sz="1000" dirty="0"/>
          </a:p>
        </p:txBody>
      </p:sp>
      <p:sp>
        <p:nvSpPr>
          <p:cNvPr id="20" name="Shape 18"/>
          <p:cNvSpPr/>
          <p:nvPr/>
        </p:nvSpPr>
        <p:spPr>
          <a:xfrm>
            <a:off x="6492240" y="4617720"/>
            <a:ext cx="182880" cy="640080"/>
          </a:xfrm>
          <a:prstGeom prst="rect">
            <a:avLst/>
          </a:prstGeom>
          <a:solidFill>
            <a:srgbClr val="C0392B"/>
          </a:solidFill>
          <a:ln w="12700">
            <a:solidFill>
              <a:srgbClr val="C0392B"/>
            </a:solidFill>
            <a:prstDash val="solid"/>
          </a:ln>
        </p:spPr>
      </p:sp>
      <p:sp>
        <p:nvSpPr>
          <p:cNvPr id="21" name="Text 19"/>
          <p:cNvSpPr txBox="1"/>
          <p:nvPr/>
        </p:nvSpPr>
        <p:spPr>
          <a:xfrm>
            <a:off x="6784848" y="4617720"/>
            <a:ext cx="5029200" cy="256032"/>
          </a:xfrm>
          <a:prstGeom prst="rect">
            <a:avLst/>
          </a:prstGeom>
          <a:noFill/>
          <a:ln/>
        </p:spPr>
        <p:txBody>
          <a:bodyPr wrap="square"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Residuo</a:t>
            </a:r>
            <a:endParaRPr lang="en-US" sz="1200" dirty="0"/>
          </a:p>
        </p:txBody>
      </p:sp>
      <p:sp>
        <p:nvSpPr>
          <p:cNvPr id="22" name="Text 20"/>
          <p:cNvSpPr txBox="1"/>
          <p:nvPr/>
        </p:nvSpPr>
        <p:spPr>
          <a:xfrm>
            <a:off x="6784848" y="4892040"/>
            <a:ext cx="5029200" cy="329184"/>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Lo que queda después de quitar tendencia y estacionalidad. Idealmente, ruido blanco.</a:t>
            </a:r>
            <a:endParaRPr lang="en-US" sz="1000" dirty="0"/>
          </a:p>
        </p:txBody>
      </p:sp>
      <p:sp>
        <p:nvSpPr>
          <p:cNvPr id="23" name="Shape 21"/>
          <p:cNvSpPr/>
          <p:nvPr/>
        </p:nvSpPr>
        <p:spPr>
          <a:xfrm>
            <a:off x="6492240" y="5212080"/>
            <a:ext cx="5349240" cy="685800"/>
          </a:xfrm>
          <a:prstGeom prst="rect">
            <a:avLst/>
          </a:prstGeom>
          <a:solidFill>
            <a:srgbClr val="FFF8E1"/>
          </a:solidFill>
          <a:ln w="12700">
            <a:solidFill>
              <a:srgbClr val="E8A020"/>
            </a:solidFill>
            <a:prstDash val="solid"/>
          </a:ln>
        </p:spPr>
      </p:sp>
      <p:sp>
        <p:nvSpPr>
          <p:cNvPr id="24" name="Text 22"/>
          <p:cNvSpPr txBox="1"/>
          <p:nvPr/>
        </p:nvSpPr>
        <p:spPr>
          <a:xfrm>
            <a:off x="6583680" y="5257800"/>
            <a:ext cx="5166360" cy="594360"/>
          </a:xfrm>
          <a:prstGeom prst="rect">
            <a:avLst/>
          </a:prstGeom>
          <a:noFill/>
          <a:ln/>
        </p:spPr>
        <p:txBody>
          <a:bodyPr wrap="square" rtlCol="0" anchor="ctr"/>
          <a:lstStyle/>
          <a:p>
            <a:pPr indent="0" marL="0">
              <a:buNone/>
            </a:pPr>
            <a:r>
              <a:rPr lang="en-US" sz="950" dirty="0">
                <a:solidFill>
                  <a:srgbClr val="8B6914"/>
                </a:solidFill>
                <a:latin typeface="Calibri" pitchFamily="34" charset="0"/>
                <a:ea typeface="Calibri" pitchFamily="34" charset="-122"/>
                <a:cs typeface="Calibri" pitchFamily="34" charset="-120"/>
              </a:rPr>
              <a:t>⚠  Con datos anuales el period=1 no captura estacionalidad real. Para ver estacionalidad se necesitan datos mensuales o trimestrales.</a:t>
            </a:r>
            <a:endParaRPr lang="en-US" sz="950" dirty="0"/>
          </a:p>
        </p:txBody>
      </p:sp>
      <p:sp>
        <p:nvSpPr>
          <p:cNvPr id="25" name="Shape 23"/>
          <p:cNvSpPr/>
          <p:nvPr/>
        </p:nvSpPr>
        <p:spPr>
          <a:xfrm>
            <a:off x="0" y="6565392"/>
            <a:ext cx="12161520" cy="292608"/>
          </a:xfrm>
          <a:prstGeom prst="rect">
            <a:avLst/>
          </a:prstGeom>
          <a:solidFill>
            <a:srgbClr val="1B3A6B"/>
          </a:solidFill>
          <a:ln/>
        </p:spPr>
      </p:sp>
      <p:sp>
        <p:nvSpPr>
          <p:cNvPr id="26" name="Text 24"/>
          <p:cNvSpPr txBox="1"/>
          <p:nvPr/>
        </p:nvSpPr>
        <p:spPr>
          <a:xfrm>
            <a:off x="228600" y="6592824"/>
            <a:ext cx="7315200" cy="228600"/>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Tec de Monterrey · Gobierno y Transformación Pública</a:t>
            </a:r>
            <a:endParaRPr lang="en-US" sz="800" dirty="0"/>
          </a:p>
        </p:txBody>
      </p:sp>
      <p:sp>
        <p:nvSpPr>
          <p:cNvPr id="27" name="Text 25"/>
          <p:cNvSpPr txBox="1"/>
          <p:nvPr/>
        </p:nvSpPr>
        <p:spPr>
          <a:xfrm>
            <a:off x="8686800" y="6592824"/>
            <a:ext cx="3291840" cy="228600"/>
          </a:xfrm>
          <a:prstGeom prst="rect">
            <a:avLst/>
          </a:prstGeom>
          <a:noFill/>
          <a:ln/>
        </p:spPr>
        <p:txBody>
          <a:bodyPr wrap="square" rtlCol="0" anchor="ctr"/>
          <a:lstStyle/>
          <a:p>
            <a:pPr algn="r" indent="0" marL="0">
              <a:buNone/>
            </a:pPr>
            <a:r>
              <a:rPr lang="en-US" sz="800" dirty="0">
                <a:solidFill>
                  <a:srgbClr val="E8A020"/>
                </a:solidFill>
                <a:latin typeface="Calibri" pitchFamily="34" charset="0"/>
                <a:ea typeface="Calibri" pitchFamily="34" charset="-122"/>
                <a:cs typeface="Calibri" pitchFamily="34" charset="-120"/>
              </a:rPr>
              <a:t>Sesión 4 — Series de Tiempo</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61520" cy="347472"/>
          </a:xfrm>
          <a:prstGeom prst="rect">
            <a:avLst/>
          </a:prstGeom>
          <a:solidFill>
            <a:srgbClr val="1B3A6B"/>
          </a:solidFill>
          <a:ln/>
        </p:spPr>
      </p:sp>
      <p:sp>
        <p:nvSpPr>
          <p:cNvPr id="3" name="Text 1"/>
          <p:cNvSpPr txBox="1"/>
          <p:nvPr/>
        </p:nvSpPr>
        <p:spPr>
          <a:xfrm>
            <a:off x="228600" y="36576"/>
            <a:ext cx="8229600" cy="27432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EO4040 — Introducción a la Ciencia de Datos para Economía</a:t>
            </a:r>
            <a:endParaRPr lang="en-US" sz="900" dirty="0"/>
          </a:p>
        </p:txBody>
      </p:sp>
      <p:sp>
        <p:nvSpPr>
          <p:cNvPr id="4" name="Text 2"/>
          <p:cNvSpPr txBox="1"/>
          <p:nvPr/>
        </p:nvSpPr>
        <p:spPr>
          <a:xfrm>
            <a:off x="8686800" y="36576"/>
            <a:ext cx="3291840" cy="274320"/>
          </a:xfrm>
          <a:prstGeom prst="rect">
            <a:avLst/>
          </a:prstGeom>
          <a:noFill/>
          <a:ln/>
        </p:spPr>
        <p:txBody>
          <a:bodyPr wrap="square" rtlCol="0" anchor="ctr"/>
          <a:lstStyle/>
          <a:p>
            <a:pPr algn="r" indent="0" marL="0">
              <a:buNone/>
            </a:pPr>
            <a:r>
              <a:rPr lang="en-US" sz="900" b="1" dirty="0">
                <a:solidFill>
                  <a:srgbClr val="E8A020"/>
                </a:solidFill>
                <a:latin typeface="Calibri" pitchFamily="34" charset="0"/>
                <a:ea typeface="Calibri" pitchFamily="34" charset="-122"/>
                <a:cs typeface="Calibri" pitchFamily="34" charset="-120"/>
              </a:rPr>
              <a:t>Sesión 4</a:t>
            </a:r>
            <a:endParaRPr lang="en-US" sz="900" dirty="0"/>
          </a:p>
        </p:txBody>
      </p:sp>
      <p:sp>
        <p:nvSpPr>
          <p:cNvPr id="5" name="Shape 3"/>
          <p:cNvSpPr/>
          <p:nvPr/>
        </p:nvSpPr>
        <p:spPr>
          <a:xfrm>
            <a:off x="320040" y="347472"/>
            <a:ext cx="1938528" cy="256032"/>
          </a:xfrm>
          <a:prstGeom prst="roundRect">
            <a:avLst>
              <a:gd name="adj" fmla="val 17857"/>
            </a:avLst>
          </a:prstGeom>
          <a:solidFill>
            <a:srgbClr val="2A7ABF"/>
          </a:solidFill>
          <a:ln/>
        </p:spPr>
      </p:sp>
      <p:sp>
        <p:nvSpPr>
          <p:cNvPr id="6" name="Text 4"/>
          <p:cNvSpPr txBox="1"/>
          <p:nvPr/>
        </p:nvSpPr>
        <p:spPr>
          <a:xfrm>
            <a:off x="365760" y="365760"/>
            <a:ext cx="1847088" cy="219456"/>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Estacionalidad</a:t>
            </a:r>
            <a:endParaRPr lang="en-US" sz="850" dirty="0"/>
          </a:p>
        </p:txBody>
      </p:sp>
      <p:sp>
        <p:nvSpPr>
          <p:cNvPr id="7" name="Text 5"/>
          <p:cNvSpPr txBox="1"/>
          <p:nvPr/>
        </p:nvSpPr>
        <p:spPr>
          <a:xfrm>
            <a:off x="320040" y="658368"/>
            <a:ext cx="10972800" cy="457200"/>
          </a:xfrm>
          <a:prstGeom prst="rect">
            <a:avLst/>
          </a:prstGeom>
          <a:noFill/>
          <a:ln/>
        </p:spPr>
        <p:txBody>
          <a:bodyPr wrap="square" rtlCol="0" anchor="ctr"/>
          <a:lstStyle/>
          <a:p>
            <a:pPr indent="0" marL="0">
              <a:buNone/>
            </a:pPr>
            <a:r>
              <a:rPr lang="en-US" sz="2400" b="1" dirty="0">
                <a:solidFill>
                  <a:srgbClr val="1B3A6B"/>
                </a:solidFill>
                <a:latin typeface="Calibri" pitchFamily="34" charset="0"/>
                <a:ea typeface="Calibri" pitchFamily="34" charset="-122"/>
                <a:cs typeface="Calibri" pitchFamily="34" charset="-120"/>
              </a:rPr>
              <a:t>PIB trimestral: donde la estacionalidad sí aparece</a:t>
            </a:r>
            <a:endParaRPr lang="en-US" sz="2400" dirty="0"/>
          </a:p>
        </p:txBody>
      </p:sp>
      <p:sp>
        <p:nvSpPr>
          <p:cNvPr id="8" name="Text 6"/>
          <p:cNvSpPr txBox="1"/>
          <p:nvPr/>
        </p:nvSpPr>
        <p:spPr>
          <a:xfrm>
            <a:off x="320040" y="1188720"/>
            <a:ext cx="11430000" cy="320040"/>
          </a:xfrm>
          <a:prstGeom prst="rect">
            <a:avLst/>
          </a:prstGeom>
          <a:noFill/>
          <a:ln/>
        </p:spPr>
        <p:txBody>
          <a:bodyPr wrap="square"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Con datos anuales la estacionalidad es invisible. Con datos trimestrales o mensuales emerge el patrón.</a:t>
            </a:r>
            <a:endParaRPr lang="en-US" sz="1200" dirty="0"/>
          </a:p>
        </p:txBody>
      </p:sp>
      <p:sp>
        <p:nvSpPr>
          <p:cNvPr id="9" name="Shape 7"/>
          <p:cNvSpPr/>
          <p:nvPr/>
        </p:nvSpPr>
        <p:spPr>
          <a:xfrm>
            <a:off x="365760" y="1600200"/>
            <a:ext cx="6583680" cy="3931920"/>
          </a:xfrm>
          <a:prstGeom prst="rect">
            <a:avLst/>
          </a:prstGeom>
          <a:solidFill>
            <a:srgbClr val="FFFFFF"/>
          </a:solidFill>
          <a:ln w="12700">
            <a:solidFill>
              <a:srgbClr val="D1D5DB"/>
            </a:solidFill>
            <a:prstDash val="solid"/>
          </a:ln>
        </p:spPr>
      </p:sp>
      <p:sp>
        <p:nvSpPr>
          <p:cNvPr id="10" name="Shape 8"/>
          <p:cNvSpPr/>
          <p:nvPr/>
        </p:nvSpPr>
        <p:spPr>
          <a:xfrm>
            <a:off x="365760" y="3566160"/>
            <a:ext cx="6583680" cy="0"/>
          </a:xfrm>
          <a:prstGeom prst="line">
            <a:avLst/>
          </a:prstGeom>
          <a:noFill/>
          <a:ln w="12700">
            <a:solidFill>
              <a:srgbClr val="D1D5DB"/>
            </a:solidFill>
            <a:prstDash val="solid"/>
          </a:ln>
        </p:spPr>
      </p:sp>
      <p:sp>
        <p:nvSpPr>
          <p:cNvPr id="11" name="Text 9"/>
          <p:cNvSpPr txBox="1"/>
          <p:nvPr/>
        </p:nvSpPr>
        <p:spPr>
          <a:xfrm>
            <a:off x="18288" y="3456432"/>
            <a:ext cx="310896" cy="219456"/>
          </a:xfrm>
          <a:prstGeom prst="rect">
            <a:avLst/>
          </a:prstGeom>
          <a:noFill/>
          <a:ln/>
        </p:spPr>
        <p:txBody>
          <a:bodyPr wrap="square" rtlCol="0" anchor="ctr"/>
          <a:lstStyle/>
          <a:p>
            <a:pPr algn="r" indent="0" marL="0">
              <a:buNone/>
            </a:pPr>
            <a:r>
              <a:rPr lang="en-US" sz="750" dirty="0">
                <a:solidFill>
                  <a:srgbClr val="6B7280"/>
                </a:solidFill>
                <a:latin typeface="Calibri" pitchFamily="34" charset="0"/>
                <a:ea typeface="Calibri" pitchFamily="34" charset="-122"/>
                <a:cs typeface="Calibri" pitchFamily="34" charset="-120"/>
              </a:rPr>
              <a:t>0%</a:t>
            </a:r>
            <a:endParaRPr lang="en-US" sz="750" dirty="0"/>
          </a:p>
        </p:txBody>
      </p:sp>
      <p:sp>
        <p:nvSpPr>
          <p:cNvPr id="12" name="Shape 10"/>
          <p:cNvSpPr/>
          <p:nvPr/>
        </p:nvSpPr>
        <p:spPr>
          <a:xfrm>
            <a:off x="365760" y="5204460"/>
            <a:ext cx="6583680" cy="0"/>
          </a:xfrm>
          <a:prstGeom prst="line">
            <a:avLst/>
          </a:prstGeom>
          <a:noFill/>
          <a:ln w="5080">
            <a:solidFill>
              <a:srgbClr val="D1D5DB"/>
            </a:solidFill>
            <a:prstDash val="dash"/>
          </a:ln>
        </p:spPr>
      </p:sp>
      <p:sp>
        <p:nvSpPr>
          <p:cNvPr id="13" name="Text 11"/>
          <p:cNvSpPr txBox="1"/>
          <p:nvPr/>
        </p:nvSpPr>
        <p:spPr>
          <a:xfrm>
            <a:off x="-109728" y="5094732"/>
            <a:ext cx="438912" cy="219456"/>
          </a:xfrm>
          <a:prstGeom prst="rect">
            <a:avLst/>
          </a:prstGeom>
          <a:noFill/>
          <a:ln/>
        </p:spPr>
        <p:txBody>
          <a:bodyPr wrap="square" rtlCol="0" anchor="ctr"/>
          <a:lstStyle/>
          <a:p>
            <a:pPr algn="r" indent="0" marL="0">
              <a:buNone/>
            </a:pPr>
            <a:r>
              <a:rPr lang="en-US" sz="750" dirty="0">
                <a:solidFill>
                  <a:srgbClr val="6B7280"/>
                </a:solidFill>
                <a:latin typeface="Calibri" pitchFamily="34" charset="0"/>
                <a:ea typeface="Calibri" pitchFamily="34" charset="-122"/>
                <a:cs typeface="Calibri" pitchFamily="34" charset="-120"/>
              </a:rPr>
              <a:t>-10%</a:t>
            </a:r>
            <a:endParaRPr lang="en-US" sz="750" dirty="0"/>
          </a:p>
        </p:txBody>
      </p:sp>
      <p:sp>
        <p:nvSpPr>
          <p:cNvPr id="14" name="Shape 12"/>
          <p:cNvSpPr/>
          <p:nvPr/>
        </p:nvSpPr>
        <p:spPr>
          <a:xfrm>
            <a:off x="365760" y="4385310"/>
            <a:ext cx="6583680" cy="0"/>
          </a:xfrm>
          <a:prstGeom prst="line">
            <a:avLst/>
          </a:prstGeom>
          <a:noFill/>
          <a:ln w="5080">
            <a:solidFill>
              <a:srgbClr val="D1D5DB"/>
            </a:solidFill>
            <a:prstDash val="dash"/>
          </a:ln>
        </p:spPr>
      </p:sp>
      <p:sp>
        <p:nvSpPr>
          <p:cNvPr id="15" name="Text 13"/>
          <p:cNvSpPr txBox="1"/>
          <p:nvPr/>
        </p:nvSpPr>
        <p:spPr>
          <a:xfrm>
            <a:off x="-109728" y="4275582"/>
            <a:ext cx="438912" cy="219456"/>
          </a:xfrm>
          <a:prstGeom prst="rect">
            <a:avLst/>
          </a:prstGeom>
          <a:noFill/>
          <a:ln/>
        </p:spPr>
        <p:txBody>
          <a:bodyPr wrap="square" rtlCol="0" anchor="ctr"/>
          <a:lstStyle/>
          <a:p>
            <a:pPr algn="r" indent="0" marL="0">
              <a:buNone/>
            </a:pPr>
            <a:r>
              <a:rPr lang="en-US" sz="750" dirty="0">
                <a:solidFill>
                  <a:srgbClr val="6B7280"/>
                </a:solidFill>
                <a:latin typeface="Calibri" pitchFamily="34" charset="0"/>
                <a:ea typeface="Calibri" pitchFamily="34" charset="-122"/>
                <a:cs typeface="Calibri" pitchFamily="34" charset="-120"/>
              </a:rPr>
              <a:t>-5%</a:t>
            </a:r>
            <a:endParaRPr lang="en-US" sz="750" dirty="0"/>
          </a:p>
        </p:txBody>
      </p:sp>
      <p:sp>
        <p:nvSpPr>
          <p:cNvPr id="16" name="Shape 14"/>
          <p:cNvSpPr/>
          <p:nvPr/>
        </p:nvSpPr>
        <p:spPr>
          <a:xfrm>
            <a:off x="365760" y="2747010"/>
            <a:ext cx="6583680" cy="0"/>
          </a:xfrm>
          <a:prstGeom prst="line">
            <a:avLst/>
          </a:prstGeom>
          <a:noFill/>
          <a:ln w="5080">
            <a:solidFill>
              <a:srgbClr val="D1D5DB"/>
            </a:solidFill>
            <a:prstDash val="dash"/>
          </a:ln>
        </p:spPr>
      </p:sp>
      <p:sp>
        <p:nvSpPr>
          <p:cNvPr id="17" name="Text 15"/>
          <p:cNvSpPr txBox="1"/>
          <p:nvPr/>
        </p:nvSpPr>
        <p:spPr>
          <a:xfrm>
            <a:off x="-109728" y="2637282"/>
            <a:ext cx="438912" cy="219456"/>
          </a:xfrm>
          <a:prstGeom prst="rect">
            <a:avLst/>
          </a:prstGeom>
          <a:noFill/>
          <a:ln/>
        </p:spPr>
        <p:txBody>
          <a:bodyPr wrap="square" rtlCol="0" anchor="ctr"/>
          <a:lstStyle/>
          <a:p>
            <a:pPr algn="r" indent="0" marL="0">
              <a:buNone/>
            </a:pPr>
            <a:r>
              <a:rPr lang="en-US" sz="750" dirty="0">
                <a:solidFill>
                  <a:srgbClr val="6B7280"/>
                </a:solidFill>
                <a:latin typeface="Calibri" pitchFamily="34" charset="0"/>
                <a:ea typeface="Calibri" pitchFamily="34" charset="-122"/>
                <a:cs typeface="Calibri" pitchFamily="34" charset="-120"/>
              </a:rPr>
              <a:t>5%</a:t>
            </a:r>
            <a:endParaRPr lang="en-US" sz="750" dirty="0"/>
          </a:p>
        </p:txBody>
      </p:sp>
      <p:sp>
        <p:nvSpPr>
          <p:cNvPr id="18" name="Shape 16"/>
          <p:cNvSpPr/>
          <p:nvPr/>
        </p:nvSpPr>
        <p:spPr>
          <a:xfrm>
            <a:off x="365760" y="1927860"/>
            <a:ext cx="6583680" cy="0"/>
          </a:xfrm>
          <a:prstGeom prst="line">
            <a:avLst/>
          </a:prstGeom>
          <a:noFill/>
          <a:ln w="5080">
            <a:solidFill>
              <a:srgbClr val="D1D5DB"/>
            </a:solidFill>
            <a:prstDash val="dash"/>
          </a:ln>
        </p:spPr>
      </p:sp>
      <p:sp>
        <p:nvSpPr>
          <p:cNvPr id="19" name="Text 17"/>
          <p:cNvSpPr txBox="1"/>
          <p:nvPr/>
        </p:nvSpPr>
        <p:spPr>
          <a:xfrm>
            <a:off x="-109728" y="1818132"/>
            <a:ext cx="438912" cy="219456"/>
          </a:xfrm>
          <a:prstGeom prst="rect">
            <a:avLst/>
          </a:prstGeom>
          <a:noFill/>
          <a:ln/>
        </p:spPr>
        <p:txBody>
          <a:bodyPr wrap="square" rtlCol="0" anchor="ctr"/>
          <a:lstStyle/>
          <a:p>
            <a:pPr algn="r" indent="0" marL="0">
              <a:buNone/>
            </a:pPr>
            <a:r>
              <a:rPr lang="en-US" sz="750" dirty="0">
                <a:solidFill>
                  <a:srgbClr val="6B7280"/>
                </a:solidFill>
                <a:latin typeface="Calibri" pitchFamily="34" charset="0"/>
                <a:ea typeface="Calibri" pitchFamily="34" charset="-122"/>
                <a:cs typeface="Calibri" pitchFamily="34" charset="-120"/>
              </a:rPr>
              <a:t>10%</a:t>
            </a:r>
            <a:endParaRPr lang="en-US" sz="750" dirty="0"/>
          </a:p>
        </p:txBody>
      </p:sp>
      <p:sp>
        <p:nvSpPr>
          <p:cNvPr id="20" name="Shape 18"/>
          <p:cNvSpPr/>
          <p:nvPr/>
        </p:nvSpPr>
        <p:spPr>
          <a:xfrm>
            <a:off x="406908" y="2992755"/>
            <a:ext cx="192024" cy="573405"/>
          </a:xfrm>
          <a:prstGeom prst="rect">
            <a:avLst/>
          </a:prstGeom>
          <a:solidFill>
            <a:srgbClr val="1D4E8F"/>
          </a:solidFill>
          <a:ln w="12700">
            <a:solidFill>
              <a:srgbClr val="1D4E8F"/>
            </a:solidFill>
            <a:prstDash val="solid"/>
          </a:ln>
        </p:spPr>
      </p:sp>
      <p:sp>
        <p:nvSpPr>
          <p:cNvPr id="21" name="Shape 19"/>
          <p:cNvSpPr/>
          <p:nvPr/>
        </p:nvSpPr>
        <p:spPr>
          <a:xfrm>
            <a:off x="681228" y="3107436"/>
            <a:ext cx="192024" cy="458724"/>
          </a:xfrm>
          <a:prstGeom prst="rect">
            <a:avLst/>
          </a:prstGeom>
          <a:solidFill>
            <a:srgbClr val="1D4E8F"/>
          </a:solidFill>
          <a:ln w="12700">
            <a:solidFill>
              <a:srgbClr val="1D4E8F"/>
            </a:solidFill>
            <a:prstDash val="solid"/>
          </a:ln>
        </p:spPr>
      </p:sp>
      <p:sp>
        <p:nvSpPr>
          <p:cNvPr id="22" name="Shape 20"/>
          <p:cNvSpPr/>
          <p:nvPr/>
        </p:nvSpPr>
        <p:spPr>
          <a:xfrm>
            <a:off x="955548" y="2878074"/>
            <a:ext cx="192024" cy="688086"/>
          </a:xfrm>
          <a:prstGeom prst="rect">
            <a:avLst/>
          </a:prstGeom>
          <a:solidFill>
            <a:srgbClr val="2A7ABF"/>
          </a:solidFill>
          <a:ln w="12700">
            <a:solidFill>
              <a:srgbClr val="2A7ABF"/>
            </a:solidFill>
            <a:prstDash val="solid"/>
          </a:ln>
        </p:spPr>
      </p:sp>
      <p:sp>
        <p:nvSpPr>
          <p:cNvPr id="23" name="Shape 21"/>
          <p:cNvSpPr/>
          <p:nvPr/>
        </p:nvSpPr>
        <p:spPr>
          <a:xfrm>
            <a:off x="1229868" y="2730627"/>
            <a:ext cx="192024" cy="835533"/>
          </a:xfrm>
          <a:prstGeom prst="rect">
            <a:avLst/>
          </a:prstGeom>
          <a:solidFill>
            <a:srgbClr val="2A7ABF"/>
          </a:solidFill>
          <a:ln w="12700">
            <a:solidFill>
              <a:srgbClr val="2A7ABF"/>
            </a:solidFill>
            <a:prstDash val="solid"/>
          </a:ln>
        </p:spPr>
      </p:sp>
      <p:sp>
        <p:nvSpPr>
          <p:cNvPr id="24" name="Shape 22"/>
          <p:cNvSpPr/>
          <p:nvPr/>
        </p:nvSpPr>
        <p:spPr>
          <a:xfrm>
            <a:off x="1504188" y="3091053"/>
            <a:ext cx="192024" cy="475107"/>
          </a:xfrm>
          <a:prstGeom prst="rect">
            <a:avLst/>
          </a:prstGeom>
          <a:solidFill>
            <a:srgbClr val="1D4E8F"/>
          </a:solidFill>
          <a:ln w="12700">
            <a:solidFill>
              <a:srgbClr val="1D4E8F"/>
            </a:solidFill>
            <a:prstDash val="solid"/>
          </a:ln>
        </p:spPr>
      </p:sp>
      <p:sp>
        <p:nvSpPr>
          <p:cNvPr id="25" name="Shape 23"/>
          <p:cNvSpPr/>
          <p:nvPr/>
        </p:nvSpPr>
        <p:spPr>
          <a:xfrm>
            <a:off x="1778508" y="3025521"/>
            <a:ext cx="192024" cy="540639"/>
          </a:xfrm>
          <a:prstGeom prst="rect">
            <a:avLst/>
          </a:prstGeom>
          <a:solidFill>
            <a:srgbClr val="1D4E8F"/>
          </a:solidFill>
          <a:ln w="12700">
            <a:solidFill>
              <a:srgbClr val="1D4E8F"/>
            </a:solidFill>
            <a:prstDash val="solid"/>
          </a:ln>
        </p:spPr>
      </p:sp>
      <p:sp>
        <p:nvSpPr>
          <p:cNvPr id="26" name="Shape 24"/>
          <p:cNvSpPr/>
          <p:nvPr/>
        </p:nvSpPr>
        <p:spPr>
          <a:xfrm>
            <a:off x="2052828" y="2779776"/>
            <a:ext cx="192024" cy="786384"/>
          </a:xfrm>
          <a:prstGeom prst="rect">
            <a:avLst/>
          </a:prstGeom>
          <a:solidFill>
            <a:srgbClr val="2A7ABF"/>
          </a:solidFill>
          <a:ln w="12700">
            <a:solidFill>
              <a:srgbClr val="2A7ABF"/>
            </a:solidFill>
            <a:prstDash val="solid"/>
          </a:ln>
        </p:spPr>
      </p:sp>
      <p:sp>
        <p:nvSpPr>
          <p:cNvPr id="27" name="Shape 25"/>
          <p:cNvSpPr/>
          <p:nvPr/>
        </p:nvSpPr>
        <p:spPr>
          <a:xfrm>
            <a:off x="2327148" y="2583180"/>
            <a:ext cx="192024" cy="982980"/>
          </a:xfrm>
          <a:prstGeom prst="rect">
            <a:avLst/>
          </a:prstGeom>
          <a:solidFill>
            <a:srgbClr val="2A7ABF"/>
          </a:solidFill>
          <a:ln w="12700">
            <a:solidFill>
              <a:srgbClr val="2A7ABF"/>
            </a:solidFill>
            <a:prstDash val="solid"/>
          </a:ln>
        </p:spPr>
      </p:sp>
      <p:sp>
        <p:nvSpPr>
          <p:cNvPr id="28" name="Shape 26"/>
          <p:cNvSpPr/>
          <p:nvPr/>
        </p:nvSpPr>
        <p:spPr>
          <a:xfrm>
            <a:off x="2601468" y="3058287"/>
            <a:ext cx="192024" cy="507873"/>
          </a:xfrm>
          <a:prstGeom prst="rect">
            <a:avLst/>
          </a:prstGeom>
          <a:solidFill>
            <a:srgbClr val="1D4E8F"/>
          </a:solidFill>
          <a:ln w="12700">
            <a:solidFill>
              <a:srgbClr val="1D4E8F"/>
            </a:solidFill>
            <a:prstDash val="solid"/>
          </a:ln>
        </p:spPr>
      </p:sp>
      <p:sp>
        <p:nvSpPr>
          <p:cNvPr id="29" name="Shape 27"/>
          <p:cNvSpPr/>
          <p:nvPr/>
        </p:nvSpPr>
        <p:spPr>
          <a:xfrm>
            <a:off x="2875788" y="3156585"/>
            <a:ext cx="192024" cy="409575"/>
          </a:xfrm>
          <a:prstGeom prst="rect">
            <a:avLst/>
          </a:prstGeom>
          <a:solidFill>
            <a:srgbClr val="1D4E8F"/>
          </a:solidFill>
          <a:ln w="12700">
            <a:solidFill>
              <a:srgbClr val="1D4E8F"/>
            </a:solidFill>
            <a:prstDash val="solid"/>
          </a:ln>
        </p:spPr>
      </p:sp>
      <p:sp>
        <p:nvSpPr>
          <p:cNvPr id="30" name="Shape 28"/>
          <p:cNvSpPr/>
          <p:nvPr/>
        </p:nvSpPr>
        <p:spPr>
          <a:xfrm>
            <a:off x="3150108" y="2910840"/>
            <a:ext cx="192024" cy="655320"/>
          </a:xfrm>
          <a:prstGeom prst="rect">
            <a:avLst/>
          </a:prstGeom>
          <a:solidFill>
            <a:srgbClr val="2A7ABF"/>
          </a:solidFill>
          <a:ln w="12700">
            <a:solidFill>
              <a:srgbClr val="2A7ABF"/>
            </a:solidFill>
            <a:prstDash val="solid"/>
          </a:ln>
        </p:spPr>
      </p:sp>
      <p:sp>
        <p:nvSpPr>
          <p:cNvPr id="31" name="Shape 29"/>
          <p:cNvSpPr/>
          <p:nvPr/>
        </p:nvSpPr>
        <p:spPr>
          <a:xfrm>
            <a:off x="3424428" y="2763393"/>
            <a:ext cx="192024" cy="802767"/>
          </a:xfrm>
          <a:prstGeom prst="rect">
            <a:avLst/>
          </a:prstGeom>
          <a:solidFill>
            <a:srgbClr val="2A7ABF"/>
          </a:solidFill>
          <a:ln w="12700">
            <a:solidFill>
              <a:srgbClr val="2A7ABF"/>
            </a:solidFill>
            <a:prstDash val="solid"/>
          </a:ln>
        </p:spPr>
      </p:sp>
      <p:sp>
        <p:nvSpPr>
          <p:cNvPr id="32" name="Shape 30"/>
          <p:cNvSpPr/>
          <p:nvPr/>
        </p:nvSpPr>
        <p:spPr>
          <a:xfrm>
            <a:off x="3698748" y="3566160"/>
            <a:ext cx="192024" cy="409575"/>
          </a:xfrm>
          <a:prstGeom prst="rect">
            <a:avLst/>
          </a:prstGeom>
          <a:solidFill>
            <a:srgbClr val="C0392B"/>
          </a:solidFill>
          <a:ln w="12700">
            <a:solidFill>
              <a:srgbClr val="C0392B"/>
            </a:solidFill>
            <a:prstDash val="solid"/>
          </a:ln>
        </p:spPr>
      </p:sp>
      <p:sp>
        <p:nvSpPr>
          <p:cNvPr id="33" name="Shape 31"/>
          <p:cNvSpPr/>
          <p:nvPr/>
        </p:nvSpPr>
        <p:spPr>
          <a:xfrm>
            <a:off x="3973068" y="3566160"/>
            <a:ext cx="192024" cy="1277874"/>
          </a:xfrm>
          <a:prstGeom prst="rect">
            <a:avLst/>
          </a:prstGeom>
          <a:solidFill>
            <a:srgbClr val="C0392B"/>
          </a:solidFill>
          <a:ln w="12700">
            <a:solidFill>
              <a:srgbClr val="C0392B"/>
            </a:solidFill>
            <a:prstDash val="solid"/>
          </a:ln>
        </p:spPr>
      </p:sp>
      <p:sp>
        <p:nvSpPr>
          <p:cNvPr id="34" name="Shape 32"/>
          <p:cNvSpPr/>
          <p:nvPr/>
        </p:nvSpPr>
        <p:spPr>
          <a:xfrm>
            <a:off x="4247388" y="3566160"/>
            <a:ext cx="192024" cy="1671066"/>
          </a:xfrm>
          <a:prstGeom prst="rect">
            <a:avLst/>
          </a:prstGeom>
          <a:solidFill>
            <a:srgbClr val="C0392B"/>
          </a:solidFill>
          <a:ln w="12700">
            <a:solidFill>
              <a:srgbClr val="C0392B"/>
            </a:solidFill>
            <a:prstDash val="solid"/>
          </a:ln>
        </p:spPr>
      </p:sp>
      <p:sp>
        <p:nvSpPr>
          <p:cNvPr id="35" name="Shape 33"/>
          <p:cNvSpPr/>
          <p:nvPr/>
        </p:nvSpPr>
        <p:spPr>
          <a:xfrm>
            <a:off x="4521708" y="3566160"/>
            <a:ext cx="192024" cy="344043"/>
          </a:xfrm>
          <a:prstGeom prst="rect">
            <a:avLst/>
          </a:prstGeom>
          <a:solidFill>
            <a:srgbClr val="C0392B"/>
          </a:solidFill>
          <a:ln w="12700">
            <a:solidFill>
              <a:srgbClr val="C0392B"/>
            </a:solidFill>
            <a:prstDash val="solid"/>
          </a:ln>
        </p:spPr>
      </p:sp>
      <p:sp>
        <p:nvSpPr>
          <p:cNvPr id="36" name="Shape 34"/>
          <p:cNvSpPr/>
          <p:nvPr/>
        </p:nvSpPr>
        <p:spPr>
          <a:xfrm>
            <a:off x="4796028" y="3271266"/>
            <a:ext cx="192024" cy="294894"/>
          </a:xfrm>
          <a:prstGeom prst="rect">
            <a:avLst/>
          </a:prstGeom>
          <a:solidFill>
            <a:srgbClr val="1D4E8F"/>
          </a:solidFill>
          <a:ln w="12700">
            <a:solidFill>
              <a:srgbClr val="1D4E8F"/>
            </a:solidFill>
            <a:prstDash val="solid"/>
          </a:ln>
        </p:spPr>
      </p:sp>
      <p:sp>
        <p:nvSpPr>
          <p:cNvPr id="37" name="Shape 35"/>
          <p:cNvSpPr/>
          <p:nvPr/>
        </p:nvSpPr>
        <p:spPr>
          <a:xfrm>
            <a:off x="5070348" y="2878074"/>
            <a:ext cx="192024" cy="688086"/>
          </a:xfrm>
          <a:prstGeom prst="rect">
            <a:avLst/>
          </a:prstGeom>
          <a:solidFill>
            <a:srgbClr val="1D4E8F"/>
          </a:solidFill>
          <a:ln w="12700">
            <a:solidFill>
              <a:srgbClr val="1D4E8F"/>
            </a:solidFill>
            <a:prstDash val="solid"/>
          </a:ln>
        </p:spPr>
      </p:sp>
      <p:sp>
        <p:nvSpPr>
          <p:cNvPr id="38" name="Shape 36"/>
          <p:cNvSpPr/>
          <p:nvPr/>
        </p:nvSpPr>
        <p:spPr>
          <a:xfrm>
            <a:off x="5344668" y="2075307"/>
            <a:ext cx="192024" cy="1490853"/>
          </a:xfrm>
          <a:prstGeom prst="rect">
            <a:avLst/>
          </a:prstGeom>
          <a:solidFill>
            <a:srgbClr val="2A7ABF"/>
          </a:solidFill>
          <a:ln w="12700">
            <a:solidFill>
              <a:srgbClr val="2A7ABF"/>
            </a:solidFill>
            <a:prstDash val="solid"/>
          </a:ln>
        </p:spPr>
      </p:sp>
      <p:sp>
        <p:nvSpPr>
          <p:cNvPr id="39" name="Shape 37"/>
          <p:cNvSpPr/>
          <p:nvPr/>
        </p:nvSpPr>
        <p:spPr>
          <a:xfrm>
            <a:off x="5618988" y="2337435"/>
            <a:ext cx="192024" cy="1228725"/>
          </a:xfrm>
          <a:prstGeom prst="rect">
            <a:avLst/>
          </a:prstGeom>
          <a:solidFill>
            <a:srgbClr val="2A7ABF"/>
          </a:solidFill>
          <a:ln w="12700">
            <a:solidFill>
              <a:srgbClr val="2A7ABF"/>
            </a:solidFill>
            <a:prstDash val="solid"/>
          </a:ln>
        </p:spPr>
      </p:sp>
      <p:sp>
        <p:nvSpPr>
          <p:cNvPr id="40" name="Shape 38"/>
          <p:cNvSpPr/>
          <p:nvPr/>
        </p:nvSpPr>
        <p:spPr>
          <a:xfrm>
            <a:off x="5893308" y="2714244"/>
            <a:ext cx="192024" cy="851916"/>
          </a:xfrm>
          <a:prstGeom prst="rect">
            <a:avLst/>
          </a:prstGeom>
          <a:solidFill>
            <a:srgbClr val="1D4E8F"/>
          </a:solidFill>
          <a:ln w="12700">
            <a:solidFill>
              <a:srgbClr val="1D4E8F"/>
            </a:solidFill>
            <a:prstDash val="solid"/>
          </a:ln>
        </p:spPr>
      </p:sp>
      <p:sp>
        <p:nvSpPr>
          <p:cNvPr id="41" name="Shape 39"/>
          <p:cNvSpPr/>
          <p:nvPr/>
        </p:nvSpPr>
        <p:spPr>
          <a:xfrm>
            <a:off x="6167628" y="2943606"/>
            <a:ext cx="192024" cy="622554"/>
          </a:xfrm>
          <a:prstGeom prst="rect">
            <a:avLst/>
          </a:prstGeom>
          <a:solidFill>
            <a:srgbClr val="1D4E8F"/>
          </a:solidFill>
          <a:ln w="12700">
            <a:solidFill>
              <a:srgbClr val="1D4E8F"/>
            </a:solidFill>
            <a:prstDash val="solid"/>
          </a:ln>
        </p:spPr>
      </p:sp>
      <p:sp>
        <p:nvSpPr>
          <p:cNvPr id="42" name="Shape 40"/>
          <p:cNvSpPr/>
          <p:nvPr/>
        </p:nvSpPr>
        <p:spPr>
          <a:xfrm>
            <a:off x="6441948" y="2828925"/>
            <a:ext cx="192024" cy="737235"/>
          </a:xfrm>
          <a:prstGeom prst="rect">
            <a:avLst/>
          </a:prstGeom>
          <a:solidFill>
            <a:srgbClr val="2A7ABF"/>
          </a:solidFill>
          <a:ln w="12700">
            <a:solidFill>
              <a:srgbClr val="2A7ABF"/>
            </a:solidFill>
            <a:prstDash val="solid"/>
          </a:ln>
        </p:spPr>
      </p:sp>
      <p:sp>
        <p:nvSpPr>
          <p:cNvPr id="43" name="Shape 41"/>
          <p:cNvSpPr/>
          <p:nvPr/>
        </p:nvSpPr>
        <p:spPr>
          <a:xfrm>
            <a:off x="6716268" y="3041904"/>
            <a:ext cx="192024" cy="524256"/>
          </a:xfrm>
          <a:prstGeom prst="rect">
            <a:avLst/>
          </a:prstGeom>
          <a:solidFill>
            <a:srgbClr val="2A7ABF"/>
          </a:solidFill>
          <a:ln w="12700">
            <a:solidFill>
              <a:srgbClr val="2A7ABF"/>
            </a:solidFill>
            <a:prstDash val="solid"/>
          </a:ln>
        </p:spPr>
      </p:sp>
      <p:sp>
        <p:nvSpPr>
          <p:cNvPr id="44" name="Text 42"/>
          <p:cNvSpPr txBox="1"/>
          <p:nvPr/>
        </p:nvSpPr>
        <p:spPr>
          <a:xfrm>
            <a:off x="457200" y="5577840"/>
            <a:ext cx="640080" cy="201168"/>
          </a:xfrm>
          <a:prstGeom prst="rect">
            <a:avLst/>
          </a:prstGeom>
          <a:noFill/>
          <a:ln/>
        </p:spPr>
        <p:txBody>
          <a:bodyPr wrap="square"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2018</a:t>
            </a:r>
            <a:endParaRPr lang="en-US" sz="750" dirty="0"/>
          </a:p>
        </p:txBody>
      </p:sp>
      <p:sp>
        <p:nvSpPr>
          <p:cNvPr id="45" name="Text 43"/>
          <p:cNvSpPr txBox="1"/>
          <p:nvPr/>
        </p:nvSpPr>
        <p:spPr>
          <a:xfrm>
            <a:off x="1554480" y="5577840"/>
            <a:ext cx="640080" cy="201168"/>
          </a:xfrm>
          <a:prstGeom prst="rect">
            <a:avLst/>
          </a:prstGeom>
          <a:noFill/>
          <a:ln/>
        </p:spPr>
        <p:txBody>
          <a:bodyPr wrap="square"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2019</a:t>
            </a:r>
            <a:endParaRPr lang="en-US" sz="750" dirty="0"/>
          </a:p>
        </p:txBody>
      </p:sp>
      <p:sp>
        <p:nvSpPr>
          <p:cNvPr id="46" name="Text 44"/>
          <p:cNvSpPr txBox="1"/>
          <p:nvPr/>
        </p:nvSpPr>
        <p:spPr>
          <a:xfrm>
            <a:off x="2651760" y="5577840"/>
            <a:ext cx="640080" cy="201168"/>
          </a:xfrm>
          <a:prstGeom prst="rect">
            <a:avLst/>
          </a:prstGeom>
          <a:noFill/>
          <a:ln/>
        </p:spPr>
        <p:txBody>
          <a:bodyPr wrap="square"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2020</a:t>
            </a:r>
            <a:endParaRPr lang="en-US" sz="750" dirty="0"/>
          </a:p>
        </p:txBody>
      </p:sp>
      <p:sp>
        <p:nvSpPr>
          <p:cNvPr id="47" name="Text 45"/>
          <p:cNvSpPr txBox="1"/>
          <p:nvPr/>
        </p:nvSpPr>
        <p:spPr>
          <a:xfrm>
            <a:off x="3749040" y="5577840"/>
            <a:ext cx="640080" cy="201168"/>
          </a:xfrm>
          <a:prstGeom prst="rect">
            <a:avLst/>
          </a:prstGeom>
          <a:noFill/>
          <a:ln/>
        </p:spPr>
        <p:txBody>
          <a:bodyPr wrap="square"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2021</a:t>
            </a:r>
            <a:endParaRPr lang="en-US" sz="750" dirty="0"/>
          </a:p>
        </p:txBody>
      </p:sp>
      <p:sp>
        <p:nvSpPr>
          <p:cNvPr id="48" name="Text 46"/>
          <p:cNvSpPr txBox="1"/>
          <p:nvPr/>
        </p:nvSpPr>
        <p:spPr>
          <a:xfrm>
            <a:off x="4846320" y="5577840"/>
            <a:ext cx="640080" cy="201168"/>
          </a:xfrm>
          <a:prstGeom prst="rect">
            <a:avLst/>
          </a:prstGeom>
          <a:noFill/>
          <a:ln/>
        </p:spPr>
        <p:txBody>
          <a:bodyPr wrap="square"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2022</a:t>
            </a:r>
            <a:endParaRPr lang="en-US" sz="750" dirty="0"/>
          </a:p>
        </p:txBody>
      </p:sp>
      <p:sp>
        <p:nvSpPr>
          <p:cNvPr id="49" name="Text 47"/>
          <p:cNvSpPr txBox="1"/>
          <p:nvPr/>
        </p:nvSpPr>
        <p:spPr>
          <a:xfrm>
            <a:off x="5943600" y="5577840"/>
            <a:ext cx="640080" cy="201168"/>
          </a:xfrm>
          <a:prstGeom prst="rect">
            <a:avLst/>
          </a:prstGeom>
          <a:noFill/>
          <a:ln/>
        </p:spPr>
        <p:txBody>
          <a:bodyPr wrap="square" rtlCol="0" anchor="ctr"/>
          <a:lstStyle/>
          <a:p>
            <a:pPr algn="ctr" indent="0" marL="0">
              <a:buNone/>
            </a:pPr>
            <a:r>
              <a:rPr lang="en-US" sz="750" dirty="0">
                <a:solidFill>
                  <a:srgbClr val="6B7280"/>
                </a:solidFill>
                <a:latin typeface="Calibri" pitchFamily="34" charset="0"/>
                <a:ea typeface="Calibri" pitchFamily="34" charset="-122"/>
                <a:cs typeface="Calibri" pitchFamily="34" charset="-120"/>
              </a:rPr>
              <a:t>2023</a:t>
            </a:r>
            <a:endParaRPr lang="en-US" sz="750" dirty="0"/>
          </a:p>
        </p:txBody>
      </p:sp>
      <p:sp>
        <p:nvSpPr>
          <p:cNvPr id="50" name="Text 48"/>
          <p:cNvSpPr txBox="1"/>
          <p:nvPr/>
        </p:nvSpPr>
        <p:spPr>
          <a:xfrm>
            <a:off x="3566160" y="1691640"/>
            <a:ext cx="1097280" cy="457200"/>
          </a:xfrm>
          <a:prstGeom prst="rect">
            <a:avLst/>
          </a:prstGeom>
          <a:noFill/>
          <a:ln/>
        </p:spPr>
        <p:txBody>
          <a:bodyPr wrap="square" rtlCol="0" anchor="ctr"/>
          <a:lstStyle/>
          <a:p>
            <a:pPr indent="0" marL="0">
              <a:buNone/>
            </a:pPr>
            <a:r>
              <a:rPr lang="en-US" sz="800" b="1" i="1" dirty="0">
                <a:solidFill>
                  <a:srgbClr val="C0392B"/>
                </a:solidFill>
                <a:latin typeface="Calibri" pitchFamily="34" charset="0"/>
                <a:ea typeface="Calibri" pitchFamily="34" charset="-122"/>
                <a:cs typeface="Calibri" pitchFamily="34" charset="-120"/>
              </a:rPr>
              <a:t>COVID-19</a:t>
            </a:r>
            <a:endParaRPr lang="en-US" sz="800" dirty="0"/>
          </a:p>
          <a:p>
            <a:pPr indent="0" marL="0">
              <a:buNone/>
            </a:pPr>
            <a:r>
              <a:rPr lang="en-US" sz="800" b="1" i="1" dirty="0">
                <a:solidFill>
                  <a:srgbClr val="C0392B"/>
                </a:solidFill>
                <a:latin typeface="Calibri" pitchFamily="34" charset="0"/>
                <a:ea typeface="Calibri" pitchFamily="34" charset="-122"/>
                <a:cs typeface="Calibri" pitchFamily="34" charset="-120"/>
              </a:rPr>
              <a:t>▼ T2 2020</a:t>
            </a:r>
            <a:endParaRPr lang="en-US" sz="800" dirty="0"/>
          </a:p>
        </p:txBody>
      </p:sp>
      <p:sp>
        <p:nvSpPr>
          <p:cNvPr id="51" name="Text 49"/>
          <p:cNvSpPr txBox="1"/>
          <p:nvPr/>
        </p:nvSpPr>
        <p:spPr>
          <a:xfrm>
            <a:off x="365760" y="5824728"/>
            <a:ext cx="6583680" cy="228600"/>
          </a:xfrm>
          <a:prstGeom prst="rect">
            <a:avLst/>
          </a:prstGeom>
          <a:noFill/>
          <a:ln/>
        </p:spPr>
        <p:txBody>
          <a:bodyPr wrap="square" rtlCol="0" anchor="ctr"/>
          <a:lstStyle/>
          <a:p>
            <a:pPr algn="ctr" indent="0" marL="0">
              <a:buNone/>
            </a:pPr>
            <a:r>
              <a:rPr lang="en-US" sz="900" i="1" dirty="0">
                <a:solidFill>
                  <a:srgbClr val="6B7280"/>
                </a:solidFill>
                <a:latin typeface="Calibri" pitchFamily="34" charset="0"/>
                <a:ea typeface="Calibri" pitchFamily="34" charset="-122"/>
                <a:cs typeface="Calibri" pitchFamily="34" charset="-120"/>
              </a:rPr>
              <a:t>Tasa de crecimiento trimestral del PIB — Colombia</a:t>
            </a:r>
            <a:endParaRPr lang="en-US" sz="900" dirty="0"/>
          </a:p>
        </p:txBody>
      </p:sp>
      <p:sp>
        <p:nvSpPr>
          <p:cNvPr id="52" name="Text 50"/>
          <p:cNvSpPr txBox="1"/>
          <p:nvPr/>
        </p:nvSpPr>
        <p:spPr>
          <a:xfrm>
            <a:off x="7132320" y="1600200"/>
            <a:ext cx="4663440" cy="320040"/>
          </a:xfrm>
          <a:prstGeom prst="rect">
            <a:avLst/>
          </a:prstGeom>
          <a:noFill/>
          <a:ln/>
        </p:spPr>
        <p:txBody>
          <a:bodyPr wrap="square" rtlCol="0" anchor="ctr"/>
          <a:lstStyle/>
          <a:p>
            <a:pPr indent="0" marL="0">
              <a:buNone/>
            </a:pPr>
            <a:r>
              <a:rPr lang="en-US" sz="1300" b="1" dirty="0">
                <a:solidFill>
                  <a:srgbClr val="1B3A6B"/>
                </a:solidFill>
                <a:latin typeface="Calibri" pitchFamily="34" charset="0"/>
                <a:ea typeface="Calibri" pitchFamily="34" charset="-122"/>
                <a:cs typeface="Calibri" pitchFamily="34" charset="-120"/>
              </a:rPr>
              <a:t>¿Por qué usar datos trimestrales?</a:t>
            </a:r>
            <a:endParaRPr lang="en-US" sz="1300" dirty="0"/>
          </a:p>
        </p:txBody>
      </p:sp>
      <p:sp>
        <p:nvSpPr>
          <p:cNvPr id="53" name="Shape 51"/>
          <p:cNvSpPr/>
          <p:nvPr/>
        </p:nvSpPr>
        <p:spPr>
          <a:xfrm>
            <a:off x="7132320" y="2057400"/>
            <a:ext cx="4663440" cy="1188720"/>
          </a:xfrm>
          <a:prstGeom prst="rect">
            <a:avLst/>
          </a:prstGeom>
          <a:solidFill>
            <a:srgbClr val="EBF0F8"/>
          </a:solidFill>
          <a:ln w="25400">
            <a:solidFill>
              <a:srgbClr val="1A9641"/>
            </a:solidFill>
            <a:prstDash val="solid"/>
          </a:ln>
        </p:spPr>
      </p:sp>
      <p:sp>
        <p:nvSpPr>
          <p:cNvPr id="54" name="Text 52"/>
          <p:cNvSpPr txBox="1"/>
          <p:nvPr/>
        </p:nvSpPr>
        <p:spPr>
          <a:xfrm>
            <a:off x="7205472" y="2130552"/>
            <a:ext cx="822960" cy="320040"/>
          </a:xfrm>
          <a:prstGeom prst="rect">
            <a:avLst/>
          </a:prstGeom>
          <a:noFill/>
          <a:ln/>
        </p:spPr>
        <p:txBody>
          <a:bodyPr wrap="square" rtlCol="0" anchor="ctr"/>
          <a:lstStyle/>
          <a:p>
            <a:pPr indent="0" marL="0">
              <a:buNone/>
            </a:pPr>
            <a:r>
              <a:rPr lang="en-US" sz="1000" b="1" dirty="0">
                <a:solidFill>
                  <a:srgbClr val="1A9641"/>
                </a:solidFill>
                <a:latin typeface="Courier New" pitchFamily="34" charset="0"/>
                <a:ea typeface="Courier New" pitchFamily="34" charset="-122"/>
                <a:cs typeface="Courier New" pitchFamily="34" charset="-120"/>
              </a:rPr>
              <a:t>Q1 Q2 Q3 Q4</a:t>
            </a:r>
            <a:endParaRPr lang="en-US" sz="1000" dirty="0"/>
          </a:p>
        </p:txBody>
      </p:sp>
      <p:sp>
        <p:nvSpPr>
          <p:cNvPr id="55" name="Text 53"/>
          <p:cNvSpPr txBox="1"/>
          <p:nvPr/>
        </p:nvSpPr>
        <p:spPr>
          <a:xfrm>
            <a:off x="8092440" y="2130552"/>
            <a:ext cx="3566160" cy="274320"/>
          </a:xfrm>
          <a:prstGeom prst="rect">
            <a:avLst/>
          </a:prstGeom>
          <a:noFill/>
          <a:ln/>
        </p:spPr>
        <p:txBody>
          <a:bodyPr wrap="square" rtlCol="0" anchor="ctr"/>
          <a:lstStyle/>
          <a:p>
            <a:pPr indent="0" marL="0">
              <a:buNone/>
            </a:pPr>
            <a:r>
              <a:rPr lang="en-US" sz="1150" b="1" dirty="0">
                <a:solidFill>
                  <a:srgbClr val="1B3A6B"/>
                </a:solidFill>
                <a:latin typeface="Calibri" pitchFamily="34" charset="0"/>
                <a:ea typeface="Calibri" pitchFamily="34" charset="-122"/>
                <a:cs typeface="Calibri" pitchFamily="34" charset="-120"/>
              </a:rPr>
              <a:t>Ciclos estacionales visibles</a:t>
            </a:r>
            <a:endParaRPr lang="en-US" sz="1150" dirty="0"/>
          </a:p>
        </p:txBody>
      </p:sp>
      <p:sp>
        <p:nvSpPr>
          <p:cNvPr id="56" name="Text 54"/>
          <p:cNvSpPr txBox="1"/>
          <p:nvPr/>
        </p:nvSpPr>
        <p:spPr>
          <a:xfrm>
            <a:off x="7205472" y="2468880"/>
            <a:ext cx="4434840" cy="685800"/>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Las economías tienen ritmos trimestrales: cosechas, turismo, gasto público. Solo los datos trimestrales los revelan.</a:t>
            </a:r>
            <a:endParaRPr lang="en-US" sz="1000" dirty="0"/>
          </a:p>
        </p:txBody>
      </p:sp>
      <p:sp>
        <p:nvSpPr>
          <p:cNvPr id="57" name="Shape 55"/>
          <p:cNvSpPr/>
          <p:nvPr/>
        </p:nvSpPr>
        <p:spPr>
          <a:xfrm>
            <a:off x="7132320" y="3383280"/>
            <a:ext cx="4663440" cy="1188720"/>
          </a:xfrm>
          <a:prstGeom prst="rect">
            <a:avLst/>
          </a:prstGeom>
          <a:solidFill>
            <a:srgbClr val="EBF0F8"/>
          </a:solidFill>
          <a:ln w="25400">
            <a:solidFill>
              <a:srgbClr val="2A7ABF"/>
            </a:solidFill>
            <a:prstDash val="solid"/>
          </a:ln>
        </p:spPr>
      </p:sp>
      <p:sp>
        <p:nvSpPr>
          <p:cNvPr id="58" name="Text 56"/>
          <p:cNvSpPr txBox="1"/>
          <p:nvPr/>
        </p:nvSpPr>
        <p:spPr>
          <a:xfrm>
            <a:off x="7205472" y="3456432"/>
            <a:ext cx="822960" cy="320040"/>
          </a:xfrm>
          <a:prstGeom prst="rect">
            <a:avLst/>
          </a:prstGeom>
          <a:noFill/>
          <a:ln/>
        </p:spPr>
        <p:txBody>
          <a:bodyPr wrap="square" rtlCol="0" anchor="ctr"/>
          <a:lstStyle/>
          <a:p>
            <a:pPr indent="0" marL="0">
              <a:buNone/>
            </a:pPr>
            <a:r>
              <a:rPr lang="en-US" sz="1000" b="1" dirty="0">
                <a:solidFill>
                  <a:srgbClr val="2A7ABF"/>
                </a:solidFill>
                <a:latin typeface="Courier New" pitchFamily="34" charset="0"/>
                <a:ea typeface="Courier New" pitchFamily="34" charset="-122"/>
                <a:cs typeface="Courier New" pitchFamily="34" charset="-120"/>
              </a:rPr>
              <a:t>▲▼</a:t>
            </a:r>
            <a:endParaRPr lang="en-US" sz="1000" dirty="0"/>
          </a:p>
        </p:txBody>
      </p:sp>
      <p:sp>
        <p:nvSpPr>
          <p:cNvPr id="59" name="Text 57"/>
          <p:cNvSpPr txBox="1"/>
          <p:nvPr/>
        </p:nvSpPr>
        <p:spPr>
          <a:xfrm>
            <a:off x="8092440" y="3456432"/>
            <a:ext cx="3566160" cy="274320"/>
          </a:xfrm>
          <a:prstGeom prst="rect">
            <a:avLst/>
          </a:prstGeom>
          <a:noFill/>
          <a:ln/>
        </p:spPr>
        <p:txBody>
          <a:bodyPr wrap="square" rtlCol="0" anchor="ctr"/>
          <a:lstStyle/>
          <a:p>
            <a:pPr indent="0" marL="0">
              <a:buNone/>
            </a:pPr>
            <a:r>
              <a:rPr lang="en-US" sz="1150" b="1" dirty="0">
                <a:solidFill>
                  <a:srgbClr val="1B3A6B"/>
                </a:solidFill>
                <a:latin typeface="Calibri" pitchFamily="34" charset="0"/>
                <a:ea typeface="Calibri" pitchFamily="34" charset="-122"/>
                <a:cs typeface="Calibri" pitchFamily="34" charset="-120"/>
              </a:rPr>
              <a:t>Shocks identificables</a:t>
            </a:r>
            <a:endParaRPr lang="en-US" sz="1150" dirty="0"/>
          </a:p>
        </p:txBody>
      </p:sp>
      <p:sp>
        <p:nvSpPr>
          <p:cNvPr id="60" name="Text 58"/>
          <p:cNvSpPr txBox="1"/>
          <p:nvPr/>
        </p:nvSpPr>
        <p:spPr>
          <a:xfrm>
            <a:off x="7205472" y="3794760"/>
            <a:ext cx="4434840" cy="685800"/>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El desplome del T2 2020 (-10.2%) es imposible de ver con datos anuales que promedian el año.</a:t>
            </a:r>
            <a:endParaRPr lang="en-US" sz="1000" dirty="0"/>
          </a:p>
        </p:txBody>
      </p:sp>
      <p:sp>
        <p:nvSpPr>
          <p:cNvPr id="61" name="Shape 59"/>
          <p:cNvSpPr/>
          <p:nvPr/>
        </p:nvSpPr>
        <p:spPr>
          <a:xfrm>
            <a:off x="7132320" y="4709160"/>
            <a:ext cx="4663440" cy="1188720"/>
          </a:xfrm>
          <a:prstGeom prst="rect">
            <a:avLst/>
          </a:prstGeom>
          <a:solidFill>
            <a:srgbClr val="EBF0F8"/>
          </a:solidFill>
          <a:ln w="25400">
            <a:solidFill>
              <a:srgbClr val="6A3D9A"/>
            </a:solidFill>
            <a:prstDash val="solid"/>
          </a:ln>
        </p:spPr>
      </p:sp>
      <p:sp>
        <p:nvSpPr>
          <p:cNvPr id="62" name="Text 60"/>
          <p:cNvSpPr txBox="1"/>
          <p:nvPr/>
        </p:nvSpPr>
        <p:spPr>
          <a:xfrm>
            <a:off x="7205472" y="4782312"/>
            <a:ext cx="822960" cy="320040"/>
          </a:xfrm>
          <a:prstGeom prst="rect">
            <a:avLst/>
          </a:prstGeom>
          <a:noFill/>
          <a:ln/>
        </p:spPr>
        <p:txBody>
          <a:bodyPr wrap="square" rtlCol="0" anchor="ctr"/>
          <a:lstStyle/>
          <a:p>
            <a:pPr indent="0" marL="0">
              <a:buNone/>
            </a:pPr>
            <a:r>
              <a:rPr lang="en-US" sz="1000" b="1" dirty="0">
                <a:solidFill>
                  <a:srgbClr val="6A3D9A"/>
                </a:solidFill>
                <a:latin typeface="Courier New" pitchFamily="34" charset="0"/>
                <a:ea typeface="Courier New" pitchFamily="34" charset="-122"/>
                <a:cs typeface="Courier New" pitchFamily="34" charset="-120"/>
              </a:rPr>
              <a:t>→→</a:t>
            </a:r>
            <a:endParaRPr lang="en-US" sz="1000" dirty="0"/>
          </a:p>
        </p:txBody>
      </p:sp>
      <p:sp>
        <p:nvSpPr>
          <p:cNvPr id="63" name="Text 61"/>
          <p:cNvSpPr txBox="1"/>
          <p:nvPr/>
        </p:nvSpPr>
        <p:spPr>
          <a:xfrm>
            <a:off x="8092440" y="4782312"/>
            <a:ext cx="3566160" cy="274320"/>
          </a:xfrm>
          <a:prstGeom prst="rect">
            <a:avLst/>
          </a:prstGeom>
          <a:noFill/>
          <a:ln/>
        </p:spPr>
        <p:txBody>
          <a:bodyPr wrap="square" rtlCol="0" anchor="ctr"/>
          <a:lstStyle/>
          <a:p>
            <a:pPr indent="0" marL="0">
              <a:buNone/>
            </a:pPr>
            <a:r>
              <a:rPr lang="en-US" sz="1150" b="1" dirty="0">
                <a:solidFill>
                  <a:srgbClr val="1B3A6B"/>
                </a:solidFill>
                <a:latin typeface="Calibri" pitchFamily="34" charset="0"/>
                <a:ea typeface="Calibri" pitchFamily="34" charset="-122"/>
                <a:cs typeface="Calibri" pitchFamily="34" charset="-120"/>
              </a:rPr>
              <a:t>Autocorrelación más rica</a:t>
            </a:r>
            <a:endParaRPr lang="en-US" sz="1150" dirty="0"/>
          </a:p>
        </p:txBody>
      </p:sp>
      <p:sp>
        <p:nvSpPr>
          <p:cNvPr id="64" name="Text 62"/>
          <p:cNvSpPr txBox="1"/>
          <p:nvPr/>
        </p:nvSpPr>
        <p:spPr>
          <a:xfrm>
            <a:off x="7205472" y="5120640"/>
            <a:ext cx="4434840" cy="685800"/>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Con 4 observaciones por año, el ACF puede detectar si hay dependencia de 1 trimestre o de 4 (un año completo).</a:t>
            </a:r>
            <a:endParaRPr lang="en-US" sz="1000" dirty="0"/>
          </a:p>
        </p:txBody>
      </p:sp>
      <p:sp>
        <p:nvSpPr>
          <p:cNvPr id="65" name="Shape 63"/>
          <p:cNvSpPr/>
          <p:nvPr/>
        </p:nvSpPr>
        <p:spPr>
          <a:xfrm>
            <a:off x="0" y="6565392"/>
            <a:ext cx="12161520" cy="292608"/>
          </a:xfrm>
          <a:prstGeom prst="rect">
            <a:avLst/>
          </a:prstGeom>
          <a:solidFill>
            <a:srgbClr val="1B3A6B"/>
          </a:solidFill>
          <a:ln/>
        </p:spPr>
      </p:sp>
      <p:sp>
        <p:nvSpPr>
          <p:cNvPr id="66" name="Text 64"/>
          <p:cNvSpPr txBox="1"/>
          <p:nvPr/>
        </p:nvSpPr>
        <p:spPr>
          <a:xfrm>
            <a:off x="228600" y="6592824"/>
            <a:ext cx="7315200" cy="228600"/>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Tec de Monterrey · Gobierno y Transformación Pública</a:t>
            </a:r>
            <a:endParaRPr lang="en-US" sz="800" dirty="0"/>
          </a:p>
        </p:txBody>
      </p:sp>
      <p:sp>
        <p:nvSpPr>
          <p:cNvPr id="67" name="Text 65"/>
          <p:cNvSpPr txBox="1"/>
          <p:nvPr/>
        </p:nvSpPr>
        <p:spPr>
          <a:xfrm>
            <a:off x="8686800" y="6592824"/>
            <a:ext cx="3291840" cy="228600"/>
          </a:xfrm>
          <a:prstGeom prst="rect">
            <a:avLst/>
          </a:prstGeom>
          <a:noFill/>
          <a:ln/>
        </p:spPr>
        <p:txBody>
          <a:bodyPr wrap="square" rtlCol="0" anchor="ctr"/>
          <a:lstStyle/>
          <a:p>
            <a:pPr algn="r" indent="0" marL="0">
              <a:buNone/>
            </a:pPr>
            <a:r>
              <a:rPr lang="en-US" sz="800" dirty="0">
                <a:solidFill>
                  <a:srgbClr val="E8A020"/>
                </a:solidFill>
                <a:latin typeface="Calibri" pitchFamily="34" charset="0"/>
                <a:ea typeface="Calibri" pitchFamily="34" charset="-122"/>
                <a:cs typeface="Calibri" pitchFamily="34" charset="-120"/>
              </a:rPr>
              <a:t>Fuente: World Bank WDI</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3A6B"/>
        </a:solidFill>
      </p:bgPr>
    </p:bg>
    <p:spTree>
      <p:nvGrpSpPr>
        <p:cNvPr id="1" name=""/>
        <p:cNvGrpSpPr/>
        <p:nvPr/>
      </p:nvGrpSpPr>
      <p:grpSpPr>
        <a:xfrm>
          <a:off x="0" y="0"/>
          <a:ext cx="0" cy="0"/>
          <a:chOff x="0" y="0"/>
          <a:chExt cx="0" cy="0"/>
        </a:xfrm>
      </p:grpSpPr>
      <p:sp>
        <p:nvSpPr>
          <p:cNvPr id="2" name="Shape 0"/>
          <p:cNvSpPr/>
          <p:nvPr/>
        </p:nvSpPr>
        <p:spPr>
          <a:xfrm>
            <a:off x="0" y="0"/>
            <a:ext cx="12161520" cy="347472"/>
          </a:xfrm>
          <a:prstGeom prst="rect">
            <a:avLst/>
          </a:prstGeom>
          <a:solidFill>
            <a:srgbClr val="1B3A6B"/>
          </a:solidFill>
          <a:ln/>
        </p:spPr>
      </p:sp>
      <p:sp>
        <p:nvSpPr>
          <p:cNvPr id="3" name="Text 1"/>
          <p:cNvSpPr txBox="1"/>
          <p:nvPr/>
        </p:nvSpPr>
        <p:spPr>
          <a:xfrm>
            <a:off x="228600" y="36576"/>
            <a:ext cx="8229600" cy="27432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EO4040 — Introducción a la Ciencia de Datos para Economía</a:t>
            </a:r>
            <a:endParaRPr lang="en-US" sz="900" dirty="0"/>
          </a:p>
        </p:txBody>
      </p:sp>
      <p:sp>
        <p:nvSpPr>
          <p:cNvPr id="4" name="Text 2"/>
          <p:cNvSpPr txBox="1"/>
          <p:nvPr/>
        </p:nvSpPr>
        <p:spPr>
          <a:xfrm>
            <a:off x="8686800" y="36576"/>
            <a:ext cx="3291840" cy="274320"/>
          </a:xfrm>
          <a:prstGeom prst="rect">
            <a:avLst/>
          </a:prstGeom>
          <a:noFill/>
          <a:ln/>
        </p:spPr>
        <p:txBody>
          <a:bodyPr wrap="square" rtlCol="0" anchor="ctr"/>
          <a:lstStyle/>
          <a:p>
            <a:pPr algn="r" indent="0" marL="0">
              <a:buNone/>
            </a:pPr>
            <a:r>
              <a:rPr lang="en-US" sz="900" b="1" dirty="0">
                <a:solidFill>
                  <a:srgbClr val="E8A020"/>
                </a:solidFill>
                <a:latin typeface="Calibri" pitchFamily="34" charset="0"/>
                <a:ea typeface="Calibri" pitchFamily="34" charset="-122"/>
                <a:cs typeface="Calibri" pitchFamily="34" charset="-120"/>
              </a:rPr>
              <a:t>Sesión 4</a:t>
            </a:r>
            <a:endParaRPr lang="en-US" sz="900" dirty="0"/>
          </a:p>
        </p:txBody>
      </p:sp>
      <p:sp>
        <p:nvSpPr>
          <p:cNvPr id="5" name="Text 3"/>
          <p:cNvSpPr txBox="1"/>
          <p:nvPr/>
        </p:nvSpPr>
        <p:spPr>
          <a:xfrm>
            <a:off x="320040" y="457200"/>
            <a:ext cx="11430000" cy="5029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Autocorrelación: ¿cuánto depende hoy de ayer?</a:t>
            </a:r>
            <a:endParaRPr lang="en-US" sz="2400" dirty="0"/>
          </a:p>
        </p:txBody>
      </p:sp>
      <p:sp>
        <p:nvSpPr>
          <p:cNvPr id="6" name="Shape 4"/>
          <p:cNvSpPr/>
          <p:nvPr/>
        </p:nvSpPr>
        <p:spPr>
          <a:xfrm>
            <a:off x="320040" y="1051560"/>
            <a:ext cx="11521440" cy="594360"/>
          </a:xfrm>
          <a:prstGeom prst="rect">
            <a:avLst/>
          </a:prstGeom>
          <a:solidFill>
            <a:srgbClr val="1D2E4A"/>
          </a:solidFill>
          <a:ln w="12700">
            <a:solidFill>
              <a:srgbClr val="2A7ABF"/>
            </a:solidFill>
            <a:prstDash val="solid"/>
          </a:ln>
        </p:spPr>
      </p:sp>
      <p:sp>
        <p:nvSpPr>
          <p:cNvPr id="7" name="Text 5"/>
          <p:cNvSpPr txBox="1"/>
          <p:nvPr/>
        </p:nvSpPr>
        <p:spPr>
          <a:xfrm>
            <a:off x="457200" y="1097280"/>
            <a:ext cx="11247120" cy="457200"/>
          </a:xfrm>
          <a:prstGeom prst="rect">
            <a:avLst/>
          </a:prstGeom>
          <a:noFill/>
          <a:ln/>
        </p:spPr>
        <p:txBody>
          <a:bodyPr wrap="square" rtlCol="0" anchor="ctr"/>
          <a:lstStyle/>
          <a:p>
            <a:pPr indent="0" marL="0">
              <a:buNone/>
            </a:pPr>
            <a:r>
              <a:rPr lang="en-US" sz="1200" dirty="0">
                <a:solidFill>
                  <a:srgbClr val="A8D8F0"/>
                </a:solidFill>
                <a:latin typeface="Courier New" pitchFamily="34" charset="0"/>
                <a:ea typeface="Courier New" pitchFamily="34" charset="-122"/>
                <a:cs typeface="Courier New" pitchFamily="34" charset="-120"/>
              </a:rPr>
              <a:t>Autocorrelación (lag k): correlación de la serie consigo misma desplazada k períodos.  ACF(k) = Corr(Yₜ, Yₜ₋ₖ)</a:t>
            </a:r>
            <a:endParaRPr lang="en-US" sz="1200" dirty="0"/>
          </a:p>
        </p:txBody>
      </p:sp>
      <p:sp>
        <p:nvSpPr>
          <p:cNvPr id="8" name="Shape 6"/>
          <p:cNvSpPr/>
          <p:nvPr/>
        </p:nvSpPr>
        <p:spPr>
          <a:xfrm>
            <a:off x="365760" y="1828800"/>
            <a:ext cx="5486400" cy="3200400"/>
          </a:xfrm>
          <a:prstGeom prst="rect">
            <a:avLst/>
          </a:prstGeom>
          <a:solidFill>
            <a:srgbClr val="1A2B42"/>
          </a:solidFill>
          <a:ln w="12700">
            <a:solidFill>
              <a:srgbClr val="334D66"/>
            </a:solidFill>
            <a:prstDash val="solid"/>
          </a:ln>
        </p:spPr>
      </p:sp>
      <p:sp>
        <p:nvSpPr>
          <p:cNvPr id="9" name="Shape 7"/>
          <p:cNvSpPr/>
          <p:nvPr/>
        </p:nvSpPr>
        <p:spPr>
          <a:xfrm>
            <a:off x="365760" y="4175760"/>
            <a:ext cx="5486400" cy="0"/>
          </a:xfrm>
          <a:prstGeom prst="line">
            <a:avLst/>
          </a:prstGeom>
          <a:noFill/>
          <a:ln w="12700">
            <a:solidFill>
              <a:srgbClr val="4A6A88"/>
            </a:solidFill>
            <a:prstDash val="solid"/>
          </a:ln>
        </p:spPr>
      </p:sp>
      <p:sp>
        <p:nvSpPr>
          <p:cNvPr id="10" name="Shape 8"/>
          <p:cNvSpPr/>
          <p:nvPr/>
        </p:nvSpPr>
        <p:spPr>
          <a:xfrm>
            <a:off x="365760" y="3578352"/>
            <a:ext cx="5486400" cy="0"/>
          </a:xfrm>
          <a:prstGeom prst="line">
            <a:avLst/>
          </a:prstGeom>
          <a:noFill/>
          <a:ln w="12700">
            <a:solidFill>
              <a:srgbClr val="C0392B"/>
            </a:solidFill>
            <a:prstDash val="dash"/>
          </a:ln>
        </p:spPr>
      </p:sp>
      <p:sp>
        <p:nvSpPr>
          <p:cNvPr id="11" name="Shape 9"/>
          <p:cNvSpPr/>
          <p:nvPr/>
        </p:nvSpPr>
        <p:spPr>
          <a:xfrm>
            <a:off x="365760" y="4773168"/>
            <a:ext cx="5486400" cy="0"/>
          </a:xfrm>
          <a:prstGeom prst="line">
            <a:avLst/>
          </a:prstGeom>
          <a:noFill/>
          <a:ln w="12700">
            <a:solidFill>
              <a:srgbClr val="C0392B"/>
            </a:solidFill>
            <a:prstDash val="dash"/>
          </a:ln>
        </p:spPr>
      </p:sp>
      <p:sp>
        <p:nvSpPr>
          <p:cNvPr id="12" name="Text 10"/>
          <p:cNvSpPr txBox="1"/>
          <p:nvPr/>
        </p:nvSpPr>
        <p:spPr>
          <a:xfrm>
            <a:off x="5074920" y="3322320"/>
            <a:ext cx="749808" cy="219456"/>
          </a:xfrm>
          <a:prstGeom prst="rect">
            <a:avLst/>
          </a:prstGeom>
          <a:noFill/>
          <a:ln/>
        </p:spPr>
        <p:txBody>
          <a:bodyPr wrap="square" rtlCol="0" anchor="ctr"/>
          <a:lstStyle/>
          <a:p>
            <a:pPr indent="0" marL="0">
              <a:buNone/>
            </a:pPr>
            <a:r>
              <a:rPr lang="en-US" sz="700" dirty="0">
                <a:solidFill>
                  <a:srgbClr val="C0392B"/>
                </a:solidFill>
                <a:latin typeface="Courier New" pitchFamily="34" charset="0"/>
                <a:ea typeface="Courier New" pitchFamily="34" charset="-122"/>
                <a:cs typeface="Courier New" pitchFamily="34" charset="-120"/>
              </a:rPr>
              <a:t>+1.96/√n</a:t>
            </a:r>
            <a:endParaRPr lang="en-US" sz="700" dirty="0"/>
          </a:p>
        </p:txBody>
      </p:sp>
      <p:sp>
        <p:nvSpPr>
          <p:cNvPr id="13" name="Text 11"/>
          <p:cNvSpPr txBox="1"/>
          <p:nvPr/>
        </p:nvSpPr>
        <p:spPr>
          <a:xfrm>
            <a:off x="5074920" y="4818888"/>
            <a:ext cx="749808" cy="219456"/>
          </a:xfrm>
          <a:prstGeom prst="rect">
            <a:avLst/>
          </a:prstGeom>
          <a:noFill/>
          <a:ln/>
        </p:spPr>
        <p:txBody>
          <a:bodyPr wrap="square" rtlCol="0" anchor="ctr"/>
          <a:lstStyle/>
          <a:p>
            <a:pPr indent="0" marL="0">
              <a:buNone/>
            </a:pPr>
            <a:r>
              <a:rPr lang="en-US" sz="700" dirty="0">
                <a:solidFill>
                  <a:srgbClr val="C0392B"/>
                </a:solidFill>
                <a:latin typeface="Courier New" pitchFamily="34" charset="0"/>
                <a:ea typeface="Courier New" pitchFamily="34" charset="-122"/>
                <a:cs typeface="Courier New" pitchFamily="34" charset="-120"/>
              </a:rPr>
              <a:t>-1.96/√n</a:t>
            </a:r>
            <a:endParaRPr lang="en-US" sz="700" dirty="0"/>
          </a:p>
        </p:txBody>
      </p:sp>
      <p:sp>
        <p:nvSpPr>
          <p:cNvPr id="14" name="Shape 12"/>
          <p:cNvSpPr/>
          <p:nvPr/>
        </p:nvSpPr>
        <p:spPr>
          <a:xfrm>
            <a:off x="466344" y="2042160"/>
            <a:ext cx="251460" cy="2133600"/>
          </a:xfrm>
          <a:prstGeom prst="rect">
            <a:avLst/>
          </a:prstGeom>
          <a:solidFill>
            <a:srgbClr val="2A7ABF"/>
          </a:solidFill>
          <a:ln w="12700">
            <a:solidFill>
              <a:srgbClr val="2A7ABF"/>
            </a:solidFill>
            <a:prstDash val="solid"/>
          </a:ln>
        </p:spPr>
      </p:sp>
      <p:sp>
        <p:nvSpPr>
          <p:cNvPr id="15" name="Text 13"/>
          <p:cNvSpPr txBox="1"/>
          <p:nvPr/>
        </p:nvSpPr>
        <p:spPr>
          <a:xfrm>
            <a:off x="466344" y="5074920"/>
            <a:ext cx="342900" cy="201168"/>
          </a:xfrm>
          <a:prstGeom prst="rect">
            <a:avLst/>
          </a:prstGeom>
          <a:noFill/>
          <a:ln/>
        </p:spPr>
        <p:txBody>
          <a:bodyPr wrap="square" rtlCol="0" anchor="ctr"/>
          <a:lstStyle/>
          <a:p>
            <a:pPr algn="ctr" indent="0" marL="0">
              <a:buNone/>
            </a:pPr>
            <a:r>
              <a:rPr lang="en-US" sz="800" dirty="0">
                <a:solidFill>
                  <a:srgbClr val="8899AA"/>
                </a:solidFill>
                <a:latin typeface="Calibri" pitchFamily="34" charset="0"/>
                <a:ea typeface="Calibri" pitchFamily="34" charset="-122"/>
                <a:cs typeface="Calibri" pitchFamily="34" charset="-120"/>
              </a:rPr>
              <a:t>0</a:t>
            </a:r>
            <a:endParaRPr lang="en-US" sz="800" dirty="0"/>
          </a:p>
        </p:txBody>
      </p:sp>
      <p:sp>
        <p:nvSpPr>
          <p:cNvPr id="16" name="Shape 14"/>
          <p:cNvSpPr/>
          <p:nvPr/>
        </p:nvSpPr>
        <p:spPr>
          <a:xfrm>
            <a:off x="923544" y="2426208"/>
            <a:ext cx="251460" cy="1749552"/>
          </a:xfrm>
          <a:prstGeom prst="rect">
            <a:avLst/>
          </a:prstGeom>
          <a:solidFill>
            <a:srgbClr val="2A7ABF"/>
          </a:solidFill>
          <a:ln w="12700">
            <a:solidFill>
              <a:srgbClr val="2A7ABF"/>
            </a:solidFill>
            <a:prstDash val="solid"/>
          </a:ln>
        </p:spPr>
      </p:sp>
      <p:sp>
        <p:nvSpPr>
          <p:cNvPr id="17" name="Text 15"/>
          <p:cNvSpPr txBox="1"/>
          <p:nvPr/>
        </p:nvSpPr>
        <p:spPr>
          <a:xfrm>
            <a:off x="923544" y="5074920"/>
            <a:ext cx="342900" cy="201168"/>
          </a:xfrm>
          <a:prstGeom prst="rect">
            <a:avLst/>
          </a:prstGeom>
          <a:noFill/>
          <a:ln/>
        </p:spPr>
        <p:txBody>
          <a:bodyPr wrap="square" rtlCol="0" anchor="ctr"/>
          <a:lstStyle/>
          <a:p>
            <a:pPr algn="ctr" indent="0" marL="0">
              <a:buNone/>
            </a:pPr>
            <a:r>
              <a:rPr lang="en-US" sz="800" dirty="0">
                <a:solidFill>
                  <a:srgbClr val="8899AA"/>
                </a:solidFill>
                <a:latin typeface="Calibri" pitchFamily="34" charset="0"/>
                <a:ea typeface="Calibri" pitchFamily="34" charset="-122"/>
                <a:cs typeface="Calibri" pitchFamily="34" charset="-120"/>
              </a:rPr>
              <a:t>1</a:t>
            </a:r>
            <a:endParaRPr lang="en-US" sz="800" dirty="0"/>
          </a:p>
        </p:txBody>
      </p:sp>
      <p:sp>
        <p:nvSpPr>
          <p:cNvPr id="18" name="Shape 16"/>
          <p:cNvSpPr/>
          <p:nvPr/>
        </p:nvSpPr>
        <p:spPr>
          <a:xfrm>
            <a:off x="1380744" y="2788920"/>
            <a:ext cx="251460" cy="1386840"/>
          </a:xfrm>
          <a:prstGeom prst="rect">
            <a:avLst/>
          </a:prstGeom>
          <a:solidFill>
            <a:srgbClr val="2A7ABF"/>
          </a:solidFill>
          <a:ln w="12700">
            <a:solidFill>
              <a:srgbClr val="2A7ABF"/>
            </a:solidFill>
            <a:prstDash val="solid"/>
          </a:ln>
        </p:spPr>
      </p:sp>
      <p:sp>
        <p:nvSpPr>
          <p:cNvPr id="19" name="Text 17"/>
          <p:cNvSpPr txBox="1"/>
          <p:nvPr/>
        </p:nvSpPr>
        <p:spPr>
          <a:xfrm>
            <a:off x="1380744" y="5074920"/>
            <a:ext cx="342900" cy="201168"/>
          </a:xfrm>
          <a:prstGeom prst="rect">
            <a:avLst/>
          </a:prstGeom>
          <a:noFill/>
          <a:ln/>
        </p:spPr>
        <p:txBody>
          <a:bodyPr wrap="square" rtlCol="0" anchor="ctr"/>
          <a:lstStyle/>
          <a:p>
            <a:pPr algn="ctr" indent="0" marL="0">
              <a:buNone/>
            </a:pPr>
            <a:r>
              <a:rPr lang="en-US" sz="800" dirty="0">
                <a:solidFill>
                  <a:srgbClr val="8899AA"/>
                </a:solidFill>
                <a:latin typeface="Calibri" pitchFamily="34" charset="0"/>
                <a:ea typeface="Calibri" pitchFamily="34" charset="-122"/>
                <a:cs typeface="Calibri" pitchFamily="34" charset="-120"/>
              </a:rPr>
              <a:t>2</a:t>
            </a:r>
            <a:endParaRPr lang="en-US" sz="800" dirty="0"/>
          </a:p>
        </p:txBody>
      </p:sp>
      <p:sp>
        <p:nvSpPr>
          <p:cNvPr id="20" name="Shape 18"/>
          <p:cNvSpPr/>
          <p:nvPr/>
        </p:nvSpPr>
        <p:spPr>
          <a:xfrm>
            <a:off x="1837944" y="3151632"/>
            <a:ext cx="251460" cy="1024128"/>
          </a:xfrm>
          <a:prstGeom prst="rect">
            <a:avLst/>
          </a:prstGeom>
          <a:solidFill>
            <a:srgbClr val="2A7ABF"/>
          </a:solidFill>
          <a:ln w="12700">
            <a:solidFill>
              <a:srgbClr val="2A7ABF"/>
            </a:solidFill>
            <a:prstDash val="solid"/>
          </a:ln>
        </p:spPr>
      </p:sp>
      <p:sp>
        <p:nvSpPr>
          <p:cNvPr id="21" name="Text 19"/>
          <p:cNvSpPr txBox="1"/>
          <p:nvPr/>
        </p:nvSpPr>
        <p:spPr>
          <a:xfrm>
            <a:off x="1837944" y="5074920"/>
            <a:ext cx="342900" cy="201168"/>
          </a:xfrm>
          <a:prstGeom prst="rect">
            <a:avLst/>
          </a:prstGeom>
          <a:noFill/>
          <a:ln/>
        </p:spPr>
        <p:txBody>
          <a:bodyPr wrap="square" rtlCol="0" anchor="ctr"/>
          <a:lstStyle/>
          <a:p>
            <a:pPr algn="ctr" indent="0" marL="0">
              <a:buNone/>
            </a:pPr>
            <a:r>
              <a:rPr lang="en-US" sz="800" dirty="0">
                <a:solidFill>
                  <a:srgbClr val="8899AA"/>
                </a:solidFill>
                <a:latin typeface="Calibri" pitchFamily="34" charset="0"/>
                <a:ea typeface="Calibri" pitchFamily="34" charset="-122"/>
                <a:cs typeface="Calibri" pitchFamily="34" charset="-120"/>
              </a:rPr>
              <a:t>3</a:t>
            </a:r>
            <a:endParaRPr lang="en-US" sz="800" dirty="0"/>
          </a:p>
        </p:txBody>
      </p:sp>
      <p:sp>
        <p:nvSpPr>
          <p:cNvPr id="22" name="Shape 20"/>
          <p:cNvSpPr/>
          <p:nvPr/>
        </p:nvSpPr>
        <p:spPr>
          <a:xfrm>
            <a:off x="2295144" y="3514344"/>
            <a:ext cx="251460" cy="661416"/>
          </a:xfrm>
          <a:prstGeom prst="rect">
            <a:avLst/>
          </a:prstGeom>
          <a:solidFill>
            <a:srgbClr val="2A7ABF"/>
          </a:solidFill>
          <a:ln w="12700">
            <a:solidFill>
              <a:srgbClr val="2A7ABF"/>
            </a:solidFill>
            <a:prstDash val="solid"/>
          </a:ln>
        </p:spPr>
      </p:sp>
      <p:sp>
        <p:nvSpPr>
          <p:cNvPr id="23" name="Text 21"/>
          <p:cNvSpPr txBox="1"/>
          <p:nvPr/>
        </p:nvSpPr>
        <p:spPr>
          <a:xfrm>
            <a:off x="2295144" y="5074920"/>
            <a:ext cx="342900" cy="201168"/>
          </a:xfrm>
          <a:prstGeom prst="rect">
            <a:avLst/>
          </a:prstGeom>
          <a:noFill/>
          <a:ln/>
        </p:spPr>
        <p:txBody>
          <a:bodyPr wrap="square" rtlCol="0" anchor="ctr"/>
          <a:lstStyle/>
          <a:p>
            <a:pPr algn="ctr" indent="0" marL="0">
              <a:buNone/>
            </a:pPr>
            <a:r>
              <a:rPr lang="en-US" sz="800" dirty="0">
                <a:solidFill>
                  <a:srgbClr val="8899AA"/>
                </a:solidFill>
                <a:latin typeface="Calibri" pitchFamily="34" charset="0"/>
                <a:ea typeface="Calibri" pitchFamily="34" charset="-122"/>
                <a:cs typeface="Calibri" pitchFamily="34" charset="-120"/>
              </a:rPr>
              <a:t>4</a:t>
            </a:r>
            <a:endParaRPr lang="en-US" sz="800" dirty="0"/>
          </a:p>
        </p:txBody>
      </p:sp>
      <p:sp>
        <p:nvSpPr>
          <p:cNvPr id="24" name="Shape 22"/>
          <p:cNvSpPr/>
          <p:nvPr/>
        </p:nvSpPr>
        <p:spPr>
          <a:xfrm>
            <a:off x="2752344" y="3855720"/>
            <a:ext cx="251460" cy="320040"/>
          </a:xfrm>
          <a:prstGeom prst="rect">
            <a:avLst/>
          </a:prstGeom>
          <a:solidFill>
            <a:srgbClr val="445566"/>
          </a:solidFill>
          <a:ln w="12700">
            <a:solidFill>
              <a:srgbClr val="445566"/>
            </a:solidFill>
            <a:prstDash val="solid"/>
          </a:ln>
        </p:spPr>
      </p:sp>
      <p:sp>
        <p:nvSpPr>
          <p:cNvPr id="25" name="Text 23"/>
          <p:cNvSpPr txBox="1"/>
          <p:nvPr/>
        </p:nvSpPr>
        <p:spPr>
          <a:xfrm>
            <a:off x="2752344" y="5074920"/>
            <a:ext cx="342900" cy="201168"/>
          </a:xfrm>
          <a:prstGeom prst="rect">
            <a:avLst/>
          </a:prstGeom>
          <a:noFill/>
          <a:ln/>
        </p:spPr>
        <p:txBody>
          <a:bodyPr wrap="square" rtlCol="0" anchor="ctr"/>
          <a:lstStyle/>
          <a:p>
            <a:pPr algn="ctr" indent="0" marL="0">
              <a:buNone/>
            </a:pPr>
            <a:r>
              <a:rPr lang="en-US" sz="800" dirty="0">
                <a:solidFill>
                  <a:srgbClr val="8899AA"/>
                </a:solidFill>
                <a:latin typeface="Calibri" pitchFamily="34" charset="0"/>
                <a:ea typeface="Calibri" pitchFamily="34" charset="-122"/>
                <a:cs typeface="Calibri" pitchFamily="34" charset="-120"/>
              </a:rPr>
              <a:t>5</a:t>
            </a:r>
            <a:endParaRPr lang="en-US" sz="800" dirty="0"/>
          </a:p>
        </p:txBody>
      </p:sp>
      <p:sp>
        <p:nvSpPr>
          <p:cNvPr id="26" name="Shape 24"/>
          <p:cNvSpPr/>
          <p:nvPr/>
        </p:nvSpPr>
        <p:spPr>
          <a:xfrm>
            <a:off x="3209544" y="4133088"/>
            <a:ext cx="251460" cy="42672"/>
          </a:xfrm>
          <a:prstGeom prst="rect">
            <a:avLst/>
          </a:prstGeom>
          <a:solidFill>
            <a:srgbClr val="445566"/>
          </a:solidFill>
          <a:ln w="12700">
            <a:solidFill>
              <a:srgbClr val="445566"/>
            </a:solidFill>
            <a:prstDash val="solid"/>
          </a:ln>
        </p:spPr>
      </p:sp>
      <p:sp>
        <p:nvSpPr>
          <p:cNvPr id="27" name="Text 25"/>
          <p:cNvSpPr txBox="1"/>
          <p:nvPr/>
        </p:nvSpPr>
        <p:spPr>
          <a:xfrm>
            <a:off x="3209544" y="5074920"/>
            <a:ext cx="342900" cy="201168"/>
          </a:xfrm>
          <a:prstGeom prst="rect">
            <a:avLst/>
          </a:prstGeom>
          <a:noFill/>
          <a:ln/>
        </p:spPr>
        <p:txBody>
          <a:bodyPr wrap="square" rtlCol="0" anchor="ctr"/>
          <a:lstStyle/>
          <a:p>
            <a:pPr algn="ctr" indent="0" marL="0">
              <a:buNone/>
            </a:pPr>
            <a:r>
              <a:rPr lang="en-US" sz="800" dirty="0">
                <a:solidFill>
                  <a:srgbClr val="8899AA"/>
                </a:solidFill>
                <a:latin typeface="Calibri" pitchFamily="34" charset="0"/>
                <a:ea typeface="Calibri" pitchFamily="34" charset="-122"/>
                <a:cs typeface="Calibri" pitchFamily="34" charset="-120"/>
              </a:rPr>
              <a:t>6</a:t>
            </a:r>
            <a:endParaRPr lang="en-US" sz="800" dirty="0"/>
          </a:p>
        </p:txBody>
      </p:sp>
      <p:sp>
        <p:nvSpPr>
          <p:cNvPr id="28" name="Shape 26"/>
          <p:cNvSpPr/>
          <p:nvPr/>
        </p:nvSpPr>
        <p:spPr>
          <a:xfrm>
            <a:off x="3666744" y="4175760"/>
            <a:ext cx="251460" cy="192024"/>
          </a:xfrm>
          <a:prstGeom prst="rect">
            <a:avLst/>
          </a:prstGeom>
          <a:solidFill>
            <a:srgbClr val="445566"/>
          </a:solidFill>
          <a:ln w="12700">
            <a:solidFill>
              <a:srgbClr val="445566"/>
            </a:solidFill>
            <a:prstDash val="solid"/>
          </a:ln>
        </p:spPr>
      </p:sp>
      <p:sp>
        <p:nvSpPr>
          <p:cNvPr id="29" name="Text 27"/>
          <p:cNvSpPr txBox="1"/>
          <p:nvPr/>
        </p:nvSpPr>
        <p:spPr>
          <a:xfrm>
            <a:off x="3666744" y="5074920"/>
            <a:ext cx="342900" cy="201168"/>
          </a:xfrm>
          <a:prstGeom prst="rect">
            <a:avLst/>
          </a:prstGeom>
          <a:noFill/>
          <a:ln/>
        </p:spPr>
        <p:txBody>
          <a:bodyPr wrap="square" rtlCol="0" anchor="ctr"/>
          <a:lstStyle/>
          <a:p>
            <a:pPr algn="ctr" indent="0" marL="0">
              <a:buNone/>
            </a:pPr>
            <a:r>
              <a:rPr lang="en-US" sz="800" dirty="0">
                <a:solidFill>
                  <a:srgbClr val="8899AA"/>
                </a:solidFill>
                <a:latin typeface="Calibri" pitchFamily="34" charset="0"/>
                <a:ea typeface="Calibri" pitchFamily="34" charset="-122"/>
                <a:cs typeface="Calibri" pitchFamily="34" charset="-120"/>
              </a:rPr>
              <a:t>7</a:t>
            </a:r>
            <a:endParaRPr lang="en-US" sz="800" dirty="0"/>
          </a:p>
        </p:txBody>
      </p:sp>
      <p:sp>
        <p:nvSpPr>
          <p:cNvPr id="30" name="Shape 28"/>
          <p:cNvSpPr/>
          <p:nvPr/>
        </p:nvSpPr>
        <p:spPr>
          <a:xfrm>
            <a:off x="4123944" y="4175760"/>
            <a:ext cx="251460" cy="384048"/>
          </a:xfrm>
          <a:prstGeom prst="rect">
            <a:avLst/>
          </a:prstGeom>
          <a:solidFill>
            <a:srgbClr val="445566"/>
          </a:solidFill>
          <a:ln w="12700">
            <a:solidFill>
              <a:srgbClr val="445566"/>
            </a:solidFill>
            <a:prstDash val="solid"/>
          </a:ln>
        </p:spPr>
      </p:sp>
      <p:sp>
        <p:nvSpPr>
          <p:cNvPr id="31" name="Text 29"/>
          <p:cNvSpPr txBox="1"/>
          <p:nvPr/>
        </p:nvSpPr>
        <p:spPr>
          <a:xfrm>
            <a:off x="4123944" y="5074920"/>
            <a:ext cx="342900" cy="201168"/>
          </a:xfrm>
          <a:prstGeom prst="rect">
            <a:avLst/>
          </a:prstGeom>
          <a:noFill/>
          <a:ln/>
        </p:spPr>
        <p:txBody>
          <a:bodyPr wrap="square" rtlCol="0" anchor="ctr"/>
          <a:lstStyle/>
          <a:p>
            <a:pPr algn="ctr" indent="0" marL="0">
              <a:buNone/>
            </a:pPr>
            <a:r>
              <a:rPr lang="en-US" sz="800" dirty="0">
                <a:solidFill>
                  <a:srgbClr val="8899AA"/>
                </a:solidFill>
                <a:latin typeface="Calibri" pitchFamily="34" charset="0"/>
                <a:ea typeface="Calibri" pitchFamily="34" charset="-122"/>
                <a:cs typeface="Calibri" pitchFamily="34" charset="-120"/>
              </a:rPr>
              <a:t>8</a:t>
            </a:r>
            <a:endParaRPr lang="en-US" sz="800" dirty="0"/>
          </a:p>
        </p:txBody>
      </p:sp>
      <p:sp>
        <p:nvSpPr>
          <p:cNvPr id="32" name="Shape 30"/>
          <p:cNvSpPr/>
          <p:nvPr/>
        </p:nvSpPr>
        <p:spPr>
          <a:xfrm>
            <a:off x="4581144" y="4175760"/>
            <a:ext cx="251460" cy="469392"/>
          </a:xfrm>
          <a:prstGeom prst="rect">
            <a:avLst/>
          </a:prstGeom>
          <a:solidFill>
            <a:srgbClr val="445566"/>
          </a:solidFill>
          <a:ln w="12700">
            <a:solidFill>
              <a:srgbClr val="445566"/>
            </a:solidFill>
            <a:prstDash val="solid"/>
          </a:ln>
        </p:spPr>
      </p:sp>
      <p:sp>
        <p:nvSpPr>
          <p:cNvPr id="33" name="Text 31"/>
          <p:cNvSpPr txBox="1"/>
          <p:nvPr/>
        </p:nvSpPr>
        <p:spPr>
          <a:xfrm>
            <a:off x="4581144" y="5074920"/>
            <a:ext cx="342900" cy="201168"/>
          </a:xfrm>
          <a:prstGeom prst="rect">
            <a:avLst/>
          </a:prstGeom>
          <a:noFill/>
          <a:ln/>
        </p:spPr>
        <p:txBody>
          <a:bodyPr wrap="square" rtlCol="0" anchor="ctr"/>
          <a:lstStyle/>
          <a:p>
            <a:pPr algn="ctr" indent="0" marL="0">
              <a:buNone/>
            </a:pPr>
            <a:r>
              <a:rPr lang="en-US" sz="800" dirty="0">
                <a:solidFill>
                  <a:srgbClr val="8899AA"/>
                </a:solidFill>
                <a:latin typeface="Calibri" pitchFamily="34" charset="0"/>
                <a:ea typeface="Calibri" pitchFamily="34" charset="-122"/>
                <a:cs typeface="Calibri" pitchFamily="34" charset="-120"/>
              </a:rPr>
              <a:t>9</a:t>
            </a:r>
            <a:endParaRPr lang="en-US" sz="800" dirty="0"/>
          </a:p>
        </p:txBody>
      </p:sp>
      <p:sp>
        <p:nvSpPr>
          <p:cNvPr id="34" name="Shape 32"/>
          <p:cNvSpPr/>
          <p:nvPr/>
        </p:nvSpPr>
        <p:spPr>
          <a:xfrm>
            <a:off x="5038344" y="4175760"/>
            <a:ext cx="251460" cy="405384"/>
          </a:xfrm>
          <a:prstGeom prst="rect">
            <a:avLst/>
          </a:prstGeom>
          <a:solidFill>
            <a:srgbClr val="445566"/>
          </a:solidFill>
          <a:ln w="12700">
            <a:solidFill>
              <a:srgbClr val="445566"/>
            </a:solidFill>
            <a:prstDash val="solid"/>
          </a:ln>
        </p:spPr>
      </p:sp>
      <p:sp>
        <p:nvSpPr>
          <p:cNvPr id="35" name="Text 33"/>
          <p:cNvSpPr txBox="1"/>
          <p:nvPr/>
        </p:nvSpPr>
        <p:spPr>
          <a:xfrm>
            <a:off x="5038344" y="5074920"/>
            <a:ext cx="342900" cy="201168"/>
          </a:xfrm>
          <a:prstGeom prst="rect">
            <a:avLst/>
          </a:prstGeom>
          <a:noFill/>
          <a:ln/>
        </p:spPr>
        <p:txBody>
          <a:bodyPr wrap="square" rtlCol="0" anchor="ctr"/>
          <a:lstStyle/>
          <a:p>
            <a:pPr algn="ctr" indent="0" marL="0">
              <a:buNone/>
            </a:pPr>
            <a:r>
              <a:rPr lang="en-US" sz="800" dirty="0">
                <a:solidFill>
                  <a:srgbClr val="8899AA"/>
                </a:solidFill>
                <a:latin typeface="Calibri" pitchFamily="34" charset="0"/>
                <a:ea typeface="Calibri" pitchFamily="34" charset="-122"/>
                <a:cs typeface="Calibri" pitchFamily="34" charset="-120"/>
              </a:rPr>
              <a:t>10</a:t>
            </a:r>
            <a:endParaRPr lang="en-US" sz="800" dirty="0"/>
          </a:p>
        </p:txBody>
      </p:sp>
      <p:sp>
        <p:nvSpPr>
          <p:cNvPr id="36" name="Shape 34"/>
          <p:cNvSpPr/>
          <p:nvPr/>
        </p:nvSpPr>
        <p:spPr>
          <a:xfrm>
            <a:off x="5495544" y="4175760"/>
            <a:ext cx="251460" cy="256032"/>
          </a:xfrm>
          <a:prstGeom prst="rect">
            <a:avLst/>
          </a:prstGeom>
          <a:solidFill>
            <a:srgbClr val="445566"/>
          </a:solidFill>
          <a:ln w="12700">
            <a:solidFill>
              <a:srgbClr val="445566"/>
            </a:solidFill>
            <a:prstDash val="solid"/>
          </a:ln>
        </p:spPr>
      </p:sp>
      <p:sp>
        <p:nvSpPr>
          <p:cNvPr id="37" name="Text 35"/>
          <p:cNvSpPr txBox="1"/>
          <p:nvPr/>
        </p:nvSpPr>
        <p:spPr>
          <a:xfrm>
            <a:off x="5495544" y="5074920"/>
            <a:ext cx="342900" cy="201168"/>
          </a:xfrm>
          <a:prstGeom prst="rect">
            <a:avLst/>
          </a:prstGeom>
          <a:noFill/>
          <a:ln/>
        </p:spPr>
        <p:txBody>
          <a:bodyPr wrap="square" rtlCol="0" anchor="ctr"/>
          <a:lstStyle/>
          <a:p>
            <a:pPr algn="ctr" indent="0" marL="0">
              <a:buNone/>
            </a:pPr>
            <a:r>
              <a:rPr lang="en-US" sz="800" dirty="0">
                <a:solidFill>
                  <a:srgbClr val="8899AA"/>
                </a:solidFill>
                <a:latin typeface="Calibri" pitchFamily="34" charset="0"/>
                <a:ea typeface="Calibri" pitchFamily="34" charset="-122"/>
                <a:cs typeface="Calibri" pitchFamily="34" charset="-120"/>
              </a:rPr>
              <a:t>11</a:t>
            </a:r>
            <a:endParaRPr lang="en-US" sz="800" dirty="0"/>
          </a:p>
        </p:txBody>
      </p:sp>
      <p:sp>
        <p:nvSpPr>
          <p:cNvPr id="38" name="Text 36"/>
          <p:cNvSpPr txBox="1"/>
          <p:nvPr/>
        </p:nvSpPr>
        <p:spPr>
          <a:xfrm>
            <a:off x="365760" y="5303520"/>
            <a:ext cx="5486400" cy="201168"/>
          </a:xfrm>
          <a:prstGeom prst="rect">
            <a:avLst/>
          </a:prstGeom>
          <a:noFill/>
          <a:ln/>
        </p:spPr>
        <p:txBody>
          <a:bodyPr wrap="square" rtlCol="0" anchor="ctr"/>
          <a:lstStyle/>
          <a:p>
            <a:pPr algn="ctr" indent="0" marL="0">
              <a:buNone/>
            </a:pPr>
            <a:r>
              <a:rPr lang="en-US" sz="900" dirty="0">
                <a:solidFill>
                  <a:srgbClr val="8899AA"/>
                </a:solidFill>
                <a:latin typeface="Calibri" pitchFamily="34" charset="0"/>
                <a:ea typeface="Calibri" pitchFamily="34" charset="-122"/>
                <a:cs typeface="Calibri" pitchFamily="34" charset="-120"/>
              </a:rPr>
              <a:t>Lag (años)</a:t>
            </a:r>
            <a:endParaRPr lang="en-US" sz="900" dirty="0"/>
          </a:p>
        </p:txBody>
      </p:sp>
      <p:sp>
        <p:nvSpPr>
          <p:cNvPr id="39" name="Shape 37"/>
          <p:cNvSpPr/>
          <p:nvPr/>
        </p:nvSpPr>
        <p:spPr>
          <a:xfrm>
            <a:off x="365760" y="5120640"/>
            <a:ext cx="5486400" cy="1417320"/>
          </a:xfrm>
          <a:prstGeom prst="rect">
            <a:avLst/>
          </a:prstGeom>
          <a:solidFill>
            <a:srgbClr val="1E2D40"/>
          </a:solidFill>
          <a:ln w="12700">
            <a:solidFill>
              <a:srgbClr val="2A7ABF"/>
            </a:solidFill>
            <a:prstDash val="solid"/>
          </a:ln>
        </p:spPr>
      </p:sp>
      <p:sp>
        <p:nvSpPr>
          <p:cNvPr id="40" name="Text 38"/>
          <p:cNvSpPr txBox="1"/>
          <p:nvPr/>
        </p:nvSpPr>
        <p:spPr>
          <a:xfrm>
            <a:off x="475488" y="5212080"/>
            <a:ext cx="5266944" cy="1234440"/>
          </a:xfrm>
          <a:prstGeom prst="rect">
            <a:avLst/>
          </a:prstGeom>
          <a:noFill/>
          <a:ln/>
        </p:spPr>
        <p:txBody>
          <a:bodyPr wrap="square" rtlCol="0" anchor="t"/>
          <a:lstStyle/>
          <a:p>
            <a:pPr indent="0" marL="0">
              <a:buNone/>
            </a:pPr>
            <a:r>
              <a:rPr lang="en-US" sz="850" dirty="0">
                <a:solidFill>
                  <a:srgbClr val="A8D8F0"/>
                </a:solidFill>
                <a:latin typeface="Courier New" pitchFamily="34" charset="0"/>
                <a:ea typeface="Courier New" pitchFamily="34" charset="-122"/>
                <a:cs typeface="Courier New" pitchFamily="34" charset="-120"/>
              </a:rPr>
              <a:t>from statsmodels.graphics.tsaplots import plot_acf</a:t>
            </a: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import matplotlib.pyplot as plt</a:t>
            </a:r>
            <a:endParaRPr lang="en-US" sz="850" dirty="0"/>
          </a:p>
          <a:p>
            <a:pPr indent="0" marL="0">
              <a:buNone/>
            </a:pP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fig, ax = plt.subplots(figsize=(10, 4))</a:t>
            </a: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plot_acf(series, lags=12, ax=ax,</a:t>
            </a: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         alpha=0.05,</a:t>
            </a: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         title='ACF — Inflación Colombia')</a:t>
            </a: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plt.tight_layout()</a:t>
            </a: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plt.show()</a:t>
            </a:r>
            <a:endParaRPr lang="en-US" sz="850" dirty="0"/>
          </a:p>
        </p:txBody>
      </p:sp>
      <p:sp>
        <p:nvSpPr>
          <p:cNvPr id="41" name="Text 39"/>
          <p:cNvSpPr txBox="1"/>
          <p:nvPr/>
        </p:nvSpPr>
        <p:spPr>
          <a:xfrm>
            <a:off x="6492240" y="1828800"/>
            <a:ext cx="534924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¿Cómo leer el ACF?</a:t>
            </a:r>
            <a:endParaRPr lang="en-US" sz="1400" dirty="0"/>
          </a:p>
        </p:txBody>
      </p:sp>
      <p:sp>
        <p:nvSpPr>
          <p:cNvPr id="42" name="Shape 40"/>
          <p:cNvSpPr/>
          <p:nvPr/>
        </p:nvSpPr>
        <p:spPr>
          <a:xfrm>
            <a:off x="6492240" y="2286000"/>
            <a:ext cx="164592" cy="640080"/>
          </a:xfrm>
          <a:prstGeom prst="rect">
            <a:avLst/>
          </a:prstGeom>
          <a:solidFill>
            <a:srgbClr val="2A7ABF"/>
          </a:solidFill>
          <a:ln w="12700">
            <a:solidFill>
              <a:srgbClr val="2A7ABF"/>
            </a:solidFill>
            <a:prstDash val="solid"/>
          </a:ln>
        </p:spPr>
      </p:sp>
      <p:sp>
        <p:nvSpPr>
          <p:cNvPr id="43" name="Text 41"/>
          <p:cNvSpPr txBox="1"/>
          <p:nvPr/>
        </p:nvSpPr>
        <p:spPr>
          <a:xfrm>
            <a:off x="6748272" y="2286000"/>
            <a:ext cx="5074920" cy="2743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Barras azules (significativas)</a:t>
            </a:r>
            <a:endParaRPr lang="en-US" sz="1100" dirty="0"/>
          </a:p>
        </p:txBody>
      </p:sp>
      <p:sp>
        <p:nvSpPr>
          <p:cNvPr id="44" name="Text 42"/>
          <p:cNvSpPr txBox="1"/>
          <p:nvPr/>
        </p:nvSpPr>
        <p:spPr>
          <a:xfrm>
            <a:off x="6748272" y="2560320"/>
            <a:ext cx="5074920" cy="365760"/>
          </a:xfrm>
          <a:prstGeom prst="rect">
            <a:avLst/>
          </a:prstGeom>
          <a:noFill/>
          <a:ln/>
        </p:spPr>
        <p:txBody>
          <a:bodyPr wrap="square" rtlCol="0" anchor="ctr"/>
          <a:lstStyle/>
          <a:p>
            <a:pPr indent="0" marL="0">
              <a:buNone/>
            </a:pPr>
            <a:r>
              <a:rPr lang="en-US" sz="1000" dirty="0">
                <a:solidFill>
                  <a:srgbClr val="9BBBD8"/>
                </a:solidFill>
                <a:latin typeface="Calibri" pitchFamily="34" charset="0"/>
                <a:ea typeface="Calibri" pitchFamily="34" charset="-122"/>
                <a:cs typeface="Calibri" pitchFamily="34" charset="-120"/>
              </a:rPr>
              <a:t>Superan la banda roja. El lag k tiene autocorrelación estadísticamente distinta de cero.</a:t>
            </a:r>
            <a:endParaRPr lang="en-US" sz="1000" dirty="0"/>
          </a:p>
        </p:txBody>
      </p:sp>
      <p:sp>
        <p:nvSpPr>
          <p:cNvPr id="45" name="Shape 43"/>
          <p:cNvSpPr/>
          <p:nvPr/>
        </p:nvSpPr>
        <p:spPr>
          <a:xfrm>
            <a:off x="6492240" y="3200400"/>
            <a:ext cx="164592" cy="640080"/>
          </a:xfrm>
          <a:prstGeom prst="rect">
            <a:avLst/>
          </a:prstGeom>
          <a:solidFill>
            <a:srgbClr val="445566"/>
          </a:solidFill>
          <a:ln w="12700">
            <a:solidFill>
              <a:srgbClr val="445566"/>
            </a:solidFill>
            <a:prstDash val="solid"/>
          </a:ln>
        </p:spPr>
      </p:sp>
      <p:sp>
        <p:nvSpPr>
          <p:cNvPr id="46" name="Text 44"/>
          <p:cNvSpPr txBox="1"/>
          <p:nvPr/>
        </p:nvSpPr>
        <p:spPr>
          <a:xfrm>
            <a:off x="6748272" y="3200400"/>
            <a:ext cx="5074920" cy="2743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Barras grises (no significativas)</a:t>
            </a:r>
            <a:endParaRPr lang="en-US" sz="1100" dirty="0"/>
          </a:p>
        </p:txBody>
      </p:sp>
      <p:sp>
        <p:nvSpPr>
          <p:cNvPr id="47" name="Text 45"/>
          <p:cNvSpPr txBox="1"/>
          <p:nvPr/>
        </p:nvSpPr>
        <p:spPr>
          <a:xfrm>
            <a:off x="6748272" y="3474720"/>
            <a:ext cx="5074920" cy="365760"/>
          </a:xfrm>
          <a:prstGeom prst="rect">
            <a:avLst/>
          </a:prstGeom>
          <a:noFill/>
          <a:ln/>
        </p:spPr>
        <p:txBody>
          <a:bodyPr wrap="square" rtlCol="0" anchor="ctr"/>
          <a:lstStyle/>
          <a:p>
            <a:pPr indent="0" marL="0">
              <a:buNone/>
            </a:pPr>
            <a:r>
              <a:rPr lang="en-US" sz="1000" dirty="0">
                <a:solidFill>
                  <a:srgbClr val="9BBBD8"/>
                </a:solidFill>
                <a:latin typeface="Calibri" pitchFamily="34" charset="0"/>
                <a:ea typeface="Calibri" pitchFamily="34" charset="-122"/>
                <a:cs typeface="Calibri" pitchFamily="34" charset="-120"/>
              </a:rPr>
              <a:t>Dentro de la banda. Esa dependencia podría ser ruido aleatorio.</a:t>
            </a:r>
            <a:endParaRPr lang="en-US" sz="1000" dirty="0"/>
          </a:p>
        </p:txBody>
      </p:sp>
      <p:sp>
        <p:nvSpPr>
          <p:cNvPr id="48" name="Shape 46"/>
          <p:cNvSpPr/>
          <p:nvPr/>
        </p:nvSpPr>
        <p:spPr>
          <a:xfrm>
            <a:off x="6492240" y="4114800"/>
            <a:ext cx="164592" cy="640080"/>
          </a:xfrm>
          <a:prstGeom prst="rect">
            <a:avLst/>
          </a:prstGeom>
          <a:solidFill>
            <a:srgbClr val="C0392B"/>
          </a:solidFill>
          <a:ln w="12700">
            <a:solidFill>
              <a:srgbClr val="C0392B"/>
            </a:solidFill>
            <a:prstDash val="solid"/>
          </a:ln>
        </p:spPr>
      </p:sp>
      <p:sp>
        <p:nvSpPr>
          <p:cNvPr id="49" name="Text 47"/>
          <p:cNvSpPr txBox="1"/>
          <p:nvPr/>
        </p:nvSpPr>
        <p:spPr>
          <a:xfrm>
            <a:off x="6748272" y="4114800"/>
            <a:ext cx="5074920" cy="27432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Banda roja ±1.96/√n</a:t>
            </a:r>
            <a:endParaRPr lang="en-US" sz="1100" dirty="0"/>
          </a:p>
        </p:txBody>
      </p:sp>
      <p:sp>
        <p:nvSpPr>
          <p:cNvPr id="50" name="Text 48"/>
          <p:cNvSpPr txBox="1"/>
          <p:nvPr/>
        </p:nvSpPr>
        <p:spPr>
          <a:xfrm>
            <a:off x="6748272" y="4389120"/>
            <a:ext cx="5074920" cy="365760"/>
          </a:xfrm>
          <a:prstGeom prst="rect">
            <a:avLst/>
          </a:prstGeom>
          <a:noFill/>
          <a:ln/>
        </p:spPr>
        <p:txBody>
          <a:bodyPr wrap="square" rtlCol="0" anchor="ctr"/>
          <a:lstStyle/>
          <a:p>
            <a:pPr indent="0" marL="0">
              <a:buNone/>
            </a:pPr>
            <a:r>
              <a:rPr lang="en-US" sz="1000" dirty="0">
                <a:solidFill>
                  <a:srgbClr val="9BBBD8"/>
                </a:solidFill>
                <a:latin typeface="Calibri" pitchFamily="34" charset="0"/>
                <a:ea typeface="Calibri" pitchFamily="34" charset="-122"/>
                <a:cs typeface="Calibri" pitchFamily="34" charset="-120"/>
              </a:rPr>
              <a:t>Intervalo de confianza al 95%. Se calcula automáticamente con alpha=0.05.</a:t>
            </a:r>
            <a:endParaRPr lang="en-US" sz="1000" dirty="0"/>
          </a:p>
        </p:txBody>
      </p:sp>
      <p:sp>
        <p:nvSpPr>
          <p:cNvPr id="51" name="Shape 49"/>
          <p:cNvSpPr/>
          <p:nvPr/>
        </p:nvSpPr>
        <p:spPr>
          <a:xfrm>
            <a:off x="6492240" y="5166360"/>
            <a:ext cx="5349240" cy="1371600"/>
          </a:xfrm>
          <a:prstGeom prst="rect">
            <a:avLst/>
          </a:prstGeom>
          <a:solidFill>
            <a:srgbClr val="2A1B0F"/>
          </a:solidFill>
          <a:ln w="19050">
            <a:solidFill>
              <a:srgbClr val="E8A020"/>
            </a:solidFill>
            <a:prstDash val="solid"/>
          </a:ln>
        </p:spPr>
      </p:sp>
      <p:sp>
        <p:nvSpPr>
          <p:cNvPr id="52" name="Text 50"/>
          <p:cNvSpPr txBox="1"/>
          <p:nvPr/>
        </p:nvSpPr>
        <p:spPr>
          <a:xfrm>
            <a:off x="6583680" y="5230368"/>
            <a:ext cx="5120640" cy="256032"/>
          </a:xfrm>
          <a:prstGeom prst="rect">
            <a:avLst/>
          </a:prstGeom>
          <a:noFill/>
          <a:ln/>
        </p:spPr>
        <p:txBody>
          <a:bodyPr wrap="square" rtlCol="0" anchor="ctr"/>
          <a:lstStyle/>
          <a:p>
            <a:pPr indent="0" marL="0">
              <a:buNone/>
            </a:pPr>
            <a:r>
              <a:rPr lang="en-US" sz="1100" b="1" dirty="0">
                <a:solidFill>
                  <a:srgbClr val="E8A020"/>
                </a:solidFill>
                <a:latin typeface="Calibri" pitchFamily="34" charset="0"/>
                <a:ea typeface="Calibri" pitchFamily="34" charset="-122"/>
                <a:cs typeface="Calibri" pitchFamily="34" charset="-120"/>
              </a:rPr>
              <a:t>⚠  Implicación para regresión</a:t>
            </a:r>
            <a:endParaRPr lang="en-US" sz="1100" dirty="0"/>
          </a:p>
        </p:txBody>
      </p:sp>
      <p:sp>
        <p:nvSpPr>
          <p:cNvPr id="53" name="Text 51"/>
          <p:cNvSpPr txBox="1"/>
          <p:nvPr/>
        </p:nvSpPr>
        <p:spPr>
          <a:xfrm>
            <a:off x="6583680" y="5513832"/>
            <a:ext cx="5120640" cy="960120"/>
          </a:xfrm>
          <a:prstGeom prst="rect">
            <a:avLst/>
          </a:prstGeom>
          <a:noFill/>
          <a:ln/>
        </p:spPr>
        <p:txBody>
          <a:bodyPr wrap="square" rtlCol="0" anchor="ctr"/>
          <a:lstStyle/>
          <a:p>
            <a:pPr indent="0" marL="0">
              <a:buNone/>
            </a:pPr>
            <a:r>
              <a:rPr lang="en-US" sz="1000" dirty="0">
                <a:solidFill>
                  <a:srgbClr val="D4B896"/>
                </a:solidFill>
                <a:latin typeface="Calibri" pitchFamily="34" charset="0"/>
                <a:ea typeface="Calibri" pitchFamily="34" charset="-122"/>
                <a:cs typeface="Calibri" pitchFamily="34" charset="-120"/>
              </a:rPr>
              <a:t>Si tus residuales tienen alta autocorrelación, los errores estándar de tu regresión son incorrectos → tus pruebas t son inválidas. El ACF de los residuales es el primer diagnóstico a correr.</a:t>
            </a:r>
            <a:endParaRPr lang="en-US" sz="1000" dirty="0"/>
          </a:p>
        </p:txBody>
      </p:sp>
      <p:sp>
        <p:nvSpPr>
          <p:cNvPr id="54" name="Shape 52"/>
          <p:cNvSpPr/>
          <p:nvPr/>
        </p:nvSpPr>
        <p:spPr>
          <a:xfrm>
            <a:off x="0" y="6565392"/>
            <a:ext cx="12161520" cy="292608"/>
          </a:xfrm>
          <a:prstGeom prst="rect">
            <a:avLst/>
          </a:prstGeom>
          <a:solidFill>
            <a:srgbClr val="1B3A6B"/>
          </a:solidFill>
          <a:ln/>
        </p:spPr>
      </p:sp>
      <p:sp>
        <p:nvSpPr>
          <p:cNvPr id="55" name="Text 53"/>
          <p:cNvSpPr txBox="1"/>
          <p:nvPr/>
        </p:nvSpPr>
        <p:spPr>
          <a:xfrm>
            <a:off x="228600" y="6592824"/>
            <a:ext cx="7315200" cy="228600"/>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Tec de Monterrey · Gobierno y Transformación Pública</a:t>
            </a:r>
            <a:endParaRPr lang="en-US" sz="800" dirty="0"/>
          </a:p>
        </p:txBody>
      </p:sp>
      <p:sp>
        <p:nvSpPr>
          <p:cNvPr id="56" name="Text 54"/>
          <p:cNvSpPr txBox="1"/>
          <p:nvPr/>
        </p:nvSpPr>
        <p:spPr>
          <a:xfrm>
            <a:off x="8686800" y="6592824"/>
            <a:ext cx="3291840" cy="228600"/>
          </a:xfrm>
          <a:prstGeom prst="rect">
            <a:avLst/>
          </a:prstGeom>
          <a:noFill/>
          <a:ln/>
        </p:spPr>
        <p:txBody>
          <a:bodyPr wrap="square" rtlCol="0" anchor="ctr"/>
          <a:lstStyle/>
          <a:p>
            <a:pPr algn="r" indent="0" marL="0">
              <a:buNone/>
            </a:pPr>
            <a:r>
              <a:rPr lang="en-US" sz="800" dirty="0">
                <a:solidFill>
                  <a:srgbClr val="E8A020"/>
                </a:solidFill>
                <a:latin typeface="Calibri" pitchFamily="34" charset="0"/>
                <a:ea typeface="Calibri" pitchFamily="34" charset="-122"/>
                <a:cs typeface="Calibri" pitchFamily="34" charset="-120"/>
              </a:rPr>
              <a:t>Sesión 4 — Series de Tiempo</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61520" cy="347472"/>
          </a:xfrm>
          <a:prstGeom prst="rect">
            <a:avLst/>
          </a:prstGeom>
          <a:solidFill>
            <a:srgbClr val="1B3A6B"/>
          </a:solidFill>
          <a:ln/>
        </p:spPr>
      </p:sp>
      <p:sp>
        <p:nvSpPr>
          <p:cNvPr id="3" name="Text 1"/>
          <p:cNvSpPr txBox="1"/>
          <p:nvPr/>
        </p:nvSpPr>
        <p:spPr>
          <a:xfrm>
            <a:off x="228600" y="36576"/>
            <a:ext cx="8229600" cy="27432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EO4040 — Introducción a la Ciencia de Datos para Economía</a:t>
            </a:r>
            <a:endParaRPr lang="en-US" sz="900" dirty="0"/>
          </a:p>
        </p:txBody>
      </p:sp>
      <p:sp>
        <p:nvSpPr>
          <p:cNvPr id="4" name="Text 2"/>
          <p:cNvSpPr txBox="1"/>
          <p:nvPr/>
        </p:nvSpPr>
        <p:spPr>
          <a:xfrm>
            <a:off x="8686800" y="36576"/>
            <a:ext cx="3291840" cy="274320"/>
          </a:xfrm>
          <a:prstGeom prst="rect">
            <a:avLst/>
          </a:prstGeom>
          <a:noFill/>
          <a:ln/>
        </p:spPr>
        <p:txBody>
          <a:bodyPr wrap="square" rtlCol="0" anchor="ctr"/>
          <a:lstStyle/>
          <a:p>
            <a:pPr algn="r" indent="0" marL="0">
              <a:buNone/>
            </a:pPr>
            <a:r>
              <a:rPr lang="en-US" sz="900" b="1" dirty="0">
                <a:solidFill>
                  <a:srgbClr val="E8A020"/>
                </a:solidFill>
                <a:latin typeface="Calibri" pitchFamily="34" charset="0"/>
                <a:ea typeface="Calibri" pitchFamily="34" charset="-122"/>
                <a:cs typeface="Calibri" pitchFamily="34" charset="-120"/>
              </a:rPr>
              <a:t>Sesión 4</a:t>
            </a:r>
            <a:endParaRPr lang="en-US" sz="900" dirty="0"/>
          </a:p>
        </p:txBody>
      </p:sp>
      <p:sp>
        <p:nvSpPr>
          <p:cNvPr id="5" name="Shape 3"/>
          <p:cNvSpPr/>
          <p:nvPr/>
        </p:nvSpPr>
        <p:spPr>
          <a:xfrm>
            <a:off x="320040" y="347472"/>
            <a:ext cx="1344168" cy="256032"/>
          </a:xfrm>
          <a:prstGeom prst="roundRect">
            <a:avLst>
              <a:gd name="adj" fmla="val 17857"/>
            </a:avLst>
          </a:prstGeom>
          <a:solidFill>
            <a:srgbClr val="2A7ABF"/>
          </a:solidFill>
          <a:ln/>
        </p:spPr>
      </p:sp>
      <p:sp>
        <p:nvSpPr>
          <p:cNvPr id="6" name="Text 4"/>
          <p:cNvSpPr txBox="1"/>
          <p:nvPr/>
        </p:nvSpPr>
        <p:spPr>
          <a:xfrm>
            <a:off x="365760" y="365760"/>
            <a:ext cx="1252728" cy="219456"/>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En Python</a:t>
            </a:r>
            <a:endParaRPr lang="en-US" sz="850" dirty="0"/>
          </a:p>
        </p:txBody>
      </p:sp>
      <p:sp>
        <p:nvSpPr>
          <p:cNvPr id="7" name="Text 5"/>
          <p:cNvSpPr txBox="1"/>
          <p:nvPr/>
        </p:nvSpPr>
        <p:spPr>
          <a:xfrm>
            <a:off x="320040" y="658368"/>
            <a:ext cx="10972800" cy="457200"/>
          </a:xfrm>
          <a:prstGeom prst="rect">
            <a:avLst/>
          </a:prstGeom>
          <a:noFill/>
          <a:ln/>
        </p:spPr>
        <p:txBody>
          <a:bodyPr wrap="square" rtlCol="0" anchor="ctr"/>
          <a:lstStyle/>
          <a:p>
            <a:pPr indent="0" marL="0">
              <a:buNone/>
            </a:pPr>
            <a:r>
              <a:rPr lang="en-US" sz="2400" b="1" dirty="0">
                <a:solidFill>
                  <a:srgbClr val="1B3A6B"/>
                </a:solidFill>
                <a:latin typeface="Calibri" pitchFamily="34" charset="0"/>
                <a:ea typeface="Calibri" pitchFamily="34" charset="-122"/>
                <a:cs typeface="Calibri" pitchFamily="34" charset="-120"/>
              </a:rPr>
              <a:t>Análisis temporal completo: de los datos al diagnóstico</a:t>
            </a:r>
            <a:endParaRPr lang="en-US" sz="2400" dirty="0"/>
          </a:p>
        </p:txBody>
      </p:sp>
      <p:sp>
        <p:nvSpPr>
          <p:cNvPr id="8" name="Shape 6"/>
          <p:cNvSpPr/>
          <p:nvPr/>
        </p:nvSpPr>
        <p:spPr>
          <a:xfrm>
            <a:off x="320040" y="1298448"/>
            <a:ext cx="7132320" cy="4343400"/>
          </a:xfrm>
          <a:prstGeom prst="rect">
            <a:avLst/>
          </a:prstGeom>
          <a:solidFill>
            <a:srgbClr val="1E2D40"/>
          </a:solidFill>
          <a:ln w="12700">
            <a:solidFill>
              <a:srgbClr val="2A7ABF"/>
            </a:solidFill>
            <a:prstDash val="solid"/>
          </a:ln>
        </p:spPr>
      </p:sp>
      <p:sp>
        <p:nvSpPr>
          <p:cNvPr id="9" name="Text 7"/>
          <p:cNvSpPr txBox="1"/>
          <p:nvPr/>
        </p:nvSpPr>
        <p:spPr>
          <a:xfrm>
            <a:off x="429768" y="1389888"/>
            <a:ext cx="6912864" cy="4160520"/>
          </a:xfrm>
          <a:prstGeom prst="rect">
            <a:avLst/>
          </a:prstGeom>
          <a:noFill/>
          <a:ln/>
        </p:spPr>
        <p:txBody>
          <a:bodyPr wrap="square" rtlCol="0" anchor="t"/>
          <a:lstStyle/>
          <a:p>
            <a:pPr indent="0" marL="0">
              <a:buNone/>
            </a:pPr>
            <a:r>
              <a:rPr lang="en-US" sz="850" dirty="0">
                <a:solidFill>
                  <a:srgbClr val="A8D8F0"/>
                </a:solidFill>
                <a:latin typeface="Courier New" pitchFamily="34" charset="0"/>
                <a:ea typeface="Courier New" pitchFamily="34" charset="-122"/>
                <a:cs typeface="Courier New" pitchFamily="34" charset="-120"/>
              </a:rPr>
              <a:t>import wbgapi as wb</a:t>
            </a: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import pandas as pd</a:t>
            </a: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import matplotlib.pyplot as plt</a:t>
            </a: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from statsmodels.tsa.seasonal import seasonal_decompose</a:t>
            </a: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from statsmodels.graphics.tsaplots import plot_acf</a:t>
            </a:r>
            <a:endParaRPr lang="en-US" sz="850" dirty="0"/>
          </a:p>
          <a:p>
            <a:pPr indent="0" marL="0">
              <a:buNone/>
            </a:pP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 1. Descargar datos (inflación anual, Colombia 2000-2023)</a:t>
            </a: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df = wb.data.DataFrame('FP.CPI.TOTL.ZG',</a:t>
            </a: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                        economy=['COL','DOM','HND'],</a:t>
            </a: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                        time=range(2000, 2024))</a:t>
            </a: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col = df.loc['COL'].dropna().astype(float)</a:t>
            </a: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col.index = pd.to_datetime([str(y) for y in col.index])</a:t>
            </a:r>
            <a:endParaRPr lang="en-US" sz="850" dirty="0"/>
          </a:p>
          <a:p>
            <a:pPr indent="0" marL="0">
              <a:buNone/>
            </a:pP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 2. Gráfico de la serie</a:t>
            </a: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fig, ax = plt.subplots(figsize=(10, 3))</a:t>
            </a: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col.plot(ax=ax, color='#1B3A6B', linewidth=2, title='Inflación anual — Colombia')</a:t>
            </a: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ax.set_ylabel('%'); ax.grid(alpha=0.3); plt.tight_layout(); plt.show()</a:t>
            </a:r>
            <a:endParaRPr lang="en-US" sz="850" dirty="0"/>
          </a:p>
          <a:p>
            <a:pPr indent="0" marL="0">
              <a:buNone/>
            </a:pP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 3. Descomposición</a:t>
            </a: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result = seasonal_decompose(col, model='additive', period=1)</a:t>
            </a: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result.plot(); plt.tight_layout(); plt.show()</a:t>
            </a:r>
            <a:endParaRPr lang="en-US" sz="850" dirty="0"/>
          </a:p>
          <a:p>
            <a:pPr indent="0" marL="0">
              <a:buNone/>
            </a:pP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 4. ACF</a:t>
            </a: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fig, ax = plt.subplots(figsize=(10, 3))</a:t>
            </a: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plot_acf(col, lags=10, ax=ax, alpha=0.05,</a:t>
            </a: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         title='ACF — Inflación Colombia'); plt.tight_layout(); plt.show()</a:t>
            </a:r>
            <a:endParaRPr lang="en-US" sz="850" dirty="0"/>
          </a:p>
        </p:txBody>
      </p:sp>
      <p:sp>
        <p:nvSpPr>
          <p:cNvPr id="10" name="Text 8"/>
          <p:cNvSpPr txBox="1"/>
          <p:nvPr/>
        </p:nvSpPr>
        <p:spPr>
          <a:xfrm>
            <a:off x="7680960" y="1298448"/>
            <a:ext cx="4160520" cy="320040"/>
          </a:xfrm>
          <a:prstGeom prst="rect">
            <a:avLst/>
          </a:prstGeom>
          <a:noFill/>
          <a:ln/>
        </p:spPr>
        <p:txBody>
          <a:bodyPr wrap="square" rtlCol="0" anchor="ctr"/>
          <a:lstStyle/>
          <a:p>
            <a:pPr indent="0" marL="0">
              <a:buNone/>
            </a:pPr>
            <a:r>
              <a:rPr lang="en-US" sz="1300" b="1" dirty="0">
                <a:solidFill>
                  <a:srgbClr val="1B3A6B"/>
                </a:solidFill>
                <a:latin typeface="Calibri" pitchFamily="34" charset="0"/>
                <a:ea typeface="Calibri" pitchFamily="34" charset="-122"/>
                <a:cs typeface="Calibri" pitchFamily="34" charset="-120"/>
              </a:rPr>
              <a:t>Flujo de análisis temporal</a:t>
            </a:r>
            <a:endParaRPr lang="en-US" sz="1300" dirty="0"/>
          </a:p>
        </p:txBody>
      </p:sp>
      <p:sp>
        <p:nvSpPr>
          <p:cNvPr id="11" name="Shape 9"/>
          <p:cNvSpPr/>
          <p:nvPr/>
        </p:nvSpPr>
        <p:spPr>
          <a:xfrm>
            <a:off x="7680960" y="1783080"/>
            <a:ext cx="411480" cy="411480"/>
          </a:xfrm>
          <a:prstGeom prst="ellipse">
            <a:avLst/>
          </a:prstGeom>
          <a:solidFill>
            <a:srgbClr val="2A7ABF"/>
          </a:solidFill>
          <a:ln/>
        </p:spPr>
      </p:sp>
      <p:sp>
        <p:nvSpPr>
          <p:cNvPr id="12" name="Text 10"/>
          <p:cNvSpPr txBox="1"/>
          <p:nvPr/>
        </p:nvSpPr>
        <p:spPr>
          <a:xfrm>
            <a:off x="7680960" y="1783080"/>
            <a:ext cx="41148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Shape 11"/>
          <p:cNvSpPr/>
          <p:nvPr/>
        </p:nvSpPr>
        <p:spPr>
          <a:xfrm>
            <a:off x="7882128" y="2194560"/>
            <a:ext cx="0" cy="594360"/>
          </a:xfrm>
          <a:prstGeom prst="line">
            <a:avLst/>
          </a:prstGeom>
          <a:noFill/>
          <a:ln w="12700">
            <a:solidFill>
              <a:srgbClr val="D1D5DB"/>
            </a:solidFill>
            <a:prstDash val="solid"/>
          </a:ln>
        </p:spPr>
      </p:sp>
      <p:sp>
        <p:nvSpPr>
          <p:cNvPr id="14" name="Text 12"/>
          <p:cNvSpPr txBox="1"/>
          <p:nvPr/>
        </p:nvSpPr>
        <p:spPr>
          <a:xfrm>
            <a:off x="8229600" y="1755648"/>
            <a:ext cx="3520440" cy="256032"/>
          </a:xfrm>
          <a:prstGeom prst="rect">
            <a:avLst/>
          </a:prstGeom>
          <a:noFill/>
          <a:ln/>
        </p:spPr>
        <p:txBody>
          <a:bodyPr wrap="square" rtlCol="0" anchor="ctr"/>
          <a:lstStyle/>
          <a:p>
            <a:pPr indent="0" marL="0">
              <a:buNone/>
            </a:pPr>
            <a:r>
              <a:rPr lang="en-US" sz="1200" b="1" dirty="0">
                <a:solidFill>
                  <a:srgbClr val="1B3A6B"/>
                </a:solidFill>
                <a:latin typeface="Calibri" pitchFamily="34" charset="0"/>
                <a:ea typeface="Calibri" pitchFamily="34" charset="-122"/>
                <a:cs typeface="Calibri" pitchFamily="34" charset="-120"/>
              </a:rPr>
              <a:t>Descargar serie</a:t>
            </a:r>
            <a:endParaRPr lang="en-US" sz="1200" dirty="0"/>
          </a:p>
        </p:txBody>
      </p:sp>
      <p:sp>
        <p:nvSpPr>
          <p:cNvPr id="15" name="Text 13"/>
          <p:cNvSpPr txBox="1"/>
          <p:nvPr/>
        </p:nvSpPr>
        <p:spPr>
          <a:xfrm>
            <a:off x="8229600" y="2011680"/>
            <a:ext cx="3520440" cy="329184"/>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wb.data.DataFrame con economías y rango temporal.</a:t>
            </a:r>
            <a:endParaRPr lang="en-US" sz="1000" dirty="0"/>
          </a:p>
        </p:txBody>
      </p:sp>
      <p:sp>
        <p:nvSpPr>
          <p:cNvPr id="16" name="Shape 14"/>
          <p:cNvSpPr/>
          <p:nvPr/>
        </p:nvSpPr>
        <p:spPr>
          <a:xfrm>
            <a:off x="7680960" y="2788920"/>
            <a:ext cx="411480" cy="411480"/>
          </a:xfrm>
          <a:prstGeom prst="ellipse">
            <a:avLst/>
          </a:prstGeom>
          <a:solidFill>
            <a:srgbClr val="1A9641"/>
          </a:solidFill>
          <a:ln/>
        </p:spPr>
      </p:sp>
      <p:sp>
        <p:nvSpPr>
          <p:cNvPr id="17" name="Text 15"/>
          <p:cNvSpPr txBox="1"/>
          <p:nvPr/>
        </p:nvSpPr>
        <p:spPr>
          <a:xfrm>
            <a:off x="7680960" y="2788920"/>
            <a:ext cx="41148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Shape 16"/>
          <p:cNvSpPr/>
          <p:nvPr/>
        </p:nvSpPr>
        <p:spPr>
          <a:xfrm>
            <a:off x="7882128" y="3200400"/>
            <a:ext cx="0" cy="594360"/>
          </a:xfrm>
          <a:prstGeom prst="line">
            <a:avLst/>
          </a:prstGeom>
          <a:noFill/>
          <a:ln w="12700">
            <a:solidFill>
              <a:srgbClr val="D1D5DB"/>
            </a:solidFill>
            <a:prstDash val="solid"/>
          </a:ln>
        </p:spPr>
      </p:sp>
      <p:sp>
        <p:nvSpPr>
          <p:cNvPr id="19" name="Text 17"/>
          <p:cNvSpPr txBox="1"/>
          <p:nvPr/>
        </p:nvSpPr>
        <p:spPr>
          <a:xfrm>
            <a:off x="8229600" y="2761488"/>
            <a:ext cx="3520440" cy="256032"/>
          </a:xfrm>
          <a:prstGeom prst="rect">
            <a:avLst/>
          </a:prstGeom>
          <a:noFill/>
          <a:ln/>
        </p:spPr>
        <p:txBody>
          <a:bodyPr wrap="square" rtlCol="0" anchor="ctr"/>
          <a:lstStyle/>
          <a:p>
            <a:pPr indent="0" marL="0">
              <a:buNone/>
            </a:pPr>
            <a:r>
              <a:rPr lang="en-US" sz="1200" b="1" dirty="0">
                <a:solidFill>
                  <a:srgbClr val="1B3A6B"/>
                </a:solidFill>
                <a:latin typeface="Calibri" pitchFamily="34" charset="0"/>
                <a:ea typeface="Calibri" pitchFamily="34" charset="-122"/>
                <a:cs typeface="Calibri" pitchFamily="34" charset="-120"/>
              </a:rPr>
              <a:t>Visualizar la serie</a:t>
            </a:r>
            <a:endParaRPr lang="en-US" sz="1200" dirty="0"/>
          </a:p>
        </p:txBody>
      </p:sp>
      <p:sp>
        <p:nvSpPr>
          <p:cNvPr id="20" name="Text 18"/>
          <p:cNvSpPr txBox="1"/>
          <p:nvPr/>
        </p:nvSpPr>
        <p:spPr>
          <a:xfrm>
            <a:off x="8229600" y="3017520"/>
            <a:ext cx="3520440" cy="329184"/>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Identificar tendencia visual, outliers, rupturas.</a:t>
            </a:r>
            <a:endParaRPr lang="en-US" sz="1000" dirty="0"/>
          </a:p>
        </p:txBody>
      </p:sp>
      <p:sp>
        <p:nvSpPr>
          <p:cNvPr id="21" name="Shape 19"/>
          <p:cNvSpPr/>
          <p:nvPr/>
        </p:nvSpPr>
        <p:spPr>
          <a:xfrm>
            <a:off x="7680960" y="3794760"/>
            <a:ext cx="411480" cy="411480"/>
          </a:xfrm>
          <a:prstGeom prst="ellipse">
            <a:avLst/>
          </a:prstGeom>
          <a:solidFill>
            <a:srgbClr val="6A3D9A"/>
          </a:solidFill>
          <a:ln/>
        </p:spPr>
      </p:sp>
      <p:sp>
        <p:nvSpPr>
          <p:cNvPr id="22" name="Text 20"/>
          <p:cNvSpPr txBox="1"/>
          <p:nvPr/>
        </p:nvSpPr>
        <p:spPr>
          <a:xfrm>
            <a:off x="7680960" y="3794760"/>
            <a:ext cx="41148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3" name="Shape 21"/>
          <p:cNvSpPr/>
          <p:nvPr/>
        </p:nvSpPr>
        <p:spPr>
          <a:xfrm>
            <a:off x="7882128" y="4206240"/>
            <a:ext cx="0" cy="594360"/>
          </a:xfrm>
          <a:prstGeom prst="line">
            <a:avLst/>
          </a:prstGeom>
          <a:noFill/>
          <a:ln w="12700">
            <a:solidFill>
              <a:srgbClr val="D1D5DB"/>
            </a:solidFill>
            <a:prstDash val="solid"/>
          </a:ln>
        </p:spPr>
      </p:sp>
      <p:sp>
        <p:nvSpPr>
          <p:cNvPr id="24" name="Text 22"/>
          <p:cNvSpPr txBox="1"/>
          <p:nvPr/>
        </p:nvSpPr>
        <p:spPr>
          <a:xfrm>
            <a:off x="8229600" y="3767328"/>
            <a:ext cx="3520440" cy="256032"/>
          </a:xfrm>
          <a:prstGeom prst="rect">
            <a:avLst/>
          </a:prstGeom>
          <a:noFill/>
          <a:ln/>
        </p:spPr>
        <p:txBody>
          <a:bodyPr wrap="square" rtlCol="0" anchor="ctr"/>
          <a:lstStyle/>
          <a:p>
            <a:pPr indent="0" marL="0">
              <a:buNone/>
            </a:pPr>
            <a:r>
              <a:rPr lang="en-US" sz="1200" b="1" dirty="0">
                <a:solidFill>
                  <a:srgbClr val="1B3A6B"/>
                </a:solidFill>
                <a:latin typeface="Calibri" pitchFamily="34" charset="0"/>
                <a:ea typeface="Calibri" pitchFamily="34" charset="-122"/>
                <a:cs typeface="Calibri" pitchFamily="34" charset="-120"/>
              </a:rPr>
              <a:t>Descomponer</a:t>
            </a:r>
            <a:endParaRPr lang="en-US" sz="1200" dirty="0"/>
          </a:p>
        </p:txBody>
      </p:sp>
      <p:sp>
        <p:nvSpPr>
          <p:cNvPr id="25" name="Text 23"/>
          <p:cNvSpPr txBox="1"/>
          <p:nvPr/>
        </p:nvSpPr>
        <p:spPr>
          <a:xfrm>
            <a:off x="8229600" y="4023360"/>
            <a:ext cx="3520440" cy="329184"/>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Separar T + S + R para entender la estructura.</a:t>
            </a:r>
            <a:endParaRPr lang="en-US" sz="1000" dirty="0"/>
          </a:p>
        </p:txBody>
      </p:sp>
      <p:sp>
        <p:nvSpPr>
          <p:cNvPr id="26" name="Shape 24"/>
          <p:cNvSpPr/>
          <p:nvPr/>
        </p:nvSpPr>
        <p:spPr>
          <a:xfrm>
            <a:off x="7680960" y="4800600"/>
            <a:ext cx="411480" cy="411480"/>
          </a:xfrm>
          <a:prstGeom prst="ellipse">
            <a:avLst/>
          </a:prstGeom>
          <a:solidFill>
            <a:srgbClr val="C0392B"/>
          </a:solidFill>
          <a:ln/>
        </p:spPr>
      </p:sp>
      <p:sp>
        <p:nvSpPr>
          <p:cNvPr id="27" name="Text 25"/>
          <p:cNvSpPr txBox="1"/>
          <p:nvPr/>
        </p:nvSpPr>
        <p:spPr>
          <a:xfrm>
            <a:off x="7680960" y="4800600"/>
            <a:ext cx="411480" cy="41148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8" name="Text 26"/>
          <p:cNvSpPr txBox="1"/>
          <p:nvPr/>
        </p:nvSpPr>
        <p:spPr>
          <a:xfrm>
            <a:off x="8229600" y="4773168"/>
            <a:ext cx="3520440" cy="256032"/>
          </a:xfrm>
          <a:prstGeom prst="rect">
            <a:avLst/>
          </a:prstGeom>
          <a:noFill/>
          <a:ln/>
        </p:spPr>
        <p:txBody>
          <a:bodyPr wrap="square" rtlCol="0" anchor="ctr"/>
          <a:lstStyle/>
          <a:p>
            <a:pPr indent="0" marL="0">
              <a:buNone/>
            </a:pPr>
            <a:r>
              <a:rPr lang="en-US" sz="1200" b="1" dirty="0">
                <a:solidFill>
                  <a:srgbClr val="1B3A6B"/>
                </a:solidFill>
                <a:latin typeface="Calibri" pitchFamily="34" charset="0"/>
                <a:ea typeface="Calibri" pitchFamily="34" charset="-122"/>
                <a:cs typeface="Calibri" pitchFamily="34" charset="-120"/>
              </a:rPr>
              <a:t>ACF</a:t>
            </a:r>
            <a:endParaRPr lang="en-US" sz="1200" dirty="0"/>
          </a:p>
        </p:txBody>
      </p:sp>
      <p:sp>
        <p:nvSpPr>
          <p:cNvPr id="29" name="Text 27"/>
          <p:cNvSpPr txBox="1"/>
          <p:nvPr/>
        </p:nvSpPr>
        <p:spPr>
          <a:xfrm>
            <a:off x="8229600" y="5029200"/>
            <a:ext cx="3520440" cy="329184"/>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Cuantificar la memoria de la serie. Diagnóstico para regresión.</a:t>
            </a:r>
            <a:endParaRPr lang="en-US" sz="1000" dirty="0"/>
          </a:p>
        </p:txBody>
      </p:sp>
      <p:sp>
        <p:nvSpPr>
          <p:cNvPr id="30" name="Shape 28"/>
          <p:cNvSpPr/>
          <p:nvPr/>
        </p:nvSpPr>
        <p:spPr>
          <a:xfrm>
            <a:off x="7680960" y="5669280"/>
            <a:ext cx="4160520" cy="822960"/>
          </a:xfrm>
          <a:prstGeom prst="rect">
            <a:avLst/>
          </a:prstGeom>
          <a:solidFill>
            <a:srgbClr val="E8F4FD"/>
          </a:solidFill>
          <a:ln w="12700">
            <a:solidFill>
              <a:srgbClr val="2A7ABF"/>
            </a:solidFill>
            <a:prstDash val="solid"/>
          </a:ln>
        </p:spPr>
      </p:sp>
      <p:sp>
        <p:nvSpPr>
          <p:cNvPr id="31" name="Text 29"/>
          <p:cNvSpPr txBox="1"/>
          <p:nvPr/>
        </p:nvSpPr>
        <p:spPr>
          <a:xfrm>
            <a:off x="7772400" y="5715000"/>
            <a:ext cx="3977640" cy="731520"/>
          </a:xfrm>
          <a:prstGeom prst="rect">
            <a:avLst/>
          </a:prstGeom>
          <a:noFill/>
          <a:ln/>
        </p:spPr>
        <p:txBody>
          <a:bodyPr wrap="square" rtlCol="0" anchor="ctr"/>
          <a:lstStyle/>
          <a:p>
            <a:pPr indent="0" marL="0">
              <a:buNone/>
            </a:pPr>
            <a:r>
              <a:rPr lang="en-US" sz="1000" dirty="0">
                <a:solidFill>
                  <a:srgbClr val="1B3A6B"/>
                </a:solidFill>
                <a:latin typeface="Calibri" pitchFamily="34" charset="0"/>
                <a:ea typeface="Calibri" pitchFamily="34" charset="-122"/>
                <a:cs typeface="Calibri" pitchFamily="34" charset="-120"/>
              </a:rPr>
              <a:t>💡  Para datos mensuales o trimestrales, ajusta period=12 o period=4 en seasonal_decompose para capturar estacionalidad real.</a:t>
            </a:r>
            <a:endParaRPr lang="en-US" sz="1000" dirty="0"/>
          </a:p>
        </p:txBody>
      </p:sp>
      <p:sp>
        <p:nvSpPr>
          <p:cNvPr id="32" name="Shape 30"/>
          <p:cNvSpPr/>
          <p:nvPr/>
        </p:nvSpPr>
        <p:spPr>
          <a:xfrm>
            <a:off x="0" y="6565392"/>
            <a:ext cx="12161520" cy="292608"/>
          </a:xfrm>
          <a:prstGeom prst="rect">
            <a:avLst/>
          </a:prstGeom>
          <a:solidFill>
            <a:srgbClr val="1B3A6B"/>
          </a:solidFill>
          <a:ln/>
        </p:spPr>
      </p:sp>
      <p:sp>
        <p:nvSpPr>
          <p:cNvPr id="33" name="Text 31"/>
          <p:cNvSpPr txBox="1"/>
          <p:nvPr/>
        </p:nvSpPr>
        <p:spPr>
          <a:xfrm>
            <a:off x="228600" y="6592824"/>
            <a:ext cx="7315200" cy="228600"/>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Tec de Monterrey · Gobierno y Transformación Pública</a:t>
            </a:r>
            <a:endParaRPr lang="en-US" sz="800" dirty="0"/>
          </a:p>
        </p:txBody>
      </p:sp>
      <p:sp>
        <p:nvSpPr>
          <p:cNvPr id="34" name="Text 32"/>
          <p:cNvSpPr txBox="1"/>
          <p:nvPr/>
        </p:nvSpPr>
        <p:spPr>
          <a:xfrm>
            <a:off x="8686800" y="6592824"/>
            <a:ext cx="3291840" cy="228600"/>
          </a:xfrm>
          <a:prstGeom prst="rect">
            <a:avLst/>
          </a:prstGeom>
          <a:noFill/>
          <a:ln/>
        </p:spPr>
        <p:txBody>
          <a:bodyPr wrap="square" rtlCol="0" anchor="ctr"/>
          <a:lstStyle/>
          <a:p>
            <a:pPr algn="r" indent="0" marL="0">
              <a:buNone/>
            </a:pPr>
            <a:r>
              <a:rPr lang="en-US" sz="800" dirty="0">
                <a:solidFill>
                  <a:srgbClr val="E8A020"/>
                </a:solidFill>
                <a:latin typeface="Calibri" pitchFamily="34" charset="0"/>
                <a:ea typeface="Calibri" pitchFamily="34" charset="-122"/>
                <a:cs typeface="Calibri" pitchFamily="34" charset="-120"/>
              </a:rPr>
              <a:t>Sesión 4 — Series de Tiempo</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61520" cy="347472"/>
          </a:xfrm>
          <a:prstGeom prst="rect">
            <a:avLst/>
          </a:prstGeom>
          <a:solidFill>
            <a:srgbClr val="1B3A6B"/>
          </a:solidFill>
          <a:ln/>
        </p:spPr>
      </p:sp>
      <p:sp>
        <p:nvSpPr>
          <p:cNvPr id="3" name="Text 1"/>
          <p:cNvSpPr txBox="1"/>
          <p:nvPr/>
        </p:nvSpPr>
        <p:spPr>
          <a:xfrm>
            <a:off x="228600" y="36576"/>
            <a:ext cx="8229600" cy="27432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EO4040 — Introducción a la Ciencia de Datos para Economía</a:t>
            </a:r>
            <a:endParaRPr lang="en-US" sz="900" dirty="0"/>
          </a:p>
        </p:txBody>
      </p:sp>
      <p:sp>
        <p:nvSpPr>
          <p:cNvPr id="4" name="Text 2"/>
          <p:cNvSpPr txBox="1"/>
          <p:nvPr/>
        </p:nvSpPr>
        <p:spPr>
          <a:xfrm>
            <a:off x="8686800" y="36576"/>
            <a:ext cx="3291840" cy="274320"/>
          </a:xfrm>
          <a:prstGeom prst="rect">
            <a:avLst/>
          </a:prstGeom>
          <a:noFill/>
          <a:ln/>
        </p:spPr>
        <p:txBody>
          <a:bodyPr wrap="square" rtlCol="0" anchor="ctr"/>
          <a:lstStyle/>
          <a:p>
            <a:pPr algn="r" indent="0" marL="0">
              <a:buNone/>
            </a:pPr>
            <a:r>
              <a:rPr lang="en-US" sz="900" b="1" dirty="0">
                <a:solidFill>
                  <a:srgbClr val="E8A020"/>
                </a:solidFill>
                <a:latin typeface="Calibri" pitchFamily="34" charset="0"/>
                <a:ea typeface="Calibri" pitchFamily="34" charset="-122"/>
                <a:cs typeface="Calibri" pitchFamily="34" charset="-120"/>
              </a:rPr>
              <a:t>Sesión 4</a:t>
            </a:r>
            <a:endParaRPr lang="en-US" sz="900" dirty="0"/>
          </a:p>
        </p:txBody>
      </p:sp>
      <p:sp>
        <p:nvSpPr>
          <p:cNvPr id="5" name="Shape 3"/>
          <p:cNvSpPr/>
          <p:nvPr/>
        </p:nvSpPr>
        <p:spPr>
          <a:xfrm>
            <a:off x="320040" y="347472"/>
            <a:ext cx="2651760" cy="256032"/>
          </a:xfrm>
          <a:prstGeom prst="roundRect">
            <a:avLst>
              <a:gd name="adj" fmla="val 17857"/>
            </a:avLst>
          </a:prstGeom>
          <a:solidFill>
            <a:srgbClr val="2A7ABF"/>
          </a:solidFill>
          <a:ln/>
        </p:spPr>
      </p:sp>
      <p:sp>
        <p:nvSpPr>
          <p:cNvPr id="6" name="Text 4"/>
          <p:cNvSpPr txBox="1"/>
          <p:nvPr/>
        </p:nvSpPr>
        <p:spPr>
          <a:xfrm>
            <a:off x="365760" y="365760"/>
            <a:ext cx="2560320" cy="219456"/>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Análisis comparativo</a:t>
            </a:r>
            <a:endParaRPr lang="en-US" sz="850" dirty="0"/>
          </a:p>
        </p:txBody>
      </p:sp>
      <p:sp>
        <p:nvSpPr>
          <p:cNvPr id="7" name="Text 5"/>
          <p:cNvSpPr txBox="1"/>
          <p:nvPr/>
        </p:nvSpPr>
        <p:spPr>
          <a:xfrm>
            <a:off x="320040" y="658368"/>
            <a:ext cx="10972800" cy="457200"/>
          </a:xfrm>
          <a:prstGeom prst="rect">
            <a:avLst/>
          </a:prstGeom>
          <a:noFill/>
          <a:ln/>
        </p:spPr>
        <p:txBody>
          <a:bodyPr wrap="square" rtlCol="0" anchor="ctr"/>
          <a:lstStyle/>
          <a:p>
            <a:pPr indent="0" marL="0">
              <a:buNone/>
            </a:pPr>
            <a:r>
              <a:rPr lang="en-US" sz="2400" b="1" dirty="0">
                <a:solidFill>
                  <a:srgbClr val="1B3A6B"/>
                </a:solidFill>
                <a:latin typeface="Calibri" pitchFamily="34" charset="0"/>
                <a:ea typeface="Calibri" pitchFamily="34" charset="-122"/>
                <a:cs typeface="Calibri" pitchFamily="34" charset="-120"/>
              </a:rPr>
              <a:t>¿Tienen la misma "memoria" inflacionaria?</a:t>
            </a:r>
            <a:endParaRPr lang="en-US" sz="2400" dirty="0"/>
          </a:p>
        </p:txBody>
      </p:sp>
      <p:sp>
        <p:nvSpPr>
          <p:cNvPr id="8" name="Shape 6"/>
          <p:cNvSpPr/>
          <p:nvPr/>
        </p:nvSpPr>
        <p:spPr>
          <a:xfrm>
            <a:off x="320040" y="1280160"/>
            <a:ext cx="2011680" cy="384048"/>
          </a:xfrm>
          <a:prstGeom prst="rect">
            <a:avLst/>
          </a:prstGeom>
          <a:solidFill>
            <a:srgbClr val="1B3A6B"/>
          </a:solidFill>
          <a:ln w="12700">
            <a:solidFill>
              <a:srgbClr val="1B3A6B"/>
            </a:solidFill>
            <a:prstDash val="solid"/>
          </a:ln>
        </p:spPr>
      </p:sp>
      <p:sp>
        <p:nvSpPr>
          <p:cNvPr id="9" name="Text 7"/>
          <p:cNvSpPr txBox="1"/>
          <p:nvPr/>
        </p:nvSpPr>
        <p:spPr>
          <a:xfrm>
            <a:off x="374904" y="1280160"/>
            <a:ext cx="1901952" cy="384048"/>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País</a:t>
            </a:r>
            <a:endParaRPr lang="en-US" sz="1050" dirty="0"/>
          </a:p>
        </p:txBody>
      </p:sp>
      <p:sp>
        <p:nvSpPr>
          <p:cNvPr id="10" name="Shape 8"/>
          <p:cNvSpPr/>
          <p:nvPr/>
        </p:nvSpPr>
        <p:spPr>
          <a:xfrm>
            <a:off x="2331720" y="1280160"/>
            <a:ext cx="2743200" cy="384048"/>
          </a:xfrm>
          <a:prstGeom prst="rect">
            <a:avLst/>
          </a:prstGeom>
          <a:solidFill>
            <a:srgbClr val="1B3A6B"/>
          </a:solidFill>
          <a:ln w="12700">
            <a:solidFill>
              <a:srgbClr val="1B3A6B"/>
            </a:solidFill>
            <a:prstDash val="solid"/>
          </a:ln>
        </p:spPr>
      </p:sp>
      <p:sp>
        <p:nvSpPr>
          <p:cNvPr id="11" name="Text 9"/>
          <p:cNvSpPr txBox="1"/>
          <p:nvPr/>
        </p:nvSpPr>
        <p:spPr>
          <a:xfrm>
            <a:off x="2386584" y="1280160"/>
            <a:ext cx="2633472" cy="384048"/>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Tendencia 2000–23</a:t>
            </a:r>
            <a:endParaRPr lang="en-US" sz="1050" dirty="0"/>
          </a:p>
        </p:txBody>
      </p:sp>
      <p:sp>
        <p:nvSpPr>
          <p:cNvPr id="12" name="Shape 10"/>
          <p:cNvSpPr/>
          <p:nvPr/>
        </p:nvSpPr>
        <p:spPr>
          <a:xfrm>
            <a:off x="5074920" y="1280160"/>
            <a:ext cx="1828800" cy="384048"/>
          </a:xfrm>
          <a:prstGeom prst="rect">
            <a:avLst/>
          </a:prstGeom>
          <a:solidFill>
            <a:srgbClr val="1B3A6B"/>
          </a:solidFill>
          <a:ln w="12700">
            <a:solidFill>
              <a:srgbClr val="1B3A6B"/>
            </a:solidFill>
            <a:prstDash val="solid"/>
          </a:ln>
        </p:spPr>
      </p:sp>
      <p:sp>
        <p:nvSpPr>
          <p:cNvPr id="13" name="Text 11"/>
          <p:cNvSpPr txBox="1"/>
          <p:nvPr/>
        </p:nvSpPr>
        <p:spPr>
          <a:xfrm>
            <a:off x="5129784" y="1280160"/>
            <a:ext cx="1719072" cy="384048"/>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Pico inflación</a:t>
            </a:r>
            <a:endParaRPr lang="en-US" sz="1050" dirty="0"/>
          </a:p>
        </p:txBody>
      </p:sp>
      <p:sp>
        <p:nvSpPr>
          <p:cNvPr id="14" name="Shape 12"/>
          <p:cNvSpPr/>
          <p:nvPr/>
        </p:nvSpPr>
        <p:spPr>
          <a:xfrm>
            <a:off x="6903720" y="1280160"/>
            <a:ext cx="1737360" cy="384048"/>
          </a:xfrm>
          <a:prstGeom prst="rect">
            <a:avLst/>
          </a:prstGeom>
          <a:solidFill>
            <a:srgbClr val="1B3A6B"/>
          </a:solidFill>
          <a:ln w="12700">
            <a:solidFill>
              <a:srgbClr val="1B3A6B"/>
            </a:solidFill>
            <a:prstDash val="solid"/>
          </a:ln>
        </p:spPr>
      </p:sp>
      <p:sp>
        <p:nvSpPr>
          <p:cNvPr id="15" name="Text 13"/>
          <p:cNvSpPr txBox="1"/>
          <p:nvPr/>
        </p:nvSpPr>
        <p:spPr>
          <a:xfrm>
            <a:off x="6958584" y="1280160"/>
            <a:ext cx="1627632" cy="384048"/>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ACF lag-1 (est.)</a:t>
            </a:r>
            <a:endParaRPr lang="en-US" sz="1050" dirty="0"/>
          </a:p>
        </p:txBody>
      </p:sp>
      <p:sp>
        <p:nvSpPr>
          <p:cNvPr id="16" name="Shape 14"/>
          <p:cNvSpPr/>
          <p:nvPr/>
        </p:nvSpPr>
        <p:spPr>
          <a:xfrm>
            <a:off x="8641080" y="1280160"/>
            <a:ext cx="3291840" cy="384048"/>
          </a:xfrm>
          <a:prstGeom prst="rect">
            <a:avLst/>
          </a:prstGeom>
          <a:solidFill>
            <a:srgbClr val="1B3A6B"/>
          </a:solidFill>
          <a:ln w="12700">
            <a:solidFill>
              <a:srgbClr val="1B3A6B"/>
            </a:solidFill>
            <a:prstDash val="solid"/>
          </a:ln>
        </p:spPr>
      </p:sp>
      <p:sp>
        <p:nvSpPr>
          <p:cNvPr id="17" name="Text 15"/>
          <p:cNvSpPr txBox="1"/>
          <p:nvPr/>
        </p:nvSpPr>
        <p:spPr>
          <a:xfrm>
            <a:off x="8695944" y="1280160"/>
            <a:ext cx="3182112" cy="384048"/>
          </a:xfrm>
          <a:prstGeom prst="rect">
            <a:avLst/>
          </a:prstGeom>
          <a:noFill/>
          <a:ln/>
        </p:spPr>
        <p:txBody>
          <a:bodyPr wrap="square"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Interpretación</a:t>
            </a:r>
            <a:endParaRPr lang="en-US" sz="1050" dirty="0"/>
          </a:p>
        </p:txBody>
      </p:sp>
      <p:sp>
        <p:nvSpPr>
          <p:cNvPr id="18" name="Shape 16"/>
          <p:cNvSpPr/>
          <p:nvPr/>
        </p:nvSpPr>
        <p:spPr>
          <a:xfrm>
            <a:off x="320040" y="1664208"/>
            <a:ext cx="2011680" cy="502920"/>
          </a:xfrm>
          <a:prstGeom prst="rect">
            <a:avLst/>
          </a:prstGeom>
          <a:solidFill>
            <a:srgbClr val="FFFFFF"/>
          </a:solidFill>
          <a:ln w="6350">
            <a:solidFill>
              <a:srgbClr val="D1D5DB"/>
            </a:solidFill>
            <a:prstDash val="solid"/>
          </a:ln>
        </p:spPr>
      </p:sp>
      <p:sp>
        <p:nvSpPr>
          <p:cNvPr id="19" name="Text 17"/>
          <p:cNvSpPr txBox="1"/>
          <p:nvPr/>
        </p:nvSpPr>
        <p:spPr>
          <a:xfrm>
            <a:off x="374904" y="1709928"/>
            <a:ext cx="1901952" cy="411480"/>
          </a:xfrm>
          <a:prstGeom prst="rect">
            <a:avLst/>
          </a:prstGeom>
          <a:noFill/>
          <a:ln/>
        </p:spPr>
        <p:txBody>
          <a:bodyPr wrap="square" rtlCol="0" anchor="ctr"/>
          <a:lstStyle/>
          <a:p>
            <a:pPr indent="0" marL="0">
              <a:buNone/>
            </a:pPr>
            <a:r>
              <a:rPr lang="en-US" sz="950" dirty="0">
                <a:solidFill>
                  <a:srgbClr val="1E293B"/>
                </a:solidFill>
                <a:latin typeface="Calibri" pitchFamily="34" charset="0"/>
                <a:ea typeface="Calibri" pitchFamily="34" charset="-122"/>
                <a:cs typeface="Calibri" pitchFamily="34" charset="-120"/>
              </a:rPr>
              <a:t>Colombia</a:t>
            </a:r>
            <a:endParaRPr lang="en-US" sz="950" dirty="0"/>
          </a:p>
        </p:txBody>
      </p:sp>
      <p:sp>
        <p:nvSpPr>
          <p:cNvPr id="20" name="Shape 18"/>
          <p:cNvSpPr/>
          <p:nvPr/>
        </p:nvSpPr>
        <p:spPr>
          <a:xfrm>
            <a:off x="2331720" y="1664208"/>
            <a:ext cx="2743200" cy="502920"/>
          </a:xfrm>
          <a:prstGeom prst="rect">
            <a:avLst/>
          </a:prstGeom>
          <a:solidFill>
            <a:srgbClr val="FFFFFF"/>
          </a:solidFill>
          <a:ln w="6350">
            <a:solidFill>
              <a:srgbClr val="D1D5DB"/>
            </a:solidFill>
            <a:prstDash val="solid"/>
          </a:ln>
        </p:spPr>
      </p:sp>
      <p:sp>
        <p:nvSpPr>
          <p:cNvPr id="21" name="Text 19"/>
          <p:cNvSpPr txBox="1"/>
          <p:nvPr/>
        </p:nvSpPr>
        <p:spPr>
          <a:xfrm>
            <a:off x="2386584" y="1709928"/>
            <a:ext cx="2633472" cy="411480"/>
          </a:xfrm>
          <a:prstGeom prst="rect">
            <a:avLst/>
          </a:prstGeom>
          <a:noFill/>
          <a:ln/>
        </p:spPr>
        <p:txBody>
          <a:bodyPr wrap="square" rtlCol="0" anchor="ctr"/>
          <a:lstStyle/>
          <a:p>
            <a:pPr indent="0" marL="0">
              <a:buNone/>
            </a:pPr>
            <a:r>
              <a:rPr lang="en-US" sz="950" dirty="0">
                <a:solidFill>
                  <a:srgbClr val="1E293B"/>
                </a:solidFill>
                <a:latin typeface="Calibri" pitchFamily="34" charset="0"/>
                <a:ea typeface="Calibri" pitchFamily="34" charset="-122"/>
                <a:cs typeface="Calibri" pitchFamily="34" charset="-120"/>
              </a:rPr>
              <a:t>Descendente con pico 2022</a:t>
            </a:r>
            <a:endParaRPr lang="en-US" sz="950" dirty="0"/>
          </a:p>
        </p:txBody>
      </p:sp>
      <p:sp>
        <p:nvSpPr>
          <p:cNvPr id="22" name="Shape 20"/>
          <p:cNvSpPr/>
          <p:nvPr/>
        </p:nvSpPr>
        <p:spPr>
          <a:xfrm>
            <a:off x="5074920" y="1664208"/>
            <a:ext cx="1828800" cy="502920"/>
          </a:xfrm>
          <a:prstGeom prst="rect">
            <a:avLst/>
          </a:prstGeom>
          <a:solidFill>
            <a:srgbClr val="FFFFFF"/>
          </a:solidFill>
          <a:ln w="6350">
            <a:solidFill>
              <a:srgbClr val="D1D5DB"/>
            </a:solidFill>
            <a:prstDash val="solid"/>
          </a:ln>
        </p:spPr>
      </p:sp>
      <p:sp>
        <p:nvSpPr>
          <p:cNvPr id="23" name="Text 21"/>
          <p:cNvSpPr txBox="1"/>
          <p:nvPr/>
        </p:nvSpPr>
        <p:spPr>
          <a:xfrm>
            <a:off x="5129784" y="1709928"/>
            <a:ext cx="1719072" cy="411480"/>
          </a:xfrm>
          <a:prstGeom prst="rect">
            <a:avLst/>
          </a:prstGeom>
          <a:noFill/>
          <a:ln/>
        </p:spPr>
        <p:txBody>
          <a:bodyPr wrap="square" rtlCol="0" anchor="ctr"/>
          <a:lstStyle/>
          <a:p>
            <a:pPr indent="0" marL="0">
              <a:buNone/>
            </a:pPr>
            <a:r>
              <a:rPr lang="en-US" sz="950" dirty="0">
                <a:solidFill>
                  <a:srgbClr val="1E293B"/>
                </a:solidFill>
                <a:latin typeface="Calibri" pitchFamily="34" charset="0"/>
                <a:ea typeface="Calibri" pitchFamily="34" charset="-122"/>
                <a:cs typeface="Calibri" pitchFamily="34" charset="-120"/>
              </a:rPr>
              <a:t>11.7% (2022)</a:t>
            </a:r>
            <a:endParaRPr lang="en-US" sz="950" dirty="0"/>
          </a:p>
        </p:txBody>
      </p:sp>
      <p:sp>
        <p:nvSpPr>
          <p:cNvPr id="24" name="Shape 22"/>
          <p:cNvSpPr/>
          <p:nvPr/>
        </p:nvSpPr>
        <p:spPr>
          <a:xfrm>
            <a:off x="6903720" y="1664208"/>
            <a:ext cx="1737360" cy="502920"/>
          </a:xfrm>
          <a:prstGeom prst="rect">
            <a:avLst/>
          </a:prstGeom>
          <a:solidFill>
            <a:srgbClr val="FFFFFF"/>
          </a:solidFill>
          <a:ln w="6350">
            <a:solidFill>
              <a:srgbClr val="D1D5DB"/>
            </a:solidFill>
            <a:prstDash val="solid"/>
          </a:ln>
        </p:spPr>
      </p:sp>
      <p:sp>
        <p:nvSpPr>
          <p:cNvPr id="25" name="Text 23"/>
          <p:cNvSpPr txBox="1"/>
          <p:nvPr/>
        </p:nvSpPr>
        <p:spPr>
          <a:xfrm>
            <a:off x="6958584" y="1709928"/>
            <a:ext cx="1627632" cy="411480"/>
          </a:xfrm>
          <a:prstGeom prst="rect">
            <a:avLst/>
          </a:prstGeom>
          <a:noFill/>
          <a:ln/>
        </p:spPr>
        <p:txBody>
          <a:bodyPr wrap="square" rtlCol="0" anchor="ctr"/>
          <a:lstStyle/>
          <a:p>
            <a:pPr indent="0" marL="0">
              <a:buNone/>
            </a:pPr>
            <a:r>
              <a:rPr lang="en-US" sz="950" b="1" dirty="0">
                <a:solidFill>
                  <a:srgbClr val="C0392B"/>
                </a:solidFill>
                <a:latin typeface="Calibri" pitchFamily="34" charset="0"/>
                <a:ea typeface="Calibri" pitchFamily="34" charset="-122"/>
                <a:cs typeface="Calibri" pitchFamily="34" charset="-120"/>
              </a:rPr>
              <a:t>~0.65 (alta)</a:t>
            </a:r>
            <a:endParaRPr lang="en-US" sz="950" dirty="0"/>
          </a:p>
        </p:txBody>
      </p:sp>
      <p:sp>
        <p:nvSpPr>
          <p:cNvPr id="26" name="Shape 24"/>
          <p:cNvSpPr/>
          <p:nvPr/>
        </p:nvSpPr>
        <p:spPr>
          <a:xfrm>
            <a:off x="8641080" y="1664208"/>
            <a:ext cx="3291840" cy="502920"/>
          </a:xfrm>
          <a:prstGeom prst="rect">
            <a:avLst/>
          </a:prstGeom>
          <a:solidFill>
            <a:srgbClr val="FFFFFF"/>
          </a:solidFill>
          <a:ln w="6350">
            <a:solidFill>
              <a:srgbClr val="D1D5DB"/>
            </a:solidFill>
            <a:prstDash val="solid"/>
          </a:ln>
        </p:spPr>
      </p:sp>
      <p:sp>
        <p:nvSpPr>
          <p:cNvPr id="27" name="Text 25"/>
          <p:cNvSpPr txBox="1"/>
          <p:nvPr/>
        </p:nvSpPr>
        <p:spPr>
          <a:xfrm>
            <a:off x="8695944" y="1709928"/>
            <a:ext cx="3182112" cy="411480"/>
          </a:xfrm>
          <a:prstGeom prst="rect">
            <a:avLst/>
          </a:prstGeom>
          <a:noFill/>
          <a:ln/>
        </p:spPr>
        <p:txBody>
          <a:bodyPr wrap="square" rtlCol="0" anchor="ctr"/>
          <a:lstStyle/>
          <a:p>
            <a:pPr indent="0" marL="0">
              <a:buNone/>
            </a:pPr>
            <a:r>
              <a:rPr lang="en-US" sz="950" dirty="0">
                <a:solidFill>
                  <a:srgbClr val="1E293B"/>
                </a:solidFill>
                <a:latin typeface="Calibri" pitchFamily="34" charset="0"/>
                <a:ea typeface="Calibri" pitchFamily="34" charset="-122"/>
                <a:cs typeface="Calibri" pitchFamily="34" charset="-120"/>
              </a:rPr>
              <a:t>Inflación persistente — un shock dura varios años</a:t>
            </a:r>
            <a:endParaRPr lang="en-US" sz="950" dirty="0"/>
          </a:p>
        </p:txBody>
      </p:sp>
      <p:sp>
        <p:nvSpPr>
          <p:cNvPr id="28" name="Shape 26"/>
          <p:cNvSpPr/>
          <p:nvPr/>
        </p:nvSpPr>
        <p:spPr>
          <a:xfrm>
            <a:off x="320040" y="2167128"/>
            <a:ext cx="2011680" cy="502920"/>
          </a:xfrm>
          <a:prstGeom prst="rect">
            <a:avLst/>
          </a:prstGeom>
          <a:solidFill>
            <a:srgbClr val="EBF0F8"/>
          </a:solidFill>
          <a:ln w="6350">
            <a:solidFill>
              <a:srgbClr val="D1D5DB"/>
            </a:solidFill>
            <a:prstDash val="solid"/>
          </a:ln>
        </p:spPr>
      </p:sp>
      <p:sp>
        <p:nvSpPr>
          <p:cNvPr id="29" name="Text 27"/>
          <p:cNvSpPr txBox="1"/>
          <p:nvPr/>
        </p:nvSpPr>
        <p:spPr>
          <a:xfrm>
            <a:off x="374904" y="2212848"/>
            <a:ext cx="1901952" cy="411480"/>
          </a:xfrm>
          <a:prstGeom prst="rect">
            <a:avLst/>
          </a:prstGeom>
          <a:noFill/>
          <a:ln/>
        </p:spPr>
        <p:txBody>
          <a:bodyPr wrap="square" rtlCol="0" anchor="ctr"/>
          <a:lstStyle/>
          <a:p>
            <a:pPr indent="0" marL="0">
              <a:buNone/>
            </a:pPr>
            <a:r>
              <a:rPr lang="en-US" sz="950" dirty="0">
                <a:solidFill>
                  <a:srgbClr val="1E293B"/>
                </a:solidFill>
                <a:latin typeface="Calibri" pitchFamily="34" charset="0"/>
                <a:ea typeface="Calibri" pitchFamily="34" charset="-122"/>
                <a:cs typeface="Calibri" pitchFamily="34" charset="-120"/>
              </a:rPr>
              <a:t>Rep. Dominicana</a:t>
            </a:r>
            <a:endParaRPr lang="en-US" sz="950" dirty="0"/>
          </a:p>
        </p:txBody>
      </p:sp>
      <p:sp>
        <p:nvSpPr>
          <p:cNvPr id="30" name="Shape 28"/>
          <p:cNvSpPr/>
          <p:nvPr/>
        </p:nvSpPr>
        <p:spPr>
          <a:xfrm>
            <a:off x="2331720" y="2167128"/>
            <a:ext cx="2743200" cy="502920"/>
          </a:xfrm>
          <a:prstGeom prst="rect">
            <a:avLst/>
          </a:prstGeom>
          <a:solidFill>
            <a:srgbClr val="EBF0F8"/>
          </a:solidFill>
          <a:ln w="6350">
            <a:solidFill>
              <a:srgbClr val="D1D5DB"/>
            </a:solidFill>
            <a:prstDash val="solid"/>
          </a:ln>
        </p:spPr>
      </p:sp>
      <p:sp>
        <p:nvSpPr>
          <p:cNvPr id="31" name="Text 29"/>
          <p:cNvSpPr txBox="1"/>
          <p:nvPr/>
        </p:nvSpPr>
        <p:spPr>
          <a:xfrm>
            <a:off x="2386584" y="2212848"/>
            <a:ext cx="2633472" cy="411480"/>
          </a:xfrm>
          <a:prstGeom prst="rect">
            <a:avLst/>
          </a:prstGeom>
          <a:noFill/>
          <a:ln/>
        </p:spPr>
        <p:txBody>
          <a:bodyPr wrap="square" rtlCol="0" anchor="ctr"/>
          <a:lstStyle/>
          <a:p>
            <a:pPr indent="0" marL="0">
              <a:buNone/>
            </a:pPr>
            <a:r>
              <a:rPr lang="en-US" sz="950" dirty="0">
                <a:solidFill>
                  <a:srgbClr val="1E293B"/>
                </a:solidFill>
                <a:latin typeface="Calibri" pitchFamily="34" charset="0"/>
                <a:ea typeface="Calibri" pitchFamily="34" charset="-122"/>
                <a:cs typeface="Calibri" pitchFamily="34" charset="-120"/>
              </a:rPr>
              <a:t>Descendente tras crisis 04</a:t>
            </a:r>
            <a:endParaRPr lang="en-US" sz="950" dirty="0"/>
          </a:p>
        </p:txBody>
      </p:sp>
      <p:sp>
        <p:nvSpPr>
          <p:cNvPr id="32" name="Shape 30"/>
          <p:cNvSpPr/>
          <p:nvPr/>
        </p:nvSpPr>
        <p:spPr>
          <a:xfrm>
            <a:off x="5074920" y="2167128"/>
            <a:ext cx="1828800" cy="502920"/>
          </a:xfrm>
          <a:prstGeom prst="rect">
            <a:avLst/>
          </a:prstGeom>
          <a:solidFill>
            <a:srgbClr val="EBF0F8"/>
          </a:solidFill>
          <a:ln w="6350">
            <a:solidFill>
              <a:srgbClr val="D1D5DB"/>
            </a:solidFill>
            <a:prstDash val="solid"/>
          </a:ln>
        </p:spPr>
      </p:sp>
      <p:sp>
        <p:nvSpPr>
          <p:cNvPr id="33" name="Text 31"/>
          <p:cNvSpPr txBox="1"/>
          <p:nvPr/>
        </p:nvSpPr>
        <p:spPr>
          <a:xfrm>
            <a:off x="5129784" y="2212848"/>
            <a:ext cx="1719072" cy="411480"/>
          </a:xfrm>
          <a:prstGeom prst="rect">
            <a:avLst/>
          </a:prstGeom>
          <a:noFill/>
          <a:ln/>
        </p:spPr>
        <p:txBody>
          <a:bodyPr wrap="square" rtlCol="0" anchor="ctr"/>
          <a:lstStyle/>
          <a:p>
            <a:pPr indent="0" marL="0">
              <a:buNone/>
            </a:pPr>
            <a:r>
              <a:rPr lang="en-US" sz="950" dirty="0">
                <a:solidFill>
                  <a:srgbClr val="1E293B"/>
                </a:solidFill>
                <a:latin typeface="Calibri" pitchFamily="34" charset="0"/>
                <a:ea typeface="Calibri" pitchFamily="34" charset="-122"/>
                <a:cs typeface="Calibri" pitchFamily="34" charset="-120"/>
              </a:rPr>
              <a:t>51.5% (2004)</a:t>
            </a:r>
            <a:endParaRPr lang="en-US" sz="950" dirty="0"/>
          </a:p>
        </p:txBody>
      </p:sp>
      <p:sp>
        <p:nvSpPr>
          <p:cNvPr id="34" name="Shape 32"/>
          <p:cNvSpPr/>
          <p:nvPr/>
        </p:nvSpPr>
        <p:spPr>
          <a:xfrm>
            <a:off x="6903720" y="2167128"/>
            <a:ext cx="1737360" cy="502920"/>
          </a:xfrm>
          <a:prstGeom prst="rect">
            <a:avLst/>
          </a:prstGeom>
          <a:solidFill>
            <a:srgbClr val="EBF0F8"/>
          </a:solidFill>
          <a:ln w="6350">
            <a:solidFill>
              <a:srgbClr val="D1D5DB"/>
            </a:solidFill>
            <a:prstDash val="solid"/>
          </a:ln>
        </p:spPr>
      </p:sp>
      <p:sp>
        <p:nvSpPr>
          <p:cNvPr id="35" name="Text 33"/>
          <p:cNvSpPr txBox="1"/>
          <p:nvPr/>
        </p:nvSpPr>
        <p:spPr>
          <a:xfrm>
            <a:off x="6958584" y="2212848"/>
            <a:ext cx="1627632" cy="411480"/>
          </a:xfrm>
          <a:prstGeom prst="rect">
            <a:avLst/>
          </a:prstGeom>
          <a:noFill/>
          <a:ln/>
        </p:spPr>
        <p:txBody>
          <a:bodyPr wrap="square" rtlCol="0" anchor="ctr"/>
          <a:lstStyle/>
          <a:p>
            <a:pPr indent="0" marL="0">
              <a:buNone/>
            </a:pPr>
            <a:r>
              <a:rPr lang="en-US" sz="950" b="1" dirty="0">
                <a:solidFill>
                  <a:srgbClr val="E8A020"/>
                </a:solidFill>
                <a:latin typeface="Calibri" pitchFamily="34" charset="0"/>
                <a:ea typeface="Calibri" pitchFamily="34" charset="-122"/>
                <a:cs typeface="Calibri" pitchFamily="34" charset="-120"/>
              </a:rPr>
              <a:t>~0.45 (media)</a:t>
            </a:r>
            <a:endParaRPr lang="en-US" sz="950" dirty="0"/>
          </a:p>
        </p:txBody>
      </p:sp>
      <p:sp>
        <p:nvSpPr>
          <p:cNvPr id="36" name="Shape 34"/>
          <p:cNvSpPr/>
          <p:nvPr/>
        </p:nvSpPr>
        <p:spPr>
          <a:xfrm>
            <a:off x="8641080" y="2167128"/>
            <a:ext cx="3291840" cy="502920"/>
          </a:xfrm>
          <a:prstGeom prst="rect">
            <a:avLst/>
          </a:prstGeom>
          <a:solidFill>
            <a:srgbClr val="EBF0F8"/>
          </a:solidFill>
          <a:ln w="6350">
            <a:solidFill>
              <a:srgbClr val="D1D5DB"/>
            </a:solidFill>
            <a:prstDash val="solid"/>
          </a:ln>
        </p:spPr>
      </p:sp>
      <p:sp>
        <p:nvSpPr>
          <p:cNvPr id="37" name="Text 35"/>
          <p:cNvSpPr txBox="1"/>
          <p:nvPr/>
        </p:nvSpPr>
        <p:spPr>
          <a:xfrm>
            <a:off x="8695944" y="2212848"/>
            <a:ext cx="3182112" cy="411480"/>
          </a:xfrm>
          <a:prstGeom prst="rect">
            <a:avLst/>
          </a:prstGeom>
          <a:noFill/>
          <a:ln/>
        </p:spPr>
        <p:txBody>
          <a:bodyPr wrap="square" rtlCol="0" anchor="ctr"/>
          <a:lstStyle/>
          <a:p>
            <a:pPr indent="0" marL="0">
              <a:buNone/>
            </a:pPr>
            <a:r>
              <a:rPr lang="en-US" sz="950" dirty="0">
                <a:solidFill>
                  <a:srgbClr val="1E293B"/>
                </a:solidFill>
                <a:latin typeface="Calibri" pitchFamily="34" charset="0"/>
                <a:ea typeface="Calibri" pitchFamily="34" charset="-122"/>
                <a:cs typeface="Calibri" pitchFamily="34" charset="-120"/>
              </a:rPr>
              <a:t>Período de crisis quiebra la persistencia</a:t>
            </a:r>
            <a:endParaRPr lang="en-US" sz="950" dirty="0"/>
          </a:p>
        </p:txBody>
      </p:sp>
      <p:sp>
        <p:nvSpPr>
          <p:cNvPr id="38" name="Shape 36"/>
          <p:cNvSpPr/>
          <p:nvPr/>
        </p:nvSpPr>
        <p:spPr>
          <a:xfrm>
            <a:off x="320040" y="2670048"/>
            <a:ext cx="2011680" cy="502920"/>
          </a:xfrm>
          <a:prstGeom prst="rect">
            <a:avLst/>
          </a:prstGeom>
          <a:solidFill>
            <a:srgbClr val="FFFFFF"/>
          </a:solidFill>
          <a:ln w="6350">
            <a:solidFill>
              <a:srgbClr val="D1D5DB"/>
            </a:solidFill>
            <a:prstDash val="solid"/>
          </a:ln>
        </p:spPr>
      </p:sp>
      <p:sp>
        <p:nvSpPr>
          <p:cNvPr id="39" name="Text 37"/>
          <p:cNvSpPr txBox="1"/>
          <p:nvPr/>
        </p:nvSpPr>
        <p:spPr>
          <a:xfrm>
            <a:off x="374904" y="2715768"/>
            <a:ext cx="1901952" cy="411480"/>
          </a:xfrm>
          <a:prstGeom prst="rect">
            <a:avLst/>
          </a:prstGeom>
          <a:noFill/>
          <a:ln/>
        </p:spPr>
        <p:txBody>
          <a:bodyPr wrap="square" rtlCol="0" anchor="ctr"/>
          <a:lstStyle/>
          <a:p>
            <a:pPr indent="0" marL="0">
              <a:buNone/>
            </a:pPr>
            <a:r>
              <a:rPr lang="en-US" sz="950" dirty="0">
                <a:solidFill>
                  <a:srgbClr val="1E293B"/>
                </a:solidFill>
                <a:latin typeface="Calibri" pitchFamily="34" charset="0"/>
                <a:ea typeface="Calibri" pitchFamily="34" charset="-122"/>
                <a:cs typeface="Calibri" pitchFamily="34" charset="-120"/>
              </a:rPr>
              <a:t>Honduras</a:t>
            </a:r>
            <a:endParaRPr lang="en-US" sz="950" dirty="0"/>
          </a:p>
        </p:txBody>
      </p:sp>
      <p:sp>
        <p:nvSpPr>
          <p:cNvPr id="40" name="Shape 38"/>
          <p:cNvSpPr/>
          <p:nvPr/>
        </p:nvSpPr>
        <p:spPr>
          <a:xfrm>
            <a:off x="2331720" y="2670048"/>
            <a:ext cx="2743200" cy="502920"/>
          </a:xfrm>
          <a:prstGeom prst="rect">
            <a:avLst/>
          </a:prstGeom>
          <a:solidFill>
            <a:srgbClr val="FFFFFF"/>
          </a:solidFill>
          <a:ln w="6350">
            <a:solidFill>
              <a:srgbClr val="D1D5DB"/>
            </a:solidFill>
            <a:prstDash val="solid"/>
          </a:ln>
        </p:spPr>
      </p:sp>
      <p:sp>
        <p:nvSpPr>
          <p:cNvPr id="41" name="Text 39"/>
          <p:cNvSpPr txBox="1"/>
          <p:nvPr/>
        </p:nvSpPr>
        <p:spPr>
          <a:xfrm>
            <a:off x="2386584" y="2715768"/>
            <a:ext cx="2633472" cy="411480"/>
          </a:xfrm>
          <a:prstGeom prst="rect">
            <a:avLst/>
          </a:prstGeom>
          <a:noFill/>
          <a:ln/>
        </p:spPr>
        <p:txBody>
          <a:bodyPr wrap="square" rtlCol="0" anchor="ctr"/>
          <a:lstStyle/>
          <a:p>
            <a:pPr indent="0" marL="0">
              <a:buNone/>
            </a:pPr>
            <a:r>
              <a:rPr lang="en-US" sz="950" dirty="0">
                <a:solidFill>
                  <a:srgbClr val="1E293B"/>
                </a:solidFill>
                <a:latin typeface="Calibri" pitchFamily="34" charset="0"/>
                <a:ea typeface="Calibri" pitchFamily="34" charset="-122"/>
                <a:cs typeface="Calibri" pitchFamily="34" charset="-120"/>
              </a:rPr>
              <a:t>Descendente moderada</a:t>
            </a:r>
            <a:endParaRPr lang="en-US" sz="950" dirty="0"/>
          </a:p>
        </p:txBody>
      </p:sp>
      <p:sp>
        <p:nvSpPr>
          <p:cNvPr id="42" name="Shape 40"/>
          <p:cNvSpPr/>
          <p:nvPr/>
        </p:nvSpPr>
        <p:spPr>
          <a:xfrm>
            <a:off x="5074920" y="2670048"/>
            <a:ext cx="1828800" cy="502920"/>
          </a:xfrm>
          <a:prstGeom prst="rect">
            <a:avLst/>
          </a:prstGeom>
          <a:solidFill>
            <a:srgbClr val="FFFFFF"/>
          </a:solidFill>
          <a:ln w="6350">
            <a:solidFill>
              <a:srgbClr val="D1D5DB"/>
            </a:solidFill>
            <a:prstDash val="solid"/>
          </a:ln>
        </p:spPr>
      </p:sp>
      <p:sp>
        <p:nvSpPr>
          <p:cNvPr id="43" name="Text 41"/>
          <p:cNvSpPr txBox="1"/>
          <p:nvPr/>
        </p:nvSpPr>
        <p:spPr>
          <a:xfrm>
            <a:off x="5129784" y="2715768"/>
            <a:ext cx="1719072" cy="411480"/>
          </a:xfrm>
          <a:prstGeom prst="rect">
            <a:avLst/>
          </a:prstGeom>
          <a:noFill/>
          <a:ln/>
        </p:spPr>
        <p:txBody>
          <a:bodyPr wrap="square" rtlCol="0" anchor="ctr"/>
          <a:lstStyle/>
          <a:p>
            <a:pPr indent="0" marL="0">
              <a:buNone/>
            </a:pPr>
            <a:r>
              <a:rPr lang="en-US" sz="950" dirty="0">
                <a:solidFill>
                  <a:srgbClr val="1E293B"/>
                </a:solidFill>
                <a:latin typeface="Calibri" pitchFamily="34" charset="0"/>
                <a:ea typeface="Calibri" pitchFamily="34" charset="-122"/>
                <a:cs typeface="Calibri" pitchFamily="34" charset="-120"/>
              </a:rPr>
              <a:t>9.1% (2022)</a:t>
            </a:r>
            <a:endParaRPr lang="en-US" sz="950" dirty="0"/>
          </a:p>
        </p:txBody>
      </p:sp>
      <p:sp>
        <p:nvSpPr>
          <p:cNvPr id="44" name="Shape 42"/>
          <p:cNvSpPr/>
          <p:nvPr/>
        </p:nvSpPr>
        <p:spPr>
          <a:xfrm>
            <a:off x="6903720" y="2670048"/>
            <a:ext cx="1737360" cy="502920"/>
          </a:xfrm>
          <a:prstGeom prst="rect">
            <a:avLst/>
          </a:prstGeom>
          <a:solidFill>
            <a:srgbClr val="FFFFFF"/>
          </a:solidFill>
          <a:ln w="6350">
            <a:solidFill>
              <a:srgbClr val="D1D5DB"/>
            </a:solidFill>
            <a:prstDash val="solid"/>
          </a:ln>
        </p:spPr>
      </p:sp>
      <p:sp>
        <p:nvSpPr>
          <p:cNvPr id="45" name="Text 43"/>
          <p:cNvSpPr txBox="1"/>
          <p:nvPr/>
        </p:nvSpPr>
        <p:spPr>
          <a:xfrm>
            <a:off x="6958584" y="2715768"/>
            <a:ext cx="1627632" cy="411480"/>
          </a:xfrm>
          <a:prstGeom prst="rect">
            <a:avLst/>
          </a:prstGeom>
          <a:noFill/>
          <a:ln/>
        </p:spPr>
        <p:txBody>
          <a:bodyPr wrap="square" rtlCol="0" anchor="ctr"/>
          <a:lstStyle/>
          <a:p>
            <a:pPr indent="0" marL="0">
              <a:buNone/>
            </a:pPr>
            <a:r>
              <a:rPr lang="en-US" sz="950" b="1" dirty="0">
                <a:solidFill>
                  <a:srgbClr val="C0392B"/>
                </a:solidFill>
                <a:latin typeface="Calibri" pitchFamily="34" charset="0"/>
                <a:ea typeface="Calibri" pitchFamily="34" charset="-122"/>
                <a:cs typeface="Calibri" pitchFamily="34" charset="-120"/>
              </a:rPr>
              <a:t>~0.60 (alta)</a:t>
            </a:r>
            <a:endParaRPr lang="en-US" sz="950" dirty="0"/>
          </a:p>
        </p:txBody>
      </p:sp>
      <p:sp>
        <p:nvSpPr>
          <p:cNvPr id="46" name="Shape 44"/>
          <p:cNvSpPr/>
          <p:nvPr/>
        </p:nvSpPr>
        <p:spPr>
          <a:xfrm>
            <a:off x="8641080" y="2670048"/>
            <a:ext cx="3291840" cy="502920"/>
          </a:xfrm>
          <a:prstGeom prst="rect">
            <a:avLst/>
          </a:prstGeom>
          <a:solidFill>
            <a:srgbClr val="FFFFFF"/>
          </a:solidFill>
          <a:ln w="6350">
            <a:solidFill>
              <a:srgbClr val="D1D5DB"/>
            </a:solidFill>
            <a:prstDash val="solid"/>
          </a:ln>
        </p:spPr>
      </p:sp>
      <p:sp>
        <p:nvSpPr>
          <p:cNvPr id="47" name="Text 45"/>
          <p:cNvSpPr txBox="1"/>
          <p:nvPr/>
        </p:nvSpPr>
        <p:spPr>
          <a:xfrm>
            <a:off x="8695944" y="2715768"/>
            <a:ext cx="3182112" cy="411480"/>
          </a:xfrm>
          <a:prstGeom prst="rect">
            <a:avLst/>
          </a:prstGeom>
          <a:noFill/>
          <a:ln/>
        </p:spPr>
        <p:txBody>
          <a:bodyPr wrap="square" rtlCol="0" anchor="ctr"/>
          <a:lstStyle/>
          <a:p>
            <a:pPr indent="0" marL="0">
              <a:buNone/>
            </a:pPr>
            <a:r>
              <a:rPr lang="en-US" sz="950" dirty="0">
                <a:solidFill>
                  <a:srgbClr val="1E293B"/>
                </a:solidFill>
                <a:latin typeface="Calibri" pitchFamily="34" charset="0"/>
                <a:ea typeface="Calibri" pitchFamily="34" charset="-122"/>
                <a:cs typeface="Calibri" pitchFamily="34" charset="-120"/>
              </a:rPr>
              <a:t>Comportamiento similar a Colombia, más estable</a:t>
            </a:r>
            <a:endParaRPr lang="en-US" sz="950" dirty="0"/>
          </a:p>
        </p:txBody>
      </p:sp>
      <p:sp>
        <p:nvSpPr>
          <p:cNvPr id="48" name="Shape 46"/>
          <p:cNvSpPr/>
          <p:nvPr/>
        </p:nvSpPr>
        <p:spPr>
          <a:xfrm>
            <a:off x="320040" y="3291840"/>
            <a:ext cx="7132320" cy="2377440"/>
          </a:xfrm>
          <a:prstGeom prst="rect">
            <a:avLst/>
          </a:prstGeom>
          <a:solidFill>
            <a:srgbClr val="1E2D40"/>
          </a:solidFill>
          <a:ln w="12700">
            <a:solidFill>
              <a:srgbClr val="2A7ABF"/>
            </a:solidFill>
            <a:prstDash val="solid"/>
          </a:ln>
        </p:spPr>
      </p:sp>
      <p:sp>
        <p:nvSpPr>
          <p:cNvPr id="49" name="Text 47"/>
          <p:cNvSpPr txBox="1"/>
          <p:nvPr/>
        </p:nvSpPr>
        <p:spPr>
          <a:xfrm>
            <a:off x="429768" y="3383280"/>
            <a:ext cx="6912864" cy="2194560"/>
          </a:xfrm>
          <a:prstGeom prst="rect">
            <a:avLst/>
          </a:prstGeom>
          <a:noFill/>
          <a:ln/>
        </p:spPr>
        <p:txBody>
          <a:bodyPr wrap="square" rtlCol="0" anchor="t"/>
          <a:lstStyle/>
          <a:p>
            <a:pPr indent="0" marL="0">
              <a:buNone/>
            </a:pPr>
            <a:r>
              <a:rPr lang="en-US" sz="850" dirty="0">
                <a:solidFill>
                  <a:srgbClr val="A8D8F0"/>
                </a:solidFill>
                <a:latin typeface="Courier New" pitchFamily="34" charset="0"/>
                <a:ea typeface="Courier New" pitchFamily="34" charset="-122"/>
                <a:cs typeface="Courier New" pitchFamily="34" charset="-120"/>
              </a:rPr>
              <a:t># Comparar ACF entre países</a:t>
            </a: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countries = {'COL': 'Colombia', 'DOM': 'Rep. Dom.', 'HND': 'Honduras'}</a:t>
            </a: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colors = ['#1B3A6B', '#1A9641', '#6A3D9A']</a:t>
            </a:r>
            <a:endParaRPr lang="en-US" sz="850" dirty="0"/>
          </a:p>
          <a:p>
            <a:pPr indent="0" marL="0">
              <a:buNone/>
            </a:pP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fig, axes = plt.subplots(1, 3, figsize=(14, 4), sharey=True)</a:t>
            </a: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for ax, (iso, name), color in zip(axes, countries.items(), colors):</a:t>
            </a: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    serie = df.loc[iso].dropna().astype(float)</a:t>
            </a: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    plot_acf(serie, lags=8, ax=ax, alpha=0.05,</a:t>
            </a: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             color=color, title=name)</a:t>
            </a: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    ax.set_xlabel('Lag (años)')</a:t>
            </a: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plt.suptitle('Comparación ACF — Inflación 2000–2023', fontsize=13)</a:t>
            </a:r>
            <a:endParaRPr lang="en-US" sz="850" dirty="0"/>
          </a:p>
          <a:p>
            <a:pPr indent="0" marL="0">
              <a:buNone/>
            </a:pPr>
            <a:r>
              <a:rPr lang="en-US" sz="850" dirty="0">
                <a:solidFill>
                  <a:srgbClr val="A8D8F0"/>
                </a:solidFill>
                <a:latin typeface="Courier New" pitchFamily="34" charset="0"/>
                <a:ea typeface="Courier New" pitchFamily="34" charset="-122"/>
                <a:cs typeface="Courier New" pitchFamily="34" charset="-120"/>
              </a:rPr>
              <a:t>plt.tight_layout(); plt.show()</a:t>
            </a:r>
            <a:endParaRPr lang="en-US" sz="850" dirty="0"/>
          </a:p>
        </p:txBody>
      </p:sp>
      <p:sp>
        <p:nvSpPr>
          <p:cNvPr id="50" name="Shape 48"/>
          <p:cNvSpPr/>
          <p:nvPr/>
        </p:nvSpPr>
        <p:spPr>
          <a:xfrm>
            <a:off x="7772400" y="3291840"/>
            <a:ext cx="4069080" cy="2377440"/>
          </a:xfrm>
          <a:prstGeom prst="rect">
            <a:avLst/>
          </a:prstGeom>
          <a:solidFill>
            <a:srgbClr val="EBF0F8"/>
          </a:solidFill>
          <a:ln w="12700">
            <a:solidFill>
              <a:srgbClr val="D1D5DB"/>
            </a:solidFill>
            <a:prstDash val="solid"/>
          </a:ln>
        </p:spPr>
      </p:sp>
      <p:sp>
        <p:nvSpPr>
          <p:cNvPr id="51" name="Text 49"/>
          <p:cNvSpPr txBox="1"/>
          <p:nvPr/>
        </p:nvSpPr>
        <p:spPr>
          <a:xfrm>
            <a:off x="7909560" y="3364992"/>
            <a:ext cx="3749040" cy="320040"/>
          </a:xfrm>
          <a:prstGeom prst="rect">
            <a:avLst/>
          </a:prstGeom>
          <a:noFill/>
          <a:ln/>
        </p:spPr>
        <p:txBody>
          <a:bodyPr wrap="square" rtlCol="0" anchor="ctr"/>
          <a:lstStyle/>
          <a:p>
            <a:pPr indent="0" marL="0">
              <a:buNone/>
            </a:pPr>
            <a:r>
              <a:rPr lang="en-US" sz="1150" b="1" dirty="0">
                <a:solidFill>
                  <a:srgbClr val="1B3A6B"/>
                </a:solidFill>
                <a:latin typeface="Calibri" pitchFamily="34" charset="0"/>
                <a:ea typeface="Calibri" pitchFamily="34" charset="-122"/>
                <a:cs typeface="Calibri" pitchFamily="34" charset="-120"/>
              </a:rPr>
              <a:t>¿Qué nos dice el ACF comparado?</a:t>
            </a:r>
            <a:endParaRPr lang="en-US" sz="1150" dirty="0"/>
          </a:p>
        </p:txBody>
      </p:sp>
      <p:sp>
        <p:nvSpPr>
          <p:cNvPr id="52" name="Text 50"/>
          <p:cNvSpPr txBox="1"/>
          <p:nvPr/>
        </p:nvSpPr>
        <p:spPr>
          <a:xfrm>
            <a:off x="7909560" y="3749040"/>
            <a:ext cx="3749040" cy="1828800"/>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Un ACF lag-1 alto (&gt;0.6) significa que la inflación de este año predice bien la del siguiente — hay inercia inflacionaria.</a:t>
            </a:r>
            <a:endParaRPr lang="en-US" sz="1000" dirty="0"/>
          </a:p>
          <a:p>
            <a:pPr indent="0" marL="0">
              <a:buNone/>
            </a:pP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La crisis de Rep. Dom. en 2004 introduce una ruptura estructural que reduce la autocorrelación: el proceso generador de datos cambió.</a:t>
            </a:r>
            <a:endParaRPr lang="en-US" sz="1000" dirty="0"/>
          </a:p>
          <a:p>
            <a:pPr indent="0" marL="0">
              <a:buNone/>
            </a:pPr>
            <a:endParaRPr lang="en-US" sz="1000" dirty="0"/>
          </a:p>
          <a:p>
            <a:pPr indent="0" marL="0">
              <a:buNone/>
            </a:pPr>
            <a:r>
              <a:rPr lang="en-US" sz="1000" dirty="0">
                <a:solidFill>
                  <a:srgbClr val="1E293B"/>
                </a:solidFill>
                <a:latin typeface="Calibri" pitchFamily="34" charset="0"/>
                <a:ea typeface="Calibri" pitchFamily="34" charset="-122"/>
                <a:cs typeface="Calibri" pitchFamily="34" charset="-120"/>
              </a:rPr>
              <a:t>Esta comparación es el punto de partida para decidir qué modelo usar en Tema 4.</a:t>
            </a:r>
            <a:endParaRPr lang="en-US" sz="1000" dirty="0"/>
          </a:p>
        </p:txBody>
      </p:sp>
      <p:sp>
        <p:nvSpPr>
          <p:cNvPr id="53" name="Shape 51"/>
          <p:cNvSpPr/>
          <p:nvPr/>
        </p:nvSpPr>
        <p:spPr>
          <a:xfrm>
            <a:off x="0" y="6565392"/>
            <a:ext cx="12161520" cy="292608"/>
          </a:xfrm>
          <a:prstGeom prst="rect">
            <a:avLst/>
          </a:prstGeom>
          <a:solidFill>
            <a:srgbClr val="1B3A6B"/>
          </a:solidFill>
          <a:ln/>
        </p:spPr>
      </p:sp>
      <p:sp>
        <p:nvSpPr>
          <p:cNvPr id="54" name="Text 52"/>
          <p:cNvSpPr txBox="1"/>
          <p:nvPr/>
        </p:nvSpPr>
        <p:spPr>
          <a:xfrm>
            <a:off x="228600" y="6592824"/>
            <a:ext cx="7315200" cy="228600"/>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Tec de Monterrey · Gobierno y Transformación Pública</a:t>
            </a:r>
            <a:endParaRPr lang="en-US" sz="800" dirty="0"/>
          </a:p>
        </p:txBody>
      </p:sp>
      <p:sp>
        <p:nvSpPr>
          <p:cNvPr id="55" name="Text 53"/>
          <p:cNvSpPr txBox="1"/>
          <p:nvPr/>
        </p:nvSpPr>
        <p:spPr>
          <a:xfrm>
            <a:off x="8686800" y="6592824"/>
            <a:ext cx="3291840" cy="228600"/>
          </a:xfrm>
          <a:prstGeom prst="rect">
            <a:avLst/>
          </a:prstGeom>
          <a:noFill/>
          <a:ln/>
        </p:spPr>
        <p:txBody>
          <a:bodyPr wrap="square" rtlCol="0" anchor="ctr"/>
          <a:lstStyle/>
          <a:p>
            <a:pPr algn="r" indent="0" marL="0">
              <a:buNone/>
            </a:pPr>
            <a:r>
              <a:rPr lang="en-US" sz="800" dirty="0">
                <a:solidFill>
                  <a:srgbClr val="E8A020"/>
                </a:solidFill>
                <a:latin typeface="Calibri" pitchFamily="34" charset="0"/>
                <a:ea typeface="Calibri" pitchFamily="34" charset="-122"/>
                <a:cs typeface="Calibri" pitchFamily="34" charset="-120"/>
              </a:rPr>
              <a:t>Fuente: World Bank WDI · wbgapi</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12161520" cy="347472"/>
          </a:xfrm>
          <a:prstGeom prst="rect">
            <a:avLst/>
          </a:prstGeom>
          <a:solidFill>
            <a:srgbClr val="1B3A6B"/>
          </a:solidFill>
          <a:ln/>
        </p:spPr>
      </p:sp>
      <p:sp>
        <p:nvSpPr>
          <p:cNvPr id="3" name="Text 1"/>
          <p:cNvSpPr txBox="1"/>
          <p:nvPr/>
        </p:nvSpPr>
        <p:spPr>
          <a:xfrm>
            <a:off x="228600" y="36576"/>
            <a:ext cx="8229600" cy="27432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EO4040 — Introducción a la Ciencia de Datos para Economía</a:t>
            </a:r>
            <a:endParaRPr lang="en-US" sz="900" dirty="0"/>
          </a:p>
        </p:txBody>
      </p:sp>
      <p:sp>
        <p:nvSpPr>
          <p:cNvPr id="4" name="Text 2"/>
          <p:cNvSpPr txBox="1"/>
          <p:nvPr/>
        </p:nvSpPr>
        <p:spPr>
          <a:xfrm>
            <a:off x="8686800" y="36576"/>
            <a:ext cx="3291840" cy="274320"/>
          </a:xfrm>
          <a:prstGeom prst="rect">
            <a:avLst/>
          </a:prstGeom>
          <a:noFill/>
          <a:ln/>
        </p:spPr>
        <p:txBody>
          <a:bodyPr wrap="square" rtlCol="0" anchor="ctr"/>
          <a:lstStyle/>
          <a:p>
            <a:pPr algn="r" indent="0" marL="0">
              <a:buNone/>
            </a:pPr>
            <a:r>
              <a:rPr lang="en-US" sz="900" b="1" dirty="0">
                <a:solidFill>
                  <a:srgbClr val="E8A020"/>
                </a:solidFill>
                <a:latin typeface="Calibri" pitchFamily="34" charset="0"/>
                <a:ea typeface="Calibri" pitchFamily="34" charset="-122"/>
                <a:cs typeface="Calibri" pitchFamily="34" charset="-120"/>
              </a:rPr>
              <a:t>Sesión 4</a:t>
            </a:r>
            <a:endParaRPr lang="en-US" sz="900" dirty="0"/>
          </a:p>
        </p:txBody>
      </p:sp>
      <p:sp>
        <p:nvSpPr>
          <p:cNvPr id="5" name="Shape 3"/>
          <p:cNvSpPr/>
          <p:nvPr/>
        </p:nvSpPr>
        <p:spPr>
          <a:xfrm>
            <a:off x="320040" y="347472"/>
            <a:ext cx="2057400" cy="256032"/>
          </a:xfrm>
          <a:prstGeom prst="roundRect">
            <a:avLst>
              <a:gd name="adj" fmla="val 17857"/>
            </a:avLst>
          </a:prstGeom>
          <a:solidFill>
            <a:srgbClr val="2A7ABF"/>
          </a:solidFill>
          <a:ln/>
        </p:spPr>
      </p:sp>
      <p:sp>
        <p:nvSpPr>
          <p:cNvPr id="6" name="Text 4"/>
          <p:cNvSpPr txBox="1"/>
          <p:nvPr/>
        </p:nvSpPr>
        <p:spPr>
          <a:xfrm>
            <a:off x="365760" y="365760"/>
            <a:ext cx="1965960" cy="219456"/>
          </a:xfrm>
          <a:prstGeom prst="rect">
            <a:avLst/>
          </a:prstGeom>
          <a:noFill/>
          <a:ln/>
        </p:spPr>
        <p:txBody>
          <a:bodyPr wrap="square" rtlCol="0" anchor="ctr"/>
          <a:lstStyle/>
          <a:p>
            <a:pPr indent="0" marL="0">
              <a:buNone/>
            </a:pPr>
            <a:r>
              <a:rPr lang="en-US" sz="850" b="1" dirty="0">
                <a:solidFill>
                  <a:srgbClr val="FFFFFF"/>
                </a:solidFill>
                <a:latin typeface="Calibri" pitchFamily="34" charset="0"/>
                <a:ea typeface="Calibri" pitchFamily="34" charset="-122"/>
                <a:cs typeface="Calibri" pitchFamily="34" charset="-120"/>
              </a:rPr>
              <a:t>Puente → Tema 3</a:t>
            </a:r>
            <a:endParaRPr lang="en-US" sz="850" dirty="0"/>
          </a:p>
        </p:txBody>
      </p:sp>
      <p:sp>
        <p:nvSpPr>
          <p:cNvPr id="7" name="Text 5"/>
          <p:cNvSpPr txBox="1"/>
          <p:nvPr/>
        </p:nvSpPr>
        <p:spPr>
          <a:xfrm>
            <a:off x="320040" y="658368"/>
            <a:ext cx="10972800" cy="457200"/>
          </a:xfrm>
          <a:prstGeom prst="rect">
            <a:avLst/>
          </a:prstGeom>
          <a:noFill/>
          <a:ln/>
        </p:spPr>
        <p:txBody>
          <a:bodyPr wrap="square" rtlCol="0" anchor="ctr"/>
          <a:lstStyle/>
          <a:p>
            <a:pPr indent="0" marL="0">
              <a:buNone/>
            </a:pPr>
            <a:r>
              <a:rPr lang="en-US" sz="2400" b="1" dirty="0">
                <a:solidFill>
                  <a:srgbClr val="1B3A6B"/>
                </a:solidFill>
                <a:latin typeface="Calibri" pitchFamily="34" charset="0"/>
                <a:ea typeface="Calibri" pitchFamily="34" charset="-122"/>
                <a:cs typeface="Calibri" pitchFamily="34" charset="-120"/>
              </a:rPr>
              <a:t>Las series de tiempo exigen visualizaciones específicas</a:t>
            </a:r>
            <a:endParaRPr lang="en-US" sz="2400" dirty="0"/>
          </a:p>
        </p:txBody>
      </p:sp>
      <p:sp>
        <p:nvSpPr>
          <p:cNvPr id="8" name="Text 6"/>
          <p:cNvSpPr txBox="1"/>
          <p:nvPr/>
        </p:nvSpPr>
        <p:spPr>
          <a:xfrm>
            <a:off x="320040" y="1188720"/>
            <a:ext cx="11430000" cy="320040"/>
          </a:xfrm>
          <a:prstGeom prst="rect">
            <a:avLst/>
          </a:prstGeom>
          <a:noFill/>
          <a:ln/>
        </p:spPr>
        <p:txBody>
          <a:bodyPr wrap="square" rtlCol="0" anchor="ctr"/>
          <a:lstStyle/>
          <a:p>
            <a:pPr indent="0" marL="0">
              <a:buNone/>
            </a:pPr>
            <a:r>
              <a:rPr lang="en-US" sz="1200" i="1" dirty="0">
                <a:solidFill>
                  <a:srgbClr val="6B7280"/>
                </a:solidFill>
                <a:latin typeface="Calibri" pitchFamily="34" charset="0"/>
                <a:ea typeface="Calibri" pitchFamily="34" charset="-122"/>
                <a:cs typeface="Calibri" pitchFamily="34" charset="-120"/>
              </a:rPr>
              <a:t>Hemos analizado la estructura temporal. Ahora surge la pregunta: ¿cómo comunicamos todo esto?</a:t>
            </a:r>
            <a:endParaRPr lang="en-US" sz="1200" dirty="0"/>
          </a:p>
        </p:txBody>
      </p:sp>
      <p:sp>
        <p:nvSpPr>
          <p:cNvPr id="9" name="Shape 7"/>
          <p:cNvSpPr/>
          <p:nvPr/>
        </p:nvSpPr>
        <p:spPr>
          <a:xfrm>
            <a:off x="320040" y="1600200"/>
            <a:ext cx="3520440" cy="2011680"/>
          </a:xfrm>
          <a:prstGeom prst="rect">
            <a:avLst/>
          </a:prstGeom>
          <a:solidFill>
            <a:srgbClr val="FFFFFF"/>
          </a:solidFill>
          <a:ln w="25400">
            <a:solidFill>
              <a:srgbClr val="2A7ABF"/>
            </a:solidFill>
            <a:prstDash val="solid"/>
          </a:ln>
        </p:spPr>
      </p:sp>
      <p:sp>
        <p:nvSpPr>
          <p:cNvPr id="10" name="Shape 8"/>
          <p:cNvSpPr/>
          <p:nvPr/>
        </p:nvSpPr>
        <p:spPr>
          <a:xfrm>
            <a:off x="320040" y="1600200"/>
            <a:ext cx="1005840" cy="256032"/>
          </a:xfrm>
          <a:prstGeom prst="rect">
            <a:avLst/>
          </a:prstGeom>
          <a:solidFill>
            <a:srgbClr val="2A7ABF"/>
          </a:solidFill>
          <a:ln w="12700">
            <a:solidFill>
              <a:srgbClr val="2A7ABF"/>
            </a:solidFill>
            <a:prstDash val="solid"/>
          </a:ln>
        </p:spPr>
      </p:sp>
      <p:sp>
        <p:nvSpPr>
          <p:cNvPr id="11" name="Text 9"/>
          <p:cNvSpPr txBox="1"/>
          <p:nvPr/>
        </p:nvSpPr>
        <p:spPr>
          <a:xfrm>
            <a:off x="320040" y="1600200"/>
            <a:ext cx="1005840" cy="256032"/>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Tema 3.1</a:t>
            </a:r>
            <a:endParaRPr lang="en-US" sz="850" dirty="0"/>
          </a:p>
        </p:txBody>
      </p:sp>
      <p:sp>
        <p:nvSpPr>
          <p:cNvPr id="12" name="Text 10"/>
          <p:cNvSpPr txBox="1"/>
          <p:nvPr/>
        </p:nvSpPr>
        <p:spPr>
          <a:xfrm>
            <a:off x="457200" y="1920240"/>
            <a:ext cx="3246120" cy="411480"/>
          </a:xfrm>
          <a:prstGeom prst="rect">
            <a:avLst/>
          </a:prstGeom>
          <a:noFill/>
          <a:ln/>
        </p:spPr>
        <p:txBody>
          <a:bodyPr wrap="square" rtlCol="0" anchor="ctr"/>
          <a:lstStyle/>
          <a:p>
            <a:pPr indent="0" marL="0">
              <a:buNone/>
            </a:pPr>
            <a:r>
              <a:rPr lang="en-US" sz="1200" b="1" dirty="0">
                <a:solidFill>
                  <a:srgbClr val="1B3A6B"/>
                </a:solidFill>
                <a:latin typeface="Calibri" pitchFamily="34" charset="0"/>
                <a:ea typeface="Calibri" pitchFamily="34" charset="-122"/>
                <a:cs typeface="Calibri" pitchFamily="34" charset="-120"/>
              </a:rPr>
              <a:t>Line plot con anotaciones</a:t>
            </a:r>
            <a:endParaRPr lang="en-US" sz="1200" dirty="0"/>
          </a:p>
        </p:txBody>
      </p:sp>
      <p:sp>
        <p:nvSpPr>
          <p:cNvPr id="13" name="Text 11"/>
          <p:cNvSpPr txBox="1"/>
          <p:nvPr/>
        </p:nvSpPr>
        <p:spPr>
          <a:xfrm>
            <a:off x="457200" y="2359152"/>
            <a:ext cx="3246120" cy="1170432"/>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El gráfico base de series de tiempo. Clave: qué anotar (shocks, elecciones, reformas) y cómo hacer multi-serie legible.</a:t>
            </a:r>
            <a:endParaRPr lang="en-US" sz="1000" dirty="0"/>
          </a:p>
        </p:txBody>
      </p:sp>
      <p:sp>
        <p:nvSpPr>
          <p:cNvPr id="14" name="Shape 12"/>
          <p:cNvSpPr/>
          <p:nvPr/>
        </p:nvSpPr>
        <p:spPr>
          <a:xfrm>
            <a:off x="4206240" y="1600200"/>
            <a:ext cx="3520440" cy="2011680"/>
          </a:xfrm>
          <a:prstGeom prst="rect">
            <a:avLst/>
          </a:prstGeom>
          <a:solidFill>
            <a:srgbClr val="FFFFFF"/>
          </a:solidFill>
          <a:ln w="25400">
            <a:solidFill>
              <a:srgbClr val="1A9641"/>
            </a:solidFill>
            <a:prstDash val="solid"/>
          </a:ln>
        </p:spPr>
      </p:sp>
      <p:sp>
        <p:nvSpPr>
          <p:cNvPr id="15" name="Shape 13"/>
          <p:cNvSpPr/>
          <p:nvPr/>
        </p:nvSpPr>
        <p:spPr>
          <a:xfrm>
            <a:off x="4206240" y="1600200"/>
            <a:ext cx="1005840" cy="256032"/>
          </a:xfrm>
          <a:prstGeom prst="rect">
            <a:avLst/>
          </a:prstGeom>
          <a:solidFill>
            <a:srgbClr val="1A9641"/>
          </a:solidFill>
          <a:ln w="12700">
            <a:solidFill>
              <a:srgbClr val="1A9641"/>
            </a:solidFill>
            <a:prstDash val="solid"/>
          </a:ln>
        </p:spPr>
      </p:sp>
      <p:sp>
        <p:nvSpPr>
          <p:cNvPr id="16" name="Text 14"/>
          <p:cNvSpPr txBox="1"/>
          <p:nvPr/>
        </p:nvSpPr>
        <p:spPr>
          <a:xfrm>
            <a:off x="4206240" y="1600200"/>
            <a:ext cx="1005840" cy="256032"/>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Tema 3.2</a:t>
            </a:r>
            <a:endParaRPr lang="en-US" sz="850" dirty="0"/>
          </a:p>
        </p:txBody>
      </p:sp>
      <p:sp>
        <p:nvSpPr>
          <p:cNvPr id="17" name="Text 15"/>
          <p:cNvSpPr txBox="1"/>
          <p:nvPr/>
        </p:nvSpPr>
        <p:spPr>
          <a:xfrm>
            <a:off x="4343400" y="1920240"/>
            <a:ext cx="3246120" cy="411480"/>
          </a:xfrm>
          <a:prstGeom prst="rect">
            <a:avLst/>
          </a:prstGeom>
          <a:noFill/>
          <a:ln/>
        </p:spPr>
        <p:txBody>
          <a:bodyPr wrap="square" rtlCol="0" anchor="ctr"/>
          <a:lstStyle/>
          <a:p>
            <a:pPr indent="0" marL="0">
              <a:buNone/>
            </a:pPr>
            <a:r>
              <a:rPr lang="en-US" sz="1200" b="1" dirty="0">
                <a:solidFill>
                  <a:srgbClr val="1B3A6B"/>
                </a:solidFill>
                <a:latin typeface="Calibri" pitchFamily="34" charset="0"/>
                <a:ea typeface="Calibri" pitchFamily="34" charset="-122"/>
                <a:cs typeface="Calibri" pitchFamily="34" charset="-120"/>
              </a:rPr>
              <a:t>Heatmap de calendario</a:t>
            </a:r>
            <a:endParaRPr lang="en-US" sz="1200" dirty="0"/>
          </a:p>
        </p:txBody>
      </p:sp>
      <p:sp>
        <p:nvSpPr>
          <p:cNvPr id="18" name="Text 16"/>
          <p:cNvSpPr txBox="1"/>
          <p:nvPr/>
        </p:nvSpPr>
        <p:spPr>
          <a:xfrm>
            <a:off x="4343400" y="2359152"/>
            <a:ext cx="3246120" cy="1170432"/>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Muestra el patrón estacional en una cuadrícula mes × año. Ideal para ver si la estacionalidad es estable en el tiempo.</a:t>
            </a:r>
            <a:endParaRPr lang="en-US" sz="1000" dirty="0"/>
          </a:p>
        </p:txBody>
      </p:sp>
      <p:sp>
        <p:nvSpPr>
          <p:cNvPr id="19" name="Shape 17"/>
          <p:cNvSpPr/>
          <p:nvPr/>
        </p:nvSpPr>
        <p:spPr>
          <a:xfrm>
            <a:off x="8092440" y="1600200"/>
            <a:ext cx="3520440" cy="2011680"/>
          </a:xfrm>
          <a:prstGeom prst="rect">
            <a:avLst/>
          </a:prstGeom>
          <a:solidFill>
            <a:srgbClr val="FFFFFF"/>
          </a:solidFill>
          <a:ln w="25400">
            <a:solidFill>
              <a:srgbClr val="6A3D9A"/>
            </a:solidFill>
            <a:prstDash val="solid"/>
          </a:ln>
        </p:spPr>
      </p:sp>
      <p:sp>
        <p:nvSpPr>
          <p:cNvPr id="20" name="Shape 18"/>
          <p:cNvSpPr/>
          <p:nvPr/>
        </p:nvSpPr>
        <p:spPr>
          <a:xfrm>
            <a:off x="8092440" y="1600200"/>
            <a:ext cx="1005840" cy="256032"/>
          </a:xfrm>
          <a:prstGeom prst="rect">
            <a:avLst/>
          </a:prstGeom>
          <a:solidFill>
            <a:srgbClr val="6A3D9A"/>
          </a:solidFill>
          <a:ln w="12700">
            <a:solidFill>
              <a:srgbClr val="6A3D9A"/>
            </a:solidFill>
            <a:prstDash val="solid"/>
          </a:ln>
        </p:spPr>
      </p:sp>
      <p:sp>
        <p:nvSpPr>
          <p:cNvPr id="21" name="Text 19"/>
          <p:cNvSpPr txBox="1"/>
          <p:nvPr/>
        </p:nvSpPr>
        <p:spPr>
          <a:xfrm>
            <a:off x="8092440" y="1600200"/>
            <a:ext cx="1005840" cy="256032"/>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Tema 3.3</a:t>
            </a:r>
            <a:endParaRPr lang="en-US" sz="850" dirty="0"/>
          </a:p>
        </p:txBody>
      </p:sp>
      <p:sp>
        <p:nvSpPr>
          <p:cNvPr id="22" name="Text 20"/>
          <p:cNvSpPr txBox="1"/>
          <p:nvPr/>
        </p:nvSpPr>
        <p:spPr>
          <a:xfrm>
            <a:off x="8229600" y="1920240"/>
            <a:ext cx="3246120" cy="411480"/>
          </a:xfrm>
          <a:prstGeom prst="rect">
            <a:avLst/>
          </a:prstGeom>
          <a:noFill/>
          <a:ln/>
        </p:spPr>
        <p:txBody>
          <a:bodyPr wrap="square" rtlCol="0" anchor="ctr"/>
          <a:lstStyle/>
          <a:p>
            <a:pPr indent="0" marL="0">
              <a:buNone/>
            </a:pPr>
            <a:r>
              <a:rPr lang="en-US" sz="1200" b="1" dirty="0">
                <a:solidFill>
                  <a:srgbClr val="1B3A6B"/>
                </a:solidFill>
                <a:latin typeface="Calibri" pitchFamily="34" charset="0"/>
                <a:ea typeface="Calibri" pitchFamily="34" charset="-122"/>
                <a:cs typeface="Calibri" pitchFamily="34" charset="-120"/>
              </a:rPr>
              <a:t>Subplots de descomposición</a:t>
            </a:r>
            <a:endParaRPr lang="en-US" sz="1200" dirty="0"/>
          </a:p>
        </p:txBody>
      </p:sp>
      <p:sp>
        <p:nvSpPr>
          <p:cNvPr id="23" name="Text 21"/>
          <p:cNvSpPr txBox="1"/>
          <p:nvPr/>
        </p:nvSpPr>
        <p:spPr>
          <a:xfrm>
            <a:off x="8229600" y="2359152"/>
            <a:ext cx="3246120" cy="1170432"/>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Los cuatro paneles de seasonal_decompose bien presentados. Cómo usar sharex, escalar ejes y titular cada componente.</a:t>
            </a:r>
            <a:endParaRPr lang="en-US" sz="1000" dirty="0"/>
          </a:p>
        </p:txBody>
      </p:sp>
      <p:sp>
        <p:nvSpPr>
          <p:cNvPr id="24" name="Shape 22"/>
          <p:cNvSpPr/>
          <p:nvPr/>
        </p:nvSpPr>
        <p:spPr>
          <a:xfrm>
            <a:off x="320040" y="3931920"/>
            <a:ext cx="3520440" cy="2011680"/>
          </a:xfrm>
          <a:prstGeom prst="rect">
            <a:avLst/>
          </a:prstGeom>
          <a:solidFill>
            <a:srgbClr val="FFFFFF"/>
          </a:solidFill>
          <a:ln w="25400">
            <a:solidFill>
              <a:srgbClr val="E8A020"/>
            </a:solidFill>
            <a:prstDash val="solid"/>
          </a:ln>
        </p:spPr>
      </p:sp>
      <p:sp>
        <p:nvSpPr>
          <p:cNvPr id="25" name="Shape 23"/>
          <p:cNvSpPr/>
          <p:nvPr/>
        </p:nvSpPr>
        <p:spPr>
          <a:xfrm>
            <a:off x="320040" y="3931920"/>
            <a:ext cx="1005840" cy="256032"/>
          </a:xfrm>
          <a:prstGeom prst="rect">
            <a:avLst/>
          </a:prstGeom>
          <a:solidFill>
            <a:srgbClr val="E8A020"/>
          </a:solidFill>
          <a:ln w="12700">
            <a:solidFill>
              <a:srgbClr val="E8A020"/>
            </a:solidFill>
            <a:prstDash val="solid"/>
          </a:ln>
        </p:spPr>
      </p:sp>
      <p:sp>
        <p:nvSpPr>
          <p:cNvPr id="26" name="Text 24"/>
          <p:cNvSpPr txBox="1"/>
          <p:nvPr/>
        </p:nvSpPr>
        <p:spPr>
          <a:xfrm>
            <a:off x="320040" y="3931920"/>
            <a:ext cx="1005840" cy="256032"/>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Tema 3.4</a:t>
            </a:r>
            <a:endParaRPr lang="en-US" sz="850" dirty="0"/>
          </a:p>
        </p:txBody>
      </p:sp>
      <p:sp>
        <p:nvSpPr>
          <p:cNvPr id="27" name="Text 25"/>
          <p:cNvSpPr txBox="1"/>
          <p:nvPr/>
        </p:nvSpPr>
        <p:spPr>
          <a:xfrm>
            <a:off x="457200" y="4251960"/>
            <a:ext cx="3246120" cy="411480"/>
          </a:xfrm>
          <a:prstGeom prst="rect">
            <a:avLst/>
          </a:prstGeom>
          <a:noFill/>
          <a:ln/>
        </p:spPr>
        <p:txBody>
          <a:bodyPr wrap="square" rtlCol="0" anchor="ctr"/>
          <a:lstStyle/>
          <a:p>
            <a:pPr indent="0" marL="0">
              <a:buNone/>
            </a:pPr>
            <a:r>
              <a:rPr lang="en-US" sz="1200" b="1" dirty="0">
                <a:solidFill>
                  <a:srgbClr val="1B3A6B"/>
                </a:solidFill>
                <a:latin typeface="Calibri" pitchFamily="34" charset="0"/>
                <a:ea typeface="Calibri" pitchFamily="34" charset="-122"/>
                <a:cs typeface="Calibri" pitchFamily="34" charset="-120"/>
              </a:rPr>
              <a:t>Doble eje Y</a:t>
            </a:r>
            <a:endParaRPr lang="en-US" sz="1200" dirty="0"/>
          </a:p>
        </p:txBody>
      </p:sp>
      <p:sp>
        <p:nvSpPr>
          <p:cNvPr id="28" name="Text 26"/>
          <p:cNvSpPr txBox="1"/>
          <p:nvPr/>
        </p:nvSpPr>
        <p:spPr>
          <a:xfrm>
            <a:off x="457200" y="4690872"/>
            <a:ext cx="3246120" cy="1170432"/>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Comparar dos series con unidades distintas (PIB en % y tasa de interés en pp). Cuándo usarlo y cuándo es trampa visual.</a:t>
            </a:r>
            <a:endParaRPr lang="en-US" sz="1000" dirty="0"/>
          </a:p>
        </p:txBody>
      </p:sp>
      <p:sp>
        <p:nvSpPr>
          <p:cNvPr id="29" name="Shape 27"/>
          <p:cNvSpPr/>
          <p:nvPr/>
        </p:nvSpPr>
        <p:spPr>
          <a:xfrm>
            <a:off x="4206240" y="3931920"/>
            <a:ext cx="3520440" cy="2011680"/>
          </a:xfrm>
          <a:prstGeom prst="rect">
            <a:avLst/>
          </a:prstGeom>
          <a:solidFill>
            <a:srgbClr val="FFFFFF"/>
          </a:solidFill>
          <a:ln w="25400">
            <a:solidFill>
              <a:srgbClr val="C0392B"/>
            </a:solidFill>
            <a:prstDash val="solid"/>
          </a:ln>
        </p:spPr>
      </p:sp>
      <p:sp>
        <p:nvSpPr>
          <p:cNvPr id="30" name="Shape 28"/>
          <p:cNvSpPr/>
          <p:nvPr/>
        </p:nvSpPr>
        <p:spPr>
          <a:xfrm>
            <a:off x="4206240" y="3931920"/>
            <a:ext cx="1005840" cy="256032"/>
          </a:xfrm>
          <a:prstGeom prst="rect">
            <a:avLst/>
          </a:prstGeom>
          <a:solidFill>
            <a:srgbClr val="C0392B"/>
          </a:solidFill>
          <a:ln w="12700">
            <a:solidFill>
              <a:srgbClr val="C0392B"/>
            </a:solidFill>
            <a:prstDash val="solid"/>
          </a:ln>
        </p:spPr>
      </p:sp>
      <p:sp>
        <p:nvSpPr>
          <p:cNvPr id="31" name="Text 29"/>
          <p:cNvSpPr txBox="1"/>
          <p:nvPr/>
        </p:nvSpPr>
        <p:spPr>
          <a:xfrm>
            <a:off x="4206240" y="3931920"/>
            <a:ext cx="1005840" cy="256032"/>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Tema 3.5</a:t>
            </a:r>
            <a:endParaRPr lang="en-US" sz="850" dirty="0"/>
          </a:p>
        </p:txBody>
      </p:sp>
      <p:sp>
        <p:nvSpPr>
          <p:cNvPr id="32" name="Text 30"/>
          <p:cNvSpPr txBox="1"/>
          <p:nvPr/>
        </p:nvSpPr>
        <p:spPr>
          <a:xfrm>
            <a:off x="4343400" y="4251960"/>
            <a:ext cx="3246120" cy="411480"/>
          </a:xfrm>
          <a:prstGeom prst="rect">
            <a:avLst/>
          </a:prstGeom>
          <a:noFill/>
          <a:ln/>
        </p:spPr>
        <p:txBody>
          <a:bodyPr wrap="square" rtlCol="0" anchor="ctr"/>
          <a:lstStyle/>
          <a:p>
            <a:pPr indent="0" marL="0">
              <a:buNone/>
            </a:pPr>
            <a:r>
              <a:rPr lang="en-US" sz="1200" b="1" dirty="0">
                <a:solidFill>
                  <a:srgbClr val="1B3A6B"/>
                </a:solidFill>
                <a:latin typeface="Calibri" pitchFamily="34" charset="0"/>
                <a:ea typeface="Calibri" pitchFamily="34" charset="-122"/>
                <a:cs typeface="Calibri" pitchFamily="34" charset="-120"/>
              </a:rPr>
              <a:t>Gráfico de rezagos (lag plot)</a:t>
            </a:r>
            <a:endParaRPr lang="en-US" sz="1200" dirty="0"/>
          </a:p>
        </p:txBody>
      </p:sp>
      <p:sp>
        <p:nvSpPr>
          <p:cNvPr id="33" name="Text 31"/>
          <p:cNvSpPr txBox="1"/>
          <p:nvPr/>
        </p:nvSpPr>
        <p:spPr>
          <a:xfrm>
            <a:off x="4343400" y="4690872"/>
            <a:ext cx="3246120" cy="1170432"/>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Visualización del ACF: Y(t) vs Y(t-k) en un scatter. Muestra si la relación es lineal o hay estructura no lineal.</a:t>
            </a:r>
            <a:endParaRPr lang="en-US" sz="1000" dirty="0"/>
          </a:p>
        </p:txBody>
      </p:sp>
      <p:sp>
        <p:nvSpPr>
          <p:cNvPr id="34" name="Shape 32"/>
          <p:cNvSpPr/>
          <p:nvPr/>
        </p:nvSpPr>
        <p:spPr>
          <a:xfrm>
            <a:off x="8092440" y="3931920"/>
            <a:ext cx="3520440" cy="2011680"/>
          </a:xfrm>
          <a:prstGeom prst="rect">
            <a:avLst/>
          </a:prstGeom>
          <a:solidFill>
            <a:srgbClr val="FFFFFF"/>
          </a:solidFill>
          <a:ln w="25400">
            <a:solidFill>
              <a:srgbClr val="5B7FA6"/>
            </a:solidFill>
            <a:prstDash val="solid"/>
          </a:ln>
        </p:spPr>
      </p:sp>
      <p:sp>
        <p:nvSpPr>
          <p:cNvPr id="35" name="Shape 33"/>
          <p:cNvSpPr/>
          <p:nvPr/>
        </p:nvSpPr>
        <p:spPr>
          <a:xfrm>
            <a:off x="8092440" y="3931920"/>
            <a:ext cx="1005840" cy="256032"/>
          </a:xfrm>
          <a:prstGeom prst="rect">
            <a:avLst/>
          </a:prstGeom>
          <a:solidFill>
            <a:srgbClr val="5B7FA6"/>
          </a:solidFill>
          <a:ln w="12700">
            <a:solidFill>
              <a:srgbClr val="5B7FA6"/>
            </a:solidFill>
            <a:prstDash val="solid"/>
          </a:ln>
        </p:spPr>
      </p:sp>
      <p:sp>
        <p:nvSpPr>
          <p:cNvPr id="36" name="Text 34"/>
          <p:cNvSpPr txBox="1"/>
          <p:nvPr/>
        </p:nvSpPr>
        <p:spPr>
          <a:xfrm>
            <a:off x="8092440" y="3931920"/>
            <a:ext cx="1005840" cy="256032"/>
          </a:xfrm>
          <a:prstGeom prst="rect">
            <a:avLst/>
          </a:prstGeom>
          <a:noFill/>
          <a:ln/>
        </p:spPr>
        <p:txBody>
          <a:bodyPr wrap="square"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Tema 3.6</a:t>
            </a:r>
            <a:endParaRPr lang="en-US" sz="850" dirty="0"/>
          </a:p>
        </p:txBody>
      </p:sp>
      <p:sp>
        <p:nvSpPr>
          <p:cNvPr id="37" name="Text 35"/>
          <p:cNvSpPr txBox="1"/>
          <p:nvPr/>
        </p:nvSpPr>
        <p:spPr>
          <a:xfrm>
            <a:off x="8229600" y="4251960"/>
            <a:ext cx="3246120" cy="411480"/>
          </a:xfrm>
          <a:prstGeom prst="rect">
            <a:avLst/>
          </a:prstGeom>
          <a:noFill/>
          <a:ln/>
        </p:spPr>
        <p:txBody>
          <a:bodyPr wrap="square" rtlCol="0" anchor="ctr"/>
          <a:lstStyle/>
          <a:p>
            <a:pPr indent="0" marL="0">
              <a:buNone/>
            </a:pPr>
            <a:r>
              <a:rPr lang="en-US" sz="1200" b="1" dirty="0">
                <a:solidFill>
                  <a:srgbClr val="1B3A6B"/>
                </a:solidFill>
                <a:latin typeface="Calibri" pitchFamily="34" charset="0"/>
                <a:ea typeface="Calibri" pitchFamily="34" charset="-122"/>
                <a:cs typeface="Calibri" pitchFamily="34" charset="-120"/>
              </a:rPr>
              <a:t>Rolling statistics</a:t>
            </a:r>
            <a:endParaRPr lang="en-US" sz="1200" dirty="0"/>
          </a:p>
        </p:txBody>
      </p:sp>
      <p:sp>
        <p:nvSpPr>
          <p:cNvPr id="38" name="Text 36"/>
          <p:cNvSpPr txBox="1"/>
          <p:nvPr/>
        </p:nvSpPr>
        <p:spPr>
          <a:xfrm>
            <a:off x="8229600" y="4690872"/>
            <a:ext cx="3246120" cy="1170432"/>
          </a:xfrm>
          <a:prstGeom prst="rect">
            <a:avLst/>
          </a:prstGeom>
          <a:noFill/>
          <a:ln/>
        </p:spPr>
        <p:txBody>
          <a:bodyPr wrap="square" rtlCol="0" anchor="ctr"/>
          <a:lstStyle/>
          <a:p>
            <a:pPr indent="0" marL="0">
              <a:buNone/>
            </a:pPr>
            <a:r>
              <a:rPr lang="en-US" sz="1000" dirty="0">
                <a:solidFill>
                  <a:srgbClr val="1E293B"/>
                </a:solidFill>
                <a:latin typeface="Calibri" pitchFamily="34" charset="0"/>
                <a:ea typeface="Calibri" pitchFamily="34" charset="-122"/>
                <a:cs typeface="Calibri" pitchFamily="34" charset="-120"/>
              </a:rPr>
              <a:t>Media y desviación estándar con ventana móvil. ¿La serie es estacionaria? Visualizar antes de modelar.</a:t>
            </a:r>
            <a:endParaRPr lang="en-US" sz="1000" dirty="0"/>
          </a:p>
        </p:txBody>
      </p:sp>
      <p:sp>
        <p:nvSpPr>
          <p:cNvPr id="39" name="Shape 37"/>
          <p:cNvSpPr/>
          <p:nvPr/>
        </p:nvSpPr>
        <p:spPr>
          <a:xfrm>
            <a:off x="0" y="6565392"/>
            <a:ext cx="12161520" cy="292608"/>
          </a:xfrm>
          <a:prstGeom prst="rect">
            <a:avLst/>
          </a:prstGeom>
          <a:solidFill>
            <a:srgbClr val="1B3A6B"/>
          </a:solidFill>
          <a:ln/>
        </p:spPr>
      </p:sp>
      <p:sp>
        <p:nvSpPr>
          <p:cNvPr id="40" name="Text 38"/>
          <p:cNvSpPr txBox="1"/>
          <p:nvPr/>
        </p:nvSpPr>
        <p:spPr>
          <a:xfrm>
            <a:off x="228600" y="6592824"/>
            <a:ext cx="7315200" cy="228600"/>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Tec de Monterrey · Gobierno y Transformación Pública</a:t>
            </a:r>
            <a:endParaRPr lang="en-US" sz="800" dirty="0"/>
          </a:p>
        </p:txBody>
      </p:sp>
      <p:sp>
        <p:nvSpPr>
          <p:cNvPr id="41" name="Text 39"/>
          <p:cNvSpPr txBox="1"/>
          <p:nvPr/>
        </p:nvSpPr>
        <p:spPr>
          <a:xfrm>
            <a:off x="8686800" y="6592824"/>
            <a:ext cx="3291840" cy="228600"/>
          </a:xfrm>
          <a:prstGeom prst="rect">
            <a:avLst/>
          </a:prstGeom>
          <a:noFill/>
          <a:ln/>
        </p:spPr>
        <p:txBody>
          <a:bodyPr wrap="square" rtlCol="0" anchor="ctr"/>
          <a:lstStyle/>
          <a:p>
            <a:pPr algn="r" indent="0" marL="0">
              <a:buNone/>
            </a:pPr>
            <a:r>
              <a:rPr lang="en-US" sz="800" dirty="0">
                <a:solidFill>
                  <a:srgbClr val="E8A020"/>
                </a:solidFill>
                <a:latin typeface="Calibri" pitchFamily="34" charset="0"/>
                <a:ea typeface="Calibri" pitchFamily="34" charset="-122"/>
                <a:cs typeface="Calibri" pitchFamily="34" charset="-120"/>
              </a:rPr>
              <a:t>Sesión 4 → Tema 3: Visualización</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3A6B"/>
        </a:solidFill>
      </p:bgPr>
    </p:bg>
    <p:spTree>
      <p:nvGrpSpPr>
        <p:cNvPr id="1" name=""/>
        <p:cNvGrpSpPr/>
        <p:nvPr/>
      </p:nvGrpSpPr>
      <p:grpSpPr>
        <a:xfrm>
          <a:off x="0" y="0"/>
          <a:ext cx="0" cy="0"/>
          <a:chOff x="0" y="0"/>
          <a:chExt cx="0" cy="0"/>
        </a:xfrm>
      </p:grpSpPr>
      <p:sp>
        <p:nvSpPr>
          <p:cNvPr id="2" name="Shape 0"/>
          <p:cNvSpPr/>
          <p:nvPr/>
        </p:nvSpPr>
        <p:spPr>
          <a:xfrm>
            <a:off x="0" y="0"/>
            <a:ext cx="12161520" cy="347472"/>
          </a:xfrm>
          <a:prstGeom prst="rect">
            <a:avLst/>
          </a:prstGeom>
          <a:solidFill>
            <a:srgbClr val="1B3A6B"/>
          </a:solidFill>
          <a:ln/>
        </p:spPr>
      </p:sp>
      <p:sp>
        <p:nvSpPr>
          <p:cNvPr id="3" name="Text 1"/>
          <p:cNvSpPr txBox="1"/>
          <p:nvPr/>
        </p:nvSpPr>
        <p:spPr>
          <a:xfrm>
            <a:off x="228600" y="36576"/>
            <a:ext cx="8229600" cy="274320"/>
          </a:xfrm>
          <a:prstGeom prst="rect">
            <a:avLst/>
          </a:prstGeom>
          <a:noFill/>
          <a:ln/>
        </p:spPr>
        <p:txBody>
          <a:bodyPr wrap="square" rtlCol="0" anchor="ctr"/>
          <a:lstStyle/>
          <a:p>
            <a:pPr indent="0" marL="0">
              <a:buNone/>
            </a:pPr>
            <a:r>
              <a:rPr lang="en-US" sz="900" dirty="0">
                <a:solidFill>
                  <a:srgbClr val="FFFFFF"/>
                </a:solidFill>
                <a:latin typeface="Calibri" pitchFamily="34" charset="0"/>
                <a:ea typeface="Calibri" pitchFamily="34" charset="-122"/>
                <a:cs typeface="Calibri" pitchFamily="34" charset="-120"/>
              </a:rPr>
              <a:t>EO4040 — Introducción a la Ciencia de Datos para Economía</a:t>
            </a:r>
            <a:endParaRPr lang="en-US" sz="900" dirty="0"/>
          </a:p>
        </p:txBody>
      </p:sp>
      <p:sp>
        <p:nvSpPr>
          <p:cNvPr id="4" name="Text 2"/>
          <p:cNvSpPr txBox="1"/>
          <p:nvPr/>
        </p:nvSpPr>
        <p:spPr>
          <a:xfrm>
            <a:off x="8686800" y="36576"/>
            <a:ext cx="3291840" cy="274320"/>
          </a:xfrm>
          <a:prstGeom prst="rect">
            <a:avLst/>
          </a:prstGeom>
          <a:noFill/>
          <a:ln/>
        </p:spPr>
        <p:txBody>
          <a:bodyPr wrap="square" rtlCol="0" anchor="ctr"/>
          <a:lstStyle/>
          <a:p>
            <a:pPr algn="r" indent="0" marL="0">
              <a:buNone/>
            </a:pPr>
            <a:r>
              <a:rPr lang="en-US" sz="900" b="1" dirty="0">
                <a:solidFill>
                  <a:srgbClr val="E8A020"/>
                </a:solidFill>
                <a:latin typeface="Calibri" pitchFamily="34" charset="0"/>
                <a:ea typeface="Calibri" pitchFamily="34" charset="-122"/>
                <a:cs typeface="Calibri" pitchFamily="34" charset="-120"/>
              </a:rPr>
              <a:t>Sesión 4</a:t>
            </a:r>
            <a:endParaRPr lang="en-US" sz="900" dirty="0"/>
          </a:p>
        </p:txBody>
      </p:sp>
      <p:sp>
        <p:nvSpPr>
          <p:cNvPr id="5" name="Text 3"/>
          <p:cNvSpPr txBox="1"/>
          <p:nvPr/>
        </p:nvSpPr>
        <p:spPr>
          <a:xfrm>
            <a:off x="320040" y="457200"/>
            <a:ext cx="10972800" cy="502920"/>
          </a:xfrm>
          <a:prstGeom prst="rect">
            <a:avLst/>
          </a:prstGeom>
          <a:noFill/>
          <a:ln/>
        </p:spPr>
        <p:txBody>
          <a:bodyPr wrap="square"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Resumen y ejercicio</a:t>
            </a:r>
            <a:endParaRPr lang="en-US" sz="2800" dirty="0"/>
          </a:p>
        </p:txBody>
      </p:sp>
      <p:sp>
        <p:nvSpPr>
          <p:cNvPr id="6" name="Shape 4"/>
          <p:cNvSpPr/>
          <p:nvPr/>
        </p:nvSpPr>
        <p:spPr>
          <a:xfrm>
            <a:off x="320040" y="1097280"/>
            <a:ext cx="5486400" cy="5029200"/>
          </a:xfrm>
          <a:prstGeom prst="rect">
            <a:avLst/>
          </a:prstGeom>
          <a:solidFill>
            <a:srgbClr val="1D2E4A"/>
          </a:solidFill>
          <a:ln w="12700">
            <a:solidFill>
              <a:srgbClr val="2A7ABF"/>
            </a:solidFill>
            <a:prstDash val="solid"/>
          </a:ln>
        </p:spPr>
      </p:sp>
      <p:sp>
        <p:nvSpPr>
          <p:cNvPr id="7" name="Text 5"/>
          <p:cNvSpPr txBox="1"/>
          <p:nvPr/>
        </p:nvSpPr>
        <p:spPr>
          <a:xfrm>
            <a:off x="502920" y="1188720"/>
            <a:ext cx="5120640" cy="320040"/>
          </a:xfrm>
          <a:prstGeom prst="rect">
            <a:avLst/>
          </a:prstGeom>
          <a:noFill/>
          <a:ln/>
        </p:spPr>
        <p:txBody>
          <a:bodyPr wrap="square" rtlCol="0" anchor="ctr"/>
          <a:lstStyle/>
          <a:p>
            <a:pPr indent="0" marL="0">
              <a:buNone/>
            </a:pPr>
            <a:r>
              <a:rPr lang="en-US" sz="1400" b="1" dirty="0">
                <a:solidFill>
                  <a:srgbClr val="2A7ABF"/>
                </a:solidFill>
                <a:latin typeface="Calibri" pitchFamily="34" charset="0"/>
                <a:ea typeface="Calibri" pitchFamily="34" charset="-122"/>
                <a:cs typeface="Calibri" pitchFamily="34" charset="-120"/>
              </a:rPr>
              <a:t>Lo que aprendiste hoy</a:t>
            </a:r>
            <a:endParaRPr lang="en-US" sz="1400" dirty="0"/>
          </a:p>
        </p:txBody>
      </p:sp>
      <p:sp>
        <p:nvSpPr>
          <p:cNvPr id="8" name="Text 6"/>
          <p:cNvSpPr txBox="1"/>
          <p:nvPr/>
        </p:nvSpPr>
        <p:spPr>
          <a:xfrm>
            <a:off x="502920" y="1664208"/>
            <a:ext cx="5120640" cy="658368"/>
          </a:xfrm>
          <a:prstGeom prst="rect">
            <a:avLst/>
          </a:prstGeom>
          <a:noFill/>
          <a:ln/>
        </p:spPr>
        <p:txBody>
          <a:bodyPr wrap="square" rtlCol="0" anchor="ctr"/>
          <a:lstStyle/>
          <a:p>
            <a:pPr indent="0" marL="0">
              <a:buNone/>
            </a:pPr>
            <a:r>
              <a:rPr lang="en-US" sz="1050" dirty="0">
                <a:solidFill>
                  <a:srgbClr val="C8D8F0"/>
                </a:solidFill>
                <a:latin typeface="Calibri" pitchFamily="34" charset="0"/>
                <a:ea typeface="Calibri" pitchFamily="34" charset="-122"/>
                <a:cs typeface="Calibri" pitchFamily="34" charset="-120"/>
              </a:rPr>
              <a:t>✓  Las series de tiempo tienen memoria: el orden importa.</a:t>
            </a:r>
            <a:endParaRPr lang="en-US" sz="1050" dirty="0"/>
          </a:p>
        </p:txBody>
      </p:sp>
      <p:sp>
        <p:nvSpPr>
          <p:cNvPr id="9" name="Text 7"/>
          <p:cNvSpPr txBox="1"/>
          <p:nvPr/>
        </p:nvSpPr>
        <p:spPr>
          <a:xfrm>
            <a:off x="502920" y="2377440"/>
            <a:ext cx="5120640" cy="658368"/>
          </a:xfrm>
          <a:prstGeom prst="rect">
            <a:avLst/>
          </a:prstGeom>
          <a:noFill/>
          <a:ln/>
        </p:spPr>
        <p:txBody>
          <a:bodyPr wrap="square" rtlCol="0" anchor="ctr"/>
          <a:lstStyle/>
          <a:p>
            <a:pPr indent="0" marL="0">
              <a:buNone/>
            </a:pPr>
            <a:r>
              <a:rPr lang="en-US" sz="1050" dirty="0">
                <a:solidFill>
                  <a:srgbClr val="C8D8F0"/>
                </a:solidFill>
                <a:latin typeface="Calibri" pitchFamily="34" charset="0"/>
                <a:ea typeface="Calibri" pitchFamily="34" charset="-122"/>
                <a:cs typeface="Calibri" pitchFamily="34" charset="-120"/>
              </a:rPr>
              <a:t>✓  Toda serie se puede descomponer en Tendencia + Estacionalidad + Ruido.</a:t>
            </a:r>
            <a:endParaRPr lang="en-US" sz="1050" dirty="0"/>
          </a:p>
        </p:txBody>
      </p:sp>
      <p:sp>
        <p:nvSpPr>
          <p:cNvPr id="10" name="Text 8"/>
          <p:cNvSpPr txBox="1"/>
          <p:nvPr/>
        </p:nvSpPr>
        <p:spPr>
          <a:xfrm>
            <a:off x="502920" y="3090672"/>
            <a:ext cx="5120640" cy="658368"/>
          </a:xfrm>
          <a:prstGeom prst="rect">
            <a:avLst/>
          </a:prstGeom>
          <a:noFill/>
          <a:ln/>
        </p:spPr>
        <p:txBody>
          <a:bodyPr wrap="square" rtlCol="0" anchor="ctr"/>
          <a:lstStyle/>
          <a:p>
            <a:pPr indent="0" marL="0">
              <a:buNone/>
            </a:pPr>
            <a:r>
              <a:rPr lang="en-US" sz="1050" dirty="0">
                <a:solidFill>
                  <a:srgbClr val="C8D8F0"/>
                </a:solidFill>
                <a:latin typeface="Calibri" pitchFamily="34" charset="0"/>
                <a:ea typeface="Calibri" pitchFamily="34" charset="-122"/>
                <a:cs typeface="Calibri" pitchFamily="34" charset="-120"/>
              </a:rPr>
              <a:t>✓  seasonal_decompose separa los componentes en una línea de código.</a:t>
            </a:r>
            <a:endParaRPr lang="en-US" sz="1050" dirty="0"/>
          </a:p>
        </p:txBody>
      </p:sp>
      <p:sp>
        <p:nvSpPr>
          <p:cNvPr id="11" name="Text 9"/>
          <p:cNvSpPr txBox="1"/>
          <p:nvPr/>
        </p:nvSpPr>
        <p:spPr>
          <a:xfrm>
            <a:off x="502920" y="3803904"/>
            <a:ext cx="5120640" cy="658368"/>
          </a:xfrm>
          <a:prstGeom prst="rect">
            <a:avLst/>
          </a:prstGeom>
          <a:noFill/>
          <a:ln/>
        </p:spPr>
        <p:txBody>
          <a:bodyPr wrap="square" rtlCol="0" anchor="ctr"/>
          <a:lstStyle/>
          <a:p>
            <a:pPr indent="0" marL="0">
              <a:buNone/>
            </a:pPr>
            <a:r>
              <a:rPr lang="en-US" sz="1050" dirty="0">
                <a:solidFill>
                  <a:srgbClr val="C8D8F0"/>
                </a:solidFill>
                <a:latin typeface="Calibri" pitchFamily="34" charset="0"/>
                <a:ea typeface="Calibri" pitchFamily="34" charset="-122"/>
                <a:cs typeface="Calibri" pitchFamily="34" charset="-120"/>
              </a:rPr>
              <a:t>✓  El ACF mide la "inercia" de la serie y es diagnóstico clave antes de regresión.</a:t>
            </a:r>
            <a:endParaRPr lang="en-US" sz="1050" dirty="0"/>
          </a:p>
        </p:txBody>
      </p:sp>
      <p:sp>
        <p:nvSpPr>
          <p:cNvPr id="12" name="Text 10"/>
          <p:cNvSpPr txBox="1"/>
          <p:nvPr/>
        </p:nvSpPr>
        <p:spPr>
          <a:xfrm>
            <a:off x="502920" y="4517136"/>
            <a:ext cx="5120640" cy="658368"/>
          </a:xfrm>
          <a:prstGeom prst="rect">
            <a:avLst/>
          </a:prstGeom>
          <a:noFill/>
          <a:ln/>
        </p:spPr>
        <p:txBody>
          <a:bodyPr wrap="square" rtlCol="0" anchor="ctr"/>
          <a:lstStyle/>
          <a:p>
            <a:pPr indent="0" marL="0">
              <a:buNone/>
            </a:pPr>
            <a:r>
              <a:rPr lang="en-US" sz="1050" dirty="0">
                <a:solidFill>
                  <a:srgbClr val="C8D8F0"/>
                </a:solidFill>
                <a:latin typeface="Calibri" pitchFamily="34" charset="0"/>
                <a:ea typeface="Calibri" pitchFamily="34" charset="-122"/>
                <a:cs typeface="Calibri" pitchFamily="34" charset="-120"/>
              </a:rPr>
              <a:t>✓  Comparar ACF entre países revela diferencias en el comportamiento macroeconómico.</a:t>
            </a:r>
            <a:endParaRPr lang="en-US" sz="1050" dirty="0"/>
          </a:p>
        </p:txBody>
      </p:sp>
      <p:sp>
        <p:nvSpPr>
          <p:cNvPr id="13" name="Text 11"/>
          <p:cNvSpPr txBox="1"/>
          <p:nvPr/>
        </p:nvSpPr>
        <p:spPr>
          <a:xfrm>
            <a:off x="502920" y="5230368"/>
            <a:ext cx="5120640" cy="658368"/>
          </a:xfrm>
          <a:prstGeom prst="rect">
            <a:avLst/>
          </a:prstGeom>
          <a:noFill/>
          <a:ln/>
        </p:spPr>
        <p:txBody>
          <a:bodyPr wrap="square" rtlCol="0" anchor="ctr"/>
          <a:lstStyle/>
          <a:p>
            <a:pPr indent="0" marL="0">
              <a:buNone/>
            </a:pPr>
            <a:r>
              <a:rPr lang="en-US" sz="1050" dirty="0">
                <a:solidFill>
                  <a:srgbClr val="C8D8F0"/>
                </a:solidFill>
                <a:latin typeface="Calibri" pitchFamily="34" charset="0"/>
                <a:ea typeface="Calibri" pitchFamily="34" charset="-122"/>
                <a:cs typeface="Calibri" pitchFamily="34" charset="-120"/>
              </a:rPr>
              <a:t>✓  Los datos trimestrales/mensuales revelan estructura que los anuales ocultan.</a:t>
            </a:r>
            <a:endParaRPr lang="en-US" sz="1050" dirty="0"/>
          </a:p>
        </p:txBody>
      </p:sp>
      <p:sp>
        <p:nvSpPr>
          <p:cNvPr id="14" name="Shape 12"/>
          <p:cNvSpPr/>
          <p:nvPr/>
        </p:nvSpPr>
        <p:spPr>
          <a:xfrm>
            <a:off x="6080760" y="1097280"/>
            <a:ext cx="5760720" cy="5029200"/>
          </a:xfrm>
          <a:prstGeom prst="rect">
            <a:avLst/>
          </a:prstGeom>
          <a:solidFill>
            <a:srgbClr val="1D2E4A"/>
          </a:solidFill>
          <a:ln w="25400">
            <a:solidFill>
              <a:srgbClr val="E8A020"/>
            </a:solidFill>
            <a:prstDash val="solid"/>
          </a:ln>
        </p:spPr>
      </p:sp>
      <p:sp>
        <p:nvSpPr>
          <p:cNvPr id="15" name="Text 13"/>
          <p:cNvSpPr txBox="1"/>
          <p:nvPr/>
        </p:nvSpPr>
        <p:spPr>
          <a:xfrm>
            <a:off x="6263640" y="1188720"/>
            <a:ext cx="5394960" cy="320040"/>
          </a:xfrm>
          <a:prstGeom prst="rect">
            <a:avLst/>
          </a:prstGeom>
          <a:noFill/>
          <a:ln/>
        </p:spPr>
        <p:txBody>
          <a:bodyPr wrap="square" rtlCol="0" anchor="ctr"/>
          <a:lstStyle/>
          <a:p>
            <a:pPr indent="0" marL="0">
              <a:buNone/>
            </a:pPr>
            <a:r>
              <a:rPr lang="en-US" sz="1400" b="1" dirty="0">
                <a:solidFill>
                  <a:srgbClr val="E8A020"/>
                </a:solidFill>
                <a:latin typeface="Calibri" pitchFamily="34" charset="0"/>
                <a:ea typeface="Calibri" pitchFamily="34" charset="-122"/>
                <a:cs typeface="Calibri" pitchFamily="34" charset="-120"/>
              </a:rPr>
              <a:t>Ejercicio para el notebook</a:t>
            </a:r>
            <a:endParaRPr lang="en-US" sz="1400" dirty="0"/>
          </a:p>
        </p:txBody>
      </p:sp>
      <p:sp>
        <p:nvSpPr>
          <p:cNvPr id="16" name="Shape 14"/>
          <p:cNvSpPr/>
          <p:nvPr/>
        </p:nvSpPr>
        <p:spPr>
          <a:xfrm>
            <a:off x="6263640" y="1719072"/>
            <a:ext cx="347472" cy="347472"/>
          </a:xfrm>
          <a:prstGeom prst="ellipse">
            <a:avLst/>
          </a:prstGeom>
          <a:solidFill>
            <a:srgbClr val="E8A020"/>
          </a:solidFill>
          <a:ln/>
        </p:spPr>
      </p:sp>
      <p:sp>
        <p:nvSpPr>
          <p:cNvPr id="17" name="Text 15"/>
          <p:cNvSpPr txBox="1"/>
          <p:nvPr/>
        </p:nvSpPr>
        <p:spPr>
          <a:xfrm>
            <a:off x="6263640" y="1719072"/>
            <a:ext cx="347472" cy="347472"/>
          </a:xfrm>
          <a:prstGeom prst="rect">
            <a:avLst/>
          </a:prstGeom>
          <a:noFill/>
          <a:ln/>
        </p:spPr>
        <p:txBody>
          <a:bodyPr wrap="square" rtlCol="0" anchor="ctr"/>
          <a:lstStyle/>
          <a:p>
            <a:pPr algn="ctr" indent="0" marL="0">
              <a:buNone/>
            </a:pPr>
            <a:r>
              <a:rPr lang="en-US" sz="1200" b="1" dirty="0">
                <a:solidFill>
                  <a:srgbClr val="1B3A6B"/>
                </a:solidFill>
                <a:latin typeface="Calibri" pitchFamily="34" charset="0"/>
                <a:ea typeface="Calibri" pitchFamily="34" charset="-122"/>
                <a:cs typeface="Calibri" pitchFamily="34" charset="-120"/>
              </a:rPr>
              <a:t>1</a:t>
            </a:r>
            <a:endParaRPr lang="en-US" sz="1200" dirty="0"/>
          </a:p>
        </p:txBody>
      </p:sp>
      <p:sp>
        <p:nvSpPr>
          <p:cNvPr id="18" name="Text 16"/>
          <p:cNvSpPr txBox="1"/>
          <p:nvPr/>
        </p:nvSpPr>
        <p:spPr>
          <a:xfrm>
            <a:off x="6720840" y="1737360"/>
            <a:ext cx="4983480" cy="685800"/>
          </a:xfrm>
          <a:prstGeom prst="rect">
            <a:avLst/>
          </a:prstGeom>
          <a:noFill/>
          <a:ln/>
        </p:spPr>
        <p:txBody>
          <a:bodyPr wrap="square" rtlCol="0" anchor="ctr"/>
          <a:lstStyle/>
          <a:p>
            <a:pPr indent="0" marL="0">
              <a:buNone/>
            </a:pPr>
            <a:r>
              <a:rPr lang="en-US" sz="1000" dirty="0">
                <a:solidFill>
                  <a:srgbClr val="C8D8F0"/>
                </a:solidFill>
                <a:latin typeface="Calibri" pitchFamily="34" charset="0"/>
                <a:ea typeface="Calibri" pitchFamily="34" charset="-122"/>
                <a:cs typeface="Calibri" pitchFamily="34" charset="-120"/>
              </a:rPr>
              <a:t>Descarga la serie de desempleo (SL.UEM.TOTL.ZS) para Rep. Dominicana y Honduras (2000–2023).</a:t>
            </a:r>
            <a:endParaRPr lang="en-US" sz="1000" dirty="0"/>
          </a:p>
        </p:txBody>
      </p:sp>
      <p:sp>
        <p:nvSpPr>
          <p:cNvPr id="19" name="Shape 17"/>
          <p:cNvSpPr/>
          <p:nvPr/>
        </p:nvSpPr>
        <p:spPr>
          <a:xfrm>
            <a:off x="6263640" y="2523744"/>
            <a:ext cx="347472" cy="347472"/>
          </a:xfrm>
          <a:prstGeom prst="ellipse">
            <a:avLst/>
          </a:prstGeom>
          <a:solidFill>
            <a:srgbClr val="E8A020"/>
          </a:solidFill>
          <a:ln/>
        </p:spPr>
      </p:sp>
      <p:sp>
        <p:nvSpPr>
          <p:cNvPr id="20" name="Text 18"/>
          <p:cNvSpPr txBox="1"/>
          <p:nvPr/>
        </p:nvSpPr>
        <p:spPr>
          <a:xfrm>
            <a:off x="6263640" y="2523744"/>
            <a:ext cx="347472" cy="347472"/>
          </a:xfrm>
          <a:prstGeom prst="rect">
            <a:avLst/>
          </a:prstGeom>
          <a:noFill/>
          <a:ln/>
        </p:spPr>
        <p:txBody>
          <a:bodyPr wrap="square" rtlCol="0" anchor="ctr"/>
          <a:lstStyle/>
          <a:p>
            <a:pPr algn="ctr" indent="0" marL="0">
              <a:buNone/>
            </a:pPr>
            <a:r>
              <a:rPr lang="en-US" sz="1200" b="1" dirty="0">
                <a:solidFill>
                  <a:srgbClr val="1B3A6B"/>
                </a:solidFill>
                <a:latin typeface="Calibri" pitchFamily="34" charset="0"/>
                <a:ea typeface="Calibri" pitchFamily="34" charset="-122"/>
                <a:cs typeface="Calibri" pitchFamily="34" charset="-120"/>
              </a:rPr>
              <a:t>2</a:t>
            </a:r>
            <a:endParaRPr lang="en-US" sz="1200" dirty="0"/>
          </a:p>
        </p:txBody>
      </p:sp>
      <p:sp>
        <p:nvSpPr>
          <p:cNvPr id="21" name="Text 19"/>
          <p:cNvSpPr txBox="1"/>
          <p:nvPr/>
        </p:nvSpPr>
        <p:spPr>
          <a:xfrm>
            <a:off x="6720840" y="2542032"/>
            <a:ext cx="4983480" cy="685800"/>
          </a:xfrm>
          <a:prstGeom prst="rect">
            <a:avLst/>
          </a:prstGeom>
          <a:noFill/>
          <a:ln/>
        </p:spPr>
        <p:txBody>
          <a:bodyPr wrap="square" rtlCol="0" anchor="ctr"/>
          <a:lstStyle/>
          <a:p>
            <a:pPr indent="0" marL="0">
              <a:buNone/>
            </a:pPr>
            <a:r>
              <a:rPr lang="en-US" sz="1000" dirty="0">
                <a:solidFill>
                  <a:srgbClr val="C8D8F0"/>
                </a:solidFill>
                <a:latin typeface="Calibri" pitchFamily="34" charset="0"/>
                <a:ea typeface="Calibri" pitchFamily="34" charset="-122"/>
                <a:cs typeface="Calibri" pitchFamily="34" charset="-120"/>
              </a:rPr>
              <a:t>Grafica ambas series en un mismo line plot con colores distintos y una leyenda.</a:t>
            </a:r>
            <a:endParaRPr lang="en-US" sz="1000" dirty="0"/>
          </a:p>
        </p:txBody>
      </p:sp>
      <p:sp>
        <p:nvSpPr>
          <p:cNvPr id="22" name="Shape 20"/>
          <p:cNvSpPr/>
          <p:nvPr/>
        </p:nvSpPr>
        <p:spPr>
          <a:xfrm>
            <a:off x="6263640" y="3328416"/>
            <a:ext cx="347472" cy="347472"/>
          </a:xfrm>
          <a:prstGeom prst="ellipse">
            <a:avLst/>
          </a:prstGeom>
          <a:solidFill>
            <a:srgbClr val="E8A020"/>
          </a:solidFill>
          <a:ln/>
        </p:spPr>
      </p:sp>
      <p:sp>
        <p:nvSpPr>
          <p:cNvPr id="23" name="Text 21"/>
          <p:cNvSpPr txBox="1"/>
          <p:nvPr/>
        </p:nvSpPr>
        <p:spPr>
          <a:xfrm>
            <a:off x="6263640" y="3328416"/>
            <a:ext cx="347472" cy="347472"/>
          </a:xfrm>
          <a:prstGeom prst="rect">
            <a:avLst/>
          </a:prstGeom>
          <a:noFill/>
          <a:ln/>
        </p:spPr>
        <p:txBody>
          <a:bodyPr wrap="square" rtlCol="0" anchor="ctr"/>
          <a:lstStyle/>
          <a:p>
            <a:pPr algn="ctr" indent="0" marL="0">
              <a:buNone/>
            </a:pPr>
            <a:r>
              <a:rPr lang="en-US" sz="1200" b="1" dirty="0">
                <a:solidFill>
                  <a:srgbClr val="1B3A6B"/>
                </a:solidFill>
                <a:latin typeface="Calibri" pitchFamily="34" charset="0"/>
                <a:ea typeface="Calibri" pitchFamily="34" charset="-122"/>
                <a:cs typeface="Calibri" pitchFamily="34" charset="-120"/>
              </a:rPr>
              <a:t>3</a:t>
            </a:r>
            <a:endParaRPr lang="en-US" sz="1200" dirty="0"/>
          </a:p>
        </p:txBody>
      </p:sp>
      <p:sp>
        <p:nvSpPr>
          <p:cNvPr id="24" name="Text 22"/>
          <p:cNvSpPr txBox="1"/>
          <p:nvPr/>
        </p:nvSpPr>
        <p:spPr>
          <a:xfrm>
            <a:off x="6720840" y="3346704"/>
            <a:ext cx="4983480" cy="685800"/>
          </a:xfrm>
          <a:prstGeom prst="rect">
            <a:avLst/>
          </a:prstGeom>
          <a:noFill/>
          <a:ln/>
        </p:spPr>
        <p:txBody>
          <a:bodyPr wrap="square" rtlCol="0" anchor="ctr"/>
          <a:lstStyle/>
          <a:p>
            <a:pPr indent="0" marL="0">
              <a:buNone/>
            </a:pPr>
            <a:r>
              <a:rPr lang="en-US" sz="1000" dirty="0">
                <a:solidFill>
                  <a:srgbClr val="C8D8F0"/>
                </a:solidFill>
                <a:latin typeface="Calibri" pitchFamily="34" charset="0"/>
                <a:ea typeface="Calibri" pitchFamily="34" charset="-122"/>
                <a:cs typeface="Calibri" pitchFamily="34" charset="-120"/>
              </a:rPr>
              <a:t>Descompón la serie de Honduras con seasonal_decompose. ¿Cuál componente domina: tendencia o ruido?</a:t>
            </a:r>
            <a:endParaRPr lang="en-US" sz="1000" dirty="0"/>
          </a:p>
        </p:txBody>
      </p:sp>
      <p:sp>
        <p:nvSpPr>
          <p:cNvPr id="25" name="Shape 23"/>
          <p:cNvSpPr/>
          <p:nvPr/>
        </p:nvSpPr>
        <p:spPr>
          <a:xfrm>
            <a:off x="6263640" y="4133088"/>
            <a:ext cx="347472" cy="347472"/>
          </a:xfrm>
          <a:prstGeom prst="ellipse">
            <a:avLst/>
          </a:prstGeom>
          <a:solidFill>
            <a:srgbClr val="E8A020"/>
          </a:solidFill>
          <a:ln/>
        </p:spPr>
      </p:sp>
      <p:sp>
        <p:nvSpPr>
          <p:cNvPr id="26" name="Text 24"/>
          <p:cNvSpPr txBox="1"/>
          <p:nvPr/>
        </p:nvSpPr>
        <p:spPr>
          <a:xfrm>
            <a:off x="6263640" y="4133088"/>
            <a:ext cx="347472" cy="347472"/>
          </a:xfrm>
          <a:prstGeom prst="rect">
            <a:avLst/>
          </a:prstGeom>
          <a:noFill/>
          <a:ln/>
        </p:spPr>
        <p:txBody>
          <a:bodyPr wrap="square" rtlCol="0" anchor="ctr"/>
          <a:lstStyle/>
          <a:p>
            <a:pPr algn="ctr" indent="0" marL="0">
              <a:buNone/>
            </a:pPr>
            <a:r>
              <a:rPr lang="en-US" sz="1200" b="1" dirty="0">
                <a:solidFill>
                  <a:srgbClr val="1B3A6B"/>
                </a:solidFill>
                <a:latin typeface="Calibri" pitchFamily="34" charset="0"/>
                <a:ea typeface="Calibri" pitchFamily="34" charset="-122"/>
                <a:cs typeface="Calibri" pitchFamily="34" charset="-120"/>
              </a:rPr>
              <a:t>4</a:t>
            </a:r>
            <a:endParaRPr lang="en-US" sz="1200" dirty="0"/>
          </a:p>
        </p:txBody>
      </p:sp>
      <p:sp>
        <p:nvSpPr>
          <p:cNvPr id="27" name="Text 25"/>
          <p:cNvSpPr txBox="1"/>
          <p:nvPr/>
        </p:nvSpPr>
        <p:spPr>
          <a:xfrm>
            <a:off x="6720840" y="4151376"/>
            <a:ext cx="4983480" cy="685800"/>
          </a:xfrm>
          <a:prstGeom prst="rect">
            <a:avLst/>
          </a:prstGeom>
          <a:noFill/>
          <a:ln/>
        </p:spPr>
        <p:txBody>
          <a:bodyPr wrap="square" rtlCol="0" anchor="ctr"/>
          <a:lstStyle/>
          <a:p>
            <a:pPr indent="0" marL="0">
              <a:buNone/>
            </a:pPr>
            <a:r>
              <a:rPr lang="en-US" sz="1000" dirty="0">
                <a:solidFill>
                  <a:srgbClr val="C8D8F0"/>
                </a:solidFill>
                <a:latin typeface="Calibri" pitchFamily="34" charset="0"/>
                <a:ea typeface="Calibri" pitchFamily="34" charset="-122"/>
                <a:cs typeface="Calibri" pitchFamily="34" charset="-120"/>
              </a:rPr>
              <a:t>Calcula el ACF para Rep. Dom. ¿Cuántos lags son estadísticamente significativos?</a:t>
            </a:r>
            <a:endParaRPr lang="en-US" sz="1000" dirty="0"/>
          </a:p>
        </p:txBody>
      </p:sp>
      <p:sp>
        <p:nvSpPr>
          <p:cNvPr id="28" name="Shape 26"/>
          <p:cNvSpPr/>
          <p:nvPr/>
        </p:nvSpPr>
        <p:spPr>
          <a:xfrm>
            <a:off x="6263640" y="4937760"/>
            <a:ext cx="347472" cy="347472"/>
          </a:xfrm>
          <a:prstGeom prst="ellipse">
            <a:avLst/>
          </a:prstGeom>
          <a:solidFill>
            <a:srgbClr val="E8A020"/>
          </a:solidFill>
          <a:ln/>
        </p:spPr>
      </p:sp>
      <p:sp>
        <p:nvSpPr>
          <p:cNvPr id="29" name="Text 27"/>
          <p:cNvSpPr txBox="1"/>
          <p:nvPr/>
        </p:nvSpPr>
        <p:spPr>
          <a:xfrm>
            <a:off x="6263640" y="4937760"/>
            <a:ext cx="347472" cy="347472"/>
          </a:xfrm>
          <a:prstGeom prst="rect">
            <a:avLst/>
          </a:prstGeom>
          <a:noFill/>
          <a:ln/>
        </p:spPr>
        <p:txBody>
          <a:bodyPr wrap="square" rtlCol="0" anchor="ctr"/>
          <a:lstStyle/>
          <a:p>
            <a:pPr algn="ctr" indent="0" marL="0">
              <a:buNone/>
            </a:pPr>
            <a:r>
              <a:rPr lang="en-US" sz="1200" b="1" dirty="0">
                <a:solidFill>
                  <a:srgbClr val="1B3A6B"/>
                </a:solidFill>
                <a:latin typeface="Calibri" pitchFamily="34" charset="0"/>
                <a:ea typeface="Calibri" pitchFamily="34" charset="-122"/>
                <a:cs typeface="Calibri" pitchFamily="34" charset="-120"/>
              </a:rPr>
              <a:t>5</a:t>
            </a:r>
            <a:endParaRPr lang="en-US" sz="1200" dirty="0"/>
          </a:p>
        </p:txBody>
      </p:sp>
      <p:sp>
        <p:nvSpPr>
          <p:cNvPr id="30" name="Text 28"/>
          <p:cNvSpPr txBox="1"/>
          <p:nvPr/>
        </p:nvSpPr>
        <p:spPr>
          <a:xfrm>
            <a:off x="6720840" y="4956048"/>
            <a:ext cx="4983480" cy="685800"/>
          </a:xfrm>
          <a:prstGeom prst="rect">
            <a:avLst/>
          </a:prstGeom>
          <a:noFill/>
          <a:ln/>
        </p:spPr>
        <p:txBody>
          <a:bodyPr wrap="square" rtlCol="0" anchor="ctr"/>
          <a:lstStyle/>
          <a:p>
            <a:pPr indent="0" marL="0">
              <a:buNone/>
            </a:pPr>
            <a:r>
              <a:rPr lang="en-US" sz="1000" dirty="0">
                <a:solidFill>
                  <a:srgbClr val="C8D8F0"/>
                </a:solidFill>
                <a:latin typeface="Calibri" pitchFamily="34" charset="0"/>
                <a:ea typeface="Calibri" pitchFamily="34" charset="-122"/>
                <a:cs typeface="Calibri" pitchFamily="34" charset="-120"/>
              </a:rPr>
              <a:t>Escribe una interpretación económica: ¿por qué crees que el desempleo tiene (o no tiene) alta autocorrelación en estos países?</a:t>
            </a:r>
            <a:endParaRPr lang="en-US" sz="1000" dirty="0"/>
          </a:p>
        </p:txBody>
      </p:sp>
      <p:sp>
        <p:nvSpPr>
          <p:cNvPr id="31" name="Shape 29"/>
          <p:cNvSpPr/>
          <p:nvPr/>
        </p:nvSpPr>
        <p:spPr>
          <a:xfrm>
            <a:off x="0" y="6565392"/>
            <a:ext cx="12161520" cy="292608"/>
          </a:xfrm>
          <a:prstGeom prst="rect">
            <a:avLst/>
          </a:prstGeom>
          <a:solidFill>
            <a:srgbClr val="1B3A6B"/>
          </a:solidFill>
          <a:ln/>
        </p:spPr>
      </p:sp>
      <p:sp>
        <p:nvSpPr>
          <p:cNvPr id="32" name="Text 30"/>
          <p:cNvSpPr txBox="1"/>
          <p:nvPr/>
        </p:nvSpPr>
        <p:spPr>
          <a:xfrm>
            <a:off x="228600" y="6592824"/>
            <a:ext cx="7315200" cy="228600"/>
          </a:xfrm>
          <a:prstGeom prst="rect">
            <a:avLst/>
          </a:prstGeom>
          <a:noFill/>
          <a:ln/>
        </p:spPr>
        <p:txBody>
          <a:bodyPr wrap="square" rtlCol="0" anchor="ctr"/>
          <a:lstStyle/>
          <a:p>
            <a:pPr indent="0" marL="0">
              <a:buNone/>
            </a:pPr>
            <a:r>
              <a:rPr lang="en-US" sz="800" dirty="0">
                <a:solidFill>
                  <a:srgbClr val="FFFFFF"/>
                </a:solidFill>
                <a:latin typeface="Calibri" pitchFamily="34" charset="0"/>
                <a:ea typeface="Calibri" pitchFamily="34" charset="-122"/>
                <a:cs typeface="Calibri" pitchFamily="34" charset="-120"/>
              </a:rPr>
              <a:t>Tec de Monterrey · Gobierno y Transformación Pública</a:t>
            </a:r>
            <a:endParaRPr lang="en-US" sz="800" dirty="0"/>
          </a:p>
        </p:txBody>
      </p:sp>
      <p:sp>
        <p:nvSpPr>
          <p:cNvPr id="33" name="Text 31"/>
          <p:cNvSpPr txBox="1"/>
          <p:nvPr/>
        </p:nvSpPr>
        <p:spPr>
          <a:xfrm>
            <a:off x="8686800" y="6592824"/>
            <a:ext cx="3291840" cy="228600"/>
          </a:xfrm>
          <a:prstGeom prst="rect">
            <a:avLst/>
          </a:prstGeom>
          <a:noFill/>
          <a:ln/>
        </p:spPr>
        <p:txBody>
          <a:bodyPr wrap="square" rtlCol="0" anchor="ctr"/>
          <a:lstStyle/>
          <a:p>
            <a:pPr algn="r" indent="0" marL="0">
              <a:buNone/>
            </a:pPr>
            <a:r>
              <a:rPr lang="en-US" sz="800" dirty="0">
                <a:solidFill>
                  <a:srgbClr val="E8A020"/>
                </a:solidFill>
                <a:latin typeface="Calibri" pitchFamily="34" charset="0"/>
                <a:ea typeface="Calibri" pitchFamily="34" charset="-122"/>
                <a:cs typeface="Calibri" pitchFamily="34" charset="-120"/>
              </a:rPr>
              <a:t>Sesión 4 — Series de Tiempo</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2026-10-04T21:38:02Z</dcterms:created>
  <dcterms:modified xsi:type="dcterms:W3CDTF">2026-10-04T21:38:02Z</dcterms:modified>
</cp:coreProperties>
</file>